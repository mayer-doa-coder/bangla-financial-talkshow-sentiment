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92" r:id="rId32"/>
    <p:sldId id="293" r:id="rId33"/>
    <p:sldId id="294" r:id="rId34"/>
    <p:sldId id="286" r:id="rId35"/>
    <p:sldId id="287" r:id="rId36"/>
    <p:sldId id="288" r:id="rId37"/>
    <p:sldId id="289" r:id="rId3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8" d="100"/>
          <a:sy n="78" d="100"/>
        </p:scale>
        <p:origin x="850" y="43"/>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ECEEEB"/>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28016"/>
          </a:xfrm>
          <a:prstGeom prst="rect">
            <a:avLst/>
          </a:prstGeom>
          <a:solidFill>
            <a:srgbClr val="1D4E5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 name="TextBox 2"/>
          <p:cNvSpPr txBox="1"/>
          <p:nvPr/>
        </p:nvSpPr>
        <p:spPr>
          <a:xfrm>
            <a:off x="658367" y="549623"/>
            <a:ext cx="10874959" cy="365760"/>
          </a:xfrm>
          <a:prstGeom prst="rect">
            <a:avLst/>
          </a:prstGeom>
          <a:noFill/>
        </p:spPr>
        <p:txBody>
          <a:bodyPr wrap="square" lIns="0" tIns="0" rIns="0" bIns="0" anchor="t">
            <a:spAutoFit/>
          </a:bodyPr>
          <a:lstStyle/>
          <a:p>
            <a:pPr algn="l">
              <a:lnSpc>
                <a:spcPct val="118000"/>
              </a:lnSpc>
              <a:spcBef>
                <a:spcPts val="0"/>
              </a:spcBef>
              <a:spcAft>
                <a:spcPts val="0"/>
              </a:spcAft>
            </a:pPr>
            <a:r>
              <a:rPr sz="2100" b="1" i="0">
                <a:solidFill>
                  <a:srgbClr val="1D4E5F"/>
                </a:solidFill>
                <a:latin typeface="Consolas"/>
              </a:rPr>
              <a:t>MACHINE LEARNING LABORATORY   /   CSE 4112</a:t>
            </a:r>
          </a:p>
        </p:txBody>
      </p:sp>
      <p:sp>
        <p:nvSpPr>
          <p:cNvPr id="4" name="TextBox 3"/>
          <p:cNvSpPr txBox="1"/>
          <p:nvPr/>
        </p:nvSpPr>
        <p:spPr>
          <a:xfrm>
            <a:off x="658367" y="1116551"/>
            <a:ext cx="10874959" cy="2286000"/>
          </a:xfrm>
          <a:prstGeom prst="rect">
            <a:avLst/>
          </a:prstGeom>
          <a:noFill/>
        </p:spPr>
        <p:txBody>
          <a:bodyPr wrap="square" lIns="0" tIns="0" rIns="0" bIns="0" anchor="t">
            <a:spAutoFit/>
          </a:bodyPr>
          <a:lstStyle/>
          <a:p>
            <a:pPr algn="l">
              <a:lnSpc>
                <a:spcPct val="102000"/>
              </a:lnSpc>
              <a:spcBef>
                <a:spcPts val="0"/>
              </a:spcBef>
              <a:spcAft>
                <a:spcPts val="0"/>
              </a:spcAft>
            </a:pPr>
            <a:r>
              <a:rPr sz="5200" b="1" i="0">
                <a:solidFill>
                  <a:srgbClr val="14181B"/>
                </a:solidFill>
                <a:latin typeface="Segoe UI"/>
              </a:rPr>
              <a:t>Speaker-Attributed Financial</a:t>
            </a:r>
          </a:p>
          <a:p>
            <a:pPr algn="l">
              <a:lnSpc>
                <a:spcPct val="102000"/>
              </a:lnSpc>
              <a:spcBef>
                <a:spcPts val="0"/>
              </a:spcBef>
              <a:spcAft>
                <a:spcPts val="0"/>
              </a:spcAft>
            </a:pPr>
            <a:r>
              <a:rPr sz="5200" b="1" i="0">
                <a:solidFill>
                  <a:srgbClr val="14181B"/>
                </a:solidFill>
                <a:latin typeface="Segoe UI"/>
              </a:rPr>
              <a:t>Discourse Analysis of</a:t>
            </a:r>
          </a:p>
          <a:p>
            <a:pPr algn="l">
              <a:lnSpc>
                <a:spcPct val="102000"/>
              </a:lnSpc>
              <a:spcBef>
                <a:spcPts val="0"/>
              </a:spcBef>
              <a:spcAft>
                <a:spcPts val="0"/>
              </a:spcAft>
            </a:pPr>
            <a:r>
              <a:rPr sz="5200" b="1" i="0">
                <a:solidFill>
                  <a:srgbClr val="14181B"/>
                </a:solidFill>
                <a:latin typeface="Segoe UI"/>
              </a:rPr>
              <a:t>Bangla Talk Shows</a:t>
            </a:r>
          </a:p>
        </p:txBody>
      </p:sp>
      <p:sp>
        <p:nvSpPr>
          <p:cNvPr id="5" name="TextBox 4"/>
          <p:cNvSpPr txBox="1"/>
          <p:nvPr/>
        </p:nvSpPr>
        <p:spPr>
          <a:xfrm>
            <a:off x="658367" y="3493990"/>
            <a:ext cx="9509760" cy="822960"/>
          </a:xfrm>
          <a:prstGeom prst="rect">
            <a:avLst/>
          </a:prstGeom>
          <a:noFill/>
        </p:spPr>
        <p:txBody>
          <a:bodyPr wrap="square" lIns="0" tIns="0" rIns="0" bIns="0" anchor="t">
            <a:spAutoFit/>
          </a:bodyPr>
          <a:lstStyle/>
          <a:p>
            <a:pPr algn="l">
              <a:lnSpc>
                <a:spcPct val="126000"/>
              </a:lnSpc>
              <a:spcBef>
                <a:spcPts val="0"/>
              </a:spcBef>
              <a:spcAft>
                <a:spcPts val="0"/>
              </a:spcAft>
            </a:pPr>
            <a:r>
              <a:rPr sz="2400" b="0" i="0" dirty="0">
                <a:solidFill>
                  <a:srgbClr val="3E4A4F"/>
                </a:solidFill>
                <a:latin typeface="Segoe UI"/>
              </a:rPr>
              <a:t>One pipeline from raw broadcast audio to a polarity judgement about a named financial target: who spoke, what they said, and how they judged the economy.</a:t>
            </a:r>
          </a:p>
        </p:txBody>
      </p:sp>
      <p:sp>
        <p:nvSpPr>
          <p:cNvPr id="6" name="Rectangle 5"/>
          <p:cNvSpPr/>
          <p:nvPr/>
        </p:nvSpPr>
        <p:spPr>
          <a:xfrm>
            <a:off x="658367" y="4591271"/>
            <a:ext cx="10874959" cy="27432"/>
          </a:xfrm>
          <a:prstGeom prst="rect">
            <a:avLst/>
          </a:prstGeom>
          <a:solidFill>
            <a:srgbClr val="1D4E5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7" name="TextBox 6"/>
          <p:cNvSpPr txBox="1"/>
          <p:nvPr/>
        </p:nvSpPr>
        <p:spPr>
          <a:xfrm>
            <a:off x="658367" y="4774151"/>
            <a:ext cx="2499283" cy="274320"/>
          </a:xfrm>
          <a:prstGeom prst="rect">
            <a:avLst/>
          </a:prstGeom>
          <a:noFill/>
        </p:spPr>
        <p:txBody>
          <a:bodyPr wrap="square" lIns="0" tIns="0" rIns="0" bIns="0" anchor="t">
            <a:spAutoFit/>
          </a:bodyPr>
          <a:lstStyle/>
          <a:p>
            <a:pPr algn="l">
              <a:lnSpc>
                <a:spcPct val="118000"/>
              </a:lnSpc>
              <a:spcBef>
                <a:spcPts val="0"/>
              </a:spcBef>
              <a:spcAft>
                <a:spcPts val="400"/>
              </a:spcAft>
            </a:pPr>
            <a:r>
              <a:rPr sz="2100" b="1" i="0">
                <a:solidFill>
                  <a:srgbClr val="6B787D"/>
                </a:solidFill>
                <a:latin typeface="Consolas"/>
              </a:rPr>
              <a:t>ROLLS</a:t>
            </a:r>
          </a:p>
        </p:txBody>
      </p:sp>
      <p:sp>
        <p:nvSpPr>
          <p:cNvPr id="8" name="TextBox 7"/>
          <p:cNvSpPr txBox="1"/>
          <p:nvPr/>
        </p:nvSpPr>
        <p:spPr>
          <a:xfrm>
            <a:off x="658367" y="5121623"/>
            <a:ext cx="2499283" cy="1127425"/>
          </a:xfrm>
          <a:prstGeom prst="rect">
            <a:avLst/>
          </a:prstGeom>
          <a:noFill/>
        </p:spPr>
        <p:txBody>
          <a:bodyPr wrap="square" lIns="0" tIns="0" rIns="0" bIns="0" anchor="t">
            <a:spAutoFit/>
          </a:bodyPr>
          <a:lstStyle/>
          <a:p>
            <a:pPr algn="l">
              <a:lnSpc>
                <a:spcPct val="120000"/>
              </a:lnSpc>
              <a:spcBef>
                <a:spcPts val="0"/>
              </a:spcBef>
              <a:spcAft>
                <a:spcPts val="0"/>
              </a:spcAft>
            </a:pPr>
            <a:r>
              <a:rPr sz="2100" b="0" i="0" dirty="0">
                <a:solidFill>
                  <a:srgbClr val="14181B"/>
                </a:solidFill>
                <a:latin typeface="Segoe UI"/>
              </a:rPr>
              <a:t>2107001, 2107004, 2107006,2107009, 2107010, 2107015</a:t>
            </a:r>
          </a:p>
        </p:txBody>
      </p:sp>
      <p:sp>
        <p:nvSpPr>
          <p:cNvPr id="9" name="TextBox 8"/>
          <p:cNvSpPr txBox="1"/>
          <p:nvPr/>
        </p:nvSpPr>
        <p:spPr>
          <a:xfrm>
            <a:off x="3377106" y="4774151"/>
            <a:ext cx="2499283" cy="274320"/>
          </a:xfrm>
          <a:prstGeom prst="rect">
            <a:avLst/>
          </a:prstGeom>
          <a:noFill/>
        </p:spPr>
        <p:txBody>
          <a:bodyPr wrap="square" lIns="0" tIns="0" rIns="0" bIns="0" anchor="t">
            <a:spAutoFit/>
          </a:bodyPr>
          <a:lstStyle/>
          <a:p>
            <a:pPr algn="l">
              <a:lnSpc>
                <a:spcPct val="118000"/>
              </a:lnSpc>
              <a:spcBef>
                <a:spcPts val="0"/>
              </a:spcBef>
              <a:spcAft>
                <a:spcPts val="400"/>
              </a:spcAft>
            </a:pPr>
            <a:r>
              <a:rPr sz="2100" b="1" i="0">
                <a:solidFill>
                  <a:srgbClr val="6B787D"/>
                </a:solidFill>
                <a:latin typeface="Consolas"/>
              </a:rPr>
              <a:t>DIARIZATION</a:t>
            </a:r>
          </a:p>
        </p:txBody>
      </p:sp>
      <p:sp>
        <p:nvSpPr>
          <p:cNvPr id="10" name="TextBox 9"/>
          <p:cNvSpPr txBox="1"/>
          <p:nvPr/>
        </p:nvSpPr>
        <p:spPr>
          <a:xfrm>
            <a:off x="3377106" y="5121623"/>
            <a:ext cx="2499283" cy="731520"/>
          </a:xfrm>
          <a:prstGeom prst="rect">
            <a:avLst/>
          </a:prstGeom>
          <a:noFill/>
        </p:spPr>
        <p:txBody>
          <a:bodyPr wrap="square" lIns="0" tIns="0" rIns="0" bIns="0" anchor="t">
            <a:spAutoFit/>
          </a:bodyPr>
          <a:lstStyle/>
          <a:p>
            <a:pPr algn="l">
              <a:lnSpc>
                <a:spcPct val="120000"/>
              </a:lnSpc>
              <a:spcBef>
                <a:spcPts val="0"/>
              </a:spcBef>
              <a:spcAft>
                <a:spcPts val="0"/>
              </a:spcAft>
            </a:pPr>
            <a:r>
              <a:rPr sz="2100" b="0" i="0">
                <a:solidFill>
                  <a:srgbClr val="14181B"/>
                </a:solidFill>
                <a:latin typeface="Segoe UI"/>
              </a:rPr>
              <a:t>pyannote
speaker-diarization-community-1</a:t>
            </a:r>
          </a:p>
        </p:txBody>
      </p:sp>
      <p:sp>
        <p:nvSpPr>
          <p:cNvPr id="11" name="TextBox 10"/>
          <p:cNvSpPr txBox="1"/>
          <p:nvPr/>
        </p:nvSpPr>
        <p:spPr>
          <a:xfrm>
            <a:off x="6095846" y="4774151"/>
            <a:ext cx="2718740" cy="355290"/>
          </a:xfrm>
          <a:prstGeom prst="rect">
            <a:avLst/>
          </a:prstGeom>
          <a:noFill/>
        </p:spPr>
        <p:txBody>
          <a:bodyPr wrap="square" lIns="0" tIns="0" rIns="0" bIns="0" anchor="t">
            <a:spAutoFit/>
          </a:bodyPr>
          <a:lstStyle/>
          <a:p>
            <a:pPr algn="l">
              <a:lnSpc>
                <a:spcPct val="118000"/>
              </a:lnSpc>
              <a:spcBef>
                <a:spcPts val="0"/>
              </a:spcBef>
              <a:spcAft>
                <a:spcPts val="400"/>
              </a:spcAft>
            </a:pPr>
            <a:r>
              <a:rPr sz="2100" b="1" i="0" dirty="0">
                <a:solidFill>
                  <a:srgbClr val="6B787D"/>
                </a:solidFill>
                <a:latin typeface="Consolas"/>
              </a:rPr>
              <a:t>SPEECH RECOGNITION</a:t>
            </a:r>
          </a:p>
        </p:txBody>
      </p:sp>
      <p:sp>
        <p:nvSpPr>
          <p:cNvPr id="12" name="TextBox 11"/>
          <p:cNvSpPr txBox="1"/>
          <p:nvPr/>
        </p:nvSpPr>
        <p:spPr>
          <a:xfrm>
            <a:off x="6095846" y="5121623"/>
            <a:ext cx="2499283" cy="731520"/>
          </a:xfrm>
          <a:prstGeom prst="rect">
            <a:avLst/>
          </a:prstGeom>
          <a:noFill/>
        </p:spPr>
        <p:txBody>
          <a:bodyPr wrap="square" lIns="0" tIns="0" rIns="0" bIns="0" anchor="t">
            <a:spAutoFit/>
          </a:bodyPr>
          <a:lstStyle/>
          <a:p>
            <a:pPr algn="l">
              <a:lnSpc>
                <a:spcPct val="120000"/>
              </a:lnSpc>
              <a:spcBef>
                <a:spcPts val="0"/>
              </a:spcBef>
              <a:spcAft>
                <a:spcPts val="0"/>
              </a:spcAft>
            </a:pPr>
            <a:r>
              <a:rPr sz="2100" b="0" i="0" dirty="0">
                <a:solidFill>
                  <a:srgbClr val="14181B"/>
                </a:solidFill>
                <a:latin typeface="Segoe UI"/>
              </a:rPr>
              <a:t>Whisper medium,
Bengali adapted</a:t>
            </a:r>
          </a:p>
        </p:txBody>
      </p:sp>
      <p:sp>
        <p:nvSpPr>
          <p:cNvPr id="13" name="TextBox 12"/>
          <p:cNvSpPr txBox="1"/>
          <p:nvPr/>
        </p:nvSpPr>
        <p:spPr>
          <a:xfrm>
            <a:off x="9129218" y="4774151"/>
            <a:ext cx="2499283" cy="274320"/>
          </a:xfrm>
          <a:prstGeom prst="rect">
            <a:avLst/>
          </a:prstGeom>
          <a:noFill/>
        </p:spPr>
        <p:txBody>
          <a:bodyPr wrap="square" lIns="0" tIns="0" rIns="0" bIns="0" anchor="t">
            <a:spAutoFit/>
          </a:bodyPr>
          <a:lstStyle/>
          <a:p>
            <a:pPr algn="l">
              <a:lnSpc>
                <a:spcPct val="118000"/>
              </a:lnSpc>
              <a:spcBef>
                <a:spcPts val="0"/>
              </a:spcBef>
              <a:spcAft>
                <a:spcPts val="400"/>
              </a:spcAft>
            </a:pPr>
            <a:r>
              <a:rPr sz="2100" b="1" i="0" dirty="0">
                <a:solidFill>
                  <a:srgbClr val="6B787D"/>
                </a:solidFill>
                <a:latin typeface="Consolas"/>
              </a:rPr>
              <a:t>SENTIMENT</a:t>
            </a:r>
          </a:p>
        </p:txBody>
      </p:sp>
      <p:sp>
        <p:nvSpPr>
          <p:cNvPr id="14" name="TextBox 13"/>
          <p:cNvSpPr txBox="1"/>
          <p:nvPr/>
        </p:nvSpPr>
        <p:spPr>
          <a:xfrm>
            <a:off x="9129218" y="5121623"/>
            <a:ext cx="2499283" cy="731520"/>
          </a:xfrm>
          <a:prstGeom prst="rect">
            <a:avLst/>
          </a:prstGeom>
          <a:noFill/>
        </p:spPr>
        <p:txBody>
          <a:bodyPr wrap="square" lIns="0" tIns="0" rIns="0" bIns="0" anchor="t">
            <a:spAutoFit/>
          </a:bodyPr>
          <a:lstStyle/>
          <a:p>
            <a:pPr algn="l">
              <a:lnSpc>
                <a:spcPct val="120000"/>
              </a:lnSpc>
              <a:spcBef>
                <a:spcPts val="0"/>
              </a:spcBef>
              <a:spcAft>
                <a:spcPts val="0"/>
              </a:spcAft>
            </a:pPr>
            <a:r>
              <a:rPr sz="2100" b="0" i="0">
                <a:solidFill>
                  <a:srgbClr val="14181B"/>
                </a:solidFill>
                <a:latin typeface="Segoe UI"/>
              </a:rPr>
              <a:t>TF-IDF + LogReg
(BanglaBERT not run)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ECEEEB"/>
        </a:solidFill>
        <a:effectLst/>
      </p:bgPr>
    </p:bg>
    <p:spTree>
      <p:nvGrpSpPr>
        <p:cNvPr id="1" name=""/>
        <p:cNvGrpSpPr/>
        <p:nvPr/>
      </p:nvGrpSpPr>
      <p:grpSpPr>
        <a:xfrm>
          <a:off x="0" y="0"/>
          <a:ext cx="0" cy="0"/>
          <a:chOff x="0" y="0"/>
          <a:chExt cx="0" cy="0"/>
        </a:xfrm>
      </p:grpSpPr>
      <p:sp>
        <p:nvSpPr>
          <p:cNvPr id="2" name="TextBox 1"/>
          <p:cNvSpPr txBox="1"/>
          <p:nvPr/>
        </p:nvSpPr>
        <p:spPr>
          <a:xfrm>
            <a:off x="10618927" y="6309359"/>
            <a:ext cx="914400" cy="274320"/>
          </a:xfrm>
          <a:prstGeom prst="rect">
            <a:avLst/>
          </a:prstGeom>
          <a:noFill/>
        </p:spPr>
        <p:txBody>
          <a:bodyPr wrap="square" lIns="0" tIns="0" rIns="0" bIns="0" anchor="t">
            <a:spAutoFit/>
          </a:bodyPr>
          <a:lstStyle/>
          <a:p>
            <a:pPr algn="r">
              <a:lnSpc>
                <a:spcPct val="118000"/>
              </a:lnSpc>
              <a:spcBef>
                <a:spcPts val="0"/>
              </a:spcBef>
              <a:spcAft>
                <a:spcPts val="0"/>
              </a:spcAft>
            </a:pPr>
            <a:r>
              <a:rPr sz="2100" b="0" i="0">
                <a:solidFill>
                  <a:srgbClr val="6B787D"/>
                </a:solidFill>
                <a:latin typeface="Consolas"/>
              </a:rPr>
              <a:t>02</a:t>
            </a:r>
          </a:p>
        </p:txBody>
      </p:sp>
      <p:sp>
        <p:nvSpPr>
          <p:cNvPr id="3" name="TextBox 2"/>
          <p:cNvSpPr txBox="1"/>
          <p:nvPr/>
        </p:nvSpPr>
        <p:spPr>
          <a:xfrm>
            <a:off x="658368" y="420624"/>
            <a:ext cx="10874959" cy="310896"/>
          </a:xfrm>
          <a:prstGeom prst="rect">
            <a:avLst/>
          </a:prstGeom>
          <a:noFill/>
        </p:spPr>
        <p:txBody>
          <a:bodyPr wrap="square" lIns="0" tIns="0" rIns="0" bIns="0" anchor="t">
            <a:spAutoFit/>
          </a:bodyPr>
          <a:lstStyle/>
          <a:p>
            <a:pPr algn="l">
              <a:lnSpc>
                <a:spcPct val="118000"/>
              </a:lnSpc>
              <a:spcBef>
                <a:spcPts val="0"/>
              </a:spcBef>
              <a:spcAft>
                <a:spcPts val="0"/>
              </a:spcAft>
            </a:pPr>
            <a:r>
              <a:rPr sz="2100" b="1" i="0">
                <a:solidFill>
                  <a:srgbClr val="2E8FA3"/>
                </a:solidFill>
                <a:latin typeface="Consolas"/>
              </a:rPr>
              <a:t>01 / THE DATA</a:t>
            </a:r>
          </a:p>
        </p:txBody>
      </p:sp>
      <p:sp>
        <p:nvSpPr>
          <p:cNvPr id="4" name="TextBox 3"/>
          <p:cNvSpPr txBox="1"/>
          <p:nvPr/>
        </p:nvSpPr>
        <p:spPr>
          <a:xfrm>
            <a:off x="658368" y="822960"/>
            <a:ext cx="10874959" cy="822960"/>
          </a:xfrm>
          <a:prstGeom prst="rect">
            <a:avLst/>
          </a:prstGeom>
          <a:noFill/>
        </p:spPr>
        <p:txBody>
          <a:bodyPr wrap="square" lIns="0" tIns="0" rIns="0" bIns="0" anchor="t">
            <a:spAutoFit/>
          </a:bodyPr>
          <a:lstStyle/>
          <a:p>
            <a:pPr algn="l">
              <a:lnSpc>
                <a:spcPct val="106000"/>
              </a:lnSpc>
              <a:spcBef>
                <a:spcPts val="0"/>
              </a:spcBef>
              <a:spcAft>
                <a:spcPts val="0"/>
              </a:spcAft>
            </a:pPr>
            <a:r>
              <a:rPr sz="3600" b="1" i="0">
                <a:solidFill>
                  <a:srgbClr val="14181B"/>
                </a:solidFill>
                <a:latin typeface="Segoe UI"/>
              </a:rPr>
              <a:t>The corpus at a glance</a:t>
            </a:r>
          </a:p>
        </p:txBody>
      </p:sp>
      <p:sp>
        <p:nvSpPr>
          <p:cNvPr id="5" name="Rectangle 4"/>
          <p:cNvSpPr/>
          <p:nvPr/>
        </p:nvSpPr>
        <p:spPr>
          <a:xfrm>
            <a:off x="658368" y="1664208"/>
            <a:ext cx="10874959" cy="1078992"/>
          </a:xfrm>
          <a:prstGeom prst="rect">
            <a:avLst/>
          </a:prstGeom>
          <a:solidFill>
            <a:srgbClr val="F8F9F7"/>
          </a:solidFill>
          <a:ln w="12700">
            <a:solidFill>
              <a:srgbClr val="C3CBC6"/>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6" name="TextBox 5"/>
          <p:cNvSpPr txBox="1"/>
          <p:nvPr/>
        </p:nvSpPr>
        <p:spPr>
          <a:xfrm>
            <a:off x="841247" y="1783080"/>
            <a:ext cx="1864095" cy="528734"/>
          </a:xfrm>
          <a:prstGeom prst="rect">
            <a:avLst/>
          </a:prstGeom>
          <a:noFill/>
        </p:spPr>
        <p:txBody>
          <a:bodyPr wrap="square" lIns="0" tIns="0" rIns="0" bIns="0" anchor="t">
            <a:spAutoFit/>
          </a:bodyPr>
          <a:lstStyle/>
          <a:p>
            <a:pPr algn="l">
              <a:lnSpc>
                <a:spcPct val="118000"/>
              </a:lnSpc>
              <a:spcBef>
                <a:spcPts val="0"/>
              </a:spcBef>
              <a:spcAft>
                <a:spcPts val="0"/>
              </a:spcAft>
            </a:pPr>
            <a:r>
              <a:rPr lang="en-US" sz="3200" b="1" dirty="0">
                <a:solidFill>
                  <a:srgbClr val="14181B"/>
                </a:solidFill>
                <a:latin typeface="Segoe UI"/>
              </a:rPr>
              <a:t>30</a:t>
            </a:r>
            <a:endParaRPr sz="3200" b="1" i="0" dirty="0">
              <a:solidFill>
                <a:srgbClr val="14181B"/>
              </a:solidFill>
              <a:latin typeface="Segoe UI"/>
            </a:endParaRPr>
          </a:p>
        </p:txBody>
      </p:sp>
      <p:sp>
        <p:nvSpPr>
          <p:cNvPr id="7" name="TextBox 6"/>
          <p:cNvSpPr txBox="1"/>
          <p:nvPr/>
        </p:nvSpPr>
        <p:spPr>
          <a:xfrm>
            <a:off x="841247" y="2231136"/>
            <a:ext cx="1900671" cy="292608"/>
          </a:xfrm>
          <a:prstGeom prst="rect">
            <a:avLst/>
          </a:prstGeom>
          <a:noFill/>
        </p:spPr>
        <p:txBody>
          <a:bodyPr wrap="square" lIns="0" tIns="0" rIns="0" bIns="0" anchor="t">
            <a:spAutoFit/>
          </a:bodyPr>
          <a:lstStyle/>
          <a:p>
            <a:pPr algn="l">
              <a:lnSpc>
                <a:spcPct val="118000"/>
              </a:lnSpc>
              <a:spcBef>
                <a:spcPts val="0"/>
              </a:spcBef>
              <a:spcAft>
                <a:spcPts val="0"/>
              </a:spcAft>
            </a:pPr>
            <a:r>
              <a:rPr sz="2100" b="0" i="0">
                <a:solidFill>
                  <a:srgbClr val="6B787D"/>
                </a:solidFill>
                <a:latin typeface="Consolas"/>
              </a:rPr>
              <a:t>EPISODES</a:t>
            </a:r>
          </a:p>
        </p:txBody>
      </p:sp>
      <p:sp>
        <p:nvSpPr>
          <p:cNvPr id="8" name="Rectangle 7"/>
          <p:cNvSpPr/>
          <p:nvPr/>
        </p:nvSpPr>
        <p:spPr>
          <a:xfrm>
            <a:off x="2833359" y="1755648"/>
            <a:ext cx="7315" cy="896112"/>
          </a:xfrm>
          <a:prstGeom prst="rect">
            <a:avLst/>
          </a:prstGeom>
          <a:solidFill>
            <a:srgbClr val="C3CBC6"/>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 name="TextBox 8"/>
          <p:cNvSpPr txBox="1"/>
          <p:nvPr/>
        </p:nvSpPr>
        <p:spPr>
          <a:xfrm>
            <a:off x="3016239" y="1783080"/>
            <a:ext cx="1864095" cy="420624"/>
          </a:xfrm>
          <a:prstGeom prst="rect">
            <a:avLst/>
          </a:prstGeom>
          <a:noFill/>
        </p:spPr>
        <p:txBody>
          <a:bodyPr wrap="square" lIns="0" tIns="0" rIns="0" bIns="0" anchor="t">
            <a:spAutoFit/>
          </a:bodyPr>
          <a:lstStyle/>
          <a:p>
            <a:pPr algn="l">
              <a:lnSpc>
                <a:spcPct val="118000"/>
              </a:lnSpc>
              <a:spcBef>
                <a:spcPts val="0"/>
              </a:spcBef>
              <a:spcAft>
                <a:spcPts val="0"/>
              </a:spcAft>
            </a:pPr>
            <a:r>
              <a:rPr sz="3200" b="1" i="0">
                <a:solidFill>
                  <a:srgbClr val="14181B"/>
                </a:solidFill>
                <a:latin typeface="Segoe UI"/>
              </a:rPr>
              <a:t>16.88</a:t>
            </a:r>
          </a:p>
        </p:txBody>
      </p:sp>
      <p:sp>
        <p:nvSpPr>
          <p:cNvPr id="10" name="TextBox 9"/>
          <p:cNvSpPr txBox="1"/>
          <p:nvPr/>
        </p:nvSpPr>
        <p:spPr>
          <a:xfrm>
            <a:off x="3016239" y="2231136"/>
            <a:ext cx="1900671" cy="292608"/>
          </a:xfrm>
          <a:prstGeom prst="rect">
            <a:avLst/>
          </a:prstGeom>
          <a:noFill/>
        </p:spPr>
        <p:txBody>
          <a:bodyPr wrap="square" lIns="0" tIns="0" rIns="0" bIns="0" anchor="t">
            <a:spAutoFit/>
          </a:bodyPr>
          <a:lstStyle/>
          <a:p>
            <a:pPr algn="l">
              <a:lnSpc>
                <a:spcPct val="118000"/>
              </a:lnSpc>
              <a:spcBef>
                <a:spcPts val="0"/>
              </a:spcBef>
              <a:spcAft>
                <a:spcPts val="0"/>
              </a:spcAft>
            </a:pPr>
            <a:r>
              <a:rPr sz="2100" b="0" i="0">
                <a:solidFill>
                  <a:srgbClr val="6B787D"/>
                </a:solidFill>
                <a:latin typeface="Consolas"/>
              </a:rPr>
              <a:t>HOURS</a:t>
            </a:r>
          </a:p>
        </p:txBody>
      </p:sp>
      <p:sp>
        <p:nvSpPr>
          <p:cNvPr id="11" name="Rectangle 10"/>
          <p:cNvSpPr/>
          <p:nvPr/>
        </p:nvSpPr>
        <p:spPr>
          <a:xfrm>
            <a:off x="5008351" y="1755648"/>
            <a:ext cx="7315" cy="896112"/>
          </a:xfrm>
          <a:prstGeom prst="rect">
            <a:avLst/>
          </a:prstGeom>
          <a:solidFill>
            <a:srgbClr val="C3CBC6"/>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2" name="TextBox 11"/>
          <p:cNvSpPr txBox="1"/>
          <p:nvPr/>
        </p:nvSpPr>
        <p:spPr>
          <a:xfrm>
            <a:off x="5191231" y="1783080"/>
            <a:ext cx="1864095" cy="420624"/>
          </a:xfrm>
          <a:prstGeom prst="rect">
            <a:avLst/>
          </a:prstGeom>
          <a:noFill/>
        </p:spPr>
        <p:txBody>
          <a:bodyPr wrap="square" lIns="0" tIns="0" rIns="0" bIns="0" anchor="t">
            <a:spAutoFit/>
          </a:bodyPr>
          <a:lstStyle/>
          <a:p>
            <a:pPr algn="l">
              <a:lnSpc>
                <a:spcPct val="118000"/>
              </a:lnSpc>
              <a:spcBef>
                <a:spcPts val="0"/>
              </a:spcBef>
              <a:spcAft>
                <a:spcPts val="0"/>
              </a:spcAft>
            </a:pPr>
            <a:r>
              <a:rPr sz="3200" b="1" i="0">
                <a:solidFill>
                  <a:srgbClr val="14181B"/>
                </a:solidFill>
                <a:latin typeface="Segoe UI"/>
              </a:rPr>
              <a:t>1,867</a:t>
            </a:r>
          </a:p>
        </p:txBody>
      </p:sp>
      <p:sp>
        <p:nvSpPr>
          <p:cNvPr id="13" name="TextBox 12"/>
          <p:cNvSpPr txBox="1"/>
          <p:nvPr/>
        </p:nvSpPr>
        <p:spPr>
          <a:xfrm>
            <a:off x="5191231" y="2231136"/>
            <a:ext cx="1900671" cy="292608"/>
          </a:xfrm>
          <a:prstGeom prst="rect">
            <a:avLst/>
          </a:prstGeom>
          <a:noFill/>
        </p:spPr>
        <p:txBody>
          <a:bodyPr wrap="square" lIns="0" tIns="0" rIns="0" bIns="0" anchor="t">
            <a:spAutoFit/>
          </a:bodyPr>
          <a:lstStyle/>
          <a:p>
            <a:pPr algn="l">
              <a:lnSpc>
                <a:spcPct val="118000"/>
              </a:lnSpc>
              <a:spcBef>
                <a:spcPts val="0"/>
              </a:spcBef>
              <a:spcAft>
                <a:spcPts val="0"/>
              </a:spcAft>
            </a:pPr>
            <a:r>
              <a:rPr sz="2100" b="0" i="0">
                <a:solidFill>
                  <a:srgbClr val="6B787D"/>
                </a:solidFill>
                <a:latin typeface="Consolas"/>
              </a:rPr>
              <a:t>SPEAKER TURNS</a:t>
            </a:r>
          </a:p>
        </p:txBody>
      </p:sp>
      <p:sp>
        <p:nvSpPr>
          <p:cNvPr id="14" name="Rectangle 13"/>
          <p:cNvSpPr/>
          <p:nvPr/>
        </p:nvSpPr>
        <p:spPr>
          <a:xfrm>
            <a:off x="7183343" y="1755648"/>
            <a:ext cx="7315" cy="896112"/>
          </a:xfrm>
          <a:prstGeom prst="rect">
            <a:avLst/>
          </a:prstGeom>
          <a:solidFill>
            <a:srgbClr val="C3CBC6"/>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5" name="TextBox 14"/>
          <p:cNvSpPr txBox="1"/>
          <p:nvPr/>
        </p:nvSpPr>
        <p:spPr>
          <a:xfrm>
            <a:off x="7366223" y="1783080"/>
            <a:ext cx="1864095" cy="420624"/>
          </a:xfrm>
          <a:prstGeom prst="rect">
            <a:avLst/>
          </a:prstGeom>
          <a:noFill/>
        </p:spPr>
        <p:txBody>
          <a:bodyPr wrap="square" lIns="0" tIns="0" rIns="0" bIns="0" anchor="t">
            <a:spAutoFit/>
          </a:bodyPr>
          <a:lstStyle/>
          <a:p>
            <a:pPr algn="l">
              <a:lnSpc>
                <a:spcPct val="118000"/>
              </a:lnSpc>
              <a:spcBef>
                <a:spcPts val="0"/>
              </a:spcBef>
              <a:spcAft>
                <a:spcPts val="0"/>
              </a:spcAft>
            </a:pPr>
            <a:r>
              <a:rPr sz="3200" b="1" i="0">
                <a:solidFill>
                  <a:srgbClr val="14181B"/>
                </a:solidFill>
                <a:latin typeface="Segoe UI"/>
              </a:rPr>
              <a:t>130,750</a:t>
            </a:r>
          </a:p>
        </p:txBody>
      </p:sp>
      <p:sp>
        <p:nvSpPr>
          <p:cNvPr id="16" name="TextBox 15"/>
          <p:cNvSpPr txBox="1"/>
          <p:nvPr/>
        </p:nvSpPr>
        <p:spPr>
          <a:xfrm>
            <a:off x="7366223" y="2231136"/>
            <a:ext cx="1900671" cy="292608"/>
          </a:xfrm>
          <a:prstGeom prst="rect">
            <a:avLst/>
          </a:prstGeom>
          <a:noFill/>
        </p:spPr>
        <p:txBody>
          <a:bodyPr wrap="square" lIns="0" tIns="0" rIns="0" bIns="0" anchor="t">
            <a:spAutoFit/>
          </a:bodyPr>
          <a:lstStyle/>
          <a:p>
            <a:pPr algn="l">
              <a:lnSpc>
                <a:spcPct val="118000"/>
              </a:lnSpc>
              <a:spcBef>
                <a:spcPts val="0"/>
              </a:spcBef>
              <a:spcAft>
                <a:spcPts val="0"/>
              </a:spcAft>
            </a:pPr>
            <a:r>
              <a:rPr sz="2100" b="0" i="0">
                <a:solidFill>
                  <a:srgbClr val="6B787D"/>
                </a:solidFill>
                <a:latin typeface="Consolas"/>
              </a:rPr>
              <a:t>WORDS</a:t>
            </a:r>
          </a:p>
        </p:txBody>
      </p:sp>
      <p:sp>
        <p:nvSpPr>
          <p:cNvPr id="17" name="Rectangle 16"/>
          <p:cNvSpPr/>
          <p:nvPr/>
        </p:nvSpPr>
        <p:spPr>
          <a:xfrm>
            <a:off x="9358335" y="1755648"/>
            <a:ext cx="7315" cy="896112"/>
          </a:xfrm>
          <a:prstGeom prst="rect">
            <a:avLst/>
          </a:prstGeom>
          <a:solidFill>
            <a:srgbClr val="C3CBC6"/>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8" name="TextBox 17"/>
          <p:cNvSpPr txBox="1"/>
          <p:nvPr/>
        </p:nvSpPr>
        <p:spPr>
          <a:xfrm>
            <a:off x="9541215" y="1783080"/>
            <a:ext cx="1864095" cy="420624"/>
          </a:xfrm>
          <a:prstGeom prst="rect">
            <a:avLst/>
          </a:prstGeom>
          <a:noFill/>
        </p:spPr>
        <p:txBody>
          <a:bodyPr wrap="square" lIns="0" tIns="0" rIns="0" bIns="0" anchor="t">
            <a:spAutoFit/>
          </a:bodyPr>
          <a:lstStyle/>
          <a:p>
            <a:pPr algn="l">
              <a:lnSpc>
                <a:spcPct val="118000"/>
              </a:lnSpc>
              <a:spcBef>
                <a:spcPts val="0"/>
              </a:spcBef>
              <a:spcAft>
                <a:spcPts val="0"/>
              </a:spcAft>
            </a:pPr>
            <a:r>
              <a:rPr sz="3200" b="1" i="0">
                <a:solidFill>
                  <a:srgbClr val="14181B"/>
                </a:solidFill>
                <a:latin typeface="Segoe UI"/>
              </a:rPr>
              <a:t>3,532</a:t>
            </a:r>
          </a:p>
        </p:txBody>
      </p:sp>
      <p:sp>
        <p:nvSpPr>
          <p:cNvPr id="19" name="TextBox 18"/>
          <p:cNvSpPr txBox="1"/>
          <p:nvPr/>
        </p:nvSpPr>
        <p:spPr>
          <a:xfrm>
            <a:off x="9541215" y="2231136"/>
            <a:ext cx="1900671" cy="292608"/>
          </a:xfrm>
          <a:prstGeom prst="rect">
            <a:avLst/>
          </a:prstGeom>
          <a:noFill/>
        </p:spPr>
        <p:txBody>
          <a:bodyPr wrap="square" lIns="0" tIns="0" rIns="0" bIns="0" anchor="t">
            <a:spAutoFit/>
          </a:bodyPr>
          <a:lstStyle/>
          <a:p>
            <a:pPr algn="l">
              <a:lnSpc>
                <a:spcPct val="118000"/>
              </a:lnSpc>
              <a:spcBef>
                <a:spcPts val="0"/>
              </a:spcBef>
              <a:spcAft>
                <a:spcPts val="0"/>
              </a:spcAft>
            </a:pPr>
            <a:r>
              <a:rPr sz="2100" b="0" i="0">
                <a:solidFill>
                  <a:srgbClr val="6B787D"/>
                </a:solidFill>
                <a:latin typeface="Consolas"/>
              </a:rPr>
              <a:t>UTTERANCES</a:t>
            </a:r>
          </a:p>
        </p:txBody>
      </p:sp>
      <p:graphicFrame>
        <p:nvGraphicFramePr>
          <p:cNvPr id="20" name="Table 19"/>
          <p:cNvGraphicFramePr>
            <a:graphicFrameLocks noGrp="1"/>
          </p:cNvGraphicFramePr>
          <p:nvPr>
            <p:extLst>
              <p:ext uri="{D42A27DB-BD31-4B8C-83A1-F6EECF244321}">
                <p14:modId xmlns:p14="http://schemas.microsoft.com/office/powerpoint/2010/main" val="999847901"/>
              </p:ext>
            </p:extLst>
          </p:nvPr>
        </p:nvGraphicFramePr>
        <p:xfrm>
          <a:off x="658368" y="2980944"/>
          <a:ext cx="10874957" cy="3035808"/>
        </p:xfrm>
        <a:graphic>
          <a:graphicData uri="http://schemas.openxmlformats.org/drawingml/2006/table">
            <a:tbl>
              <a:tblPr>
                <a:tableStyleId>{5C22544A-7EE6-4342-B048-85BDC9FD1C3A}</a:tableStyleId>
              </a:tblPr>
              <a:tblGrid>
                <a:gridCol w="2098676">
                  <a:extLst>
                    <a:ext uri="{9D8B030D-6E8A-4147-A177-3AD203B41FA5}">
                      <a16:colId xmlns:a16="http://schemas.microsoft.com/office/drawing/2014/main" val="20000"/>
                    </a:ext>
                  </a:extLst>
                </a:gridCol>
                <a:gridCol w="1907887">
                  <a:extLst>
                    <a:ext uri="{9D8B030D-6E8A-4147-A177-3AD203B41FA5}">
                      <a16:colId xmlns:a16="http://schemas.microsoft.com/office/drawing/2014/main" val="20001"/>
                    </a:ext>
                  </a:extLst>
                </a:gridCol>
                <a:gridCol w="1907887">
                  <a:extLst>
                    <a:ext uri="{9D8B030D-6E8A-4147-A177-3AD203B41FA5}">
                      <a16:colId xmlns:a16="http://schemas.microsoft.com/office/drawing/2014/main" val="20002"/>
                    </a:ext>
                  </a:extLst>
                </a:gridCol>
                <a:gridCol w="4960507">
                  <a:extLst>
                    <a:ext uri="{9D8B030D-6E8A-4147-A177-3AD203B41FA5}">
                      <a16:colId xmlns:a16="http://schemas.microsoft.com/office/drawing/2014/main" val="20003"/>
                    </a:ext>
                  </a:extLst>
                </a:gridCol>
              </a:tblGrid>
              <a:tr h="379476">
                <a:tc>
                  <a:txBody>
                    <a:bodyPr/>
                    <a:lstStyle/>
                    <a:p>
                      <a:pPr algn="l"/>
                      <a:r>
                        <a:rPr sz="2100" b="1" i="0">
                          <a:solidFill>
                            <a:srgbClr val="6B787D"/>
                          </a:solidFill>
                          <a:latin typeface="Consolas"/>
                        </a:rPr>
                        <a:t>Roll</a:t>
                      </a:r>
                    </a:p>
                  </a:txBody>
                  <a:tcPr marL="100584" marR="100584" marT="27432" marB="27432" anchor="ctr">
                    <a:solidFill>
                      <a:srgbClr val="E0E5E1"/>
                    </a:solidFill>
                  </a:tcPr>
                </a:tc>
                <a:tc>
                  <a:txBody>
                    <a:bodyPr/>
                    <a:lstStyle/>
                    <a:p>
                      <a:pPr algn="r"/>
                      <a:r>
                        <a:rPr sz="2100" b="1" i="0">
                          <a:solidFill>
                            <a:srgbClr val="6B787D"/>
                          </a:solidFill>
                          <a:latin typeface="Consolas"/>
                        </a:rPr>
                        <a:t>Episodes</a:t>
                      </a:r>
                    </a:p>
                  </a:txBody>
                  <a:tcPr marL="100584" marR="100584" marT="27432" marB="27432" anchor="ctr">
                    <a:solidFill>
                      <a:srgbClr val="E0E5E1"/>
                    </a:solidFill>
                  </a:tcPr>
                </a:tc>
                <a:tc>
                  <a:txBody>
                    <a:bodyPr/>
                    <a:lstStyle/>
                    <a:p>
                      <a:pPr algn="r"/>
                      <a:r>
                        <a:rPr sz="2100" b="1" i="0">
                          <a:solidFill>
                            <a:srgbClr val="6B787D"/>
                          </a:solidFill>
                          <a:latin typeface="Consolas"/>
                        </a:rPr>
                        <a:t>Words</a:t>
                      </a:r>
                    </a:p>
                  </a:txBody>
                  <a:tcPr marL="100584" marR="100584" marT="27432" marB="27432" anchor="ctr">
                    <a:solidFill>
                      <a:srgbClr val="E0E5E1"/>
                    </a:solidFill>
                  </a:tcPr>
                </a:tc>
                <a:tc>
                  <a:txBody>
                    <a:bodyPr/>
                    <a:lstStyle/>
                    <a:p>
                      <a:pPr algn="l"/>
                      <a:r>
                        <a:rPr sz="2100" b="1" i="0">
                          <a:solidFill>
                            <a:srgbClr val="6B787D"/>
                          </a:solidFill>
                          <a:latin typeface="Consolas"/>
                        </a:rPr>
                        <a:t>Programmes</a:t>
                      </a:r>
                    </a:p>
                  </a:txBody>
                  <a:tcPr marL="100584" marR="100584" marT="27432" marB="27432" anchor="ctr">
                    <a:solidFill>
                      <a:srgbClr val="E0E5E1"/>
                    </a:solidFill>
                  </a:tcPr>
                </a:tc>
                <a:extLst>
                  <a:ext uri="{0D108BD9-81ED-4DB2-BD59-A6C34878D82A}">
                    <a16:rowId xmlns:a16="http://schemas.microsoft.com/office/drawing/2014/main" val="10000"/>
                  </a:ext>
                </a:extLst>
              </a:tr>
              <a:tr h="379476">
                <a:tc>
                  <a:txBody>
                    <a:bodyPr/>
                    <a:lstStyle/>
                    <a:p>
                      <a:pPr algn="l"/>
                      <a:r>
                        <a:rPr sz="2100" b="0" i="0">
                          <a:solidFill>
                            <a:srgbClr val="14181B"/>
                          </a:solidFill>
                          <a:latin typeface="Segoe UI"/>
                        </a:rPr>
                        <a:t>2107001</a:t>
                      </a:r>
                    </a:p>
                  </a:txBody>
                  <a:tcPr marL="100584" marR="100584" marT="27432" marB="27432" anchor="ctr">
                    <a:solidFill>
                      <a:srgbClr val="F8F9F7"/>
                    </a:solidFill>
                  </a:tcPr>
                </a:tc>
                <a:tc>
                  <a:txBody>
                    <a:bodyPr/>
                    <a:lstStyle/>
                    <a:p>
                      <a:pPr algn="r"/>
                      <a:r>
                        <a:rPr sz="2100" b="0" i="0">
                          <a:solidFill>
                            <a:srgbClr val="14181B"/>
                          </a:solidFill>
                          <a:latin typeface="Consolas"/>
                        </a:rPr>
                        <a:t>4</a:t>
                      </a:r>
                    </a:p>
                  </a:txBody>
                  <a:tcPr marL="100584" marR="100584" marT="27432" marB="27432" anchor="ctr">
                    <a:solidFill>
                      <a:srgbClr val="F8F9F7"/>
                    </a:solidFill>
                  </a:tcPr>
                </a:tc>
                <a:tc>
                  <a:txBody>
                    <a:bodyPr/>
                    <a:lstStyle/>
                    <a:p>
                      <a:pPr algn="r"/>
                      <a:r>
                        <a:rPr sz="2100" b="0" i="0">
                          <a:solidFill>
                            <a:srgbClr val="14181B"/>
                          </a:solidFill>
                          <a:latin typeface="Consolas"/>
                        </a:rPr>
                        <a:t>21,500</a:t>
                      </a:r>
                    </a:p>
                  </a:txBody>
                  <a:tcPr marL="100584" marR="100584" marT="27432" marB="27432" anchor="ctr">
                    <a:solidFill>
                      <a:srgbClr val="F8F9F7"/>
                    </a:solidFill>
                  </a:tcPr>
                </a:tc>
                <a:tc>
                  <a:txBody>
                    <a:bodyPr/>
                    <a:lstStyle/>
                    <a:p>
                      <a:pPr algn="l"/>
                      <a:r>
                        <a:rPr sz="2100" b="0" i="0">
                          <a:solidFill>
                            <a:srgbClr val="14181B"/>
                          </a:solidFill>
                          <a:latin typeface="Segoe UI"/>
                        </a:rPr>
                        <a:t>Business Talk, ATN</a:t>
                      </a:r>
                    </a:p>
                  </a:txBody>
                  <a:tcPr marL="100584" marR="100584" marT="27432" marB="27432" anchor="ctr">
                    <a:solidFill>
                      <a:srgbClr val="F8F9F7"/>
                    </a:solidFill>
                  </a:tcPr>
                </a:tc>
                <a:extLst>
                  <a:ext uri="{0D108BD9-81ED-4DB2-BD59-A6C34878D82A}">
                    <a16:rowId xmlns:a16="http://schemas.microsoft.com/office/drawing/2014/main" val="10001"/>
                  </a:ext>
                </a:extLst>
              </a:tr>
              <a:tr h="379476">
                <a:tc>
                  <a:txBody>
                    <a:bodyPr/>
                    <a:lstStyle/>
                    <a:p>
                      <a:pPr algn="l"/>
                      <a:r>
                        <a:rPr sz="2100" b="0" i="0">
                          <a:solidFill>
                            <a:srgbClr val="14181B"/>
                          </a:solidFill>
                          <a:latin typeface="Segoe UI"/>
                        </a:rPr>
                        <a:t>2107004</a:t>
                      </a:r>
                    </a:p>
                  </a:txBody>
                  <a:tcPr marL="100584" marR="100584" marT="27432" marB="27432" anchor="ctr">
                    <a:solidFill>
                      <a:srgbClr val="F8F9F7"/>
                    </a:solidFill>
                  </a:tcPr>
                </a:tc>
                <a:tc>
                  <a:txBody>
                    <a:bodyPr/>
                    <a:lstStyle/>
                    <a:p>
                      <a:pPr algn="r"/>
                      <a:r>
                        <a:rPr sz="2100" b="0" i="0">
                          <a:solidFill>
                            <a:srgbClr val="14181B"/>
                          </a:solidFill>
                          <a:latin typeface="Consolas"/>
                        </a:rPr>
                        <a:t>6</a:t>
                      </a:r>
                    </a:p>
                  </a:txBody>
                  <a:tcPr marL="100584" marR="100584" marT="27432" marB="27432" anchor="ctr">
                    <a:solidFill>
                      <a:srgbClr val="F8F9F7"/>
                    </a:solidFill>
                  </a:tcPr>
                </a:tc>
                <a:tc>
                  <a:txBody>
                    <a:bodyPr/>
                    <a:lstStyle/>
                    <a:p>
                      <a:pPr algn="r"/>
                      <a:r>
                        <a:rPr sz="2100" b="0" i="0">
                          <a:solidFill>
                            <a:srgbClr val="14181B"/>
                          </a:solidFill>
                          <a:latin typeface="Consolas"/>
                        </a:rPr>
                        <a:t>29,383</a:t>
                      </a:r>
                    </a:p>
                  </a:txBody>
                  <a:tcPr marL="100584" marR="100584" marT="27432" marB="27432" anchor="ctr">
                    <a:solidFill>
                      <a:srgbClr val="F8F9F7"/>
                    </a:solidFill>
                  </a:tcPr>
                </a:tc>
                <a:tc>
                  <a:txBody>
                    <a:bodyPr/>
                    <a:lstStyle/>
                    <a:p>
                      <a:pPr algn="l"/>
                      <a:r>
                        <a:rPr sz="2100" b="0" i="0">
                          <a:solidFill>
                            <a:srgbClr val="14181B"/>
                          </a:solidFill>
                          <a:latin typeface="Segoe UI"/>
                        </a:rPr>
                        <a:t>Star Biz, Dhaka Stream</a:t>
                      </a:r>
                    </a:p>
                  </a:txBody>
                  <a:tcPr marL="100584" marR="100584" marT="27432" marB="27432" anchor="ctr">
                    <a:solidFill>
                      <a:srgbClr val="F8F9F7"/>
                    </a:solidFill>
                  </a:tcPr>
                </a:tc>
                <a:extLst>
                  <a:ext uri="{0D108BD9-81ED-4DB2-BD59-A6C34878D82A}">
                    <a16:rowId xmlns:a16="http://schemas.microsoft.com/office/drawing/2014/main" val="10002"/>
                  </a:ext>
                </a:extLst>
              </a:tr>
              <a:tr h="379476">
                <a:tc>
                  <a:txBody>
                    <a:bodyPr/>
                    <a:lstStyle/>
                    <a:p>
                      <a:pPr algn="l"/>
                      <a:r>
                        <a:rPr sz="2100" b="0" i="0">
                          <a:solidFill>
                            <a:srgbClr val="14181B"/>
                          </a:solidFill>
                          <a:latin typeface="Segoe UI"/>
                        </a:rPr>
                        <a:t>2107006</a:t>
                      </a:r>
                    </a:p>
                  </a:txBody>
                  <a:tcPr marL="100584" marR="100584" marT="27432" marB="27432" anchor="ctr">
                    <a:solidFill>
                      <a:srgbClr val="F8F9F7"/>
                    </a:solidFill>
                  </a:tcPr>
                </a:tc>
                <a:tc>
                  <a:txBody>
                    <a:bodyPr/>
                    <a:lstStyle/>
                    <a:p>
                      <a:pPr algn="r"/>
                      <a:r>
                        <a:rPr sz="2100" b="0" i="0">
                          <a:solidFill>
                            <a:srgbClr val="14181B"/>
                          </a:solidFill>
                          <a:latin typeface="Consolas"/>
                        </a:rPr>
                        <a:t>5</a:t>
                      </a:r>
                    </a:p>
                  </a:txBody>
                  <a:tcPr marL="100584" marR="100584" marT="27432" marB="27432" anchor="ctr">
                    <a:solidFill>
                      <a:srgbClr val="F8F9F7"/>
                    </a:solidFill>
                  </a:tcPr>
                </a:tc>
                <a:tc>
                  <a:txBody>
                    <a:bodyPr/>
                    <a:lstStyle/>
                    <a:p>
                      <a:pPr algn="r"/>
                      <a:r>
                        <a:rPr sz="2100" b="0" i="0">
                          <a:solidFill>
                            <a:srgbClr val="14181B"/>
                          </a:solidFill>
                          <a:latin typeface="Consolas"/>
                        </a:rPr>
                        <a:t>25,736</a:t>
                      </a:r>
                    </a:p>
                  </a:txBody>
                  <a:tcPr marL="100584" marR="100584" marT="27432" marB="27432" anchor="ctr">
                    <a:solidFill>
                      <a:srgbClr val="F8F9F7"/>
                    </a:solidFill>
                  </a:tcPr>
                </a:tc>
                <a:tc>
                  <a:txBody>
                    <a:bodyPr/>
                    <a:lstStyle/>
                    <a:p>
                      <a:pPr algn="l"/>
                      <a:r>
                        <a:rPr sz="2100" b="0" i="0">
                          <a:solidFill>
                            <a:srgbClr val="14181B"/>
                          </a:solidFill>
                          <a:latin typeface="Segoe UI"/>
                        </a:rPr>
                        <a:t>RTV Business Talk</a:t>
                      </a:r>
                    </a:p>
                  </a:txBody>
                  <a:tcPr marL="100584" marR="100584" marT="27432" marB="27432" anchor="ctr">
                    <a:solidFill>
                      <a:srgbClr val="F8F9F7"/>
                    </a:solidFill>
                  </a:tcPr>
                </a:tc>
                <a:extLst>
                  <a:ext uri="{0D108BD9-81ED-4DB2-BD59-A6C34878D82A}">
                    <a16:rowId xmlns:a16="http://schemas.microsoft.com/office/drawing/2014/main" val="10003"/>
                  </a:ext>
                </a:extLst>
              </a:tr>
              <a:tr h="379476">
                <a:tc>
                  <a:txBody>
                    <a:bodyPr/>
                    <a:lstStyle/>
                    <a:p>
                      <a:pPr algn="l"/>
                      <a:r>
                        <a:rPr sz="2100" b="0" i="0">
                          <a:solidFill>
                            <a:srgbClr val="14181B"/>
                          </a:solidFill>
                          <a:latin typeface="Segoe UI"/>
                        </a:rPr>
                        <a:t>2107009</a:t>
                      </a:r>
                    </a:p>
                  </a:txBody>
                  <a:tcPr marL="100584" marR="100584" marT="27432" marB="27432" anchor="ctr">
                    <a:solidFill>
                      <a:srgbClr val="F8F9F7"/>
                    </a:solidFill>
                  </a:tcPr>
                </a:tc>
                <a:tc>
                  <a:txBody>
                    <a:bodyPr/>
                    <a:lstStyle/>
                    <a:p>
                      <a:pPr algn="r"/>
                      <a:r>
                        <a:rPr sz="2100" b="0" i="0">
                          <a:solidFill>
                            <a:srgbClr val="14181B"/>
                          </a:solidFill>
                          <a:latin typeface="Consolas"/>
                        </a:rPr>
                        <a:t>5</a:t>
                      </a:r>
                    </a:p>
                  </a:txBody>
                  <a:tcPr marL="100584" marR="100584" marT="27432" marB="27432" anchor="ctr">
                    <a:solidFill>
                      <a:srgbClr val="F8F9F7"/>
                    </a:solidFill>
                  </a:tcPr>
                </a:tc>
                <a:tc>
                  <a:txBody>
                    <a:bodyPr/>
                    <a:lstStyle/>
                    <a:p>
                      <a:pPr algn="r"/>
                      <a:r>
                        <a:rPr sz="2100" b="0" i="0">
                          <a:solidFill>
                            <a:srgbClr val="14181B"/>
                          </a:solidFill>
                          <a:latin typeface="Consolas"/>
                        </a:rPr>
                        <a:t>23,447</a:t>
                      </a:r>
                    </a:p>
                  </a:txBody>
                  <a:tcPr marL="100584" marR="100584" marT="27432" marB="27432" anchor="ctr">
                    <a:solidFill>
                      <a:srgbClr val="F8F9F7"/>
                    </a:solidFill>
                  </a:tcPr>
                </a:tc>
                <a:tc>
                  <a:txBody>
                    <a:bodyPr/>
                    <a:lstStyle/>
                    <a:p>
                      <a:pPr algn="l"/>
                      <a:r>
                        <a:rPr sz="2100" b="0" i="0">
                          <a:solidFill>
                            <a:srgbClr val="14181B"/>
                          </a:solidFill>
                          <a:latin typeface="Segoe UI"/>
                        </a:rPr>
                        <a:t>Money Talks, Desh TV</a:t>
                      </a:r>
                    </a:p>
                  </a:txBody>
                  <a:tcPr marL="100584" marR="100584" marT="27432" marB="27432" anchor="ctr">
                    <a:solidFill>
                      <a:srgbClr val="F8F9F7"/>
                    </a:solidFill>
                  </a:tcPr>
                </a:tc>
                <a:extLst>
                  <a:ext uri="{0D108BD9-81ED-4DB2-BD59-A6C34878D82A}">
                    <a16:rowId xmlns:a16="http://schemas.microsoft.com/office/drawing/2014/main" val="10004"/>
                  </a:ext>
                </a:extLst>
              </a:tr>
              <a:tr h="379476">
                <a:tc>
                  <a:txBody>
                    <a:bodyPr/>
                    <a:lstStyle/>
                    <a:p>
                      <a:pPr algn="l"/>
                      <a:r>
                        <a:rPr sz="2100" b="0" i="0">
                          <a:solidFill>
                            <a:srgbClr val="14181B"/>
                          </a:solidFill>
                          <a:latin typeface="Segoe UI"/>
                        </a:rPr>
                        <a:t>2107010</a:t>
                      </a:r>
                    </a:p>
                  </a:txBody>
                  <a:tcPr marL="100584" marR="100584" marT="27432" marB="27432" anchor="ctr">
                    <a:solidFill>
                      <a:srgbClr val="F8F9F7"/>
                    </a:solidFill>
                  </a:tcPr>
                </a:tc>
                <a:tc>
                  <a:txBody>
                    <a:bodyPr/>
                    <a:lstStyle/>
                    <a:p>
                      <a:pPr algn="r"/>
                      <a:r>
                        <a:rPr lang="en-US" sz="2100" b="0" i="0" dirty="0">
                          <a:solidFill>
                            <a:srgbClr val="14181B"/>
                          </a:solidFill>
                          <a:latin typeface="Consolas"/>
                        </a:rPr>
                        <a:t>5</a:t>
                      </a:r>
                      <a:endParaRPr sz="2100" b="0" i="0" dirty="0">
                        <a:solidFill>
                          <a:srgbClr val="14181B"/>
                        </a:solidFill>
                        <a:latin typeface="Consolas"/>
                      </a:endParaRPr>
                    </a:p>
                  </a:txBody>
                  <a:tcPr marL="100584" marR="100584" marT="27432" marB="27432" anchor="ctr">
                    <a:solidFill>
                      <a:srgbClr val="F8F9F7"/>
                    </a:solidFill>
                  </a:tcPr>
                </a:tc>
                <a:tc>
                  <a:txBody>
                    <a:bodyPr/>
                    <a:lstStyle/>
                    <a:p>
                      <a:pPr algn="r"/>
                      <a:r>
                        <a:rPr sz="2100" b="0" i="0" dirty="0">
                          <a:solidFill>
                            <a:srgbClr val="14181B"/>
                          </a:solidFill>
                          <a:latin typeface="Consolas"/>
                        </a:rPr>
                        <a:t>2</a:t>
                      </a:r>
                      <a:r>
                        <a:rPr lang="en-US" sz="2100" b="0" i="0" dirty="0">
                          <a:solidFill>
                            <a:srgbClr val="14181B"/>
                          </a:solidFill>
                          <a:latin typeface="Consolas"/>
                        </a:rPr>
                        <a:t>3</a:t>
                      </a:r>
                      <a:r>
                        <a:rPr sz="2100" b="0" i="0" dirty="0">
                          <a:solidFill>
                            <a:srgbClr val="14181B"/>
                          </a:solidFill>
                          <a:latin typeface="Consolas"/>
                        </a:rPr>
                        <a:t>,960</a:t>
                      </a:r>
                    </a:p>
                  </a:txBody>
                  <a:tcPr marL="100584" marR="100584" marT="27432" marB="27432" anchor="ctr">
                    <a:solidFill>
                      <a:srgbClr val="F8F9F7"/>
                    </a:solidFill>
                  </a:tcPr>
                </a:tc>
                <a:tc>
                  <a:txBody>
                    <a:bodyPr/>
                    <a:lstStyle/>
                    <a:p>
                      <a:pPr algn="l"/>
                      <a:r>
                        <a:rPr sz="2100" b="0" i="0">
                          <a:solidFill>
                            <a:srgbClr val="14181B"/>
                          </a:solidFill>
                          <a:latin typeface="Segoe UI"/>
                        </a:rPr>
                        <a:t>Star Biz Dialogue</a:t>
                      </a:r>
                    </a:p>
                  </a:txBody>
                  <a:tcPr marL="100584" marR="100584" marT="27432" marB="27432" anchor="ctr">
                    <a:solidFill>
                      <a:srgbClr val="F8F9F7"/>
                    </a:solidFill>
                  </a:tcPr>
                </a:tc>
                <a:extLst>
                  <a:ext uri="{0D108BD9-81ED-4DB2-BD59-A6C34878D82A}">
                    <a16:rowId xmlns:a16="http://schemas.microsoft.com/office/drawing/2014/main" val="10005"/>
                  </a:ext>
                </a:extLst>
              </a:tr>
              <a:tr h="379476">
                <a:tc>
                  <a:txBody>
                    <a:bodyPr/>
                    <a:lstStyle/>
                    <a:p>
                      <a:pPr algn="l"/>
                      <a:r>
                        <a:rPr sz="2100" b="0" i="0">
                          <a:solidFill>
                            <a:srgbClr val="14181B"/>
                          </a:solidFill>
                          <a:latin typeface="Segoe UI"/>
                        </a:rPr>
                        <a:t>2107015</a:t>
                      </a:r>
                    </a:p>
                  </a:txBody>
                  <a:tcPr marL="100584" marR="100584" marT="27432" marB="27432" anchor="ctr">
                    <a:solidFill>
                      <a:srgbClr val="F8F9F7"/>
                    </a:solidFill>
                  </a:tcPr>
                </a:tc>
                <a:tc>
                  <a:txBody>
                    <a:bodyPr/>
                    <a:lstStyle/>
                    <a:p>
                      <a:pPr algn="r"/>
                      <a:r>
                        <a:rPr sz="2100" b="0" i="0">
                          <a:solidFill>
                            <a:srgbClr val="14181B"/>
                          </a:solidFill>
                          <a:latin typeface="Consolas"/>
                        </a:rPr>
                        <a:t>5</a:t>
                      </a:r>
                    </a:p>
                  </a:txBody>
                  <a:tcPr marL="100584" marR="100584" marT="27432" marB="27432" anchor="ctr">
                    <a:solidFill>
                      <a:srgbClr val="F8F9F7"/>
                    </a:solidFill>
                  </a:tcPr>
                </a:tc>
                <a:tc>
                  <a:txBody>
                    <a:bodyPr/>
                    <a:lstStyle/>
                    <a:p>
                      <a:pPr algn="r"/>
                      <a:r>
                        <a:rPr sz="2100" b="0" i="0">
                          <a:solidFill>
                            <a:srgbClr val="14181B"/>
                          </a:solidFill>
                          <a:latin typeface="Consolas"/>
                        </a:rPr>
                        <a:t>27,724</a:t>
                      </a:r>
                    </a:p>
                  </a:txBody>
                  <a:tcPr marL="100584" marR="100584" marT="27432" marB="27432" anchor="ctr">
                    <a:solidFill>
                      <a:srgbClr val="F8F9F7"/>
                    </a:solidFill>
                  </a:tcPr>
                </a:tc>
                <a:tc>
                  <a:txBody>
                    <a:bodyPr/>
                    <a:lstStyle/>
                    <a:p>
                      <a:pPr algn="l"/>
                      <a:r>
                        <a:rPr sz="2100" b="0" i="0">
                          <a:solidFill>
                            <a:srgbClr val="14181B"/>
                          </a:solidFill>
                          <a:latin typeface="Segoe UI"/>
                        </a:rPr>
                        <a:t>ATN, Gtv</a:t>
                      </a:r>
                    </a:p>
                  </a:txBody>
                  <a:tcPr marL="100584" marR="100584" marT="27432" marB="27432" anchor="ctr">
                    <a:solidFill>
                      <a:srgbClr val="F8F9F7"/>
                    </a:solidFill>
                  </a:tcPr>
                </a:tc>
                <a:extLst>
                  <a:ext uri="{0D108BD9-81ED-4DB2-BD59-A6C34878D82A}">
                    <a16:rowId xmlns:a16="http://schemas.microsoft.com/office/drawing/2014/main" val="10006"/>
                  </a:ext>
                </a:extLst>
              </a:tr>
              <a:tr h="379476">
                <a:tc>
                  <a:txBody>
                    <a:bodyPr/>
                    <a:lstStyle/>
                    <a:p>
                      <a:pPr algn="l"/>
                      <a:r>
                        <a:rPr sz="2100" b="1" i="0">
                          <a:solidFill>
                            <a:srgbClr val="14181B"/>
                          </a:solidFill>
                          <a:latin typeface="Segoe UI"/>
                        </a:rPr>
                        <a:t>Total</a:t>
                      </a:r>
                    </a:p>
                  </a:txBody>
                  <a:tcPr marL="100584" marR="100584" marT="27432" marB="27432" anchor="ctr">
                    <a:solidFill>
                      <a:srgbClr val="E0E5E1"/>
                    </a:solidFill>
                  </a:tcPr>
                </a:tc>
                <a:tc>
                  <a:txBody>
                    <a:bodyPr/>
                    <a:lstStyle/>
                    <a:p>
                      <a:pPr algn="r"/>
                      <a:r>
                        <a:rPr sz="2100" b="1" i="0">
                          <a:solidFill>
                            <a:srgbClr val="14181B"/>
                          </a:solidFill>
                          <a:latin typeface="Consolas"/>
                        </a:rPr>
                        <a:t>26</a:t>
                      </a:r>
                    </a:p>
                  </a:txBody>
                  <a:tcPr marL="100584" marR="100584" marT="27432" marB="27432" anchor="ctr">
                    <a:solidFill>
                      <a:srgbClr val="E0E5E1"/>
                    </a:solidFill>
                  </a:tcPr>
                </a:tc>
                <a:tc>
                  <a:txBody>
                    <a:bodyPr/>
                    <a:lstStyle/>
                    <a:p>
                      <a:pPr algn="r"/>
                      <a:r>
                        <a:rPr sz="2100" b="1" i="0">
                          <a:solidFill>
                            <a:srgbClr val="14181B"/>
                          </a:solidFill>
                          <a:latin typeface="Consolas"/>
                        </a:rPr>
                        <a:t>130,750</a:t>
                      </a:r>
                    </a:p>
                  </a:txBody>
                  <a:tcPr marL="100584" marR="100584" marT="27432" marB="27432" anchor="ctr">
                    <a:solidFill>
                      <a:srgbClr val="E0E5E1"/>
                    </a:solidFill>
                  </a:tcPr>
                </a:tc>
                <a:tc>
                  <a:txBody>
                    <a:bodyPr/>
                    <a:lstStyle/>
                    <a:p>
                      <a:pPr algn="l"/>
                      <a:r>
                        <a:rPr sz="2100" b="1" i="0" dirty="0">
                          <a:solidFill>
                            <a:srgbClr val="14181B"/>
                          </a:solidFill>
                          <a:latin typeface="Segoe UI"/>
                        </a:rPr>
                        <a:t>16.88 hours</a:t>
                      </a:r>
                    </a:p>
                  </a:txBody>
                  <a:tcPr marL="100584" marR="100584" marT="27432" marB="27432" anchor="ctr">
                    <a:solidFill>
                      <a:srgbClr val="E0E5E1"/>
                    </a:solid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ECEEEB"/>
        </a:solidFill>
        <a:effectLst/>
      </p:bgPr>
    </p:bg>
    <p:spTree>
      <p:nvGrpSpPr>
        <p:cNvPr id="1" name=""/>
        <p:cNvGrpSpPr/>
        <p:nvPr/>
      </p:nvGrpSpPr>
      <p:grpSpPr>
        <a:xfrm>
          <a:off x="0" y="0"/>
          <a:ext cx="0" cy="0"/>
          <a:chOff x="0" y="0"/>
          <a:chExt cx="0" cy="0"/>
        </a:xfrm>
      </p:grpSpPr>
      <p:sp>
        <p:nvSpPr>
          <p:cNvPr id="2" name="TextBox 1"/>
          <p:cNvSpPr txBox="1"/>
          <p:nvPr/>
        </p:nvSpPr>
        <p:spPr>
          <a:xfrm>
            <a:off x="10618927" y="6309359"/>
            <a:ext cx="914400" cy="274320"/>
          </a:xfrm>
          <a:prstGeom prst="rect">
            <a:avLst/>
          </a:prstGeom>
          <a:noFill/>
        </p:spPr>
        <p:txBody>
          <a:bodyPr wrap="square" lIns="0" tIns="0" rIns="0" bIns="0" anchor="t">
            <a:spAutoFit/>
          </a:bodyPr>
          <a:lstStyle/>
          <a:p>
            <a:pPr algn="r">
              <a:lnSpc>
                <a:spcPct val="118000"/>
              </a:lnSpc>
              <a:spcBef>
                <a:spcPts val="0"/>
              </a:spcBef>
              <a:spcAft>
                <a:spcPts val="0"/>
              </a:spcAft>
            </a:pPr>
            <a:r>
              <a:rPr sz="2100" b="0" i="0">
                <a:solidFill>
                  <a:srgbClr val="6B787D"/>
                </a:solidFill>
                <a:latin typeface="Consolas"/>
              </a:rPr>
              <a:t>03</a:t>
            </a:r>
          </a:p>
        </p:txBody>
      </p:sp>
      <p:sp>
        <p:nvSpPr>
          <p:cNvPr id="3" name="TextBox 2"/>
          <p:cNvSpPr txBox="1"/>
          <p:nvPr/>
        </p:nvSpPr>
        <p:spPr>
          <a:xfrm>
            <a:off x="658368" y="420624"/>
            <a:ext cx="10874959" cy="310896"/>
          </a:xfrm>
          <a:prstGeom prst="rect">
            <a:avLst/>
          </a:prstGeom>
          <a:noFill/>
        </p:spPr>
        <p:txBody>
          <a:bodyPr wrap="square" lIns="0" tIns="0" rIns="0" bIns="0" anchor="t">
            <a:spAutoFit/>
          </a:bodyPr>
          <a:lstStyle/>
          <a:p>
            <a:pPr algn="l">
              <a:lnSpc>
                <a:spcPct val="118000"/>
              </a:lnSpc>
              <a:spcBef>
                <a:spcPts val="0"/>
              </a:spcBef>
              <a:spcAft>
                <a:spcPts val="0"/>
              </a:spcAft>
            </a:pPr>
            <a:r>
              <a:rPr sz="2100" b="1" i="0">
                <a:solidFill>
                  <a:srgbClr val="2E8FA3"/>
                </a:solidFill>
                <a:latin typeface="Consolas"/>
              </a:rPr>
              <a:t>01 / THE DATA</a:t>
            </a:r>
          </a:p>
        </p:txBody>
      </p:sp>
      <p:sp>
        <p:nvSpPr>
          <p:cNvPr id="4" name="TextBox 3"/>
          <p:cNvSpPr txBox="1"/>
          <p:nvPr/>
        </p:nvSpPr>
        <p:spPr>
          <a:xfrm>
            <a:off x="658368" y="822960"/>
            <a:ext cx="10874959" cy="822960"/>
          </a:xfrm>
          <a:prstGeom prst="rect">
            <a:avLst/>
          </a:prstGeom>
          <a:noFill/>
        </p:spPr>
        <p:txBody>
          <a:bodyPr wrap="square" lIns="0" tIns="0" rIns="0" bIns="0" anchor="t">
            <a:spAutoFit/>
          </a:bodyPr>
          <a:lstStyle/>
          <a:p>
            <a:pPr algn="l">
              <a:lnSpc>
                <a:spcPct val="106000"/>
              </a:lnSpc>
              <a:spcBef>
                <a:spcPts val="0"/>
              </a:spcBef>
              <a:spcAft>
                <a:spcPts val="0"/>
              </a:spcAft>
            </a:pPr>
            <a:r>
              <a:rPr sz="3600" b="1" i="0">
                <a:solidFill>
                  <a:srgbClr val="14181B"/>
                </a:solidFill>
                <a:latin typeface="Segoe UI"/>
              </a:rPr>
              <a:t>Why this audio is the hard case</a:t>
            </a:r>
          </a:p>
        </p:txBody>
      </p:sp>
      <p:sp>
        <p:nvSpPr>
          <p:cNvPr id="5" name="TextBox 4"/>
          <p:cNvSpPr txBox="1"/>
          <p:nvPr/>
        </p:nvSpPr>
        <p:spPr>
          <a:xfrm>
            <a:off x="658368" y="1389888"/>
            <a:ext cx="10874959" cy="822960"/>
          </a:xfrm>
          <a:prstGeom prst="rect">
            <a:avLst/>
          </a:prstGeom>
          <a:noFill/>
        </p:spPr>
        <p:txBody>
          <a:bodyPr wrap="square" lIns="0" tIns="0" rIns="0" bIns="0" anchor="t">
            <a:spAutoFit/>
          </a:bodyPr>
          <a:lstStyle/>
          <a:p>
            <a:pPr algn="l">
              <a:lnSpc>
                <a:spcPct val="124000"/>
              </a:lnSpc>
              <a:spcBef>
                <a:spcPts val="0"/>
              </a:spcBef>
              <a:spcAft>
                <a:spcPts val="0"/>
              </a:spcAft>
            </a:pPr>
            <a:r>
              <a:rPr sz="2400" b="0" i="0">
                <a:solidFill>
                  <a:srgbClr val="3E4A4F"/>
                </a:solidFill>
                <a:latin typeface="Segoe UI"/>
              </a:rPr>
              <a:t>Long-form broadcast panel discussion breaks most of the assumptions a speech model is trained on.</a:t>
            </a:r>
          </a:p>
        </p:txBody>
      </p:sp>
      <p:sp>
        <p:nvSpPr>
          <p:cNvPr id="6" name="TextBox 5"/>
          <p:cNvSpPr txBox="1"/>
          <p:nvPr/>
        </p:nvSpPr>
        <p:spPr>
          <a:xfrm>
            <a:off x="658368" y="2468879"/>
            <a:ext cx="10874959" cy="457200"/>
          </a:xfrm>
          <a:prstGeom prst="rect">
            <a:avLst/>
          </a:prstGeom>
          <a:noFill/>
        </p:spPr>
        <p:txBody>
          <a:bodyPr wrap="square" lIns="0" tIns="0" rIns="0" bIns="0" anchor="t">
            <a:spAutoFit/>
          </a:bodyPr>
          <a:lstStyle/>
          <a:p>
            <a:pPr algn="l">
              <a:lnSpc>
                <a:spcPct val="120000"/>
              </a:lnSpc>
              <a:spcBef>
                <a:spcPts val="0"/>
              </a:spcBef>
              <a:spcAft>
                <a:spcPts val="0"/>
              </a:spcAft>
            </a:pPr>
            <a:r>
              <a:rPr sz="2400" b="0" i="0">
                <a:solidFill>
                  <a:srgbClr val="14181B"/>
                </a:solidFill>
                <a:latin typeface="Segoe UI"/>
              </a:rPr>
              <a:t>•   Panel format, so two people frequently talk over each other</a:t>
            </a:r>
          </a:p>
        </p:txBody>
      </p:sp>
      <p:sp>
        <p:nvSpPr>
          <p:cNvPr id="7" name="TextBox 6"/>
          <p:cNvSpPr txBox="1"/>
          <p:nvPr/>
        </p:nvSpPr>
        <p:spPr>
          <a:xfrm>
            <a:off x="658368" y="2944368"/>
            <a:ext cx="10874959" cy="457200"/>
          </a:xfrm>
          <a:prstGeom prst="rect">
            <a:avLst/>
          </a:prstGeom>
          <a:noFill/>
        </p:spPr>
        <p:txBody>
          <a:bodyPr wrap="square" lIns="0" tIns="0" rIns="0" bIns="0" anchor="t">
            <a:spAutoFit/>
          </a:bodyPr>
          <a:lstStyle/>
          <a:p>
            <a:pPr algn="l">
              <a:lnSpc>
                <a:spcPct val="120000"/>
              </a:lnSpc>
              <a:spcBef>
                <a:spcPts val="0"/>
              </a:spcBef>
              <a:spcAft>
                <a:spcPts val="0"/>
              </a:spcAft>
            </a:pPr>
            <a:r>
              <a:rPr sz="2400" b="0" i="0">
                <a:solidFill>
                  <a:srgbClr val="14181B"/>
                </a:solidFill>
                <a:latin typeface="Segoe UI"/>
              </a:rPr>
              <a:t>•   Studio stings and background music between segments</a:t>
            </a:r>
          </a:p>
        </p:txBody>
      </p:sp>
      <p:sp>
        <p:nvSpPr>
          <p:cNvPr id="8" name="TextBox 7"/>
          <p:cNvSpPr txBox="1"/>
          <p:nvPr/>
        </p:nvSpPr>
        <p:spPr>
          <a:xfrm>
            <a:off x="658368" y="3419856"/>
            <a:ext cx="10874959" cy="457200"/>
          </a:xfrm>
          <a:prstGeom prst="rect">
            <a:avLst/>
          </a:prstGeom>
          <a:noFill/>
        </p:spPr>
        <p:txBody>
          <a:bodyPr wrap="square" lIns="0" tIns="0" rIns="0" bIns="0" anchor="t">
            <a:spAutoFit/>
          </a:bodyPr>
          <a:lstStyle/>
          <a:p>
            <a:pPr algn="l">
              <a:lnSpc>
                <a:spcPct val="120000"/>
              </a:lnSpc>
              <a:spcBef>
                <a:spcPts val="0"/>
              </a:spcBef>
              <a:spcAft>
                <a:spcPts val="0"/>
              </a:spcAft>
            </a:pPr>
            <a:r>
              <a:rPr sz="2400" b="0" i="0">
                <a:solidFill>
                  <a:srgbClr val="14181B"/>
                </a:solidFill>
                <a:latin typeface="Segoe UI"/>
              </a:rPr>
              <a:t>•   Guests joining by phone at much lower bandwidth</a:t>
            </a:r>
          </a:p>
        </p:txBody>
      </p:sp>
      <p:sp>
        <p:nvSpPr>
          <p:cNvPr id="9" name="TextBox 8"/>
          <p:cNvSpPr txBox="1"/>
          <p:nvPr/>
        </p:nvSpPr>
        <p:spPr>
          <a:xfrm>
            <a:off x="658368" y="3895344"/>
            <a:ext cx="10874959" cy="457200"/>
          </a:xfrm>
          <a:prstGeom prst="rect">
            <a:avLst/>
          </a:prstGeom>
          <a:noFill/>
        </p:spPr>
        <p:txBody>
          <a:bodyPr wrap="square" lIns="0" tIns="0" rIns="0" bIns="0" anchor="t">
            <a:spAutoFit/>
          </a:bodyPr>
          <a:lstStyle/>
          <a:p>
            <a:pPr algn="l">
              <a:lnSpc>
                <a:spcPct val="120000"/>
              </a:lnSpc>
              <a:spcBef>
                <a:spcPts val="0"/>
              </a:spcBef>
              <a:spcAft>
                <a:spcPts val="0"/>
              </a:spcAft>
            </a:pPr>
            <a:r>
              <a:rPr sz="2400" b="0" i="0">
                <a:solidFill>
                  <a:srgbClr val="14181B"/>
                </a:solidFill>
                <a:latin typeface="Segoe UI"/>
              </a:rPr>
              <a:t>•   Heavy code switching: English finance terms inside Bangla sentences, for example </a:t>
            </a:r>
            <a:r>
              <a:rPr sz="2400" b="0" i="0">
                <a:solidFill>
                  <a:srgbClr val="14181B"/>
                </a:solidFill>
                <a:latin typeface="Nirmala UI"/>
              </a:rPr>
              <a:t>রেভিনিউ </a:t>
            </a:r>
            <a:r>
              <a:rPr sz="2400" b="0" i="0">
                <a:solidFill>
                  <a:srgbClr val="14181B"/>
                </a:solidFill>
                <a:latin typeface="Segoe UI"/>
              </a:rPr>
              <a:t>and </a:t>
            </a:r>
            <a:r>
              <a:rPr sz="2400" b="0" i="0">
                <a:solidFill>
                  <a:srgbClr val="14181B"/>
                </a:solidFill>
                <a:latin typeface="Nirmala UI"/>
              </a:rPr>
              <a:t>ফিসকাল পলিসি</a:t>
            </a:r>
          </a:p>
        </p:txBody>
      </p:sp>
      <p:sp>
        <p:nvSpPr>
          <p:cNvPr id="10" name="TextBox 9"/>
          <p:cNvSpPr txBox="1"/>
          <p:nvPr/>
        </p:nvSpPr>
        <p:spPr>
          <a:xfrm>
            <a:off x="658368" y="4855703"/>
            <a:ext cx="11158875" cy="402098"/>
          </a:xfrm>
          <a:prstGeom prst="rect">
            <a:avLst/>
          </a:prstGeom>
          <a:noFill/>
        </p:spPr>
        <p:txBody>
          <a:bodyPr wrap="square" lIns="0" tIns="0" rIns="0" bIns="0" anchor="t">
            <a:spAutoFit/>
          </a:bodyPr>
          <a:lstStyle/>
          <a:p>
            <a:pPr algn="l">
              <a:lnSpc>
                <a:spcPct val="120000"/>
              </a:lnSpc>
              <a:spcBef>
                <a:spcPts val="0"/>
              </a:spcBef>
              <a:spcAft>
                <a:spcPts val="0"/>
              </a:spcAft>
            </a:pPr>
            <a:r>
              <a:rPr sz="2400" b="0" i="0" dirty="0">
                <a:solidFill>
                  <a:srgbClr val="14181B"/>
                </a:solidFill>
                <a:latin typeface="Segoe UI"/>
              </a:rPr>
              <a:t>•   Episodes run 24 to 48 minutes, far past what a speech model reads in one pass</a:t>
            </a:r>
          </a:p>
        </p:txBody>
      </p:sp>
      <p:sp>
        <p:nvSpPr>
          <p:cNvPr id="11" name="Rectangle 10"/>
          <p:cNvSpPr/>
          <p:nvPr/>
        </p:nvSpPr>
        <p:spPr>
          <a:xfrm>
            <a:off x="117594" y="5321316"/>
            <a:ext cx="10874959" cy="1427448"/>
          </a:xfrm>
          <a:prstGeom prst="rect">
            <a:avLst/>
          </a:prstGeom>
          <a:solidFill>
            <a:srgbClr val="F8F9F7"/>
          </a:solidFill>
          <a:ln w="12700">
            <a:solidFill>
              <a:srgbClr val="C3CBC6"/>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2" name="Rectangle 11"/>
          <p:cNvSpPr/>
          <p:nvPr/>
        </p:nvSpPr>
        <p:spPr>
          <a:xfrm>
            <a:off x="658368" y="5248655"/>
            <a:ext cx="50292" cy="896112"/>
          </a:xfrm>
          <a:prstGeom prst="rect">
            <a:avLst/>
          </a:prstGeom>
          <a:solidFill>
            <a:srgbClr val="1D4E5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3" name="TextBox 12"/>
          <p:cNvSpPr txBox="1"/>
          <p:nvPr/>
        </p:nvSpPr>
        <p:spPr>
          <a:xfrm>
            <a:off x="932688" y="5431536"/>
            <a:ext cx="10372039" cy="530352"/>
          </a:xfrm>
          <a:prstGeom prst="rect">
            <a:avLst/>
          </a:prstGeom>
          <a:noFill/>
        </p:spPr>
        <p:txBody>
          <a:bodyPr wrap="square" lIns="0" tIns="0" rIns="0" bIns="0" anchor="t">
            <a:spAutoFit/>
          </a:bodyPr>
          <a:lstStyle/>
          <a:p>
            <a:pPr algn="l">
              <a:lnSpc>
                <a:spcPct val="120000"/>
              </a:lnSpc>
              <a:spcBef>
                <a:spcPts val="0"/>
              </a:spcBef>
              <a:spcAft>
                <a:spcPts val="0"/>
              </a:spcAft>
            </a:pPr>
            <a:r>
              <a:rPr sz="2200" b="0" i="0" dirty="0">
                <a:solidFill>
                  <a:srgbClr val="3E4A4F"/>
                </a:solidFill>
                <a:latin typeface="Segoe UI"/>
              </a:rPr>
              <a:t>Episode identifiers are </a:t>
            </a:r>
            <a:r>
              <a:rPr sz="2200" b="0" i="0" dirty="0" err="1">
                <a:solidFill>
                  <a:srgbClr val="3E4A4F"/>
                </a:solidFill>
                <a:latin typeface="Segoe UI"/>
              </a:rPr>
              <a:t>namespaced</a:t>
            </a:r>
            <a:r>
              <a:rPr sz="2200" b="0" i="0" dirty="0">
                <a:solidFill>
                  <a:srgbClr val="3E4A4F"/>
                </a:solidFill>
                <a:latin typeface="Segoe UI"/>
              </a:rPr>
              <a:t> by roll, so ep001 from one contributor and ep001 from another stay distinct, and speaker identities are never merged across recordings.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ECEEEB"/>
        </a:solidFill>
        <a:effectLst/>
      </p:bgPr>
    </p:bg>
    <p:spTree>
      <p:nvGrpSpPr>
        <p:cNvPr id="1" name=""/>
        <p:cNvGrpSpPr/>
        <p:nvPr/>
      </p:nvGrpSpPr>
      <p:grpSpPr>
        <a:xfrm>
          <a:off x="0" y="0"/>
          <a:ext cx="0" cy="0"/>
          <a:chOff x="0" y="0"/>
          <a:chExt cx="0" cy="0"/>
        </a:xfrm>
      </p:grpSpPr>
      <p:sp>
        <p:nvSpPr>
          <p:cNvPr id="2" name="TextBox 1"/>
          <p:cNvSpPr txBox="1"/>
          <p:nvPr/>
        </p:nvSpPr>
        <p:spPr>
          <a:xfrm>
            <a:off x="10618927" y="6309359"/>
            <a:ext cx="914400" cy="274320"/>
          </a:xfrm>
          <a:prstGeom prst="rect">
            <a:avLst/>
          </a:prstGeom>
          <a:noFill/>
        </p:spPr>
        <p:txBody>
          <a:bodyPr wrap="square" lIns="0" tIns="0" rIns="0" bIns="0" anchor="t">
            <a:spAutoFit/>
          </a:bodyPr>
          <a:lstStyle/>
          <a:p>
            <a:pPr algn="r">
              <a:lnSpc>
                <a:spcPct val="118000"/>
              </a:lnSpc>
              <a:spcBef>
                <a:spcPts val="0"/>
              </a:spcBef>
              <a:spcAft>
                <a:spcPts val="0"/>
              </a:spcAft>
            </a:pPr>
            <a:r>
              <a:rPr sz="2100" b="0" i="0">
                <a:solidFill>
                  <a:srgbClr val="6B787D"/>
                </a:solidFill>
                <a:latin typeface="Consolas"/>
              </a:rPr>
              <a:t>04</a:t>
            </a:r>
          </a:p>
        </p:txBody>
      </p:sp>
      <p:sp>
        <p:nvSpPr>
          <p:cNvPr id="3" name="TextBox 2"/>
          <p:cNvSpPr txBox="1"/>
          <p:nvPr/>
        </p:nvSpPr>
        <p:spPr>
          <a:xfrm>
            <a:off x="658368" y="420624"/>
            <a:ext cx="10874959" cy="310896"/>
          </a:xfrm>
          <a:prstGeom prst="rect">
            <a:avLst/>
          </a:prstGeom>
          <a:noFill/>
        </p:spPr>
        <p:txBody>
          <a:bodyPr wrap="square" lIns="0" tIns="0" rIns="0" bIns="0" anchor="t">
            <a:spAutoFit/>
          </a:bodyPr>
          <a:lstStyle/>
          <a:p>
            <a:pPr algn="l">
              <a:lnSpc>
                <a:spcPct val="118000"/>
              </a:lnSpc>
              <a:spcBef>
                <a:spcPts val="0"/>
              </a:spcBef>
              <a:spcAft>
                <a:spcPts val="0"/>
              </a:spcAft>
            </a:pPr>
            <a:r>
              <a:rPr sz="2100" b="1" i="0">
                <a:solidFill>
                  <a:srgbClr val="2E8FA3"/>
                </a:solidFill>
                <a:latin typeface="Consolas"/>
              </a:rPr>
              <a:t>02 / ARCHITECTURE</a:t>
            </a:r>
          </a:p>
        </p:txBody>
      </p:sp>
      <p:sp>
        <p:nvSpPr>
          <p:cNvPr id="4" name="TextBox 3"/>
          <p:cNvSpPr txBox="1"/>
          <p:nvPr/>
        </p:nvSpPr>
        <p:spPr>
          <a:xfrm>
            <a:off x="658368" y="822960"/>
            <a:ext cx="10874959" cy="822960"/>
          </a:xfrm>
          <a:prstGeom prst="rect">
            <a:avLst/>
          </a:prstGeom>
          <a:noFill/>
        </p:spPr>
        <p:txBody>
          <a:bodyPr wrap="square" lIns="0" tIns="0" rIns="0" bIns="0" anchor="t">
            <a:spAutoFit/>
          </a:bodyPr>
          <a:lstStyle/>
          <a:p>
            <a:pPr algn="l">
              <a:lnSpc>
                <a:spcPct val="106000"/>
              </a:lnSpc>
              <a:spcBef>
                <a:spcPts val="0"/>
              </a:spcBef>
              <a:spcAft>
                <a:spcPts val="0"/>
              </a:spcAft>
            </a:pPr>
            <a:r>
              <a:rPr sz="3600" b="1" i="0">
                <a:solidFill>
                  <a:srgbClr val="14181B"/>
                </a:solidFill>
                <a:latin typeface="Segoe UI"/>
              </a:rPr>
              <a:t>Five stages, each writing output the next one reads</a:t>
            </a:r>
          </a:p>
        </p:txBody>
      </p:sp>
      <p:sp>
        <p:nvSpPr>
          <p:cNvPr id="5" name="Rectangle 4"/>
          <p:cNvSpPr/>
          <p:nvPr/>
        </p:nvSpPr>
        <p:spPr>
          <a:xfrm>
            <a:off x="655167" y="1938528"/>
            <a:ext cx="2029968" cy="1572768"/>
          </a:xfrm>
          <a:prstGeom prst="rect">
            <a:avLst/>
          </a:prstGeom>
          <a:solidFill>
            <a:srgbClr val="F8F9F7"/>
          </a:solidFill>
          <a:ln w="17780">
            <a:solidFill>
              <a:srgbClr val="1D4E5F"/>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6" name="TextBox 5"/>
          <p:cNvSpPr txBox="1"/>
          <p:nvPr/>
        </p:nvSpPr>
        <p:spPr>
          <a:xfrm>
            <a:off x="819759" y="2103120"/>
            <a:ext cx="1719072" cy="274320"/>
          </a:xfrm>
          <a:prstGeom prst="rect">
            <a:avLst/>
          </a:prstGeom>
          <a:noFill/>
        </p:spPr>
        <p:txBody>
          <a:bodyPr wrap="square" lIns="0" tIns="0" rIns="0" bIns="0" anchor="t">
            <a:spAutoFit/>
          </a:bodyPr>
          <a:lstStyle/>
          <a:p>
            <a:pPr algn="l">
              <a:lnSpc>
                <a:spcPct val="118000"/>
              </a:lnSpc>
              <a:spcBef>
                <a:spcPts val="0"/>
              </a:spcBef>
              <a:spcAft>
                <a:spcPts val="0"/>
              </a:spcAft>
            </a:pPr>
            <a:r>
              <a:rPr sz="2100" b="1" i="0">
                <a:solidFill>
                  <a:srgbClr val="2E8FA3"/>
                </a:solidFill>
                <a:latin typeface="Consolas"/>
              </a:rPr>
              <a:t>STAGE 1</a:t>
            </a:r>
          </a:p>
        </p:txBody>
      </p:sp>
      <p:sp>
        <p:nvSpPr>
          <p:cNvPr id="7" name="TextBox 6"/>
          <p:cNvSpPr txBox="1"/>
          <p:nvPr/>
        </p:nvSpPr>
        <p:spPr>
          <a:xfrm>
            <a:off x="819759" y="2505456"/>
            <a:ext cx="1719072" cy="365760"/>
          </a:xfrm>
          <a:prstGeom prst="rect">
            <a:avLst/>
          </a:prstGeom>
          <a:noFill/>
        </p:spPr>
        <p:txBody>
          <a:bodyPr wrap="square" lIns="0" tIns="0" rIns="0" bIns="0" anchor="t">
            <a:spAutoFit/>
          </a:bodyPr>
          <a:lstStyle/>
          <a:p>
            <a:pPr algn="l">
              <a:lnSpc>
                <a:spcPct val="118000"/>
              </a:lnSpc>
              <a:spcBef>
                <a:spcPts val="0"/>
              </a:spcBef>
              <a:spcAft>
                <a:spcPts val="0"/>
              </a:spcAft>
            </a:pPr>
            <a:r>
              <a:rPr sz="2400" b="1" i="0">
                <a:solidFill>
                  <a:srgbClr val="14181B"/>
                </a:solidFill>
                <a:latin typeface="Segoe UI"/>
              </a:rPr>
              <a:t>Audio</a:t>
            </a:r>
          </a:p>
        </p:txBody>
      </p:sp>
      <p:sp>
        <p:nvSpPr>
          <p:cNvPr id="8" name="TextBox 7"/>
          <p:cNvSpPr txBox="1"/>
          <p:nvPr/>
        </p:nvSpPr>
        <p:spPr>
          <a:xfrm>
            <a:off x="819759" y="2962656"/>
            <a:ext cx="1865376" cy="335861"/>
          </a:xfrm>
          <a:prstGeom prst="rect">
            <a:avLst/>
          </a:prstGeom>
          <a:noFill/>
        </p:spPr>
        <p:txBody>
          <a:bodyPr wrap="square" lIns="0" tIns="0" rIns="0" bIns="0" anchor="t">
            <a:spAutoFit/>
          </a:bodyPr>
          <a:lstStyle/>
          <a:p>
            <a:pPr algn="l">
              <a:lnSpc>
                <a:spcPct val="110000"/>
              </a:lnSpc>
              <a:spcBef>
                <a:spcPts val="0"/>
              </a:spcBef>
              <a:spcAft>
                <a:spcPts val="0"/>
              </a:spcAft>
            </a:pPr>
            <a:r>
              <a:rPr sz="2100" b="0" i="0" dirty="0">
                <a:solidFill>
                  <a:srgbClr val="6B787D"/>
                </a:solidFill>
                <a:latin typeface="Consolas"/>
              </a:rPr>
              <a:t>conditioning</a:t>
            </a:r>
          </a:p>
        </p:txBody>
      </p:sp>
      <p:sp>
        <p:nvSpPr>
          <p:cNvPr id="9" name="Rectangle 8"/>
          <p:cNvSpPr/>
          <p:nvPr/>
        </p:nvSpPr>
        <p:spPr>
          <a:xfrm>
            <a:off x="2868015" y="1938528"/>
            <a:ext cx="2029968" cy="1572768"/>
          </a:xfrm>
          <a:prstGeom prst="rect">
            <a:avLst/>
          </a:prstGeom>
          <a:solidFill>
            <a:srgbClr val="F8F9F7"/>
          </a:solidFill>
          <a:ln w="17780">
            <a:solidFill>
              <a:srgbClr val="1D4E5F"/>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0" name="TextBox 9"/>
          <p:cNvSpPr txBox="1"/>
          <p:nvPr/>
        </p:nvSpPr>
        <p:spPr>
          <a:xfrm>
            <a:off x="3032607" y="2103120"/>
            <a:ext cx="1719072" cy="274320"/>
          </a:xfrm>
          <a:prstGeom prst="rect">
            <a:avLst/>
          </a:prstGeom>
          <a:noFill/>
        </p:spPr>
        <p:txBody>
          <a:bodyPr wrap="square" lIns="0" tIns="0" rIns="0" bIns="0" anchor="t">
            <a:spAutoFit/>
          </a:bodyPr>
          <a:lstStyle/>
          <a:p>
            <a:pPr algn="l">
              <a:lnSpc>
                <a:spcPct val="118000"/>
              </a:lnSpc>
              <a:spcBef>
                <a:spcPts val="0"/>
              </a:spcBef>
              <a:spcAft>
                <a:spcPts val="0"/>
              </a:spcAft>
            </a:pPr>
            <a:r>
              <a:rPr sz="2100" b="1" i="0">
                <a:solidFill>
                  <a:srgbClr val="2E8FA3"/>
                </a:solidFill>
                <a:latin typeface="Consolas"/>
              </a:rPr>
              <a:t>STAGE 2</a:t>
            </a:r>
          </a:p>
        </p:txBody>
      </p:sp>
      <p:sp>
        <p:nvSpPr>
          <p:cNvPr id="11" name="TextBox 10"/>
          <p:cNvSpPr txBox="1"/>
          <p:nvPr/>
        </p:nvSpPr>
        <p:spPr>
          <a:xfrm>
            <a:off x="3032607" y="2505456"/>
            <a:ext cx="1719072" cy="365760"/>
          </a:xfrm>
          <a:prstGeom prst="rect">
            <a:avLst/>
          </a:prstGeom>
          <a:noFill/>
        </p:spPr>
        <p:txBody>
          <a:bodyPr wrap="square" lIns="0" tIns="0" rIns="0" bIns="0" anchor="t">
            <a:spAutoFit/>
          </a:bodyPr>
          <a:lstStyle/>
          <a:p>
            <a:pPr algn="l">
              <a:lnSpc>
                <a:spcPct val="118000"/>
              </a:lnSpc>
              <a:spcBef>
                <a:spcPts val="0"/>
              </a:spcBef>
              <a:spcAft>
                <a:spcPts val="0"/>
              </a:spcAft>
            </a:pPr>
            <a:r>
              <a:rPr sz="2400" b="1" i="0">
                <a:solidFill>
                  <a:srgbClr val="14181B"/>
                </a:solidFill>
                <a:latin typeface="Segoe UI"/>
              </a:rPr>
              <a:t>Diarization</a:t>
            </a:r>
          </a:p>
        </p:txBody>
      </p:sp>
      <p:sp>
        <p:nvSpPr>
          <p:cNvPr id="12" name="TextBox 11"/>
          <p:cNvSpPr txBox="1"/>
          <p:nvPr/>
        </p:nvSpPr>
        <p:spPr>
          <a:xfrm>
            <a:off x="3032607" y="2962656"/>
            <a:ext cx="1719072" cy="365760"/>
          </a:xfrm>
          <a:prstGeom prst="rect">
            <a:avLst/>
          </a:prstGeom>
          <a:noFill/>
        </p:spPr>
        <p:txBody>
          <a:bodyPr wrap="square" lIns="0" tIns="0" rIns="0" bIns="0" anchor="t">
            <a:spAutoFit/>
          </a:bodyPr>
          <a:lstStyle/>
          <a:p>
            <a:pPr algn="l">
              <a:lnSpc>
                <a:spcPct val="110000"/>
              </a:lnSpc>
              <a:spcBef>
                <a:spcPts val="0"/>
              </a:spcBef>
              <a:spcAft>
                <a:spcPts val="0"/>
              </a:spcAft>
            </a:pPr>
            <a:r>
              <a:rPr sz="2100" b="0" i="0">
                <a:solidFill>
                  <a:srgbClr val="6B787D"/>
                </a:solidFill>
                <a:latin typeface="Consolas"/>
              </a:rPr>
              <a:t>1,867 turns</a:t>
            </a:r>
          </a:p>
        </p:txBody>
      </p:sp>
      <p:sp>
        <p:nvSpPr>
          <p:cNvPr id="13" name="Right Arrow 12"/>
          <p:cNvSpPr/>
          <p:nvPr/>
        </p:nvSpPr>
        <p:spPr>
          <a:xfrm>
            <a:off x="2666847" y="2651760"/>
            <a:ext cx="219456" cy="155448"/>
          </a:xfrm>
          <a:prstGeom prst="rightArrow">
            <a:avLst/>
          </a:prstGeom>
          <a:solidFill>
            <a:srgbClr val="1D4E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5080863" y="1938528"/>
            <a:ext cx="2029968" cy="1797730"/>
          </a:xfrm>
          <a:prstGeom prst="rect">
            <a:avLst/>
          </a:prstGeom>
          <a:solidFill>
            <a:srgbClr val="F8F9F7"/>
          </a:solidFill>
          <a:ln w="17780">
            <a:solidFill>
              <a:srgbClr val="1D4E5F"/>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5" name="TextBox 14"/>
          <p:cNvSpPr txBox="1"/>
          <p:nvPr/>
        </p:nvSpPr>
        <p:spPr>
          <a:xfrm>
            <a:off x="5245455" y="2103120"/>
            <a:ext cx="1719072" cy="274320"/>
          </a:xfrm>
          <a:prstGeom prst="rect">
            <a:avLst/>
          </a:prstGeom>
          <a:noFill/>
        </p:spPr>
        <p:txBody>
          <a:bodyPr wrap="square" lIns="0" tIns="0" rIns="0" bIns="0" anchor="t">
            <a:spAutoFit/>
          </a:bodyPr>
          <a:lstStyle/>
          <a:p>
            <a:pPr algn="l">
              <a:lnSpc>
                <a:spcPct val="118000"/>
              </a:lnSpc>
              <a:spcBef>
                <a:spcPts val="0"/>
              </a:spcBef>
              <a:spcAft>
                <a:spcPts val="0"/>
              </a:spcAft>
            </a:pPr>
            <a:r>
              <a:rPr sz="2100" b="1" i="0">
                <a:solidFill>
                  <a:srgbClr val="2E8FA3"/>
                </a:solidFill>
                <a:latin typeface="Consolas"/>
              </a:rPr>
              <a:t>STAGE 3</a:t>
            </a:r>
          </a:p>
        </p:txBody>
      </p:sp>
      <p:sp>
        <p:nvSpPr>
          <p:cNvPr id="16" name="TextBox 15"/>
          <p:cNvSpPr txBox="1"/>
          <p:nvPr/>
        </p:nvSpPr>
        <p:spPr>
          <a:xfrm>
            <a:off x="5245455" y="2505456"/>
            <a:ext cx="1920240" cy="396583"/>
          </a:xfrm>
          <a:prstGeom prst="rect">
            <a:avLst/>
          </a:prstGeom>
          <a:noFill/>
        </p:spPr>
        <p:txBody>
          <a:bodyPr wrap="square" lIns="0" tIns="0" rIns="0" bIns="0" anchor="t">
            <a:spAutoFit/>
          </a:bodyPr>
          <a:lstStyle/>
          <a:p>
            <a:pPr algn="l">
              <a:lnSpc>
                <a:spcPct val="118000"/>
              </a:lnSpc>
              <a:spcBef>
                <a:spcPts val="0"/>
              </a:spcBef>
              <a:spcAft>
                <a:spcPts val="0"/>
              </a:spcAft>
            </a:pPr>
            <a:r>
              <a:rPr sz="2400" b="1" i="0" dirty="0">
                <a:solidFill>
                  <a:srgbClr val="14181B"/>
                </a:solidFill>
                <a:latin typeface="Segoe UI"/>
              </a:rPr>
              <a:t>Recognition</a:t>
            </a:r>
          </a:p>
        </p:txBody>
      </p:sp>
      <p:sp>
        <p:nvSpPr>
          <p:cNvPr id="17" name="TextBox 16"/>
          <p:cNvSpPr txBox="1"/>
          <p:nvPr/>
        </p:nvSpPr>
        <p:spPr>
          <a:xfrm>
            <a:off x="5245455" y="2962656"/>
            <a:ext cx="1719072" cy="365760"/>
          </a:xfrm>
          <a:prstGeom prst="rect">
            <a:avLst/>
          </a:prstGeom>
          <a:noFill/>
        </p:spPr>
        <p:txBody>
          <a:bodyPr wrap="square" lIns="0" tIns="0" rIns="0" bIns="0" anchor="t">
            <a:spAutoFit/>
          </a:bodyPr>
          <a:lstStyle/>
          <a:p>
            <a:pPr algn="l">
              <a:lnSpc>
                <a:spcPct val="110000"/>
              </a:lnSpc>
              <a:spcBef>
                <a:spcPts val="0"/>
              </a:spcBef>
              <a:spcAft>
                <a:spcPts val="0"/>
              </a:spcAft>
            </a:pPr>
            <a:r>
              <a:rPr sz="2100" b="0" i="0">
                <a:solidFill>
                  <a:srgbClr val="6B787D"/>
                </a:solidFill>
                <a:latin typeface="Consolas"/>
              </a:rPr>
              <a:t>130,750 words</a:t>
            </a:r>
          </a:p>
        </p:txBody>
      </p:sp>
      <p:sp>
        <p:nvSpPr>
          <p:cNvPr id="18" name="Right Arrow 17"/>
          <p:cNvSpPr/>
          <p:nvPr/>
        </p:nvSpPr>
        <p:spPr>
          <a:xfrm>
            <a:off x="4879695" y="2651760"/>
            <a:ext cx="219456" cy="155448"/>
          </a:xfrm>
          <a:prstGeom prst="rightArrow">
            <a:avLst/>
          </a:prstGeom>
          <a:solidFill>
            <a:srgbClr val="1D4E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7293711" y="1938528"/>
            <a:ext cx="2029968" cy="1797730"/>
          </a:xfrm>
          <a:prstGeom prst="rect">
            <a:avLst/>
          </a:prstGeom>
          <a:solidFill>
            <a:srgbClr val="F8F9F7"/>
          </a:solidFill>
          <a:ln w="17780">
            <a:solidFill>
              <a:srgbClr val="1D4E5F"/>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0" name="TextBox 19"/>
          <p:cNvSpPr txBox="1"/>
          <p:nvPr/>
        </p:nvSpPr>
        <p:spPr>
          <a:xfrm>
            <a:off x="7458303" y="2103120"/>
            <a:ext cx="1719072" cy="274320"/>
          </a:xfrm>
          <a:prstGeom prst="rect">
            <a:avLst/>
          </a:prstGeom>
          <a:noFill/>
        </p:spPr>
        <p:txBody>
          <a:bodyPr wrap="square" lIns="0" tIns="0" rIns="0" bIns="0" anchor="t">
            <a:spAutoFit/>
          </a:bodyPr>
          <a:lstStyle/>
          <a:p>
            <a:pPr algn="l">
              <a:lnSpc>
                <a:spcPct val="118000"/>
              </a:lnSpc>
              <a:spcBef>
                <a:spcPts val="0"/>
              </a:spcBef>
              <a:spcAft>
                <a:spcPts val="0"/>
              </a:spcAft>
            </a:pPr>
            <a:r>
              <a:rPr sz="2100" b="1" i="0">
                <a:solidFill>
                  <a:srgbClr val="2E8FA3"/>
                </a:solidFill>
                <a:latin typeface="Consolas"/>
              </a:rPr>
              <a:t>STAGE 4</a:t>
            </a:r>
          </a:p>
        </p:txBody>
      </p:sp>
      <p:sp>
        <p:nvSpPr>
          <p:cNvPr id="21" name="TextBox 20"/>
          <p:cNvSpPr txBox="1"/>
          <p:nvPr/>
        </p:nvSpPr>
        <p:spPr>
          <a:xfrm>
            <a:off x="7458303" y="2505456"/>
            <a:ext cx="1719072" cy="365760"/>
          </a:xfrm>
          <a:prstGeom prst="rect">
            <a:avLst/>
          </a:prstGeom>
          <a:noFill/>
        </p:spPr>
        <p:txBody>
          <a:bodyPr wrap="square" lIns="0" tIns="0" rIns="0" bIns="0" anchor="t">
            <a:spAutoFit/>
          </a:bodyPr>
          <a:lstStyle/>
          <a:p>
            <a:pPr algn="l">
              <a:lnSpc>
                <a:spcPct val="118000"/>
              </a:lnSpc>
              <a:spcBef>
                <a:spcPts val="0"/>
              </a:spcBef>
              <a:spcAft>
                <a:spcPts val="0"/>
              </a:spcAft>
            </a:pPr>
            <a:r>
              <a:rPr sz="2400" b="1" i="0">
                <a:solidFill>
                  <a:srgbClr val="14181B"/>
                </a:solidFill>
                <a:latin typeface="Segoe UI"/>
              </a:rPr>
              <a:t>Fusion</a:t>
            </a:r>
          </a:p>
        </p:txBody>
      </p:sp>
      <p:sp>
        <p:nvSpPr>
          <p:cNvPr id="22" name="TextBox 21"/>
          <p:cNvSpPr txBox="1"/>
          <p:nvPr/>
        </p:nvSpPr>
        <p:spPr>
          <a:xfrm>
            <a:off x="7458303" y="2962656"/>
            <a:ext cx="1719072" cy="365760"/>
          </a:xfrm>
          <a:prstGeom prst="rect">
            <a:avLst/>
          </a:prstGeom>
          <a:noFill/>
        </p:spPr>
        <p:txBody>
          <a:bodyPr wrap="square" lIns="0" tIns="0" rIns="0" bIns="0" anchor="t">
            <a:spAutoFit/>
          </a:bodyPr>
          <a:lstStyle/>
          <a:p>
            <a:pPr algn="l">
              <a:lnSpc>
                <a:spcPct val="110000"/>
              </a:lnSpc>
              <a:spcBef>
                <a:spcPts val="0"/>
              </a:spcBef>
              <a:spcAft>
                <a:spcPts val="0"/>
              </a:spcAft>
            </a:pPr>
            <a:r>
              <a:rPr sz="2100" b="0" i="0">
                <a:solidFill>
                  <a:srgbClr val="6B787D"/>
                </a:solidFill>
                <a:latin typeface="Consolas"/>
              </a:rPr>
              <a:t>3,532 utterances</a:t>
            </a:r>
          </a:p>
        </p:txBody>
      </p:sp>
      <p:sp>
        <p:nvSpPr>
          <p:cNvPr id="23" name="Right Arrow 22"/>
          <p:cNvSpPr/>
          <p:nvPr/>
        </p:nvSpPr>
        <p:spPr>
          <a:xfrm>
            <a:off x="7092543" y="2651760"/>
            <a:ext cx="219456" cy="155448"/>
          </a:xfrm>
          <a:prstGeom prst="rightArrow">
            <a:avLst/>
          </a:prstGeom>
          <a:solidFill>
            <a:srgbClr val="1D4E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9506559" y="1938528"/>
            <a:ext cx="2029968" cy="1572768"/>
          </a:xfrm>
          <a:prstGeom prst="rect">
            <a:avLst/>
          </a:prstGeom>
          <a:solidFill>
            <a:srgbClr val="F8F9F7"/>
          </a:solidFill>
          <a:ln w="17780">
            <a:solidFill>
              <a:srgbClr val="1D4E5F"/>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5" name="TextBox 24"/>
          <p:cNvSpPr txBox="1"/>
          <p:nvPr/>
        </p:nvSpPr>
        <p:spPr>
          <a:xfrm>
            <a:off x="9671151" y="2103120"/>
            <a:ext cx="1719072" cy="274320"/>
          </a:xfrm>
          <a:prstGeom prst="rect">
            <a:avLst/>
          </a:prstGeom>
          <a:noFill/>
        </p:spPr>
        <p:txBody>
          <a:bodyPr wrap="square" lIns="0" tIns="0" rIns="0" bIns="0" anchor="t">
            <a:spAutoFit/>
          </a:bodyPr>
          <a:lstStyle/>
          <a:p>
            <a:pPr algn="l">
              <a:lnSpc>
                <a:spcPct val="118000"/>
              </a:lnSpc>
              <a:spcBef>
                <a:spcPts val="0"/>
              </a:spcBef>
              <a:spcAft>
                <a:spcPts val="0"/>
              </a:spcAft>
            </a:pPr>
            <a:r>
              <a:rPr sz="2100" b="1" i="0">
                <a:solidFill>
                  <a:srgbClr val="2E8FA3"/>
                </a:solidFill>
                <a:latin typeface="Consolas"/>
              </a:rPr>
              <a:t>STAGE 5</a:t>
            </a:r>
          </a:p>
        </p:txBody>
      </p:sp>
      <p:sp>
        <p:nvSpPr>
          <p:cNvPr id="26" name="TextBox 25"/>
          <p:cNvSpPr txBox="1"/>
          <p:nvPr/>
        </p:nvSpPr>
        <p:spPr>
          <a:xfrm>
            <a:off x="9671151" y="2505456"/>
            <a:ext cx="1719072" cy="365760"/>
          </a:xfrm>
          <a:prstGeom prst="rect">
            <a:avLst/>
          </a:prstGeom>
          <a:noFill/>
        </p:spPr>
        <p:txBody>
          <a:bodyPr wrap="square" lIns="0" tIns="0" rIns="0" bIns="0" anchor="t">
            <a:spAutoFit/>
          </a:bodyPr>
          <a:lstStyle/>
          <a:p>
            <a:pPr algn="l">
              <a:lnSpc>
                <a:spcPct val="118000"/>
              </a:lnSpc>
              <a:spcBef>
                <a:spcPts val="0"/>
              </a:spcBef>
              <a:spcAft>
                <a:spcPts val="0"/>
              </a:spcAft>
            </a:pPr>
            <a:r>
              <a:rPr sz="2400" b="1" i="0">
                <a:solidFill>
                  <a:srgbClr val="14181B"/>
                </a:solidFill>
                <a:latin typeface="Segoe UI"/>
              </a:rPr>
              <a:t>Sentiment</a:t>
            </a:r>
          </a:p>
        </p:txBody>
      </p:sp>
      <p:sp>
        <p:nvSpPr>
          <p:cNvPr id="27" name="TextBox 26"/>
          <p:cNvSpPr txBox="1"/>
          <p:nvPr/>
        </p:nvSpPr>
        <p:spPr>
          <a:xfrm>
            <a:off x="9671151" y="2962656"/>
            <a:ext cx="1719072" cy="365760"/>
          </a:xfrm>
          <a:prstGeom prst="rect">
            <a:avLst/>
          </a:prstGeom>
          <a:noFill/>
        </p:spPr>
        <p:txBody>
          <a:bodyPr wrap="square" lIns="0" tIns="0" rIns="0" bIns="0" anchor="t">
            <a:spAutoFit/>
          </a:bodyPr>
          <a:lstStyle/>
          <a:p>
            <a:pPr algn="l">
              <a:lnSpc>
                <a:spcPct val="110000"/>
              </a:lnSpc>
              <a:spcBef>
                <a:spcPts val="0"/>
              </a:spcBef>
              <a:spcAft>
                <a:spcPts val="0"/>
              </a:spcAft>
            </a:pPr>
            <a:r>
              <a:rPr sz="2100" b="0" i="0">
                <a:solidFill>
                  <a:srgbClr val="6B787D"/>
                </a:solidFill>
                <a:latin typeface="Consolas"/>
              </a:rPr>
              <a:t>3,109 pairs</a:t>
            </a:r>
          </a:p>
        </p:txBody>
      </p:sp>
      <p:sp>
        <p:nvSpPr>
          <p:cNvPr id="28" name="Right Arrow 27"/>
          <p:cNvSpPr/>
          <p:nvPr/>
        </p:nvSpPr>
        <p:spPr>
          <a:xfrm>
            <a:off x="9305391" y="2651760"/>
            <a:ext cx="219456" cy="155448"/>
          </a:xfrm>
          <a:prstGeom prst="rightArrow">
            <a:avLst/>
          </a:prstGeom>
          <a:solidFill>
            <a:srgbClr val="1D4E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58368" y="3858768"/>
            <a:ext cx="10874959" cy="329184"/>
          </a:xfrm>
          <a:prstGeom prst="rect">
            <a:avLst/>
          </a:prstGeom>
          <a:noFill/>
        </p:spPr>
        <p:txBody>
          <a:bodyPr wrap="square" lIns="0" tIns="0" rIns="0" bIns="0" anchor="t">
            <a:spAutoFit/>
          </a:bodyPr>
          <a:lstStyle/>
          <a:p>
            <a:pPr algn="l">
              <a:lnSpc>
                <a:spcPct val="118000"/>
              </a:lnSpc>
              <a:spcBef>
                <a:spcPts val="0"/>
              </a:spcBef>
              <a:spcAft>
                <a:spcPts val="0"/>
              </a:spcAft>
            </a:pPr>
            <a:r>
              <a:rPr sz="2200" b="0" i="0">
                <a:solidFill>
                  <a:srgbClr val="3E4A4F"/>
                </a:solidFill>
                <a:latin typeface="Segoe UI"/>
              </a:rPr>
              <a:t>Diarization runs on the whole episode and does not depend on the transcript.</a:t>
            </a:r>
          </a:p>
        </p:txBody>
      </p:sp>
      <p:sp>
        <p:nvSpPr>
          <p:cNvPr id="30" name="TextBox 29"/>
          <p:cNvSpPr txBox="1"/>
          <p:nvPr/>
        </p:nvSpPr>
        <p:spPr>
          <a:xfrm>
            <a:off x="658368" y="4224528"/>
            <a:ext cx="10874959" cy="329184"/>
          </a:xfrm>
          <a:prstGeom prst="rect">
            <a:avLst/>
          </a:prstGeom>
          <a:noFill/>
        </p:spPr>
        <p:txBody>
          <a:bodyPr wrap="square" lIns="0" tIns="0" rIns="0" bIns="0" anchor="t">
            <a:spAutoFit/>
          </a:bodyPr>
          <a:lstStyle/>
          <a:p>
            <a:pPr algn="l">
              <a:lnSpc>
                <a:spcPct val="118000"/>
              </a:lnSpc>
              <a:spcBef>
                <a:spcPts val="0"/>
              </a:spcBef>
              <a:spcAft>
                <a:spcPts val="0"/>
              </a:spcAft>
            </a:pPr>
            <a:r>
              <a:rPr sz="2200" b="0" i="0">
                <a:solidFill>
                  <a:srgbClr val="3E4A4F"/>
                </a:solidFill>
                <a:latin typeface="Segoe UI"/>
              </a:rPr>
              <a:t>Speech recognition runs in 28 second chunks and does not depend on the speaker labels.</a:t>
            </a:r>
          </a:p>
        </p:txBody>
      </p:sp>
      <p:sp>
        <p:nvSpPr>
          <p:cNvPr id="31" name="TextBox 30"/>
          <p:cNvSpPr txBox="1"/>
          <p:nvPr/>
        </p:nvSpPr>
        <p:spPr>
          <a:xfrm>
            <a:off x="658368" y="4590288"/>
            <a:ext cx="10874959" cy="329184"/>
          </a:xfrm>
          <a:prstGeom prst="rect">
            <a:avLst/>
          </a:prstGeom>
          <a:noFill/>
        </p:spPr>
        <p:txBody>
          <a:bodyPr wrap="square" lIns="0" tIns="0" rIns="0" bIns="0" anchor="t">
            <a:spAutoFit/>
          </a:bodyPr>
          <a:lstStyle/>
          <a:p>
            <a:pPr algn="l">
              <a:lnSpc>
                <a:spcPct val="118000"/>
              </a:lnSpc>
              <a:spcBef>
                <a:spcPts val="0"/>
              </a:spcBef>
              <a:spcAft>
                <a:spcPts val="0"/>
              </a:spcAft>
            </a:pPr>
            <a:r>
              <a:rPr sz="2200" b="0" i="0">
                <a:solidFill>
                  <a:srgbClr val="3E4A4F"/>
                </a:solidFill>
                <a:latin typeface="Segoe UI"/>
              </a:rPr>
              <a:t>Fusion is the only stage that needs both, which is why its errors are the ones that compound.</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ECEEEB"/>
        </a:solidFill>
        <a:effectLst/>
      </p:bgPr>
    </p:bg>
    <p:spTree>
      <p:nvGrpSpPr>
        <p:cNvPr id="1" name=""/>
        <p:cNvGrpSpPr/>
        <p:nvPr/>
      </p:nvGrpSpPr>
      <p:grpSpPr>
        <a:xfrm>
          <a:off x="0" y="0"/>
          <a:ext cx="0" cy="0"/>
          <a:chOff x="0" y="0"/>
          <a:chExt cx="0" cy="0"/>
        </a:xfrm>
      </p:grpSpPr>
      <p:sp>
        <p:nvSpPr>
          <p:cNvPr id="2" name="TextBox 1"/>
          <p:cNvSpPr txBox="1"/>
          <p:nvPr/>
        </p:nvSpPr>
        <p:spPr>
          <a:xfrm>
            <a:off x="10618927" y="6309359"/>
            <a:ext cx="914400" cy="274320"/>
          </a:xfrm>
          <a:prstGeom prst="rect">
            <a:avLst/>
          </a:prstGeom>
          <a:noFill/>
        </p:spPr>
        <p:txBody>
          <a:bodyPr wrap="square" lIns="0" tIns="0" rIns="0" bIns="0" anchor="t">
            <a:spAutoFit/>
          </a:bodyPr>
          <a:lstStyle/>
          <a:p>
            <a:pPr algn="r">
              <a:lnSpc>
                <a:spcPct val="118000"/>
              </a:lnSpc>
              <a:spcBef>
                <a:spcPts val="0"/>
              </a:spcBef>
              <a:spcAft>
                <a:spcPts val="0"/>
              </a:spcAft>
            </a:pPr>
            <a:r>
              <a:rPr sz="2100" b="0" i="0">
                <a:solidFill>
                  <a:srgbClr val="6B787D"/>
                </a:solidFill>
                <a:latin typeface="Consolas"/>
              </a:rPr>
              <a:t>05</a:t>
            </a:r>
          </a:p>
        </p:txBody>
      </p:sp>
      <p:sp>
        <p:nvSpPr>
          <p:cNvPr id="3" name="TextBox 2"/>
          <p:cNvSpPr txBox="1"/>
          <p:nvPr/>
        </p:nvSpPr>
        <p:spPr>
          <a:xfrm>
            <a:off x="658368" y="420624"/>
            <a:ext cx="10874959" cy="310896"/>
          </a:xfrm>
          <a:prstGeom prst="rect">
            <a:avLst/>
          </a:prstGeom>
          <a:noFill/>
        </p:spPr>
        <p:txBody>
          <a:bodyPr wrap="square" lIns="0" tIns="0" rIns="0" bIns="0" anchor="t">
            <a:spAutoFit/>
          </a:bodyPr>
          <a:lstStyle/>
          <a:p>
            <a:pPr algn="l">
              <a:lnSpc>
                <a:spcPct val="118000"/>
              </a:lnSpc>
              <a:spcBef>
                <a:spcPts val="0"/>
              </a:spcBef>
              <a:spcAft>
                <a:spcPts val="0"/>
              </a:spcAft>
            </a:pPr>
            <a:r>
              <a:rPr sz="2100" b="1" i="0">
                <a:solidFill>
                  <a:srgbClr val="2E8FA3"/>
                </a:solidFill>
                <a:latin typeface="Consolas"/>
              </a:rPr>
              <a:t>03 / STAGE 1, AUDIO</a:t>
            </a:r>
          </a:p>
        </p:txBody>
      </p:sp>
      <p:sp>
        <p:nvSpPr>
          <p:cNvPr id="4" name="TextBox 3"/>
          <p:cNvSpPr txBox="1"/>
          <p:nvPr/>
        </p:nvSpPr>
        <p:spPr>
          <a:xfrm>
            <a:off x="658368" y="822960"/>
            <a:ext cx="10874959" cy="822960"/>
          </a:xfrm>
          <a:prstGeom prst="rect">
            <a:avLst/>
          </a:prstGeom>
          <a:noFill/>
        </p:spPr>
        <p:txBody>
          <a:bodyPr wrap="square" lIns="0" tIns="0" rIns="0" bIns="0" anchor="t">
            <a:spAutoFit/>
          </a:bodyPr>
          <a:lstStyle/>
          <a:p>
            <a:pPr algn="l">
              <a:lnSpc>
                <a:spcPct val="106000"/>
              </a:lnSpc>
              <a:spcBef>
                <a:spcPts val="0"/>
              </a:spcBef>
              <a:spcAft>
                <a:spcPts val="0"/>
              </a:spcAft>
            </a:pPr>
            <a:r>
              <a:rPr sz="3600" b="1" i="0">
                <a:solidFill>
                  <a:srgbClr val="14181B"/>
                </a:solidFill>
                <a:latin typeface="Segoe UI"/>
              </a:rPr>
              <a:t>Getting broadcast audio into a state a model can read</a:t>
            </a:r>
          </a:p>
        </p:txBody>
      </p:sp>
      <p:sp>
        <p:nvSpPr>
          <p:cNvPr id="5" name="TextBox 4"/>
          <p:cNvSpPr txBox="1"/>
          <p:nvPr/>
        </p:nvSpPr>
        <p:spPr>
          <a:xfrm>
            <a:off x="658368" y="1901952"/>
            <a:ext cx="10874959" cy="822960"/>
          </a:xfrm>
          <a:prstGeom prst="rect">
            <a:avLst/>
          </a:prstGeom>
          <a:noFill/>
        </p:spPr>
        <p:txBody>
          <a:bodyPr wrap="square" lIns="0" tIns="0" rIns="0" bIns="0" anchor="t">
            <a:spAutoFit/>
          </a:bodyPr>
          <a:lstStyle/>
          <a:p>
            <a:pPr algn="l">
              <a:lnSpc>
                <a:spcPct val="124000"/>
              </a:lnSpc>
              <a:spcBef>
                <a:spcPts val="0"/>
              </a:spcBef>
              <a:spcAft>
                <a:spcPts val="0"/>
              </a:spcAft>
            </a:pPr>
            <a:r>
              <a:rPr sz="2400" b="0" i="0">
                <a:solidFill>
                  <a:srgbClr val="3E4A4F"/>
                </a:solidFill>
                <a:latin typeface="Segoe UI"/>
              </a:rPr>
              <a:t>Both speech models expect 16 kHz mono at a predictable loudness. Broadcast MP3 is none of those things.</a:t>
            </a:r>
          </a:p>
        </p:txBody>
      </p:sp>
      <p:graphicFrame>
        <p:nvGraphicFramePr>
          <p:cNvPr id="6" name="Table 5"/>
          <p:cNvGraphicFramePr>
            <a:graphicFrameLocks noGrp="1"/>
          </p:cNvGraphicFramePr>
          <p:nvPr/>
        </p:nvGraphicFramePr>
        <p:xfrm>
          <a:off x="658368" y="2980944"/>
          <a:ext cx="5532119" cy="4096512"/>
        </p:xfrm>
        <a:graphic>
          <a:graphicData uri="http://schemas.openxmlformats.org/drawingml/2006/table">
            <a:tbl>
              <a:tblPr>
                <a:tableStyleId>{5C22544A-7EE6-4342-B048-85BDC9FD1C3A}</a:tableStyleId>
              </a:tblPr>
              <a:tblGrid>
                <a:gridCol w="2663613">
                  <a:extLst>
                    <a:ext uri="{9D8B030D-6E8A-4147-A177-3AD203B41FA5}">
                      <a16:colId xmlns:a16="http://schemas.microsoft.com/office/drawing/2014/main" val="20000"/>
                    </a:ext>
                  </a:extLst>
                </a:gridCol>
                <a:gridCol w="2868506">
                  <a:extLst>
                    <a:ext uri="{9D8B030D-6E8A-4147-A177-3AD203B41FA5}">
                      <a16:colId xmlns:a16="http://schemas.microsoft.com/office/drawing/2014/main" val="20001"/>
                    </a:ext>
                  </a:extLst>
                </a:gridCol>
              </a:tblGrid>
              <a:tr h="402336">
                <a:tc>
                  <a:txBody>
                    <a:bodyPr/>
                    <a:lstStyle/>
                    <a:p>
                      <a:pPr algn="l"/>
                      <a:r>
                        <a:rPr sz="2100" b="1" i="0">
                          <a:solidFill>
                            <a:srgbClr val="6B787D"/>
                          </a:solidFill>
                          <a:latin typeface="Consolas"/>
                        </a:rPr>
                        <a:t>Setting</a:t>
                      </a:r>
                    </a:p>
                  </a:txBody>
                  <a:tcPr marL="100584" marR="100584" marT="27432" marB="27432" anchor="ctr">
                    <a:solidFill>
                      <a:srgbClr val="E0E5E1"/>
                    </a:solidFill>
                  </a:tcPr>
                </a:tc>
                <a:tc>
                  <a:txBody>
                    <a:bodyPr/>
                    <a:lstStyle/>
                    <a:p>
                      <a:pPr algn="r"/>
                      <a:r>
                        <a:rPr sz="2100" b="1" i="0">
                          <a:solidFill>
                            <a:srgbClr val="6B787D"/>
                          </a:solidFill>
                          <a:latin typeface="Consolas"/>
                        </a:rPr>
                        <a:t>Value</a:t>
                      </a:r>
                    </a:p>
                  </a:txBody>
                  <a:tcPr marL="100584" marR="100584" marT="27432" marB="27432" anchor="ctr">
                    <a:solidFill>
                      <a:srgbClr val="E0E5E1"/>
                    </a:solidFill>
                  </a:tcPr>
                </a:tc>
                <a:extLst>
                  <a:ext uri="{0D108BD9-81ED-4DB2-BD59-A6C34878D82A}">
                    <a16:rowId xmlns:a16="http://schemas.microsoft.com/office/drawing/2014/main" val="10000"/>
                  </a:ext>
                </a:extLst>
              </a:tr>
              <a:tr h="402336">
                <a:tc>
                  <a:txBody>
                    <a:bodyPr/>
                    <a:lstStyle/>
                    <a:p>
                      <a:pPr algn="l"/>
                      <a:r>
                        <a:rPr sz="2100" b="0" i="0">
                          <a:solidFill>
                            <a:srgbClr val="14181B"/>
                          </a:solidFill>
                          <a:latin typeface="Segoe UI"/>
                        </a:rPr>
                        <a:t>source rate</a:t>
                      </a:r>
                    </a:p>
                  </a:txBody>
                  <a:tcPr marL="100584" marR="100584" marT="27432" marB="27432" anchor="ctr">
                    <a:solidFill>
                      <a:srgbClr val="F8F9F7"/>
                    </a:solidFill>
                  </a:tcPr>
                </a:tc>
                <a:tc>
                  <a:txBody>
                    <a:bodyPr/>
                    <a:lstStyle/>
                    <a:p>
                      <a:pPr algn="r"/>
                      <a:r>
                        <a:rPr sz="2100" b="0" i="0">
                          <a:solidFill>
                            <a:srgbClr val="14181B"/>
                          </a:solidFill>
                          <a:latin typeface="Consolas"/>
                        </a:rPr>
                        <a:t>44.1 and 48 kHz</a:t>
                      </a:r>
                    </a:p>
                  </a:txBody>
                  <a:tcPr marL="100584" marR="100584" marT="27432" marB="27432" anchor="ctr">
                    <a:solidFill>
                      <a:srgbClr val="F8F9F7"/>
                    </a:solidFill>
                  </a:tcPr>
                </a:tc>
                <a:extLst>
                  <a:ext uri="{0D108BD9-81ED-4DB2-BD59-A6C34878D82A}">
                    <a16:rowId xmlns:a16="http://schemas.microsoft.com/office/drawing/2014/main" val="10001"/>
                  </a:ext>
                </a:extLst>
              </a:tr>
              <a:tr h="402336">
                <a:tc>
                  <a:txBody>
                    <a:bodyPr/>
                    <a:lstStyle/>
                    <a:p>
                      <a:pPr algn="l"/>
                      <a:r>
                        <a:rPr sz="2100" b="0" i="0">
                          <a:solidFill>
                            <a:srgbClr val="14181B"/>
                          </a:solidFill>
                          <a:latin typeface="Segoe UI"/>
                        </a:rPr>
                        <a:t>source channels</a:t>
                      </a:r>
                    </a:p>
                  </a:txBody>
                  <a:tcPr marL="100584" marR="100584" marT="27432" marB="27432" anchor="ctr">
                    <a:solidFill>
                      <a:srgbClr val="F8F9F7"/>
                    </a:solidFill>
                  </a:tcPr>
                </a:tc>
                <a:tc>
                  <a:txBody>
                    <a:bodyPr/>
                    <a:lstStyle/>
                    <a:p>
                      <a:pPr algn="r"/>
                      <a:r>
                        <a:rPr sz="2100" b="0" i="0">
                          <a:solidFill>
                            <a:srgbClr val="14181B"/>
                          </a:solidFill>
                          <a:latin typeface="Consolas"/>
                        </a:rPr>
                        <a:t>2, stereo</a:t>
                      </a:r>
                    </a:p>
                  </a:txBody>
                  <a:tcPr marL="100584" marR="100584" marT="27432" marB="27432" anchor="ctr">
                    <a:solidFill>
                      <a:srgbClr val="F8F9F7"/>
                    </a:solidFill>
                  </a:tcPr>
                </a:tc>
                <a:extLst>
                  <a:ext uri="{0D108BD9-81ED-4DB2-BD59-A6C34878D82A}">
                    <a16:rowId xmlns:a16="http://schemas.microsoft.com/office/drawing/2014/main" val="10002"/>
                  </a:ext>
                </a:extLst>
              </a:tr>
              <a:tr h="402336">
                <a:tc>
                  <a:txBody>
                    <a:bodyPr/>
                    <a:lstStyle/>
                    <a:p>
                      <a:pPr algn="l"/>
                      <a:r>
                        <a:rPr sz="2100" b="0" i="0">
                          <a:solidFill>
                            <a:srgbClr val="14181B"/>
                          </a:solidFill>
                          <a:latin typeface="Segoe UI"/>
                        </a:rPr>
                        <a:t>target rate</a:t>
                      </a:r>
                    </a:p>
                  </a:txBody>
                  <a:tcPr marL="100584" marR="100584" marT="27432" marB="27432" anchor="ctr">
                    <a:solidFill>
                      <a:srgbClr val="F8F9F7"/>
                    </a:solidFill>
                  </a:tcPr>
                </a:tc>
                <a:tc>
                  <a:txBody>
                    <a:bodyPr/>
                    <a:lstStyle/>
                    <a:p>
                      <a:pPr algn="r"/>
                      <a:r>
                        <a:rPr sz="2100" b="0" i="0">
                          <a:solidFill>
                            <a:srgbClr val="14181B"/>
                          </a:solidFill>
                          <a:latin typeface="Consolas"/>
                        </a:rPr>
                        <a:t>16 kHz mono</a:t>
                      </a:r>
                    </a:p>
                  </a:txBody>
                  <a:tcPr marL="100584" marR="100584" marT="27432" marB="27432" anchor="ctr">
                    <a:solidFill>
                      <a:srgbClr val="F8F9F7"/>
                    </a:solidFill>
                  </a:tcPr>
                </a:tc>
                <a:extLst>
                  <a:ext uri="{0D108BD9-81ED-4DB2-BD59-A6C34878D82A}">
                    <a16:rowId xmlns:a16="http://schemas.microsoft.com/office/drawing/2014/main" val="10003"/>
                  </a:ext>
                </a:extLst>
              </a:tr>
              <a:tr h="402336">
                <a:tc>
                  <a:txBody>
                    <a:bodyPr/>
                    <a:lstStyle/>
                    <a:p>
                      <a:pPr algn="l"/>
                      <a:r>
                        <a:rPr sz="2100" b="0" i="0">
                          <a:solidFill>
                            <a:srgbClr val="14181B"/>
                          </a:solidFill>
                          <a:latin typeface="Segoe UI"/>
                        </a:rPr>
                        <a:t>loudness standard</a:t>
                      </a:r>
                    </a:p>
                  </a:txBody>
                  <a:tcPr marL="100584" marR="100584" marT="27432" marB="27432" anchor="ctr">
                    <a:solidFill>
                      <a:srgbClr val="F8F9F7"/>
                    </a:solidFill>
                  </a:tcPr>
                </a:tc>
                <a:tc>
                  <a:txBody>
                    <a:bodyPr/>
                    <a:lstStyle/>
                    <a:p>
                      <a:pPr algn="r"/>
                      <a:r>
                        <a:rPr sz="2100" b="0" i="0">
                          <a:solidFill>
                            <a:srgbClr val="14181B"/>
                          </a:solidFill>
                          <a:latin typeface="Consolas"/>
                        </a:rPr>
                        <a:t>EBU R128 integrated</a:t>
                      </a:r>
                    </a:p>
                  </a:txBody>
                  <a:tcPr marL="100584" marR="100584" marT="27432" marB="27432" anchor="ctr">
                    <a:solidFill>
                      <a:srgbClr val="F8F9F7"/>
                    </a:solidFill>
                  </a:tcPr>
                </a:tc>
                <a:extLst>
                  <a:ext uri="{0D108BD9-81ED-4DB2-BD59-A6C34878D82A}">
                    <a16:rowId xmlns:a16="http://schemas.microsoft.com/office/drawing/2014/main" val="10004"/>
                  </a:ext>
                </a:extLst>
              </a:tr>
              <a:tr h="402336">
                <a:tc>
                  <a:txBody>
                    <a:bodyPr/>
                    <a:lstStyle/>
                    <a:p>
                      <a:pPr algn="l"/>
                      <a:r>
                        <a:rPr sz="2100" b="0" i="0">
                          <a:solidFill>
                            <a:srgbClr val="14181B"/>
                          </a:solidFill>
                          <a:latin typeface="Segoe UI"/>
                        </a:rPr>
                        <a:t>loudness target</a:t>
                      </a:r>
                    </a:p>
                  </a:txBody>
                  <a:tcPr marL="100584" marR="100584" marT="27432" marB="27432" anchor="ctr">
                    <a:solidFill>
                      <a:srgbClr val="F8F9F7"/>
                    </a:solidFill>
                  </a:tcPr>
                </a:tc>
                <a:tc>
                  <a:txBody>
                    <a:bodyPr/>
                    <a:lstStyle/>
                    <a:p>
                      <a:pPr algn="r"/>
                      <a:r>
                        <a:rPr sz="2100" b="0" i="0">
                          <a:solidFill>
                            <a:srgbClr val="14181B"/>
                          </a:solidFill>
                          <a:latin typeface="Consolas"/>
                        </a:rPr>
                        <a:t>-16 LUFS</a:t>
                      </a:r>
                    </a:p>
                  </a:txBody>
                  <a:tcPr marL="100584" marR="100584" marT="27432" marB="27432" anchor="ctr">
                    <a:solidFill>
                      <a:srgbClr val="F8F9F7"/>
                    </a:solidFill>
                  </a:tcPr>
                </a:tc>
                <a:extLst>
                  <a:ext uri="{0D108BD9-81ED-4DB2-BD59-A6C34878D82A}">
                    <a16:rowId xmlns:a16="http://schemas.microsoft.com/office/drawing/2014/main" val="10005"/>
                  </a:ext>
                </a:extLst>
              </a:tr>
              <a:tr h="402336">
                <a:tc>
                  <a:txBody>
                    <a:bodyPr/>
                    <a:lstStyle/>
                    <a:p>
                      <a:pPr algn="l"/>
                      <a:r>
                        <a:rPr sz="2100" b="0" i="0">
                          <a:solidFill>
                            <a:srgbClr val="14181B"/>
                          </a:solidFill>
                          <a:latin typeface="Segoe UI"/>
                        </a:rPr>
                        <a:t>measured range</a:t>
                      </a:r>
                    </a:p>
                  </a:txBody>
                  <a:tcPr marL="100584" marR="100584" marT="27432" marB="27432" anchor="ctr">
                    <a:solidFill>
                      <a:srgbClr val="F8F9F7"/>
                    </a:solidFill>
                  </a:tcPr>
                </a:tc>
                <a:tc>
                  <a:txBody>
                    <a:bodyPr/>
                    <a:lstStyle/>
                    <a:p>
                      <a:pPr algn="r"/>
                      <a:r>
                        <a:rPr sz="2100" b="0" i="0">
                          <a:solidFill>
                            <a:srgbClr val="14181B"/>
                          </a:solidFill>
                          <a:latin typeface="Consolas"/>
                        </a:rPr>
                        <a:t>-28.3 to -16.0 LUFS</a:t>
                      </a:r>
                    </a:p>
                  </a:txBody>
                  <a:tcPr marL="100584" marR="100584" marT="27432" marB="27432" anchor="ctr">
                    <a:solidFill>
                      <a:srgbClr val="F8F9F7"/>
                    </a:solidFill>
                  </a:tcPr>
                </a:tc>
                <a:extLst>
                  <a:ext uri="{0D108BD9-81ED-4DB2-BD59-A6C34878D82A}">
                    <a16:rowId xmlns:a16="http://schemas.microsoft.com/office/drawing/2014/main" val="10006"/>
                  </a:ext>
                </a:extLst>
              </a:tr>
              <a:tr h="402336">
                <a:tc>
                  <a:txBody>
                    <a:bodyPr/>
                    <a:lstStyle/>
                    <a:p>
                      <a:pPr algn="l"/>
                      <a:r>
                        <a:rPr sz="2100" b="0" i="0">
                          <a:solidFill>
                            <a:srgbClr val="14181B"/>
                          </a:solidFill>
                          <a:latin typeface="Segoe UI"/>
                        </a:rPr>
                        <a:t>true peak guard</a:t>
                      </a:r>
                    </a:p>
                  </a:txBody>
                  <a:tcPr marL="100584" marR="100584" marT="27432" marB="27432" anchor="ctr">
                    <a:solidFill>
                      <a:srgbClr val="F8F9F7"/>
                    </a:solidFill>
                  </a:tcPr>
                </a:tc>
                <a:tc>
                  <a:txBody>
                    <a:bodyPr/>
                    <a:lstStyle/>
                    <a:p>
                      <a:pPr algn="r"/>
                      <a:r>
                        <a:rPr sz="2100" b="0" i="0">
                          <a:solidFill>
                            <a:srgbClr val="14181B"/>
                          </a:solidFill>
                          <a:latin typeface="Consolas"/>
                        </a:rPr>
                        <a:t>checked before gain</a:t>
                      </a:r>
                    </a:p>
                  </a:txBody>
                  <a:tcPr marL="100584" marR="100584" marT="27432" marB="27432" anchor="ctr">
                    <a:solidFill>
                      <a:srgbClr val="F8F9F7"/>
                    </a:solidFill>
                  </a:tcPr>
                </a:tc>
                <a:extLst>
                  <a:ext uri="{0D108BD9-81ED-4DB2-BD59-A6C34878D82A}">
                    <a16:rowId xmlns:a16="http://schemas.microsoft.com/office/drawing/2014/main" val="10007"/>
                  </a:ext>
                </a:extLst>
              </a:tr>
            </a:tbl>
          </a:graphicData>
        </a:graphic>
      </p:graphicFrame>
      <p:sp>
        <p:nvSpPr>
          <p:cNvPr id="7" name="Rectangle 6"/>
          <p:cNvSpPr/>
          <p:nvPr/>
        </p:nvSpPr>
        <p:spPr>
          <a:xfrm>
            <a:off x="6556248" y="2378606"/>
            <a:ext cx="4977079" cy="2248258"/>
          </a:xfrm>
          <a:prstGeom prst="rect">
            <a:avLst/>
          </a:prstGeom>
          <a:solidFill>
            <a:srgbClr val="F8F9F7"/>
          </a:solidFill>
          <a:ln w="12700">
            <a:solidFill>
              <a:srgbClr val="C3CBC6"/>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8" name="Rectangle 7"/>
          <p:cNvSpPr/>
          <p:nvPr/>
        </p:nvSpPr>
        <p:spPr>
          <a:xfrm>
            <a:off x="6556248" y="2980944"/>
            <a:ext cx="50292" cy="1481328"/>
          </a:xfrm>
          <a:prstGeom prst="rect">
            <a:avLst/>
          </a:prstGeom>
          <a:solidFill>
            <a:srgbClr val="1D4E5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 name="TextBox 8"/>
          <p:cNvSpPr txBox="1"/>
          <p:nvPr/>
        </p:nvSpPr>
        <p:spPr>
          <a:xfrm>
            <a:off x="6830568" y="2561486"/>
            <a:ext cx="4474159" cy="1115568"/>
          </a:xfrm>
          <a:prstGeom prst="rect">
            <a:avLst/>
          </a:prstGeom>
          <a:noFill/>
        </p:spPr>
        <p:txBody>
          <a:bodyPr wrap="square" lIns="0" tIns="0" rIns="0" bIns="0" anchor="t">
            <a:spAutoFit/>
          </a:bodyPr>
          <a:lstStyle/>
          <a:p>
            <a:pPr algn="l">
              <a:lnSpc>
                <a:spcPct val="118000"/>
              </a:lnSpc>
              <a:spcBef>
                <a:spcPts val="0"/>
              </a:spcBef>
              <a:spcAft>
                <a:spcPts val="600"/>
              </a:spcAft>
            </a:pPr>
            <a:r>
              <a:rPr sz="2300" b="1" i="0" dirty="0">
                <a:solidFill>
                  <a:srgbClr val="14181B"/>
                </a:solidFill>
                <a:latin typeface="Segoe UI"/>
              </a:rPr>
              <a:t>Gain is applied selectively</a:t>
            </a:r>
          </a:p>
          <a:p>
            <a:pPr algn="l">
              <a:lnSpc>
                <a:spcPct val="118000"/>
              </a:lnSpc>
              <a:spcBef>
                <a:spcPts val="0"/>
              </a:spcBef>
              <a:spcAft>
                <a:spcPts val="0"/>
              </a:spcAft>
            </a:pPr>
            <a:r>
              <a:rPr sz="2100" b="0" i="0" dirty="0">
                <a:solidFill>
                  <a:srgbClr val="3E4A4F"/>
                </a:solidFill>
                <a:latin typeface="Segoe UI"/>
              </a:rPr>
              <a:t>Only when an episode is genuinely off target and the true peak leaves headroom. </a:t>
            </a:r>
            <a:r>
              <a:rPr sz="2100" b="0" i="0" dirty="0" err="1">
                <a:solidFill>
                  <a:srgbClr val="3E4A4F"/>
                </a:solidFill>
                <a:latin typeface="Segoe UI"/>
              </a:rPr>
              <a:t>Normalising</a:t>
            </a:r>
            <a:r>
              <a:rPr sz="2100" b="0" i="0" dirty="0">
                <a:solidFill>
                  <a:srgbClr val="3E4A4F"/>
                </a:solidFill>
                <a:latin typeface="Segoe UI"/>
              </a:rPr>
              <a:t> everything blindly would clip the loud ones.</a:t>
            </a:r>
          </a:p>
        </p:txBody>
      </p:sp>
      <p:sp>
        <p:nvSpPr>
          <p:cNvPr id="10" name="Rectangle 9"/>
          <p:cNvSpPr/>
          <p:nvPr/>
        </p:nvSpPr>
        <p:spPr>
          <a:xfrm>
            <a:off x="6556248" y="4626864"/>
            <a:ext cx="4977079" cy="1773936"/>
          </a:xfrm>
          <a:prstGeom prst="rect">
            <a:avLst/>
          </a:prstGeom>
          <a:solidFill>
            <a:srgbClr val="F8F9F7"/>
          </a:solidFill>
          <a:ln w="12700">
            <a:solidFill>
              <a:srgbClr val="C3CBC6"/>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1" name="Rectangle 10"/>
          <p:cNvSpPr/>
          <p:nvPr/>
        </p:nvSpPr>
        <p:spPr>
          <a:xfrm>
            <a:off x="6556248" y="4626864"/>
            <a:ext cx="50292" cy="1773936"/>
          </a:xfrm>
          <a:prstGeom prst="rect">
            <a:avLst/>
          </a:prstGeom>
          <a:solidFill>
            <a:srgbClr val="2E8FA3"/>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2" name="TextBox 11"/>
          <p:cNvSpPr txBox="1"/>
          <p:nvPr/>
        </p:nvSpPr>
        <p:spPr>
          <a:xfrm>
            <a:off x="6830568" y="4809744"/>
            <a:ext cx="4474159" cy="1222964"/>
          </a:xfrm>
          <a:prstGeom prst="rect">
            <a:avLst/>
          </a:prstGeom>
          <a:noFill/>
        </p:spPr>
        <p:txBody>
          <a:bodyPr wrap="square" lIns="0" tIns="0" rIns="0" bIns="0" anchor="t">
            <a:spAutoFit/>
          </a:bodyPr>
          <a:lstStyle/>
          <a:p>
            <a:pPr algn="l">
              <a:lnSpc>
                <a:spcPct val="118000"/>
              </a:lnSpc>
              <a:spcBef>
                <a:spcPts val="0"/>
              </a:spcBef>
              <a:spcAft>
                <a:spcPts val="600"/>
              </a:spcAft>
            </a:pPr>
            <a:r>
              <a:rPr sz="2300" b="1" i="0" dirty="0">
                <a:solidFill>
                  <a:srgbClr val="14181B"/>
                </a:solidFill>
                <a:latin typeface="Segoe UI"/>
              </a:rPr>
              <a:t>Why it matters downstream</a:t>
            </a:r>
          </a:p>
          <a:p>
            <a:pPr algn="l">
              <a:lnSpc>
                <a:spcPct val="118000"/>
              </a:lnSpc>
              <a:spcBef>
                <a:spcPts val="0"/>
              </a:spcBef>
              <a:spcAft>
                <a:spcPts val="0"/>
              </a:spcAft>
            </a:pPr>
            <a:r>
              <a:rPr sz="2100" b="0" i="0" dirty="0" err="1">
                <a:solidFill>
                  <a:srgbClr val="3E4A4F"/>
                </a:solidFill>
                <a:latin typeface="Segoe UI"/>
              </a:rPr>
              <a:t>Diarization</a:t>
            </a:r>
            <a:r>
              <a:rPr sz="2100" b="0" i="0" dirty="0">
                <a:solidFill>
                  <a:srgbClr val="3E4A4F"/>
                </a:solidFill>
                <a:latin typeface="Segoe UI"/>
              </a:rPr>
              <a:t> clusters speaker embeddings by distance. </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ECEEEB"/>
        </a:solidFill>
        <a:effectLst/>
      </p:bgPr>
    </p:bg>
    <p:spTree>
      <p:nvGrpSpPr>
        <p:cNvPr id="1" name=""/>
        <p:cNvGrpSpPr/>
        <p:nvPr/>
      </p:nvGrpSpPr>
      <p:grpSpPr>
        <a:xfrm>
          <a:off x="0" y="0"/>
          <a:ext cx="0" cy="0"/>
          <a:chOff x="0" y="0"/>
          <a:chExt cx="0" cy="0"/>
        </a:xfrm>
      </p:grpSpPr>
      <p:sp>
        <p:nvSpPr>
          <p:cNvPr id="2" name="TextBox 1"/>
          <p:cNvSpPr txBox="1"/>
          <p:nvPr/>
        </p:nvSpPr>
        <p:spPr>
          <a:xfrm>
            <a:off x="10618927" y="6309359"/>
            <a:ext cx="914400" cy="274320"/>
          </a:xfrm>
          <a:prstGeom prst="rect">
            <a:avLst/>
          </a:prstGeom>
          <a:noFill/>
        </p:spPr>
        <p:txBody>
          <a:bodyPr wrap="square" lIns="0" tIns="0" rIns="0" bIns="0" anchor="t">
            <a:spAutoFit/>
          </a:bodyPr>
          <a:lstStyle/>
          <a:p>
            <a:pPr algn="r">
              <a:lnSpc>
                <a:spcPct val="118000"/>
              </a:lnSpc>
              <a:spcBef>
                <a:spcPts val="0"/>
              </a:spcBef>
              <a:spcAft>
                <a:spcPts val="0"/>
              </a:spcAft>
            </a:pPr>
            <a:r>
              <a:rPr sz="2100" b="0" i="0">
                <a:solidFill>
                  <a:srgbClr val="6B787D"/>
                </a:solidFill>
                <a:latin typeface="Consolas"/>
              </a:rPr>
              <a:t>06</a:t>
            </a:r>
          </a:p>
        </p:txBody>
      </p:sp>
      <p:sp>
        <p:nvSpPr>
          <p:cNvPr id="3" name="TextBox 2"/>
          <p:cNvSpPr txBox="1"/>
          <p:nvPr/>
        </p:nvSpPr>
        <p:spPr>
          <a:xfrm>
            <a:off x="658368" y="420624"/>
            <a:ext cx="10874959" cy="310896"/>
          </a:xfrm>
          <a:prstGeom prst="rect">
            <a:avLst/>
          </a:prstGeom>
          <a:noFill/>
        </p:spPr>
        <p:txBody>
          <a:bodyPr wrap="square" lIns="0" tIns="0" rIns="0" bIns="0" anchor="t">
            <a:spAutoFit/>
          </a:bodyPr>
          <a:lstStyle/>
          <a:p>
            <a:pPr algn="l">
              <a:lnSpc>
                <a:spcPct val="118000"/>
              </a:lnSpc>
              <a:spcBef>
                <a:spcPts val="0"/>
              </a:spcBef>
              <a:spcAft>
                <a:spcPts val="0"/>
              </a:spcAft>
            </a:pPr>
            <a:r>
              <a:rPr sz="2100" b="1" i="0">
                <a:solidFill>
                  <a:srgbClr val="2E8FA3"/>
                </a:solidFill>
                <a:latin typeface="Consolas"/>
              </a:rPr>
              <a:t>04 / STAGE 2, DIARIZATION</a:t>
            </a:r>
          </a:p>
        </p:txBody>
      </p:sp>
      <p:sp>
        <p:nvSpPr>
          <p:cNvPr id="4" name="TextBox 3"/>
          <p:cNvSpPr txBox="1"/>
          <p:nvPr/>
        </p:nvSpPr>
        <p:spPr>
          <a:xfrm>
            <a:off x="658368" y="822960"/>
            <a:ext cx="10874959" cy="822960"/>
          </a:xfrm>
          <a:prstGeom prst="rect">
            <a:avLst/>
          </a:prstGeom>
          <a:noFill/>
        </p:spPr>
        <p:txBody>
          <a:bodyPr wrap="square" lIns="0" tIns="0" rIns="0" bIns="0" anchor="t">
            <a:spAutoFit/>
          </a:bodyPr>
          <a:lstStyle/>
          <a:p>
            <a:pPr algn="l">
              <a:lnSpc>
                <a:spcPct val="106000"/>
              </a:lnSpc>
              <a:spcBef>
                <a:spcPts val="0"/>
              </a:spcBef>
              <a:spcAft>
                <a:spcPts val="0"/>
              </a:spcAft>
            </a:pPr>
            <a:r>
              <a:rPr sz="3600" b="1" i="0">
                <a:solidFill>
                  <a:srgbClr val="14181B"/>
                </a:solidFill>
                <a:latin typeface="Segoe UI"/>
              </a:rPr>
              <a:t>Deciding who is speaking, before knowing what was said</a:t>
            </a:r>
          </a:p>
        </p:txBody>
      </p:sp>
      <p:graphicFrame>
        <p:nvGraphicFramePr>
          <p:cNvPr id="5" name="Table 4"/>
          <p:cNvGraphicFramePr>
            <a:graphicFrameLocks noGrp="1"/>
          </p:cNvGraphicFramePr>
          <p:nvPr/>
        </p:nvGraphicFramePr>
        <p:xfrm>
          <a:off x="658368" y="2176272"/>
          <a:ext cx="5532119" cy="4389120"/>
        </p:xfrm>
        <a:graphic>
          <a:graphicData uri="http://schemas.openxmlformats.org/drawingml/2006/table">
            <a:tbl>
              <a:tblPr>
                <a:tableStyleId>{5C22544A-7EE6-4342-B048-85BDC9FD1C3A}</a:tableStyleId>
              </a:tblPr>
              <a:tblGrid>
                <a:gridCol w="2963635">
                  <a:extLst>
                    <a:ext uri="{9D8B030D-6E8A-4147-A177-3AD203B41FA5}">
                      <a16:colId xmlns:a16="http://schemas.microsoft.com/office/drawing/2014/main" val="20000"/>
                    </a:ext>
                  </a:extLst>
                </a:gridCol>
                <a:gridCol w="2568484">
                  <a:extLst>
                    <a:ext uri="{9D8B030D-6E8A-4147-A177-3AD203B41FA5}">
                      <a16:colId xmlns:a16="http://schemas.microsoft.com/office/drawing/2014/main" val="20001"/>
                    </a:ext>
                  </a:extLst>
                </a:gridCol>
              </a:tblGrid>
              <a:tr h="384048">
                <a:tc>
                  <a:txBody>
                    <a:bodyPr/>
                    <a:lstStyle/>
                    <a:p>
                      <a:pPr algn="l"/>
                      <a:r>
                        <a:rPr sz="2100" b="1" i="0">
                          <a:solidFill>
                            <a:srgbClr val="6B787D"/>
                          </a:solidFill>
                          <a:latin typeface="Consolas"/>
                        </a:rPr>
                        <a:t>Setting</a:t>
                      </a:r>
                    </a:p>
                  </a:txBody>
                  <a:tcPr marL="100584" marR="100584" marT="27432" marB="27432" anchor="ctr">
                    <a:solidFill>
                      <a:srgbClr val="E0E5E1"/>
                    </a:solidFill>
                  </a:tcPr>
                </a:tc>
                <a:tc>
                  <a:txBody>
                    <a:bodyPr/>
                    <a:lstStyle/>
                    <a:p>
                      <a:pPr algn="r"/>
                      <a:r>
                        <a:rPr sz="2100" b="1" i="0">
                          <a:solidFill>
                            <a:srgbClr val="6B787D"/>
                          </a:solidFill>
                          <a:latin typeface="Consolas"/>
                        </a:rPr>
                        <a:t>Value</a:t>
                      </a:r>
                    </a:p>
                  </a:txBody>
                  <a:tcPr marL="100584" marR="100584" marT="27432" marB="27432" anchor="ctr">
                    <a:solidFill>
                      <a:srgbClr val="E0E5E1"/>
                    </a:solidFill>
                  </a:tcPr>
                </a:tc>
                <a:extLst>
                  <a:ext uri="{0D108BD9-81ED-4DB2-BD59-A6C34878D82A}">
                    <a16:rowId xmlns:a16="http://schemas.microsoft.com/office/drawing/2014/main" val="10000"/>
                  </a:ext>
                </a:extLst>
              </a:tr>
              <a:tr h="384048">
                <a:tc>
                  <a:txBody>
                    <a:bodyPr/>
                    <a:lstStyle/>
                    <a:p>
                      <a:pPr algn="l"/>
                      <a:r>
                        <a:rPr sz="2100" b="0" i="0">
                          <a:solidFill>
                            <a:srgbClr val="14181B"/>
                          </a:solidFill>
                          <a:latin typeface="Segoe UI"/>
                        </a:rPr>
                        <a:t>backbone</a:t>
                      </a:r>
                    </a:p>
                  </a:txBody>
                  <a:tcPr marL="100584" marR="100584" marT="27432" marB="27432" anchor="ctr">
                    <a:solidFill>
                      <a:srgbClr val="F8F9F7"/>
                    </a:solidFill>
                  </a:tcPr>
                </a:tc>
                <a:tc>
                  <a:txBody>
                    <a:bodyPr/>
                    <a:lstStyle/>
                    <a:p>
                      <a:pPr algn="r"/>
                      <a:r>
                        <a:rPr sz="2100" b="0" i="0">
                          <a:solidFill>
                            <a:srgbClr val="14181B"/>
                          </a:solidFill>
                          <a:latin typeface="Consolas"/>
                        </a:rPr>
                        <a:t>pyannote community-1</a:t>
                      </a:r>
                    </a:p>
                  </a:txBody>
                  <a:tcPr marL="100584" marR="100584" marT="27432" marB="27432" anchor="ctr">
                    <a:solidFill>
                      <a:srgbClr val="F8F9F7"/>
                    </a:solidFill>
                  </a:tcPr>
                </a:tc>
                <a:extLst>
                  <a:ext uri="{0D108BD9-81ED-4DB2-BD59-A6C34878D82A}">
                    <a16:rowId xmlns:a16="http://schemas.microsoft.com/office/drawing/2014/main" val="10001"/>
                  </a:ext>
                </a:extLst>
              </a:tr>
              <a:tr h="384048">
                <a:tc>
                  <a:txBody>
                    <a:bodyPr/>
                    <a:lstStyle/>
                    <a:p>
                      <a:pPr algn="l"/>
                      <a:r>
                        <a:rPr sz="2100" b="0" i="0">
                          <a:solidFill>
                            <a:srgbClr val="14181B"/>
                          </a:solidFill>
                          <a:latin typeface="Segoe UI"/>
                        </a:rPr>
                        <a:t>embedding</a:t>
                      </a:r>
                    </a:p>
                  </a:txBody>
                  <a:tcPr marL="100584" marR="100584" marT="27432" marB="27432" anchor="ctr">
                    <a:solidFill>
                      <a:srgbClr val="F8F9F7"/>
                    </a:solidFill>
                  </a:tcPr>
                </a:tc>
                <a:tc>
                  <a:txBody>
                    <a:bodyPr/>
                    <a:lstStyle/>
                    <a:p>
                      <a:pPr algn="r"/>
                      <a:r>
                        <a:rPr sz="2100" b="0" i="0">
                          <a:solidFill>
                            <a:srgbClr val="14181B"/>
                          </a:solidFill>
                          <a:latin typeface="Consolas"/>
                        </a:rPr>
                        <a:t>wespeaker resnet34-LM</a:t>
                      </a:r>
                    </a:p>
                  </a:txBody>
                  <a:tcPr marL="100584" marR="100584" marT="27432" marB="27432" anchor="ctr">
                    <a:solidFill>
                      <a:srgbClr val="F8F9F7"/>
                    </a:solidFill>
                  </a:tcPr>
                </a:tc>
                <a:extLst>
                  <a:ext uri="{0D108BD9-81ED-4DB2-BD59-A6C34878D82A}">
                    <a16:rowId xmlns:a16="http://schemas.microsoft.com/office/drawing/2014/main" val="10002"/>
                  </a:ext>
                </a:extLst>
              </a:tr>
              <a:tr h="384048">
                <a:tc>
                  <a:txBody>
                    <a:bodyPr/>
                    <a:lstStyle/>
                    <a:p>
                      <a:pPr algn="l"/>
                      <a:r>
                        <a:rPr sz="2100" b="0" i="0">
                          <a:solidFill>
                            <a:srgbClr val="14181B"/>
                          </a:solidFill>
                          <a:latin typeface="Segoe UI"/>
                        </a:rPr>
                        <a:t>min_duration_off</a:t>
                      </a:r>
                    </a:p>
                  </a:txBody>
                  <a:tcPr marL="100584" marR="100584" marT="27432" marB="27432" anchor="ctr">
                    <a:solidFill>
                      <a:srgbClr val="F8F9F7"/>
                    </a:solidFill>
                  </a:tcPr>
                </a:tc>
                <a:tc>
                  <a:txBody>
                    <a:bodyPr/>
                    <a:lstStyle/>
                    <a:p>
                      <a:pPr algn="r"/>
                      <a:r>
                        <a:rPr sz="2100" b="0" i="0">
                          <a:solidFill>
                            <a:srgbClr val="14181B"/>
                          </a:solidFill>
                          <a:latin typeface="Consolas"/>
                        </a:rPr>
                        <a:t>0.1 s</a:t>
                      </a:r>
                    </a:p>
                  </a:txBody>
                  <a:tcPr marL="100584" marR="100584" marT="27432" marB="27432" anchor="ctr">
                    <a:solidFill>
                      <a:srgbClr val="F8F9F7"/>
                    </a:solidFill>
                  </a:tcPr>
                </a:tc>
                <a:extLst>
                  <a:ext uri="{0D108BD9-81ED-4DB2-BD59-A6C34878D82A}">
                    <a16:rowId xmlns:a16="http://schemas.microsoft.com/office/drawing/2014/main" val="10003"/>
                  </a:ext>
                </a:extLst>
              </a:tr>
              <a:tr h="384048">
                <a:tc>
                  <a:txBody>
                    <a:bodyPr/>
                    <a:lstStyle/>
                    <a:p>
                      <a:pPr algn="l"/>
                      <a:r>
                        <a:rPr sz="2100" b="0" i="0">
                          <a:solidFill>
                            <a:srgbClr val="14181B"/>
                          </a:solidFill>
                          <a:latin typeface="Segoe UI"/>
                        </a:rPr>
                        <a:t>min_cluster_size</a:t>
                      </a:r>
                    </a:p>
                  </a:txBody>
                  <a:tcPr marL="100584" marR="100584" marT="27432" marB="27432" anchor="ctr">
                    <a:solidFill>
                      <a:srgbClr val="F8F9F7"/>
                    </a:solidFill>
                  </a:tcPr>
                </a:tc>
                <a:tc>
                  <a:txBody>
                    <a:bodyPr/>
                    <a:lstStyle/>
                    <a:p>
                      <a:pPr algn="r"/>
                      <a:r>
                        <a:rPr sz="2100" b="0" i="0">
                          <a:solidFill>
                            <a:srgbClr val="14181B"/>
                          </a:solidFill>
                          <a:latin typeface="Consolas"/>
                        </a:rPr>
                        <a:t>20</a:t>
                      </a:r>
                    </a:p>
                  </a:txBody>
                  <a:tcPr marL="100584" marR="100584" marT="27432" marB="27432" anchor="ctr">
                    <a:solidFill>
                      <a:srgbClr val="F8F9F7"/>
                    </a:solidFill>
                  </a:tcPr>
                </a:tc>
                <a:extLst>
                  <a:ext uri="{0D108BD9-81ED-4DB2-BD59-A6C34878D82A}">
                    <a16:rowId xmlns:a16="http://schemas.microsoft.com/office/drawing/2014/main" val="10004"/>
                  </a:ext>
                </a:extLst>
              </a:tr>
              <a:tr h="384048">
                <a:tc>
                  <a:txBody>
                    <a:bodyPr/>
                    <a:lstStyle/>
                    <a:p>
                      <a:pPr algn="l"/>
                      <a:r>
                        <a:rPr sz="2100" b="0" i="0">
                          <a:solidFill>
                            <a:srgbClr val="14181B"/>
                          </a:solidFill>
                          <a:latin typeface="Segoe UI"/>
                        </a:rPr>
                        <a:t>minimum segment</a:t>
                      </a:r>
                    </a:p>
                  </a:txBody>
                  <a:tcPr marL="100584" marR="100584" marT="27432" marB="27432" anchor="ctr">
                    <a:solidFill>
                      <a:srgbClr val="F8F9F7"/>
                    </a:solidFill>
                  </a:tcPr>
                </a:tc>
                <a:tc>
                  <a:txBody>
                    <a:bodyPr/>
                    <a:lstStyle/>
                    <a:p>
                      <a:pPr algn="r"/>
                      <a:r>
                        <a:rPr sz="2100" b="0" i="0">
                          <a:solidFill>
                            <a:srgbClr val="14181B"/>
                          </a:solidFill>
                          <a:latin typeface="Consolas"/>
                        </a:rPr>
                        <a:t>0.75 s</a:t>
                      </a:r>
                    </a:p>
                  </a:txBody>
                  <a:tcPr marL="100584" marR="100584" marT="27432" marB="27432" anchor="ctr">
                    <a:solidFill>
                      <a:srgbClr val="F8F9F7"/>
                    </a:solidFill>
                  </a:tcPr>
                </a:tc>
                <a:extLst>
                  <a:ext uri="{0D108BD9-81ED-4DB2-BD59-A6C34878D82A}">
                    <a16:rowId xmlns:a16="http://schemas.microsoft.com/office/drawing/2014/main" val="10005"/>
                  </a:ext>
                </a:extLst>
              </a:tr>
              <a:tr h="384048">
                <a:tc>
                  <a:txBody>
                    <a:bodyPr/>
                    <a:lstStyle/>
                    <a:p>
                      <a:pPr algn="l"/>
                      <a:r>
                        <a:rPr sz="2100" b="0" i="0">
                          <a:solidFill>
                            <a:srgbClr val="14181B"/>
                          </a:solidFill>
                          <a:latin typeface="Segoe UI"/>
                        </a:rPr>
                        <a:t>stitch gap</a:t>
                      </a:r>
                    </a:p>
                  </a:txBody>
                  <a:tcPr marL="100584" marR="100584" marT="27432" marB="27432" anchor="ctr">
                    <a:solidFill>
                      <a:srgbClr val="F8F9F7"/>
                    </a:solidFill>
                  </a:tcPr>
                </a:tc>
                <a:tc>
                  <a:txBody>
                    <a:bodyPr/>
                    <a:lstStyle/>
                    <a:p>
                      <a:pPr algn="r"/>
                      <a:r>
                        <a:rPr sz="2100" b="0" i="0">
                          <a:solidFill>
                            <a:srgbClr val="14181B"/>
                          </a:solidFill>
                          <a:latin typeface="Consolas"/>
                        </a:rPr>
                        <a:t>0.17 s</a:t>
                      </a:r>
                    </a:p>
                  </a:txBody>
                  <a:tcPr marL="100584" marR="100584" marT="27432" marB="27432" anchor="ctr">
                    <a:solidFill>
                      <a:srgbClr val="F8F9F7"/>
                    </a:solidFill>
                  </a:tcPr>
                </a:tc>
                <a:extLst>
                  <a:ext uri="{0D108BD9-81ED-4DB2-BD59-A6C34878D82A}">
                    <a16:rowId xmlns:a16="http://schemas.microsoft.com/office/drawing/2014/main" val="10006"/>
                  </a:ext>
                </a:extLst>
              </a:tr>
              <a:tr h="384048">
                <a:tc>
                  <a:txBody>
                    <a:bodyPr/>
                    <a:lstStyle/>
                    <a:p>
                      <a:pPr algn="l"/>
                      <a:r>
                        <a:rPr sz="2100" b="0" i="0">
                          <a:solidFill>
                            <a:srgbClr val="14181B"/>
                          </a:solidFill>
                          <a:latin typeface="Segoe UI"/>
                        </a:rPr>
                        <a:t>minimum speaker airtime</a:t>
                      </a:r>
                    </a:p>
                  </a:txBody>
                  <a:tcPr marL="100584" marR="100584" marT="27432" marB="27432" anchor="ctr">
                    <a:solidFill>
                      <a:srgbClr val="F8F9F7"/>
                    </a:solidFill>
                  </a:tcPr>
                </a:tc>
                <a:tc>
                  <a:txBody>
                    <a:bodyPr/>
                    <a:lstStyle/>
                    <a:p>
                      <a:pPr algn="r"/>
                      <a:r>
                        <a:rPr sz="2100" b="0" i="0">
                          <a:solidFill>
                            <a:srgbClr val="14181B"/>
                          </a:solidFill>
                          <a:latin typeface="Consolas"/>
                        </a:rPr>
                        <a:t>9.0 s</a:t>
                      </a:r>
                    </a:p>
                  </a:txBody>
                  <a:tcPr marL="100584" marR="100584" marT="27432" marB="27432" anchor="ctr">
                    <a:solidFill>
                      <a:srgbClr val="F8F9F7"/>
                    </a:solidFill>
                  </a:tcPr>
                </a:tc>
                <a:extLst>
                  <a:ext uri="{0D108BD9-81ED-4DB2-BD59-A6C34878D82A}">
                    <a16:rowId xmlns:a16="http://schemas.microsoft.com/office/drawing/2014/main" val="10007"/>
                  </a:ext>
                </a:extLst>
              </a:tr>
              <a:tr h="384048">
                <a:tc>
                  <a:txBody>
                    <a:bodyPr/>
                    <a:lstStyle/>
                    <a:p>
                      <a:pPr algn="l"/>
                      <a:r>
                        <a:rPr sz="2100" b="0" i="0">
                          <a:solidFill>
                            <a:srgbClr val="14181B"/>
                          </a:solidFill>
                          <a:latin typeface="Segoe UI"/>
                        </a:rPr>
                        <a:t>scoring collar</a:t>
                      </a:r>
                    </a:p>
                  </a:txBody>
                  <a:tcPr marL="100584" marR="100584" marT="27432" marB="27432" anchor="ctr">
                    <a:solidFill>
                      <a:srgbClr val="F8F9F7"/>
                    </a:solidFill>
                  </a:tcPr>
                </a:tc>
                <a:tc>
                  <a:txBody>
                    <a:bodyPr/>
                    <a:lstStyle/>
                    <a:p>
                      <a:pPr algn="r"/>
                      <a:r>
                        <a:rPr sz="2100" b="0" i="0">
                          <a:solidFill>
                            <a:srgbClr val="14181B"/>
                          </a:solidFill>
                          <a:latin typeface="Consolas"/>
                        </a:rPr>
                        <a:t>0.25 s</a:t>
                      </a:r>
                    </a:p>
                  </a:txBody>
                  <a:tcPr marL="100584" marR="100584" marT="27432" marB="27432" anchor="ctr">
                    <a:solidFill>
                      <a:srgbClr val="F8F9F7"/>
                    </a:solidFill>
                  </a:tcPr>
                </a:tc>
                <a:extLst>
                  <a:ext uri="{0D108BD9-81ED-4DB2-BD59-A6C34878D82A}">
                    <a16:rowId xmlns:a16="http://schemas.microsoft.com/office/drawing/2014/main" val="10008"/>
                  </a:ext>
                </a:extLst>
              </a:tr>
            </a:tbl>
          </a:graphicData>
        </a:graphic>
      </p:graphicFrame>
      <p:sp>
        <p:nvSpPr>
          <p:cNvPr id="6" name="Rectangle 5"/>
          <p:cNvSpPr/>
          <p:nvPr/>
        </p:nvSpPr>
        <p:spPr>
          <a:xfrm>
            <a:off x="6556248" y="2176272"/>
            <a:ext cx="4977079" cy="960120"/>
          </a:xfrm>
          <a:prstGeom prst="rect">
            <a:avLst/>
          </a:prstGeom>
          <a:solidFill>
            <a:srgbClr val="F8F9F7"/>
          </a:solidFill>
          <a:ln w="12700">
            <a:solidFill>
              <a:srgbClr val="C3CBC6"/>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7" name="TextBox 6"/>
          <p:cNvSpPr txBox="1"/>
          <p:nvPr/>
        </p:nvSpPr>
        <p:spPr>
          <a:xfrm>
            <a:off x="6720840" y="2304288"/>
            <a:ext cx="1384706" cy="402336"/>
          </a:xfrm>
          <a:prstGeom prst="rect">
            <a:avLst/>
          </a:prstGeom>
          <a:noFill/>
        </p:spPr>
        <p:txBody>
          <a:bodyPr wrap="square" lIns="0" tIns="0" rIns="0" bIns="0" anchor="t">
            <a:spAutoFit/>
          </a:bodyPr>
          <a:lstStyle/>
          <a:p>
            <a:pPr algn="l">
              <a:lnSpc>
                <a:spcPct val="118000"/>
              </a:lnSpc>
              <a:spcBef>
                <a:spcPts val="0"/>
              </a:spcBef>
              <a:spcAft>
                <a:spcPts val="0"/>
              </a:spcAft>
            </a:pPr>
            <a:r>
              <a:rPr sz="3000" b="1" i="0">
                <a:solidFill>
                  <a:srgbClr val="14181B"/>
                </a:solidFill>
                <a:latin typeface="Segoe UI"/>
              </a:rPr>
              <a:t>1,867</a:t>
            </a:r>
          </a:p>
        </p:txBody>
      </p:sp>
      <p:sp>
        <p:nvSpPr>
          <p:cNvPr id="8" name="TextBox 7"/>
          <p:cNvSpPr txBox="1"/>
          <p:nvPr/>
        </p:nvSpPr>
        <p:spPr>
          <a:xfrm>
            <a:off x="6720840" y="2761488"/>
            <a:ext cx="1384706" cy="274320"/>
          </a:xfrm>
          <a:prstGeom prst="rect">
            <a:avLst/>
          </a:prstGeom>
          <a:noFill/>
        </p:spPr>
        <p:txBody>
          <a:bodyPr wrap="square" lIns="0" tIns="0" rIns="0" bIns="0" anchor="t">
            <a:spAutoFit/>
          </a:bodyPr>
          <a:lstStyle/>
          <a:p>
            <a:pPr algn="l">
              <a:lnSpc>
                <a:spcPct val="118000"/>
              </a:lnSpc>
              <a:spcBef>
                <a:spcPts val="0"/>
              </a:spcBef>
              <a:spcAft>
                <a:spcPts val="0"/>
              </a:spcAft>
            </a:pPr>
            <a:r>
              <a:rPr sz="2100" b="0" i="0">
                <a:solidFill>
                  <a:srgbClr val="6B787D"/>
                </a:solidFill>
                <a:latin typeface="Consolas"/>
              </a:rPr>
              <a:t>TURNS</a:t>
            </a:r>
          </a:p>
        </p:txBody>
      </p:sp>
      <p:sp>
        <p:nvSpPr>
          <p:cNvPr id="9" name="Rectangle 8"/>
          <p:cNvSpPr/>
          <p:nvPr/>
        </p:nvSpPr>
        <p:spPr>
          <a:xfrm>
            <a:off x="8215274" y="2267712"/>
            <a:ext cx="7315" cy="777240"/>
          </a:xfrm>
          <a:prstGeom prst="rect">
            <a:avLst/>
          </a:prstGeom>
          <a:solidFill>
            <a:srgbClr val="C3CBC6"/>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0" name="TextBox 9"/>
          <p:cNvSpPr txBox="1"/>
          <p:nvPr/>
        </p:nvSpPr>
        <p:spPr>
          <a:xfrm>
            <a:off x="8379866" y="2304288"/>
            <a:ext cx="1384706" cy="402336"/>
          </a:xfrm>
          <a:prstGeom prst="rect">
            <a:avLst/>
          </a:prstGeom>
          <a:noFill/>
        </p:spPr>
        <p:txBody>
          <a:bodyPr wrap="square" lIns="0" tIns="0" rIns="0" bIns="0" anchor="t">
            <a:spAutoFit/>
          </a:bodyPr>
          <a:lstStyle/>
          <a:p>
            <a:pPr algn="l">
              <a:lnSpc>
                <a:spcPct val="118000"/>
              </a:lnSpc>
              <a:spcBef>
                <a:spcPts val="0"/>
              </a:spcBef>
              <a:spcAft>
                <a:spcPts val="0"/>
              </a:spcAft>
            </a:pPr>
            <a:r>
              <a:rPr sz="3000" b="1" i="0">
                <a:solidFill>
                  <a:srgbClr val="14181B"/>
                </a:solidFill>
                <a:latin typeface="Segoe UI"/>
              </a:rPr>
              <a:t>3</a:t>
            </a:r>
          </a:p>
        </p:txBody>
      </p:sp>
      <p:sp>
        <p:nvSpPr>
          <p:cNvPr id="11" name="TextBox 10"/>
          <p:cNvSpPr txBox="1"/>
          <p:nvPr/>
        </p:nvSpPr>
        <p:spPr>
          <a:xfrm>
            <a:off x="8379865" y="2761488"/>
            <a:ext cx="1501749" cy="355290"/>
          </a:xfrm>
          <a:prstGeom prst="rect">
            <a:avLst/>
          </a:prstGeom>
          <a:noFill/>
        </p:spPr>
        <p:txBody>
          <a:bodyPr wrap="square" lIns="0" tIns="0" rIns="0" bIns="0" anchor="t">
            <a:spAutoFit/>
          </a:bodyPr>
          <a:lstStyle/>
          <a:p>
            <a:pPr algn="l">
              <a:lnSpc>
                <a:spcPct val="118000"/>
              </a:lnSpc>
              <a:spcBef>
                <a:spcPts val="0"/>
              </a:spcBef>
              <a:spcAft>
                <a:spcPts val="0"/>
              </a:spcAft>
            </a:pPr>
            <a:r>
              <a:rPr sz="2100" b="0" i="0" dirty="0">
                <a:solidFill>
                  <a:srgbClr val="6B787D"/>
                </a:solidFill>
                <a:latin typeface="Consolas"/>
              </a:rPr>
              <a:t>MEDIAN SPK</a:t>
            </a:r>
          </a:p>
        </p:txBody>
      </p:sp>
      <p:sp>
        <p:nvSpPr>
          <p:cNvPr id="12" name="Rectangle 11"/>
          <p:cNvSpPr/>
          <p:nvPr/>
        </p:nvSpPr>
        <p:spPr>
          <a:xfrm>
            <a:off x="9874300" y="2267712"/>
            <a:ext cx="7315" cy="777240"/>
          </a:xfrm>
          <a:prstGeom prst="rect">
            <a:avLst/>
          </a:prstGeom>
          <a:solidFill>
            <a:srgbClr val="C3CBC6"/>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3" name="TextBox 12"/>
          <p:cNvSpPr txBox="1"/>
          <p:nvPr/>
        </p:nvSpPr>
        <p:spPr>
          <a:xfrm>
            <a:off x="10038892" y="2304288"/>
            <a:ext cx="1384706" cy="402336"/>
          </a:xfrm>
          <a:prstGeom prst="rect">
            <a:avLst/>
          </a:prstGeom>
          <a:noFill/>
        </p:spPr>
        <p:txBody>
          <a:bodyPr wrap="square" lIns="0" tIns="0" rIns="0" bIns="0" anchor="t">
            <a:spAutoFit/>
          </a:bodyPr>
          <a:lstStyle/>
          <a:p>
            <a:pPr algn="l">
              <a:lnSpc>
                <a:spcPct val="118000"/>
              </a:lnSpc>
              <a:spcBef>
                <a:spcPts val="0"/>
              </a:spcBef>
              <a:spcAft>
                <a:spcPts val="0"/>
              </a:spcAft>
            </a:pPr>
            <a:r>
              <a:rPr sz="3000" b="1" i="0">
                <a:solidFill>
                  <a:srgbClr val="14181B"/>
                </a:solidFill>
                <a:latin typeface="Segoe UI"/>
              </a:rPr>
              <a:t>1 to 7</a:t>
            </a:r>
          </a:p>
        </p:txBody>
      </p:sp>
      <p:sp>
        <p:nvSpPr>
          <p:cNvPr id="14" name="TextBox 13"/>
          <p:cNvSpPr txBox="1"/>
          <p:nvPr/>
        </p:nvSpPr>
        <p:spPr>
          <a:xfrm>
            <a:off x="10038892" y="2761488"/>
            <a:ext cx="1384706" cy="274320"/>
          </a:xfrm>
          <a:prstGeom prst="rect">
            <a:avLst/>
          </a:prstGeom>
          <a:noFill/>
        </p:spPr>
        <p:txBody>
          <a:bodyPr wrap="square" lIns="0" tIns="0" rIns="0" bIns="0" anchor="t">
            <a:spAutoFit/>
          </a:bodyPr>
          <a:lstStyle/>
          <a:p>
            <a:pPr algn="l">
              <a:lnSpc>
                <a:spcPct val="118000"/>
              </a:lnSpc>
              <a:spcBef>
                <a:spcPts val="0"/>
              </a:spcBef>
              <a:spcAft>
                <a:spcPts val="0"/>
              </a:spcAft>
            </a:pPr>
            <a:r>
              <a:rPr sz="2100" b="0" i="0">
                <a:solidFill>
                  <a:srgbClr val="6B787D"/>
                </a:solidFill>
                <a:latin typeface="Consolas"/>
              </a:rPr>
              <a:t>RANGE</a:t>
            </a:r>
          </a:p>
        </p:txBody>
      </p:sp>
      <p:sp>
        <p:nvSpPr>
          <p:cNvPr id="15" name="TextBox 14"/>
          <p:cNvSpPr txBox="1"/>
          <p:nvPr/>
        </p:nvSpPr>
        <p:spPr>
          <a:xfrm>
            <a:off x="6579107" y="3072385"/>
            <a:ext cx="4977079" cy="310896"/>
          </a:xfrm>
          <a:prstGeom prst="rect">
            <a:avLst/>
          </a:prstGeom>
          <a:noFill/>
        </p:spPr>
        <p:txBody>
          <a:bodyPr wrap="square" lIns="0" tIns="0" rIns="0" bIns="0" anchor="t">
            <a:spAutoFit/>
          </a:bodyPr>
          <a:lstStyle/>
          <a:p>
            <a:pPr algn="l">
              <a:lnSpc>
                <a:spcPct val="118000"/>
              </a:lnSpc>
              <a:spcBef>
                <a:spcPts val="0"/>
              </a:spcBef>
              <a:spcAft>
                <a:spcPts val="0"/>
              </a:spcAft>
            </a:pPr>
            <a:r>
              <a:rPr sz="2100" b="0" i="0" dirty="0">
                <a:solidFill>
                  <a:srgbClr val="3E4A4F"/>
                </a:solidFill>
                <a:latin typeface="Segoe UI"/>
              </a:rPr>
              <a:t>The default embedding is swapped for </a:t>
            </a:r>
            <a:r>
              <a:rPr sz="2100" b="0" i="0" dirty="0" err="1">
                <a:solidFill>
                  <a:srgbClr val="3E4A4F"/>
                </a:solidFill>
                <a:latin typeface="Segoe UI"/>
              </a:rPr>
              <a:t>wespeaker</a:t>
            </a:r>
            <a:r>
              <a:rPr sz="2100" b="0" i="0" dirty="0">
                <a:solidFill>
                  <a:srgbClr val="3E4A4F"/>
                </a:solidFill>
                <a:latin typeface="Segoe UI"/>
              </a:rPr>
              <a:t> resnet34-LM, which separates voices better on noisy broadcast audio.</a:t>
            </a:r>
          </a:p>
        </p:txBody>
      </p:sp>
      <p:sp>
        <p:nvSpPr>
          <p:cNvPr id="16" name="Rectangle 15"/>
          <p:cNvSpPr/>
          <p:nvPr/>
        </p:nvSpPr>
        <p:spPr>
          <a:xfrm>
            <a:off x="6556248" y="4261104"/>
            <a:ext cx="4977079" cy="1572768"/>
          </a:xfrm>
          <a:prstGeom prst="rect">
            <a:avLst/>
          </a:prstGeom>
          <a:solidFill>
            <a:srgbClr val="F8F9F7"/>
          </a:solidFill>
          <a:ln w="12700">
            <a:solidFill>
              <a:srgbClr val="C3CBC6"/>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7" name="Rectangle 16"/>
          <p:cNvSpPr/>
          <p:nvPr/>
        </p:nvSpPr>
        <p:spPr>
          <a:xfrm>
            <a:off x="6556248" y="4261104"/>
            <a:ext cx="50292" cy="1572768"/>
          </a:xfrm>
          <a:prstGeom prst="rect">
            <a:avLst/>
          </a:prstGeom>
          <a:solidFill>
            <a:srgbClr val="B5811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8" name="TextBox 17"/>
          <p:cNvSpPr txBox="1"/>
          <p:nvPr/>
        </p:nvSpPr>
        <p:spPr>
          <a:xfrm>
            <a:off x="6830568" y="4443984"/>
            <a:ext cx="4474159" cy="797719"/>
          </a:xfrm>
          <a:prstGeom prst="rect">
            <a:avLst/>
          </a:prstGeom>
          <a:noFill/>
        </p:spPr>
        <p:txBody>
          <a:bodyPr wrap="square" lIns="0" tIns="0" rIns="0" bIns="0" anchor="t">
            <a:spAutoFit/>
          </a:bodyPr>
          <a:lstStyle/>
          <a:p>
            <a:pPr algn="l">
              <a:lnSpc>
                <a:spcPct val="118000"/>
              </a:lnSpc>
              <a:spcBef>
                <a:spcPts val="0"/>
              </a:spcBef>
              <a:spcAft>
                <a:spcPts val="600"/>
              </a:spcAft>
            </a:pPr>
            <a:r>
              <a:rPr sz="2300" b="1" i="0" dirty="0">
                <a:solidFill>
                  <a:srgbClr val="14181B"/>
                </a:solidFill>
                <a:latin typeface="Segoe UI"/>
              </a:rPr>
              <a:t>No </a:t>
            </a:r>
            <a:r>
              <a:rPr sz="2300" b="1" i="0" dirty="0" err="1">
                <a:solidFill>
                  <a:srgbClr val="14181B"/>
                </a:solidFill>
                <a:latin typeface="Segoe UI"/>
              </a:rPr>
              <a:t>diarization</a:t>
            </a:r>
            <a:r>
              <a:rPr sz="2300" b="1" i="0" dirty="0">
                <a:solidFill>
                  <a:srgbClr val="14181B"/>
                </a:solidFill>
                <a:latin typeface="Segoe UI"/>
              </a:rPr>
              <a:t> error rate is reported</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ECEEEB"/>
        </a:solidFill>
        <a:effectLst/>
      </p:bgPr>
    </p:bg>
    <p:spTree>
      <p:nvGrpSpPr>
        <p:cNvPr id="1" name=""/>
        <p:cNvGrpSpPr/>
        <p:nvPr/>
      </p:nvGrpSpPr>
      <p:grpSpPr>
        <a:xfrm>
          <a:off x="0" y="0"/>
          <a:ext cx="0" cy="0"/>
          <a:chOff x="0" y="0"/>
          <a:chExt cx="0" cy="0"/>
        </a:xfrm>
      </p:grpSpPr>
      <p:sp>
        <p:nvSpPr>
          <p:cNvPr id="2" name="TextBox 1"/>
          <p:cNvSpPr txBox="1"/>
          <p:nvPr/>
        </p:nvSpPr>
        <p:spPr>
          <a:xfrm>
            <a:off x="10618927" y="6309359"/>
            <a:ext cx="914400" cy="274320"/>
          </a:xfrm>
          <a:prstGeom prst="rect">
            <a:avLst/>
          </a:prstGeom>
          <a:noFill/>
        </p:spPr>
        <p:txBody>
          <a:bodyPr wrap="square" lIns="0" tIns="0" rIns="0" bIns="0" anchor="t">
            <a:spAutoFit/>
          </a:bodyPr>
          <a:lstStyle/>
          <a:p>
            <a:pPr algn="r">
              <a:lnSpc>
                <a:spcPct val="118000"/>
              </a:lnSpc>
              <a:spcBef>
                <a:spcPts val="0"/>
              </a:spcBef>
              <a:spcAft>
                <a:spcPts val="0"/>
              </a:spcAft>
            </a:pPr>
            <a:r>
              <a:rPr sz="2100" b="0" i="0">
                <a:solidFill>
                  <a:srgbClr val="6B787D"/>
                </a:solidFill>
                <a:latin typeface="Consolas"/>
              </a:rPr>
              <a:t>07</a:t>
            </a:r>
          </a:p>
        </p:txBody>
      </p:sp>
      <p:sp>
        <p:nvSpPr>
          <p:cNvPr id="3" name="TextBox 2"/>
          <p:cNvSpPr txBox="1"/>
          <p:nvPr/>
        </p:nvSpPr>
        <p:spPr>
          <a:xfrm>
            <a:off x="658368" y="420624"/>
            <a:ext cx="10874959" cy="310896"/>
          </a:xfrm>
          <a:prstGeom prst="rect">
            <a:avLst/>
          </a:prstGeom>
          <a:noFill/>
        </p:spPr>
        <p:txBody>
          <a:bodyPr wrap="square" lIns="0" tIns="0" rIns="0" bIns="0" anchor="t">
            <a:spAutoFit/>
          </a:bodyPr>
          <a:lstStyle/>
          <a:p>
            <a:pPr algn="l">
              <a:lnSpc>
                <a:spcPct val="118000"/>
              </a:lnSpc>
              <a:spcBef>
                <a:spcPts val="0"/>
              </a:spcBef>
              <a:spcAft>
                <a:spcPts val="0"/>
              </a:spcAft>
            </a:pPr>
            <a:r>
              <a:rPr sz="2100" b="1" i="0">
                <a:solidFill>
                  <a:srgbClr val="2E8FA3"/>
                </a:solidFill>
                <a:latin typeface="Consolas"/>
              </a:rPr>
              <a:t>04 / STAGE 2, DIARIZATION</a:t>
            </a:r>
          </a:p>
        </p:txBody>
      </p:sp>
      <p:sp>
        <p:nvSpPr>
          <p:cNvPr id="4" name="TextBox 3"/>
          <p:cNvSpPr txBox="1"/>
          <p:nvPr/>
        </p:nvSpPr>
        <p:spPr>
          <a:xfrm>
            <a:off x="658368" y="822960"/>
            <a:ext cx="10874959" cy="822960"/>
          </a:xfrm>
          <a:prstGeom prst="rect">
            <a:avLst/>
          </a:prstGeom>
          <a:noFill/>
        </p:spPr>
        <p:txBody>
          <a:bodyPr wrap="square" lIns="0" tIns="0" rIns="0" bIns="0" anchor="t">
            <a:spAutoFit/>
          </a:bodyPr>
          <a:lstStyle/>
          <a:p>
            <a:pPr algn="l">
              <a:lnSpc>
                <a:spcPct val="106000"/>
              </a:lnSpc>
              <a:spcBef>
                <a:spcPts val="0"/>
              </a:spcBef>
              <a:spcAft>
                <a:spcPts val="0"/>
              </a:spcAft>
            </a:pPr>
            <a:r>
              <a:rPr sz="3600" b="1" i="0">
                <a:solidFill>
                  <a:srgbClr val="14181B"/>
                </a:solidFill>
                <a:latin typeface="Segoe UI"/>
              </a:rPr>
              <a:t>What the post-processing thresholds are for</a:t>
            </a:r>
          </a:p>
        </p:txBody>
      </p:sp>
      <p:sp>
        <p:nvSpPr>
          <p:cNvPr id="5" name="TextBox 4"/>
          <p:cNvSpPr txBox="1"/>
          <p:nvPr/>
        </p:nvSpPr>
        <p:spPr>
          <a:xfrm>
            <a:off x="658368" y="1431772"/>
            <a:ext cx="10874959" cy="845296"/>
          </a:xfrm>
          <a:prstGeom prst="rect">
            <a:avLst/>
          </a:prstGeom>
          <a:noFill/>
        </p:spPr>
        <p:txBody>
          <a:bodyPr wrap="square" lIns="0" tIns="0" rIns="0" bIns="0" anchor="t">
            <a:spAutoFit/>
          </a:bodyPr>
          <a:lstStyle/>
          <a:p>
            <a:pPr algn="l">
              <a:lnSpc>
                <a:spcPct val="120000"/>
              </a:lnSpc>
              <a:spcBef>
                <a:spcPts val="0"/>
              </a:spcBef>
              <a:spcAft>
                <a:spcPts val="0"/>
              </a:spcAft>
            </a:pPr>
            <a:r>
              <a:rPr sz="2400" b="0" i="0" dirty="0">
                <a:solidFill>
                  <a:srgbClr val="14181B"/>
                </a:solidFill>
                <a:latin typeface="Segoe UI"/>
              </a:rPr>
              <a:t>•   Segments under 0.75 s are dropped, so a cough or a jingle does not become </a:t>
            </a:r>
            <a:r>
              <a:rPr lang="en-US" sz="2400" b="0" i="0" dirty="0">
                <a:solidFill>
                  <a:srgbClr val="14181B"/>
                </a:solidFill>
                <a:latin typeface="Segoe UI"/>
              </a:rPr>
              <a:t>	</a:t>
            </a:r>
            <a:r>
              <a:rPr sz="2400" b="0" i="0" dirty="0">
                <a:solidFill>
                  <a:srgbClr val="14181B"/>
                </a:solidFill>
                <a:latin typeface="Segoe UI"/>
              </a:rPr>
              <a:t>a speaker</a:t>
            </a:r>
          </a:p>
        </p:txBody>
      </p:sp>
      <p:sp>
        <p:nvSpPr>
          <p:cNvPr id="6" name="TextBox 5"/>
          <p:cNvSpPr txBox="1"/>
          <p:nvPr/>
        </p:nvSpPr>
        <p:spPr>
          <a:xfrm>
            <a:off x="658368" y="2268892"/>
            <a:ext cx="10874959" cy="457200"/>
          </a:xfrm>
          <a:prstGeom prst="rect">
            <a:avLst/>
          </a:prstGeom>
          <a:noFill/>
        </p:spPr>
        <p:txBody>
          <a:bodyPr wrap="square" lIns="0" tIns="0" rIns="0" bIns="0" anchor="t">
            <a:spAutoFit/>
          </a:bodyPr>
          <a:lstStyle/>
          <a:p>
            <a:pPr algn="l">
              <a:lnSpc>
                <a:spcPct val="120000"/>
              </a:lnSpc>
              <a:spcBef>
                <a:spcPts val="0"/>
              </a:spcBef>
              <a:spcAft>
                <a:spcPts val="0"/>
              </a:spcAft>
            </a:pPr>
            <a:r>
              <a:rPr sz="2400" b="0" i="0" dirty="0">
                <a:solidFill>
                  <a:srgbClr val="14181B"/>
                </a:solidFill>
                <a:latin typeface="Segoe UI"/>
              </a:rPr>
              <a:t>•   Gaps under 0.17 s are stitched, so one sentence does not split into three turns</a:t>
            </a:r>
          </a:p>
        </p:txBody>
      </p:sp>
      <p:sp>
        <p:nvSpPr>
          <p:cNvPr id="7" name="TextBox 6"/>
          <p:cNvSpPr txBox="1"/>
          <p:nvPr/>
        </p:nvSpPr>
        <p:spPr>
          <a:xfrm>
            <a:off x="658368" y="2688336"/>
            <a:ext cx="10874959" cy="457200"/>
          </a:xfrm>
          <a:prstGeom prst="rect">
            <a:avLst/>
          </a:prstGeom>
          <a:noFill/>
        </p:spPr>
        <p:txBody>
          <a:bodyPr wrap="square" lIns="0" tIns="0" rIns="0" bIns="0" anchor="t">
            <a:spAutoFit/>
          </a:bodyPr>
          <a:lstStyle/>
          <a:p>
            <a:pPr algn="l">
              <a:lnSpc>
                <a:spcPct val="120000"/>
              </a:lnSpc>
              <a:spcBef>
                <a:spcPts val="0"/>
              </a:spcBef>
              <a:spcAft>
                <a:spcPts val="0"/>
              </a:spcAft>
            </a:pPr>
            <a:r>
              <a:rPr sz="2400" b="0" i="0" dirty="0">
                <a:solidFill>
                  <a:srgbClr val="14181B"/>
                </a:solidFill>
                <a:latin typeface="Segoe UI"/>
              </a:rPr>
              <a:t>•   Any speaker with under 9 s of total airtime is deleted, which removes spurious clusters</a:t>
            </a:r>
          </a:p>
        </p:txBody>
      </p:sp>
      <p:sp>
        <p:nvSpPr>
          <p:cNvPr id="8" name="TextBox 7"/>
          <p:cNvSpPr txBox="1"/>
          <p:nvPr/>
        </p:nvSpPr>
        <p:spPr>
          <a:xfrm>
            <a:off x="658368" y="3474720"/>
            <a:ext cx="10874959" cy="457200"/>
          </a:xfrm>
          <a:prstGeom prst="rect">
            <a:avLst/>
          </a:prstGeom>
          <a:noFill/>
        </p:spPr>
        <p:txBody>
          <a:bodyPr wrap="square" lIns="0" tIns="0" rIns="0" bIns="0" anchor="t">
            <a:spAutoFit/>
          </a:bodyPr>
          <a:lstStyle/>
          <a:p>
            <a:pPr algn="l">
              <a:lnSpc>
                <a:spcPct val="120000"/>
              </a:lnSpc>
              <a:spcBef>
                <a:spcPts val="0"/>
              </a:spcBef>
              <a:spcAft>
                <a:spcPts val="0"/>
              </a:spcAft>
            </a:pPr>
            <a:r>
              <a:rPr sz="2400" b="0" i="0">
                <a:solidFill>
                  <a:srgbClr val="14181B"/>
                </a:solidFill>
                <a:latin typeface="Segoe UI"/>
              </a:rPr>
              <a:t>•   Both the raw and the post-processed output are kept, so the effect of each threshold can be inspected rather than assumed</a:t>
            </a:r>
          </a:p>
        </p:txBody>
      </p:sp>
      <p:sp>
        <p:nvSpPr>
          <p:cNvPr id="9" name="Rectangle 8"/>
          <p:cNvSpPr/>
          <p:nvPr/>
        </p:nvSpPr>
        <p:spPr>
          <a:xfrm>
            <a:off x="658368" y="4443984"/>
            <a:ext cx="10874959" cy="1591056"/>
          </a:xfrm>
          <a:prstGeom prst="rect">
            <a:avLst/>
          </a:prstGeom>
          <a:solidFill>
            <a:srgbClr val="F8F9F7"/>
          </a:solidFill>
          <a:ln w="12700">
            <a:solidFill>
              <a:srgbClr val="C3CBC6"/>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0" name="Rectangle 9"/>
          <p:cNvSpPr/>
          <p:nvPr/>
        </p:nvSpPr>
        <p:spPr>
          <a:xfrm>
            <a:off x="658368" y="4443984"/>
            <a:ext cx="50292" cy="1188720"/>
          </a:xfrm>
          <a:prstGeom prst="rect">
            <a:avLst/>
          </a:prstGeom>
          <a:solidFill>
            <a:srgbClr val="1D4E5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1" name="TextBox 10"/>
          <p:cNvSpPr txBox="1"/>
          <p:nvPr/>
        </p:nvSpPr>
        <p:spPr>
          <a:xfrm>
            <a:off x="932688" y="4626864"/>
            <a:ext cx="10372039" cy="822960"/>
          </a:xfrm>
          <a:prstGeom prst="rect">
            <a:avLst/>
          </a:prstGeom>
          <a:noFill/>
        </p:spPr>
        <p:txBody>
          <a:bodyPr wrap="square" lIns="0" tIns="0" rIns="0" bIns="0" anchor="t">
            <a:spAutoFit/>
          </a:bodyPr>
          <a:lstStyle/>
          <a:p>
            <a:pPr algn="l">
              <a:lnSpc>
                <a:spcPct val="118000"/>
              </a:lnSpc>
              <a:spcBef>
                <a:spcPts val="0"/>
              </a:spcBef>
              <a:spcAft>
                <a:spcPts val="600"/>
              </a:spcAft>
            </a:pPr>
            <a:r>
              <a:rPr sz="2400" b="1" i="0">
                <a:solidFill>
                  <a:srgbClr val="14181B"/>
                </a:solidFill>
                <a:latin typeface="Segoe UI"/>
              </a:rPr>
              <a:t>Speaker identity stays episode local</a:t>
            </a:r>
          </a:p>
          <a:p>
            <a:pPr algn="l">
              <a:lnSpc>
                <a:spcPct val="118000"/>
              </a:lnSpc>
              <a:spcBef>
                <a:spcPts val="0"/>
              </a:spcBef>
              <a:spcAft>
                <a:spcPts val="0"/>
              </a:spcAft>
            </a:pPr>
            <a:r>
              <a:rPr sz="2200" b="0" i="0">
                <a:solidFill>
                  <a:srgbClr val="3E4A4F"/>
                </a:solidFill>
                <a:latin typeface="Segoe UI"/>
              </a:rPr>
              <a:t>Speaker 2 in one episode has no relationship to Speaker 2 in another. The labels are cluster identifiers, not people, and they are never joined across recordings.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ECEEEB"/>
        </a:solidFill>
        <a:effectLst/>
      </p:bgPr>
    </p:bg>
    <p:spTree>
      <p:nvGrpSpPr>
        <p:cNvPr id="1" name=""/>
        <p:cNvGrpSpPr/>
        <p:nvPr/>
      </p:nvGrpSpPr>
      <p:grpSpPr>
        <a:xfrm>
          <a:off x="0" y="0"/>
          <a:ext cx="0" cy="0"/>
          <a:chOff x="0" y="0"/>
          <a:chExt cx="0" cy="0"/>
        </a:xfrm>
      </p:grpSpPr>
      <p:sp>
        <p:nvSpPr>
          <p:cNvPr id="2" name="TextBox 1"/>
          <p:cNvSpPr txBox="1"/>
          <p:nvPr/>
        </p:nvSpPr>
        <p:spPr>
          <a:xfrm>
            <a:off x="11076127" y="6309359"/>
            <a:ext cx="914400" cy="274320"/>
          </a:xfrm>
          <a:prstGeom prst="rect">
            <a:avLst/>
          </a:prstGeom>
          <a:noFill/>
        </p:spPr>
        <p:txBody>
          <a:bodyPr wrap="square" lIns="0" tIns="0" rIns="0" bIns="0" anchor="t">
            <a:spAutoFit/>
          </a:bodyPr>
          <a:lstStyle/>
          <a:p>
            <a:pPr algn="r">
              <a:lnSpc>
                <a:spcPct val="118000"/>
              </a:lnSpc>
              <a:spcBef>
                <a:spcPts val="0"/>
              </a:spcBef>
              <a:spcAft>
                <a:spcPts val="0"/>
              </a:spcAft>
            </a:pPr>
            <a:r>
              <a:rPr sz="2100" b="0" i="0" dirty="0">
                <a:solidFill>
                  <a:srgbClr val="6B787D"/>
                </a:solidFill>
                <a:latin typeface="Consolas"/>
              </a:rPr>
              <a:t>08</a:t>
            </a:r>
          </a:p>
        </p:txBody>
      </p:sp>
      <p:sp>
        <p:nvSpPr>
          <p:cNvPr id="3" name="TextBox 2"/>
          <p:cNvSpPr txBox="1"/>
          <p:nvPr/>
        </p:nvSpPr>
        <p:spPr>
          <a:xfrm>
            <a:off x="658368" y="420624"/>
            <a:ext cx="10874959" cy="310896"/>
          </a:xfrm>
          <a:prstGeom prst="rect">
            <a:avLst/>
          </a:prstGeom>
          <a:noFill/>
        </p:spPr>
        <p:txBody>
          <a:bodyPr wrap="square" lIns="0" tIns="0" rIns="0" bIns="0" anchor="t">
            <a:spAutoFit/>
          </a:bodyPr>
          <a:lstStyle/>
          <a:p>
            <a:pPr algn="l">
              <a:lnSpc>
                <a:spcPct val="118000"/>
              </a:lnSpc>
              <a:spcBef>
                <a:spcPts val="0"/>
              </a:spcBef>
              <a:spcAft>
                <a:spcPts val="0"/>
              </a:spcAft>
            </a:pPr>
            <a:r>
              <a:rPr sz="2100" b="1" i="0">
                <a:solidFill>
                  <a:srgbClr val="2E8FA3"/>
                </a:solidFill>
                <a:latin typeface="Consolas"/>
              </a:rPr>
              <a:t>05 / STAGE 3, SPEECH RECOGNITION</a:t>
            </a:r>
          </a:p>
        </p:txBody>
      </p:sp>
      <p:sp>
        <p:nvSpPr>
          <p:cNvPr id="4" name="TextBox 3"/>
          <p:cNvSpPr txBox="1"/>
          <p:nvPr/>
        </p:nvSpPr>
        <p:spPr>
          <a:xfrm>
            <a:off x="658368" y="822960"/>
            <a:ext cx="10874959" cy="822960"/>
          </a:xfrm>
          <a:prstGeom prst="rect">
            <a:avLst/>
          </a:prstGeom>
          <a:noFill/>
        </p:spPr>
        <p:txBody>
          <a:bodyPr wrap="square" lIns="0" tIns="0" rIns="0" bIns="0" anchor="t">
            <a:spAutoFit/>
          </a:bodyPr>
          <a:lstStyle/>
          <a:p>
            <a:pPr algn="l">
              <a:lnSpc>
                <a:spcPct val="106000"/>
              </a:lnSpc>
              <a:spcBef>
                <a:spcPts val="0"/>
              </a:spcBef>
              <a:spcAft>
                <a:spcPts val="0"/>
              </a:spcAft>
            </a:pPr>
            <a:r>
              <a:rPr sz="3600" b="1" i="0">
                <a:solidFill>
                  <a:srgbClr val="14181B"/>
                </a:solidFill>
                <a:latin typeface="Segoe UI"/>
              </a:rPr>
              <a:t>Transcribing 40 minute episodes with a 30 second model</a:t>
            </a:r>
          </a:p>
        </p:txBody>
      </p:sp>
      <p:graphicFrame>
        <p:nvGraphicFramePr>
          <p:cNvPr id="6" name="Table 5"/>
          <p:cNvGraphicFramePr>
            <a:graphicFrameLocks noGrp="1"/>
          </p:cNvGraphicFramePr>
          <p:nvPr/>
        </p:nvGraphicFramePr>
        <p:xfrm>
          <a:off x="658368" y="2578608"/>
          <a:ext cx="5532119" cy="3803904"/>
        </p:xfrm>
        <a:graphic>
          <a:graphicData uri="http://schemas.openxmlformats.org/drawingml/2006/table">
            <a:tbl>
              <a:tblPr>
                <a:tableStyleId>{5C22544A-7EE6-4342-B048-85BDC9FD1C3A}</a:tableStyleId>
              </a:tblPr>
              <a:tblGrid>
                <a:gridCol w="2963635">
                  <a:extLst>
                    <a:ext uri="{9D8B030D-6E8A-4147-A177-3AD203B41FA5}">
                      <a16:colId xmlns:a16="http://schemas.microsoft.com/office/drawing/2014/main" val="20000"/>
                    </a:ext>
                  </a:extLst>
                </a:gridCol>
                <a:gridCol w="2568484">
                  <a:extLst>
                    <a:ext uri="{9D8B030D-6E8A-4147-A177-3AD203B41FA5}">
                      <a16:colId xmlns:a16="http://schemas.microsoft.com/office/drawing/2014/main" val="20001"/>
                    </a:ext>
                  </a:extLst>
                </a:gridCol>
              </a:tblGrid>
              <a:tr h="402336">
                <a:tc>
                  <a:txBody>
                    <a:bodyPr/>
                    <a:lstStyle/>
                    <a:p>
                      <a:pPr algn="l"/>
                      <a:r>
                        <a:rPr sz="2100" b="1" i="0">
                          <a:solidFill>
                            <a:srgbClr val="6B787D"/>
                          </a:solidFill>
                          <a:latin typeface="Consolas"/>
                        </a:rPr>
                        <a:t>Setting</a:t>
                      </a:r>
                    </a:p>
                  </a:txBody>
                  <a:tcPr marL="100584" marR="100584" marT="27432" marB="27432" anchor="ctr">
                    <a:solidFill>
                      <a:srgbClr val="E0E5E1"/>
                    </a:solidFill>
                  </a:tcPr>
                </a:tc>
                <a:tc>
                  <a:txBody>
                    <a:bodyPr/>
                    <a:lstStyle/>
                    <a:p>
                      <a:pPr algn="r"/>
                      <a:r>
                        <a:rPr sz="2100" b="1" i="0">
                          <a:solidFill>
                            <a:srgbClr val="6B787D"/>
                          </a:solidFill>
                          <a:latin typeface="Consolas"/>
                        </a:rPr>
                        <a:t>Value</a:t>
                      </a:r>
                    </a:p>
                  </a:txBody>
                  <a:tcPr marL="100584" marR="100584" marT="27432" marB="27432" anchor="ctr">
                    <a:solidFill>
                      <a:srgbClr val="E0E5E1"/>
                    </a:solidFill>
                  </a:tcPr>
                </a:tc>
                <a:extLst>
                  <a:ext uri="{0D108BD9-81ED-4DB2-BD59-A6C34878D82A}">
                    <a16:rowId xmlns:a16="http://schemas.microsoft.com/office/drawing/2014/main" val="10000"/>
                  </a:ext>
                </a:extLst>
              </a:tr>
              <a:tr h="402336">
                <a:tc>
                  <a:txBody>
                    <a:bodyPr/>
                    <a:lstStyle/>
                    <a:p>
                      <a:pPr algn="l"/>
                      <a:r>
                        <a:rPr sz="2100" b="0" i="0">
                          <a:solidFill>
                            <a:srgbClr val="14181B"/>
                          </a:solidFill>
                          <a:latin typeface="Segoe UI"/>
                        </a:rPr>
                        <a:t>checkpoint</a:t>
                      </a:r>
                    </a:p>
                  </a:txBody>
                  <a:tcPr marL="100584" marR="100584" marT="27432" marB="27432" anchor="ctr">
                    <a:solidFill>
                      <a:srgbClr val="F8F9F7"/>
                    </a:solidFill>
                  </a:tcPr>
                </a:tc>
                <a:tc>
                  <a:txBody>
                    <a:bodyPr/>
                    <a:lstStyle/>
                    <a:p>
                      <a:pPr algn="r"/>
                      <a:r>
                        <a:rPr sz="2100" b="0" i="0">
                          <a:solidFill>
                            <a:srgbClr val="14181B"/>
                          </a:solidFill>
                          <a:latin typeface="Consolas"/>
                        </a:rPr>
                        <a:t>Whisper medium, bn</a:t>
                      </a:r>
                    </a:p>
                  </a:txBody>
                  <a:tcPr marL="100584" marR="100584" marT="27432" marB="27432" anchor="ctr">
                    <a:solidFill>
                      <a:srgbClr val="F8F9F7"/>
                    </a:solidFill>
                  </a:tcPr>
                </a:tc>
                <a:extLst>
                  <a:ext uri="{0D108BD9-81ED-4DB2-BD59-A6C34878D82A}">
                    <a16:rowId xmlns:a16="http://schemas.microsoft.com/office/drawing/2014/main" val="10001"/>
                  </a:ext>
                </a:extLst>
              </a:tr>
              <a:tr h="402336">
                <a:tc>
                  <a:txBody>
                    <a:bodyPr/>
                    <a:lstStyle/>
                    <a:p>
                      <a:pPr algn="l"/>
                      <a:r>
                        <a:rPr sz="2100" b="0" i="0">
                          <a:solidFill>
                            <a:srgbClr val="14181B"/>
                          </a:solidFill>
                          <a:latin typeface="Segoe UI"/>
                        </a:rPr>
                        <a:t>runtime</a:t>
                      </a:r>
                    </a:p>
                  </a:txBody>
                  <a:tcPr marL="100584" marR="100584" marT="27432" marB="27432" anchor="ctr">
                    <a:solidFill>
                      <a:srgbClr val="F8F9F7"/>
                    </a:solidFill>
                  </a:tcPr>
                </a:tc>
                <a:tc>
                  <a:txBody>
                    <a:bodyPr/>
                    <a:lstStyle/>
                    <a:p>
                      <a:pPr algn="r"/>
                      <a:r>
                        <a:rPr sz="2100" b="0" i="0">
                          <a:solidFill>
                            <a:srgbClr val="14181B"/>
                          </a:solidFill>
                          <a:latin typeface="Consolas"/>
                        </a:rPr>
                        <a:t>CTranslate2, float16</a:t>
                      </a:r>
                    </a:p>
                  </a:txBody>
                  <a:tcPr marL="100584" marR="100584" marT="27432" marB="27432" anchor="ctr">
                    <a:solidFill>
                      <a:srgbClr val="F8F9F7"/>
                    </a:solidFill>
                  </a:tcPr>
                </a:tc>
                <a:extLst>
                  <a:ext uri="{0D108BD9-81ED-4DB2-BD59-A6C34878D82A}">
                    <a16:rowId xmlns:a16="http://schemas.microsoft.com/office/drawing/2014/main" val="10002"/>
                  </a:ext>
                </a:extLst>
              </a:tr>
              <a:tr h="402336">
                <a:tc>
                  <a:txBody>
                    <a:bodyPr/>
                    <a:lstStyle/>
                    <a:p>
                      <a:pPr algn="l"/>
                      <a:r>
                        <a:rPr sz="2100" b="0" i="0">
                          <a:solidFill>
                            <a:srgbClr val="14181B"/>
                          </a:solidFill>
                          <a:latin typeface="Segoe UI"/>
                        </a:rPr>
                        <a:t>language</a:t>
                      </a:r>
                    </a:p>
                  </a:txBody>
                  <a:tcPr marL="100584" marR="100584" marT="27432" marB="27432" anchor="ctr">
                    <a:solidFill>
                      <a:srgbClr val="F8F9F7"/>
                    </a:solidFill>
                  </a:tcPr>
                </a:tc>
                <a:tc>
                  <a:txBody>
                    <a:bodyPr/>
                    <a:lstStyle/>
                    <a:p>
                      <a:pPr algn="r"/>
                      <a:r>
                        <a:rPr sz="2100" b="0" i="0">
                          <a:solidFill>
                            <a:srgbClr val="14181B"/>
                          </a:solidFill>
                          <a:latin typeface="Consolas"/>
                        </a:rPr>
                        <a:t>bn, forced</a:t>
                      </a:r>
                    </a:p>
                  </a:txBody>
                  <a:tcPr marL="100584" marR="100584" marT="27432" marB="27432" anchor="ctr">
                    <a:solidFill>
                      <a:srgbClr val="F8F9F7"/>
                    </a:solidFill>
                  </a:tcPr>
                </a:tc>
                <a:extLst>
                  <a:ext uri="{0D108BD9-81ED-4DB2-BD59-A6C34878D82A}">
                    <a16:rowId xmlns:a16="http://schemas.microsoft.com/office/drawing/2014/main" val="10003"/>
                  </a:ext>
                </a:extLst>
              </a:tr>
              <a:tr h="402336">
                <a:tc>
                  <a:txBody>
                    <a:bodyPr/>
                    <a:lstStyle/>
                    <a:p>
                      <a:pPr algn="l"/>
                      <a:r>
                        <a:rPr sz="2100" b="0" i="0">
                          <a:solidFill>
                            <a:srgbClr val="14181B"/>
                          </a:solidFill>
                          <a:latin typeface="Segoe UI"/>
                        </a:rPr>
                        <a:t>chunk length</a:t>
                      </a:r>
                    </a:p>
                  </a:txBody>
                  <a:tcPr marL="100584" marR="100584" marT="27432" marB="27432" anchor="ctr">
                    <a:solidFill>
                      <a:srgbClr val="F8F9F7"/>
                    </a:solidFill>
                  </a:tcPr>
                </a:tc>
                <a:tc>
                  <a:txBody>
                    <a:bodyPr/>
                    <a:lstStyle/>
                    <a:p>
                      <a:pPr algn="r"/>
                      <a:r>
                        <a:rPr sz="2100" b="0" i="0">
                          <a:solidFill>
                            <a:srgbClr val="14181B"/>
                          </a:solidFill>
                          <a:latin typeface="Consolas"/>
                        </a:rPr>
                        <a:t>28.0 s</a:t>
                      </a:r>
                    </a:p>
                  </a:txBody>
                  <a:tcPr marL="100584" marR="100584" marT="27432" marB="27432" anchor="ctr">
                    <a:solidFill>
                      <a:srgbClr val="F8F9F7"/>
                    </a:solidFill>
                  </a:tcPr>
                </a:tc>
                <a:extLst>
                  <a:ext uri="{0D108BD9-81ED-4DB2-BD59-A6C34878D82A}">
                    <a16:rowId xmlns:a16="http://schemas.microsoft.com/office/drawing/2014/main" val="10004"/>
                  </a:ext>
                </a:extLst>
              </a:tr>
              <a:tr h="402336">
                <a:tc>
                  <a:txBody>
                    <a:bodyPr/>
                    <a:lstStyle/>
                    <a:p>
                      <a:pPr algn="l"/>
                      <a:r>
                        <a:rPr sz="2100" b="0" i="0">
                          <a:solidFill>
                            <a:srgbClr val="14181B"/>
                          </a:solidFill>
                          <a:latin typeface="Segoe UI"/>
                        </a:rPr>
                        <a:t>beam size</a:t>
                      </a:r>
                    </a:p>
                  </a:txBody>
                  <a:tcPr marL="100584" marR="100584" marT="27432" marB="27432" anchor="ctr">
                    <a:solidFill>
                      <a:srgbClr val="F8F9F7"/>
                    </a:solidFill>
                  </a:tcPr>
                </a:tc>
                <a:tc>
                  <a:txBody>
                    <a:bodyPr/>
                    <a:lstStyle/>
                    <a:p>
                      <a:pPr algn="r"/>
                      <a:r>
                        <a:rPr sz="2100" b="0" i="0">
                          <a:solidFill>
                            <a:srgbClr val="14181B"/>
                          </a:solidFill>
                          <a:latin typeface="Consolas"/>
                        </a:rPr>
                        <a:t>5</a:t>
                      </a:r>
                    </a:p>
                  </a:txBody>
                  <a:tcPr marL="100584" marR="100584" marT="27432" marB="27432" anchor="ctr">
                    <a:solidFill>
                      <a:srgbClr val="F8F9F7"/>
                    </a:solidFill>
                  </a:tcPr>
                </a:tc>
                <a:extLst>
                  <a:ext uri="{0D108BD9-81ED-4DB2-BD59-A6C34878D82A}">
                    <a16:rowId xmlns:a16="http://schemas.microsoft.com/office/drawing/2014/main" val="10005"/>
                  </a:ext>
                </a:extLst>
              </a:tr>
              <a:tr h="402336">
                <a:tc>
                  <a:txBody>
                    <a:bodyPr/>
                    <a:lstStyle/>
                    <a:p>
                      <a:pPr algn="l"/>
                      <a:r>
                        <a:rPr sz="2100" b="0" i="0">
                          <a:solidFill>
                            <a:srgbClr val="14181B"/>
                          </a:solidFill>
                          <a:latin typeface="Segoe UI"/>
                        </a:rPr>
                        <a:t>condition on previous</a:t>
                      </a:r>
                    </a:p>
                  </a:txBody>
                  <a:tcPr marL="100584" marR="100584" marT="27432" marB="27432" anchor="ctr">
                    <a:solidFill>
                      <a:srgbClr val="F8F9F7"/>
                    </a:solidFill>
                  </a:tcPr>
                </a:tc>
                <a:tc>
                  <a:txBody>
                    <a:bodyPr/>
                    <a:lstStyle/>
                    <a:p>
                      <a:pPr algn="r"/>
                      <a:r>
                        <a:rPr sz="2100" b="0" i="0">
                          <a:solidFill>
                            <a:srgbClr val="14181B"/>
                          </a:solidFill>
                          <a:latin typeface="Consolas"/>
                        </a:rPr>
                        <a:t>False</a:t>
                      </a:r>
                    </a:p>
                  </a:txBody>
                  <a:tcPr marL="100584" marR="100584" marT="27432" marB="27432" anchor="ctr">
                    <a:solidFill>
                      <a:srgbClr val="F8F9F7"/>
                    </a:solidFill>
                  </a:tcPr>
                </a:tc>
                <a:extLst>
                  <a:ext uri="{0D108BD9-81ED-4DB2-BD59-A6C34878D82A}">
                    <a16:rowId xmlns:a16="http://schemas.microsoft.com/office/drawing/2014/main" val="10006"/>
                  </a:ext>
                </a:extLst>
              </a:tr>
              <a:tr h="402336">
                <a:tc>
                  <a:txBody>
                    <a:bodyPr/>
                    <a:lstStyle/>
                    <a:p>
                      <a:pPr algn="l"/>
                      <a:r>
                        <a:rPr sz="2100" b="0" i="0">
                          <a:solidFill>
                            <a:srgbClr val="14181B"/>
                          </a:solidFill>
                          <a:latin typeface="Segoe UI"/>
                        </a:rPr>
                        <a:t>source separation</a:t>
                      </a:r>
                    </a:p>
                  </a:txBody>
                  <a:tcPr marL="100584" marR="100584" marT="27432" marB="27432" anchor="ctr">
                    <a:solidFill>
                      <a:srgbClr val="F8F9F7"/>
                    </a:solidFill>
                  </a:tcPr>
                </a:tc>
                <a:tc>
                  <a:txBody>
                    <a:bodyPr/>
                    <a:lstStyle/>
                    <a:p>
                      <a:pPr algn="r"/>
                      <a:r>
                        <a:rPr sz="2100" b="0" i="0">
                          <a:solidFill>
                            <a:srgbClr val="14181B"/>
                          </a:solidFill>
                          <a:latin typeface="Consolas"/>
                        </a:rPr>
                        <a:t>on detection</a:t>
                      </a:r>
                    </a:p>
                  </a:txBody>
                  <a:tcPr marL="100584" marR="100584" marT="27432" marB="27432" anchor="ctr">
                    <a:solidFill>
                      <a:srgbClr val="F8F9F7"/>
                    </a:solidFill>
                  </a:tcPr>
                </a:tc>
                <a:extLst>
                  <a:ext uri="{0D108BD9-81ED-4DB2-BD59-A6C34878D82A}">
                    <a16:rowId xmlns:a16="http://schemas.microsoft.com/office/drawing/2014/main" val="10007"/>
                  </a:ext>
                </a:extLst>
              </a:tr>
            </a:tbl>
          </a:graphicData>
        </a:graphic>
      </p:graphicFrame>
      <p:sp>
        <p:nvSpPr>
          <p:cNvPr id="7" name="Rectangle 6"/>
          <p:cNvSpPr/>
          <p:nvPr/>
        </p:nvSpPr>
        <p:spPr>
          <a:xfrm>
            <a:off x="6556248" y="2578608"/>
            <a:ext cx="4977079" cy="960120"/>
          </a:xfrm>
          <a:prstGeom prst="rect">
            <a:avLst/>
          </a:prstGeom>
          <a:solidFill>
            <a:srgbClr val="F8F9F7"/>
          </a:solidFill>
          <a:ln w="12700">
            <a:solidFill>
              <a:srgbClr val="C3CBC6"/>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dirty="0"/>
          </a:p>
        </p:txBody>
      </p:sp>
      <p:sp>
        <p:nvSpPr>
          <p:cNvPr id="8" name="TextBox 7"/>
          <p:cNvSpPr txBox="1"/>
          <p:nvPr/>
        </p:nvSpPr>
        <p:spPr>
          <a:xfrm>
            <a:off x="6702552" y="2706624"/>
            <a:ext cx="1421282" cy="402336"/>
          </a:xfrm>
          <a:prstGeom prst="rect">
            <a:avLst/>
          </a:prstGeom>
          <a:noFill/>
        </p:spPr>
        <p:txBody>
          <a:bodyPr wrap="square" lIns="0" tIns="0" rIns="0" bIns="0" anchor="t">
            <a:spAutoFit/>
          </a:bodyPr>
          <a:lstStyle/>
          <a:p>
            <a:pPr algn="l">
              <a:lnSpc>
                <a:spcPct val="118000"/>
              </a:lnSpc>
              <a:spcBef>
                <a:spcPts val="0"/>
              </a:spcBef>
              <a:spcAft>
                <a:spcPts val="0"/>
              </a:spcAft>
            </a:pPr>
            <a:r>
              <a:rPr sz="2700" b="1" i="0">
                <a:solidFill>
                  <a:srgbClr val="14181B"/>
                </a:solidFill>
                <a:latin typeface="Segoe UI"/>
              </a:rPr>
              <a:t>2,184</a:t>
            </a:r>
          </a:p>
        </p:txBody>
      </p:sp>
      <p:sp>
        <p:nvSpPr>
          <p:cNvPr id="9" name="TextBox 8"/>
          <p:cNvSpPr txBox="1"/>
          <p:nvPr/>
        </p:nvSpPr>
        <p:spPr>
          <a:xfrm>
            <a:off x="6702552" y="3163824"/>
            <a:ext cx="1421282" cy="274320"/>
          </a:xfrm>
          <a:prstGeom prst="rect">
            <a:avLst/>
          </a:prstGeom>
          <a:noFill/>
        </p:spPr>
        <p:txBody>
          <a:bodyPr wrap="square" lIns="0" tIns="0" rIns="0" bIns="0" anchor="t">
            <a:spAutoFit/>
          </a:bodyPr>
          <a:lstStyle/>
          <a:p>
            <a:pPr algn="l">
              <a:lnSpc>
                <a:spcPct val="118000"/>
              </a:lnSpc>
              <a:spcBef>
                <a:spcPts val="0"/>
              </a:spcBef>
              <a:spcAft>
                <a:spcPts val="0"/>
              </a:spcAft>
            </a:pPr>
            <a:r>
              <a:rPr sz="2100" b="0" i="0">
                <a:solidFill>
                  <a:srgbClr val="6B787D"/>
                </a:solidFill>
                <a:latin typeface="Consolas"/>
              </a:rPr>
              <a:t>CHUNKS</a:t>
            </a:r>
          </a:p>
        </p:txBody>
      </p:sp>
      <p:sp>
        <p:nvSpPr>
          <p:cNvPr id="10" name="Rectangle 9"/>
          <p:cNvSpPr/>
          <p:nvPr/>
        </p:nvSpPr>
        <p:spPr>
          <a:xfrm>
            <a:off x="8215274" y="2670048"/>
            <a:ext cx="7315" cy="777240"/>
          </a:xfrm>
          <a:prstGeom prst="rect">
            <a:avLst/>
          </a:prstGeom>
          <a:solidFill>
            <a:srgbClr val="C3CBC6"/>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1" name="TextBox 10"/>
          <p:cNvSpPr txBox="1"/>
          <p:nvPr/>
        </p:nvSpPr>
        <p:spPr>
          <a:xfrm>
            <a:off x="8361578" y="2706624"/>
            <a:ext cx="1421282" cy="402336"/>
          </a:xfrm>
          <a:prstGeom prst="rect">
            <a:avLst/>
          </a:prstGeom>
          <a:noFill/>
        </p:spPr>
        <p:txBody>
          <a:bodyPr wrap="square" lIns="0" tIns="0" rIns="0" bIns="0" anchor="t">
            <a:spAutoFit/>
          </a:bodyPr>
          <a:lstStyle/>
          <a:p>
            <a:pPr algn="l">
              <a:lnSpc>
                <a:spcPct val="118000"/>
              </a:lnSpc>
              <a:spcBef>
                <a:spcPts val="0"/>
              </a:spcBef>
              <a:spcAft>
                <a:spcPts val="0"/>
              </a:spcAft>
            </a:pPr>
            <a:r>
              <a:rPr sz="2700" b="1" i="0">
                <a:solidFill>
                  <a:srgbClr val="14181B"/>
                </a:solidFill>
                <a:latin typeface="Segoe UI"/>
              </a:rPr>
              <a:t>4,006</a:t>
            </a:r>
          </a:p>
        </p:txBody>
      </p:sp>
      <p:sp>
        <p:nvSpPr>
          <p:cNvPr id="12" name="TextBox 11"/>
          <p:cNvSpPr txBox="1"/>
          <p:nvPr/>
        </p:nvSpPr>
        <p:spPr>
          <a:xfrm>
            <a:off x="8361578" y="3163824"/>
            <a:ext cx="1421282" cy="274320"/>
          </a:xfrm>
          <a:prstGeom prst="rect">
            <a:avLst/>
          </a:prstGeom>
          <a:noFill/>
        </p:spPr>
        <p:txBody>
          <a:bodyPr wrap="square" lIns="0" tIns="0" rIns="0" bIns="0" anchor="t">
            <a:spAutoFit/>
          </a:bodyPr>
          <a:lstStyle/>
          <a:p>
            <a:pPr algn="l">
              <a:lnSpc>
                <a:spcPct val="118000"/>
              </a:lnSpc>
              <a:spcBef>
                <a:spcPts val="0"/>
              </a:spcBef>
              <a:spcAft>
                <a:spcPts val="0"/>
              </a:spcAft>
            </a:pPr>
            <a:r>
              <a:rPr sz="2100" b="0" i="0">
                <a:solidFill>
                  <a:srgbClr val="6B787D"/>
                </a:solidFill>
                <a:latin typeface="Consolas"/>
              </a:rPr>
              <a:t>SEGMENTS</a:t>
            </a:r>
          </a:p>
        </p:txBody>
      </p:sp>
      <p:sp>
        <p:nvSpPr>
          <p:cNvPr id="13" name="Rectangle 12"/>
          <p:cNvSpPr/>
          <p:nvPr/>
        </p:nvSpPr>
        <p:spPr>
          <a:xfrm>
            <a:off x="9874300" y="2670048"/>
            <a:ext cx="7315" cy="777240"/>
          </a:xfrm>
          <a:prstGeom prst="rect">
            <a:avLst/>
          </a:prstGeom>
          <a:solidFill>
            <a:srgbClr val="C3CBC6"/>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4" name="TextBox 13"/>
          <p:cNvSpPr txBox="1"/>
          <p:nvPr/>
        </p:nvSpPr>
        <p:spPr>
          <a:xfrm>
            <a:off x="10020604" y="2706624"/>
            <a:ext cx="1421282" cy="402336"/>
          </a:xfrm>
          <a:prstGeom prst="rect">
            <a:avLst/>
          </a:prstGeom>
          <a:noFill/>
        </p:spPr>
        <p:txBody>
          <a:bodyPr wrap="square" lIns="0" tIns="0" rIns="0" bIns="0" anchor="t">
            <a:spAutoFit/>
          </a:bodyPr>
          <a:lstStyle/>
          <a:p>
            <a:pPr algn="l">
              <a:lnSpc>
                <a:spcPct val="118000"/>
              </a:lnSpc>
              <a:spcBef>
                <a:spcPts val="0"/>
              </a:spcBef>
              <a:spcAft>
                <a:spcPts val="0"/>
              </a:spcAft>
            </a:pPr>
            <a:r>
              <a:rPr sz="2700" b="1" i="0">
                <a:solidFill>
                  <a:srgbClr val="14181B"/>
                </a:solidFill>
                <a:latin typeface="Segoe UI"/>
              </a:rPr>
              <a:t>130,750</a:t>
            </a:r>
          </a:p>
        </p:txBody>
      </p:sp>
      <p:sp>
        <p:nvSpPr>
          <p:cNvPr id="15" name="TextBox 14"/>
          <p:cNvSpPr txBox="1"/>
          <p:nvPr/>
        </p:nvSpPr>
        <p:spPr>
          <a:xfrm>
            <a:off x="10020604" y="3163824"/>
            <a:ext cx="1421282" cy="274320"/>
          </a:xfrm>
          <a:prstGeom prst="rect">
            <a:avLst/>
          </a:prstGeom>
          <a:noFill/>
        </p:spPr>
        <p:txBody>
          <a:bodyPr wrap="square" lIns="0" tIns="0" rIns="0" bIns="0" anchor="t">
            <a:spAutoFit/>
          </a:bodyPr>
          <a:lstStyle/>
          <a:p>
            <a:pPr algn="l">
              <a:lnSpc>
                <a:spcPct val="118000"/>
              </a:lnSpc>
              <a:spcBef>
                <a:spcPts val="0"/>
              </a:spcBef>
              <a:spcAft>
                <a:spcPts val="0"/>
              </a:spcAft>
            </a:pPr>
            <a:r>
              <a:rPr sz="2100" b="0" i="0">
                <a:solidFill>
                  <a:srgbClr val="6B787D"/>
                </a:solidFill>
                <a:latin typeface="Consolas"/>
              </a:rPr>
              <a:t>WORDS</a:t>
            </a:r>
          </a:p>
        </p:txBody>
      </p:sp>
      <p:sp>
        <p:nvSpPr>
          <p:cNvPr id="16" name="Rectangle 15"/>
          <p:cNvSpPr/>
          <p:nvPr/>
        </p:nvSpPr>
        <p:spPr>
          <a:xfrm>
            <a:off x="6556248" y="3749038"/>
            <a:ext cx="4977079" cy="3015555"/>
          </a:xfrm>
          <a:prstGeom prst="rect">
            <a:avLst/>
          </a:prstGeom>
          <a:solidFill>
            <a:srgbClr val="F8F9F7"/>
          </a:solidFill>
          <a:ln w="12700">
            <a:solidFill>
              <a:srgbClr val="C3CBC6"/>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7" name="Rectangle 16"/>
          <p:cNvSpPr/>
          <p:nvPr/>
        </p:nvSpPr>
        <p:spPr>
          <a:xfrm>
            <a:off x="6556248" y="3749039"/>
            <a:ext cx="50292" cy="2231136"/>
          </a:xfrm>
          <a:prstGeom prst="rect">
            <a:avLst/>
          </a:prstGeom>
          <a:solidFill>
            <a:srgbClr val="2E8FA3"/>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8" name="TextBox 17"/>
          <p:cNvSpPr txBox="1"/>
          <p:nvPr/>
        </p:nvSpPr>
        <p:spPr>
          <a:xfrm>
            <a:off x="6830568" y="3931920"/>
            <a:ext cx="4474159" cy="1865376"/>
          </a:xfrm>
          <a:prstGeom prst="rect">
            <a:avLst/>
          </a:prstGeom>
          <a:noFill/>
        </p:spPr>
        <p:txBody>
          <a:bodyPr wrap="square" lIns="0" tIns="0" rIns="0" bIns="0" anchor="t">
            <a:spAutoFit/>
          </a:bodyPr>
          <a:lstStyle/>
          <a:p>
            <a:pPr algn="l">
              <a:lnSpc>
                <a:spcPct val="118000"/>
              </a:lnSpc>
              <a:spcBef>
                <a:spcPts val="0"/>
              </a:spcBef>
              <a:spcAft>
                <a:spcPts val="600"/>
              </a:spcAft>
            </a:pPr>
            <a:r>
              <a:rPr sz="2300" b="1" i="0" dirty="0">
                <a:solidFill>
                  <a:srgbClr val="14181B"/>
                </a:solidFill>
                <a:latin typeface="Segoe UI"/>
              </a:rPr>
              <a:t>Why a Bengali adapted checkpoint</a:t>
            </a:r>
          </a:p>
          <a:p>
            <a:pPr algn="l">
              <a:lnSpc>
                <a:spcPct val="120000"/>
              </a:lnSpc>
              <a:spcBef>
                <a:spcPts val="0"/>
              </a:spcBef>
              <a:spcAft>
                <a:spcPts val="0"/>
              </a:spcAft>
            </a:pPr>
            <a:r>
              <a:rPr sz="2100" b="0" i="0" dirty="0">
                <a:solidFill>
                  <a:srgbClr val="3E4A4F"/>
                </a:solidFill>
                <a:latin typeface="Segoe UI"/>
              </a:rPr>
              <a:t>It produces </a:t>
            </a:r>
            <a:r>
              <a:rPr sz="2100" b="0" i="0" dirty="0" err="1">
                <a:solidFill>
                  <a:srgbClr val="3E4A4F"/>
                </a:solidFill>
                <a:latin typeface="Nirmala UI"/>
              </a:rPr>
              <a:t>মূল্যস্ফীতি</a:t>
            </a:r>
            <a:r>
              <a:rPr sz="2100" b="0" i="0" dirty="0">
                <a:solidFill>
                  <a:srgbClr val="3E4A4F"/>
                </a:solidFill>
                <a:latin typeface="Segoe UI"/>
              </a:rPr>
              <a:t>, </a:t>
            </a:r>
            <a:r>
              <a:rPr sz="2100" b="0" i="0" dirty="0" err="1">
                <a:solidFill>
                  <a:srgbClr val="3E4A4F"/>
                </a:solidFill>
                <a:latin typeface="Nirmala UI"/>
              </a:rPr>
              <a:t>খেলাপি</a:t>
            </a:r>
            <a:r>
              <a:rPr sz="2100" b="0" i="0" dirty="0">
                <a:solidFill>
                  <a:srgbClr val="3E4A4F"/>
                </a:solidFill>
                <a:latin typeface="Nirmala UI"/>
              </a:rPr>
              <a:t> </a:t>
            </a:r>
            <a:r>
              <a:rPr sz="2100" b="0" i="0" dirty="0" err="1">
                <a:solidFill>
                  <a:srgbClr val="3E4A4F"/>
                </a:solidFill>
                <a:latin typeface="Nirmala UI"/>
              </a:rPr>
              <a:t>ঋণ</a:t>
            </a:r>
            <a:r>
              <a:rPr sz="2100" b="0" i="0" dirty="0">
                <a:solidFill>
                  <a:srgbClr val="3E4A4F"/>
                </a:solidFill>
                <a:latin typeface="Nirmala UI"/>
              </a:rPr>
              <a:t> </a:t>
            </a:r>
            <a:r>
              <a:rPr sz="2100" b="0" i="0" dirty="0">
                <a:solidFill>
                  <a:srgbClr val="3E4A4F"/>
                </a:solidFill>
                <a:latin typeface="Segoe UI"/>
              </a:rPr>
              <a:t>and </a:t>
            </a:r>
            <a:r>
              <a:rPr sz="2100" b="0" i="0" dirty="0" err="1">
                <a:solidFill>
                  <a:srgbClr val="3E4A4F"/>
                </a:solidFill>
                <a:latin typeface="Nirmala UI"/>
              </a:rPr>
              <a:t>বৈদেশিক</a:t>
            </a:r>
            <a:r>
              <a:rPr sz="2100" b="0" i="0" dirty="0">
                <a:solidFill>
                  <a:srgbClr val="3E4A4F"/>
                </a:solidFill>
                <a:latin typeface="Nirmala UI"/>
              </a:rPr>
              <a:t> </a:t>
            </a:r>
            <a:r>
              <a:rPr sz="2100" b="0" i="0" dirty="0" err="1">
                <a:solidFill>
                  <a:srgbClr val="3E4A4F"/>
                </a:solidFill>
                <a:latin typeface="Nirmala UI"/>
              </a:rPr>
              <a:t>মুদ্রার</a:t>
            </a:r>
            <a:r>
              <a:rPr sz="2100" b="0" i="0" dirty="0">
                <a:solidFill>
                  <a:srgbClr val="3E4A4F"/>
                </a:solidFill>
                <a:latin typeface="Nirmala UI"/>
              </a:rPr>
              <a:t> </a:t>
            </a:r>
            <a:r>
              <a:rPr sz="2100" b="0" i="0" dirty="0" err="1">
                <a:solidFill>
                  <a:srgbClr val="3E4A4F"/>
                </a:solidFill>
                <a:latin typeface="Nirmala UI"/>
              </a:rPr>
              <a:t>রিজার্ভ</a:t>
            </a:r>
            <a:r>
              <a:rPr sz="2100" b="0" i="0" dirty="0">
                <a:solidFill>
                  <a:srgbClr val="3E4A4F"/>
                </a:solidFill>
                <a:latin typeface="Nirmala UI"/>
              </a:rPr>
              <a:t> </a:t>
            </a:r>
            <a:r>
              <a:rPr sz="2100" b="0" i="0" dirty="0">
                <a:solidFill>
                  <a:srgbClr val="3E4A4F"/>
                </a:solidFill>
                <a:latin typeface="Segoe UI"/>
              </a:rPr>
              <a:t>as clean tokens rather than phonetic approximations. The whole downstream lexicon depends on that.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ECEEEB"/>
        </a:solidFill>
        <a:effectLst/>
      </p:bgPr>
    </p:bg>
    <p:spTree>
      <p:nvGrpSpPr>
        <p:cNvPr id="1" name=""/>
        <p:cNvGrpSpPr/>
        <p:nvPr/>
      </p:nvGrpSpPr>
      <p:grpSpPr>
        <a:xfrm>
          <a:off x="0" y="0"/>
          <a:ext cx="0" cy="0"/>
          <a:chOff x="0" y="0"/>
          <a:chExt cx="0" cy="0"/>
        </a:xfrm>
      </p:grpSpPr>
      <p:sp>
        <p:nvSpPr>
          <p:cNvPr id="2" name="TextBox 1"/>
          <p:cNvSpPr txBox="1"/>
          <p:nvPr/>
        </p:nvSpPr>
        <p:spPr>
          <a:xfrm>
            <a:off x="10618927" y="6309359"/>
            <a:ext cx="914400" cy="274320"/>
          </a:xfrm>
          <a:prstGeom prst="rect">
            <a:avLst/>
          </a:prstGeom>
          <a:noFill/>
        </p:spPr>
        <p:txBody>
          <a:bodyPr wrap="square" lIns="0" tIns="0" rIns="0" bIns="0" anchor="t">
            <a:spAutoFit/>
          </a:bodyPr>
          <a:lstStyle/>
          <a:p>
            <a:pPr algn="r">
              <a:lnSpc>
                <a:spcPct val="118000"/>
              </a:lnSpc>
              <a:spcBef>
                <a:spcPts val="0"/>
              </a:spcBef>
              <a:spcAft>
                <a:spcPts val="0"/>
              </a:spcAft>
            </a:pPr>
            <a:r>
              <a:rPr sz="2100" b="0" i="0">
                <a:solidFill>
                  <a:srgbClr val="6B787D"/>
                </a:solidFill>
                <a:latin typeface="Consolas"/>
              </a:rPr>
              <a:t>09</a:t>
            </a:r>
          </a:p>
        </p:txBody>
      </p:sp>
      <p:sp>
        <p:nvSpPr>
          <p:cNvPr id="3" name="TextBox 2"/>
          <p:cNvSpPr txBox="1"/>
          <p:nvPr/>
        </p:nvSpPr>
        <p:spPr>
          <a:xfrm>
            <a:off x="658368" y="420624"/>
            <a:ext cx="10874959" cy="310896"/>
          </a:xfrm>
          <a:prstGeom prst="rect">
            <a:avLst/>
          </a:prstGeom>
          <a:noFill/>
        </p:spPr>
        <p:txBody>
          <a:bodyPr wrap="square" lIns="0" tIns="0" rIns="0" bIns="0" anchor="t">
            <a:spAutoFit/>
          </a:bodyPr>
          <a:lstStyle/>
          <a:p>
            <a:pPr algn="l">
              <a:lnSpc>
                <a:spcPct val="118000"/>
              </a:lnSpc>
              <a:spcBef>
                <a:spcPts val="0"/>
              </a:spcBef>
              <a:spcAft>
                <a:spcPts val="0"/>
              </a:spcAft>
            </a:pPr>
            <a:r>
              <a:rPr sz="2100" b="1" i="0">
                <a:solidFill>
                  <a:srgbClr val="2E8FA3"/>
                </a:solidFill>
                <a:latin typeface="Consolas"/>
              </a:rPr>
              <a:t>05 / STAGE 3, SPEECH RECOGNITION</a:t>
            </a:r>
          </a:p>
        </p:txBody>
      </p:sp>
      <p:sp>
        <p:nvSpPr>
          <p:cNvPr id="4" name="TextBox 3"/>
          <p:cNvSpPr txBox="1"/>
          <p:nvPr/>
        </p:nvSpPr>
        <p:spPr>
          <a:xfrm>
            <a:off x="658368" y="822960"/>
            <a:ext cx="10874959" cy="822960"/>
          </a:xfrm>
          <a:prstGeom prst="rect">
            <a:avLst/>
          </a:prstGeom>
          <a:noFill/>
        </p:spPr>
        <p:txBody>
          <a:bodyPr wrap="square" lIns="0" tIns="0" rIns="0" bIns="0" anchor="t">
            <a:spAutoFit/>
          </a:bodyPr>
          <a:lstStyle/>
          <a:p>
            <a:pPr algn="l">
              <a:lnSpc>
                <a:spcPct val="106000"/>
              </a:lnSpc>
              <a:spcBef>
                <a:spcPts val="0"/>
              </a:spcBef>
              <a:spcAft>
                <a:spcPts val="0"/>
              </a:spcAft>
            </a:pPr>
            <a:r>
              <a:rPr sz="3600" b="1" i="0">
                <a:solidFill>
                  <a:srgbClr val="14181B"/>
                </a:solidFill>
                <a:latin typeface="Segoe UI"/>
              </a:rPr>
              <a:t>Why each decoding setting is set that way</a:t>
            </a:r>
          </a:p>
        </p:txBody>
      </p:sp>
      <p:sp>
        <p:nvSpPr>
          <p:cNvPr id="5" name="TextBox 4"/>
          <p:cNvSpPr txBox="1"/>
          <p:nvPr/>
        </p:nvSpPr>
        <p:spPr>
          <a:xfrm>
            <a:off x="658368" y="1664208"/>
            <a:ext cx="10874959" cy="310896"/>
          </a:xfrm>
          <a:prstGeom prst="rect">
            <a:avLst/>
          </a:prstGeom>
          <a:noFill/>
        </p:spPr>
        <p:txBody>
          <a:bodyPr wrap="square" lIns="0" tIns="0" rIns="0" bIns="0" anchor="t">
            <a:spAutoFit/>
          </a:bodyPr>
          <a:lstStyle/>
          <a:p>
            <a:pPr algn="l">
              <a:lnSpc>
                <a:spcPct val="118000"/>
              </a:lnSpc>
              <a:spcBef>
                <a:spcPts val="0"/>
              </a:spcBef>
              <a:spcAft>
                <a:spcPts val="0"/>
              </a:spcAft>
            </a:pPr>
            <a:r>
              <a:rPr sz="2400" b="1" i="0">
                <a:solidFill>
                  <a:srgbClr val="1D4E5F"/>
                </a:solidFill>
                <a:latin typeface="Segoe UI"/>
              </a:rPr>
              <a:t>28 s rather than 30 s</a:t>
            </a:r>
          </a:p>
        </p:txBody>
      </p:sp>
      <p:sp>
        <p:nvSpPr>
          <p:cNvPr id="6" name="TextBox 5"/>
          <p:cNvSpPr txBox="1"/>
          <p:nvPr/>
        </p:nvSpPr>
        <p:spPr>
          <a:xfrm>
            <a:off x="658368" y="2011680"/>
            <a:ext cx="10874959" cy="457200"/>
          </a:xfrm>
          <a:prstGeom prst="rect">
            <a:avLst/>
          </a:prstGeom>
          <a:noFill/>
        </p:spPr>
        <p:txBody>
          <a:bodyPr wrap="square" lIns="0" tIns="0" rIns="0" bIns="0" anchor="t">
            <a:spAutoFit/>
          </a:bodyPr>
          <a:lstStyle/>
          <a:p>
            <a:pPr algn="l">
              <a:lnSpc>
                <a:spcPct val="118000"/>
              </a:lnSpc>
              <a:spcBef>
                <a:spcPts val="0"/>
              </a:spcBef>
              <a:spcAft>
                <a:spcPts val="0"/>
              </a:spcAft>
            </a:pPr>
            <a:r>
              <a:rPr sz="2200" b="0" i="0">
                <a:solidFill>
                  <a:srgbClr val="3E4A4F"/>
                </a:solidFill>
                <a:latin typeface="Segoe UI"/>
              </a:rPr>
              <a:t>leaves headroom inside the receptive field, so the window edge never lands exactly at the model limit</a:t>
            </a:r>
          </a:p>
        </p:txBody>
      </p:sp>
      <p:sp>
        <p:nvSpPr>
          <p:cNvPr id="7" name="TextBox 6"/>
          <p:cNvSpPr txBox="1"/>
          <p:nvPr/>
        </p:nvSpPr>
        <p:spPr>
          <a:xfrm>
            <a:off x="658368" y="2779776"/>
            <a:ext cx="10874959" cy="310896"/>
          </a:xfrm>
          <a:prstGeom prst="rect">
            <a:avLst/>
          </a:prstGeom>
          <a:noFill/>
        </p:spPr>
        <p:txBody>
          <a:bodyPr wrap="square" lIns="0" tIns="0" rIns="0" bIns="0" anchor="t">
            <a:spAutoFit/>
          </a:bodyPr>
          <a:lstStyle/>
          <a:p>
            <a:pPr algn="l">
              <a:lnSpc>
                <a:spcPct val="118000"/>
              </a:lnSpc>
              <a:spcBef>
                <a:spcPts val="0"/>
              </a:spcBef>
              <a:spcAft>
                <a:spcPts val="0"/>
              </a:spcAft>
            </a:pPr>
            <a:r>
              <a:rPr sz="2400" b="1" i="0">
                <a:solidFill>
                  <a:srgbClr val="1D4E5F"/>
                </a:solidFill>
                <a:latin typeface="Segoe UI"/>
              </a:rPr>
              <a:t>Language forced to Bengali</a:t>
            </a:r>
          </a:p>
        </p:txBody>
      </p:sp>
      <p:sp>
        <p:nvSpPr>
          <p:cNvPr id="8" name="TextBox 7"/>
          <p:cNvSpPr txBox="1"/>
          <p:nvPr/>
        </p:nvSpPr>
        <p:spPr>
          <a:xfrm>
            <a:off x="658368" y="3127248"/>
            <a:ext cx="10874959" cy="457200"/>
          </a:xfrm>
          <a:prstGeom prst="rect">
            <a:avLst/>
          </a:prstGeom>
          <a:noFill/>
        </p:spPr>
        <p:txBody>
          <a:bodyPr wrap="square" lIns="0" tIns="0" rIns="0" bIns="0" anchor="t">
            <a:spAutoFit/>
          </a:bodyPr>
          <a:lstStyle/>
          <a:p>
            <a:pPr algn="l">
              <a:lnSpc>
                <a:spcPct val="118000"/>
              </a:lnSpc>
              <a:spcBef>
                <a:spcPts val="0"/>
              </a:spcBef>
              <a:spcAft>
                <a:spcPts val="0"/>
              </a:spcAft>
            </a:pPr>
            <a:r>
              <a:rPr sz="2200" b="0" i="0">
                <a:solidFill>
                  <a:srgbClr val="3E4A4F"/>
                </a:solidFill>
                <a:latin typeface="Segoe UI"/>
              </a:rPr>
              <a:t>stops the detector switching to Hindi or Assamese on a noisy chunk</a:t>
            </a:r>
          </a:p>
        </p:txBody>
      </p:sp>
      <p:sp>
        <p:nvSpPr>
          <p:cNvPr id="9" name="TextBox 8"/>
          <p:cNvSpPr txBox="1"/>
          <p:nvPr/>
        </p:nvSpPr>
        <p:spPr>
          <a:xfrm>
            <a:off x="658368" y="3639312"/>
            <a:ext cx="10874959" cy="310896"/>
          </a:xfrm>
          <a:prstGeom prst="rect">
            <a:avLst/>
          </a:prstGeom>
          <a:noFill/>
        </p:spPr>
        <p:txBody>
          <a:bodyPr wrap="square" lIns="0" tIns="0" rIns="0" bIns="0" anchor="t">
            <a:spAutoFit/>
          </a:bodyPr>
          <a:lstStyle/>
          <a:p>
            <a:pPr algn="l">
              <a:lnSpc>
                <a:spcPct val="118000"/>
              </a:lnSpc>
              <a:spcBef>
                <a:spcPts val="0"/>
              </a:spcBef>
              <a:spcAft>
                <a:spcPts val="0"/>
              </a:spcAft>
            </a:pPr>
            <a:r>
              <a:rPr sz="2400" b="1" i="0">
                <a:solidFill>
                  <a:srgbClr val="1D4E5F"/>
                </a:solidFill>
                <a:latin typeface="Segoe UI"/>
              </a:rPr>
              <a:t>No conditioning on previous text</a:t>
            </a:r>
          </a:p>
        </p:txBody>
      </p:sp>
      <p:sp>
        <p:nvSpPr>
          <p:cNvPr id="10" name="TextBox 9"/>
          <p:cNvSpPr txBox="1"/>
          <p:nvPr/>
        </p:nvSpPr>
        <p:spPr>
          <a:xfrm>
            <a:off x="658368" y="3986784"/>
            <a:ext cx="10874959" cy="457200"/>
          </a:xfrm>
          <a:prstGeom prst="rect">
            <a:avLst/>
          </a:prstGeom>
          <a:noFill/>
        </p:spPr>
        <p:txBody>
          <a:bodyPr wrap="square" lIns="0" tIns="0" rIns="0" bIns="0" anchor="t">
            <a:spAutoFit/>
          </a:bodyPr>
          <a:lstStyle/>
          <a:p>
            <a:pPr algn="l">
              <a:lnSpc>
                <a:spcPct val="118000"/>
              </a:lnSpc>
              <a:spcBef>
                <a:spcPts val="0"/>
              </a:spcBef>
              <a:spcAft>
                <a:spcPts val="0"/>
              </a:spcAft>
            </a:pPr>
            <a:r>
              <a:rPr sz="2200" b="0" i="0">
                <a:solidFill>
                  <a:srgbClr val="3E4A4F"/>
                </a:solidFill>
                <a:latin typeface="Segoe UI"/>
              </a:rPr>
              <a:t>stops a hallucination in one chunk being fed as context into the next, which is how one error becomes a whole bad minute</a:t>
            </a:r>
          </a:p>
        </p:txBody>
      </p:sp>
      <p:sp>
        <p:nvSpPr>
          <p:cNvPr id="11" name="TextBox 10"/>
          <p:cNvSpPr txBox="1"/>
          <p:nvPr/>
        </p:nvSpPr>
        <p:spPr>
          <a:xfrm>
            <a:off x="658368" y="4754880"/>
            <a:ext cx="10874959" cy="310896"/>
          </a:xfrm>
          <a:prstGeom prst="rect">
            <a:avLst/>
          </a:prstGeom>
          <a:noFill/>
        </p:spPr>
        <p:txBody>
          <a:bodyPr wrap="square" lIns="0" tIns="0" rIns="0" bIns="0" anchor="t">
            <a:spAutoFit/>
          </a:bodyPr>
          <a:lstStyle/>
          <a:p>
            <a:pPr algn="l">
              <a:lnSpc>
                <a:spcPct val="118000"/>
              </a:lnSpc>
              <a:spcBef>
                <a:spcPts val="0"/>
              </a:spcBef>
              <a:spcAft>
                <a:spcPts val="0"/>
              </a:spcAft>
            </a:pPr>
            <a:r>
              <a:rPr sz="2400" b="1" i="0">
                <a:solidFill>
                  <a:srgbClr val="1D4E5F"/>
                </a:solidFill>
                <a:latin typeface="Segoe UI"/>
              </a:rPr>
              <a:t>Source separation on detection</a:t>
            </a:r>
          </a:p>
        </p:txBody>
      </p:sp>
      <p:sp>
        <p:nvSpPr>
          <p:cNvPr id="12" name="TextBox 11"/>
          <p:cNvSpPr txBox="1"/>
          <p:nvPr/>
        </p:nvSpPr>
        <p:spPr>
          <a:xfrm>
            <a:off x="658368" y="5102352"/>
            <a:ext cx="10874959" cy="457200"/>
          </a:xfrm>
          <a:prstGeom prst="rect">
            <a:avLst/>
          </a:prstGeom>
          <a:noFill/>
        </p:spPr>
        <p:txBody>
          <a:bodyPr wrap="square" lIns="0" tIns="0" rIns="0" bIns="0" anchor="t">
            <a:spAutoFit/>
          </a:bodyPr>
          <a:lstStyle/>
          <a:p>
            <a:pPr algn="l">
              <a:lnSpc>
                <a:spcPct val="118000"/>
              </a:lnSpc>
              <a:spcBef>
                <a:spcPts val="0"/>
              </a:spcBef>
              <a:spcAft>
                <a:spcPts val="0"/>
              </a:spcAft>
            </a:pPr>
            <a:r>
              <a:rPr sz="2200" b="0" i="0">
                <a:solidFill>
                  <a:srgbClr val="3E4A4F"/>
                </a:solidFill>
                <a:latin typeface="Segoe UI"/>
              </a:rPr>
              <a:t>measures spectral flux per chunk and separates music only when present, rather than degrading clean speech</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ECEEEB"/>
        </a:solidFill>
        <a:effectLst/>
      </p:bgPr>
    </p:bg>
    <p:spTree>
      <p:nvGrpSpPr>
        <p:cNvPr id="1" name=""/>
        <p:cNvGrpSpPr/>
        <p:nvPr/>
      </p:nvGrpSpPr>
      <p:grpSpPr>
        <a:xfrm>
          <a:off x="0" y="0"/>
          <a:ext cx="0" cy="0"/>
          <a:chOff x="0" y="0"/>
          <a:chExt cx="0" cy="0"/>
        </a:xfrm>
      </p:grpSpPr>
      <p:sp>
        <p:nvSpPr>
          <p:cNvPr id="2" name="TextBox 1"/>
          <p:cNvSpPr txBox="1"/>
          <p:nvPr/>
        </p:nvSpPr>
        <p:spPr>
          <a:xfrm>
            <a:off x="10618927" y="6309359"/>
            <a:ext cx="914400" cy="274320"/>
          </a:xfrm>
          <a:prstGeom prst="rect">
            <a:avLst/>
          </a:prstGeom>
          <a:noFill/>
        </p:spPr>
        <p:txBody>
          <a:bodyPr wrap="square" lIns="0" tIns="0" rIns="0" bIns="0" anchor="t">
            <a:spAutoFit/>
          </a:bodyPr>
          <a:lstStyle/>
          <a:p>
            <a:pPr algn="r">
              <a:lnSpc>
                <a:spcPct val="118000"/>
              </a:lnSpc>
              <a:spcBef>
                <a:spcPts val="0"/>
              </a:spcBef>
              <a:spcAft>
                <a:spcPts val="0"/>
              </a:spcAft>
            </a:pPr>
            <a:r>
              <a:rPr sz="2100" b="0" i="0">
                <a:solidFill>
                  <a:srgbClr val="6B787D"/>
                </a:solidFill>
                <a:latin typeface="Consolas"/>
              </a:rPr>
              <a:t>10</a:t>
            </a:r>
          </a:p>
        </p:txBody>
      </p:sp>
      <p:sp>
        <p:nvSpPr>
          <p:cNvPr id="3" name="TextBox 2"/>
          <p:cNvSpPr txBox="1"/>
          <p:nvPr/>
        </p:nvSpPr>
        <p:spPr>
          <a:xfrm>
            <a:off x="658368" y="420624"/>
            <a:ext cx="10874959" cy="310896"/>
          </a:xfrm>
          <a:prstGeom prst="rect">
            <a:avLst/>
          </a:prstGeom>
          <a:noFill/>
        </p:spPr>
        <p:txBody>
          <a:bodyPr wrap="square" lIns="0" tIns="0" rIns="0" bIns="0" anchor="t">
            <a:spAutoFit/>
          </a:bodyPr>
          <a:lstStyle/>
          <a:p>
            <a:pPr algn="l">
              <a:lnSpc>
                <a:spcPct val="118000"/>
              </a:lnSpc>
              <a:spcBef>
                <a:spcPts val="0"/>
              </a:spcBef>
              <a:spcAft>
                <a:spcPts val="0"/>
              </a:spcAft>
            </a:pPr>
            <a:r>
              <a:rPr sz="2100" b="1" i="0">
                <a:solidFill>
                  <a:srgbClr val="2E8FA3"/>
                </a:solidFill>
                <a:latin typeface="Consolas"/>
              </a:rPr>
              <a:t>06 / TRANSCRIPT QUALITY</a:t>
            </a:r>
          </a:p>
        </p:txBody>
      </p:sp>
      <p:sp>
        <p:nvSpPr>
          <p:cNvPr id="4" name="TextBox 3"/>
          <p:cNvSpPr txBox="1"/>
          <p:nvPr/>
        </p:nvSpPr>
        <p:spPr>
          <a:xfrm>
            <a:off x="658368" y="822960"/>
            <a:ext cx="10874959" cy="822960"/>
          </a:xfrm>
          <a:prstGeom prst="rect">
            <a:avLst/>
          </a:prstGeom>
          <a:noFill/>
        </p:spPr>
        <p:txBody>
          <a:bodyPr wrap="square" lIns="0" tIns="0" rIns="0" bIns="0" anchor="t">
            <a:spAutoFit/>
          </a:bodyPr>
          <a:lstStyle/>
          <a:p>
            <a:pPr algn="l">
              <a:lnSpc>
                <a:spcPct val="106000"/>
              </a:lnSpc>
              <a:spcBef>
                <a:spcPts val="0"/>
              </a:spcBef>
              <a:spcAft>
                <a:spcPts val="0"/>
              </a:spcAft>
            </a:pPr>
            <a:r>
              <a:rPr sz="3600" b="1" i="0">
                <a:solidFill>
                  <a:srgbClr val="14181B"/>
                </a:solidFill>
                <a:latin typeface="Segoe UI"/>
              </a:rPr>
              <a:t>Defect one: chunk boundary truncation</a:t>
            </a:r>
          </a:p>
        </p:txBody>
      </p:sp>
      <p:sp>
        <p:nvSpPr>
          <p:cNvPr id="5" name="TextBox 4"/>
          <p:cNvSpPr txBox="1"/>
          <p:nvPr/>
        </p:nvSpPr>
        <p:spPr>
          <a:xfrm>
            <a:off x="658368" y="1389888"/>
            <a:ext cx="10874959" cy="822960"/>
          </a:xfrm>
          <a:prstGeom prst="rect">
            <a:avLst/>
          </a:prstGeom>
          <a:noFill/>
        </p:spPr>
        <p:txBody>
          <a:bodyPr wrap="square" lIns="0" tIns="0" rIns="0" bIns="0" anchor="t">
            <a:spAutoFit/>
          </a:bodyPr>
          <a:lstStyle/>
          <a:p>
            <a:pPr algn="l">
              <a:lnSpc>
                <a:spcPct val="124000"/>
              </a:lnSpc>
              <a:spcBef>
                <a:spcPts val="0"/>
              </a:spcBef>
              <a:spcAft>
                <a:spcPts val="0"/>
              </a:spcAft>
            </a:pPr>
            <a:r>
              <a:rPr sz="2400" b="0" i="0">
                <a:solidFill>
                  <a:srgbClr val="3E4A4F"/>
                </a:solidFill>
                <a:latin typeface="Segoe UI"/>
              </a:rPr>
              <a:t>Bangla never begins a word with a dependent vowel sign. When a segment does, the stitcher has eaten the opening consonant.</a:t>
            </a:r>
          </a:p>
        </p:txBody>
      </p:sp>
      <p:sp>
        <p:nvSpPr>
          <p:cNvPr id="6" name="Rectangle 5"/>
          <p:cNvSpPr/>
          <p:nvPr/>
        </p:nvSpPr>
        <p:spPr>
          <a:xfrm>
            <a:off x="658368" y="2468879"/>
            <a:ext cx="2468880" cy="310896"/>
          </a:xfrm>
          <a:prstGeom prst="rect">
            <a:avLst/>
          </a:prstGeom>
          <a:solidFill>
            <a:srgbClr val="F5EAD2"/>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2100" b="1" i="0">
                <a:solidFill>
                  <a:srgbClr val="B5811F"/>
                </a:solidFill>
                <a:latin typeface="Consolas"/>
              </a:rPr>
              <a:t>400 OF 3,532</a:t>
            </a:r>
          </a:p>
        </p:txBody>
      </p:sp>
      <p:sp>
        <p:nvSpPr>
          <p:cNvPr id="7" name="Rectangle 6"/>
          <p:cNvSpPr/>
          <p:nvPr/>
        </p:nvSpPr>
        <p:spPr>
          <a:xfrm>
            <a:off x="658368" y="2980944"/>
            <a:ext cx="10874959" cy="1225296"/>
          </a:xfrm>
          <a:prstGeom prst="rect">
            <a:avLst/>
          </a:prstGeom>
          <a:solidFill>
            <a:srgbClr val="F8F9F7"/>
          </a:solidFill>
          <a:ln w="12700">
            <a:solidFill>
              <a:srgbClr val="C3CBC6"/>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8" name="Rectangle 7"/>
          <p:cNvSpPr/>
          <p:nvPr/>
        </p:nvSpPr>
        <p:spPr>
          <a:xfrm>
            <a:off x="658368" y="2980944"/>
            <a:ext cx="50292" cy="1225296"/>
          </a:xfrm>
          <a:prstGeom prst="rect">
            <a:avLst/>
          </a:prstGeom>
          <a:solidFill>
            <a:srgbClr val="B5811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 name="TextBox 8"/>
          <p:cNvSpPr txBox="1"/>
          <p:nvPr/>
        </p:nvSpPr>
        <p:spPr>
          <a:xfrm>
            <a:off x="932688" y="3127248"/>
            <a:ext cx="10372039" cy="537263"/>
          </a:xfrm>
          <a:prstGeom prst="rect">
            <a:avLst/>
          </a:prstGeom>
          <a:noFill/>
        </p:spPr>
        <p:txBody>
          <a:bodyPr wrap="square" lIns="0" tIns="0" rIns="0" bIns="0" anchor="t">
            <a:spAutoFit/>
          </a:bodyPr>
          <a:lstStyle/>
          <a:p>
            <a:pPr algn="l">
              <a:lnSpc>
                <a:spcPct val="130000"/>
              </a:lnSpc>
              <a:spcBef>
                <a:spcPts val="0"/>
              </a:spcBef>
              <a:spcAft>
                <a:spcPts val="0"/>
              </a:spcAft>
            </a:pPr>
            <a:r>
              <a:rPr sz="3000" b="0" i="0" dirty="0" err="1">
                <a:solidFill>
                  <a:srgbClr val="14181B"/>
                </a:solidFill>
                <a:latin typeface="Nirmala UI"/>
              </a:rPr>
              <a:t>উন্নতি</a:t>
            </a:r>
            <a:r>
              <a:rPr sz="3000" b="0" i="0" dirty="0">
                <a:solidFill>
                  <a:srgbClr val="14181B"/>
                </a:solidFill>
                <a:latin typeface="Nirmala UI"/>
              </a:rPr>
              <a:t> </a:t>
            </a:r>
            <a:r>
              <a:rPr sz="3000" b="0" i="0" dirty="0" err="1">
                <a:solidFill>
                  <a:srgbClr val="14181B"/>
                </a:solidFill>
                <a:latin typeface="Nirmala UI"/>
              </a:rPr>
              <a:t>লক্ষ্য</a:t>
            </a:r>
            <a:r>
              <a:rPr sz="3000" b="0" i="0" dirty="0">
                <a:solidFill>
                  <a:srgbClr val="14181B"/>
                </a:solidFill>
                <a:latin typeface="Nirmala UI"/>
              </a:rPr>
              <a:t> </a:t>
            </a:r>
            <a:r>
              <a:rPr sz="3000" b="0" i="0" dirty="0" err="1">
                <a:solidFill>
                  <a:srgbClr val="14181B"/>
                </a:solidFill>
                <a:latin typeface="Nirmala UI"/>
              </a:rPr>
              <a:t>করা</a:t>
            </a:r>
            <a:r>
              <a:rPr sz="3000" b="0" i="0" dirty="0">
                <a:solidFill>
                  <a:srgbClr val="14181B"/>
                </a:solidFill>
                <a:latin typeface="Nirmala UI"/>
              </a:rPr>
              <a:t> </a:t>
            </a:r>
            <a:r>
              <a:rPr sz="3000" b="0" i="0" dirty="0" err="1">
                <a:solidFill>
                  <a:srgbClr val="14181B"/>
                </a:solidFill>
                <a:latin typeface="Nirmala UI"/>
              </a:rPr>
              <a:t>যাচ্ছে</a:t>
            </a:r>
            <a:endParaRPr sz="3000" b="0" i="0" dirty="0">
              <a:solidFill>
                <a:srgbClr val="14181B"/>
              </a:solidFill>
              <a:latin typeface="Nirmala UI"/>
            </a:endParaRPr>
          </a:p>
        </p:txBody>
      </p:sp>
      <p:sp>
        <p:nvSpPr>
          <p:cNvPr id="10" name="TextBox 9"/>
          <p:cNvSpPr txBox="1"/>
          <p:nvPr/>
        </p:nvSpPr>
        <p:spPr>
          <a:xfrm>
            <a:off x="932688" y="3529584"/>
            <a:ext cx="10707575" cy="351828"/>
          </a:xfrm>
          <a:prstGeom prst="rect">
            <a:avLst/>
          </a:prstGeom>
          <a:noFill/>
        </p:spPr>
        <p:txBody>
          <a:bodyPr wrap="square" lIns="0" tIns="0" rIns="0" bIns="0" anchor="t">
            <a:spAutoFit/>
          </a:bodyPr>
          <a:lstStyle/>
          <a:p>
            <a:pPr algn="l">
              <a:lnSpc>
                <a:spcPct val="120000"/>
              </a:lnSpc>
              <a:spcBef>
                <a:spcPts val="0"/>
              </a:spcBef>
              <a:spcAft>
                <a:spcPts val="0"/>
              </a:spcAft>
            </a:pPr>
            <a:r>
              <a:rPr sz="2100" b="0" i="0" dirty="0">
                <a:solidFill>
                  <a:srgbClr val="3E4A4F"/>
                </a:solidFill>
                <a:latin typeface="Segoe UI"/>
              </a:rPr>
              <a:t>The word should be </a:t>
            </a:r>
            <a:r>
              <a:rPr sz="2100" b="0" i="0" dirty="0" err="1">
                <a:solidFill>
                  <a:srgbClr val="3E4A4F"/>
                </a:solidFill>
                <a:latin typeface="Nirmala UI"/>
              </a:rPr>
              <a:t>কিছুটা</a:t>
            </a:r>
            <a:r>
              <a:rPr sz="2100" b="0" i="0" dirty="0">
                <a:solidFill>
                  <a:srgbClr val="3E4A4F"/>
                </a:solidFill>
                <a:latin typeface="Segoe UI"/>
              </a:rPr>
              <a:t>. The first token of 11.3 percent of utterances is not a real word.</a:t>
            </a:r>
          </a:p>
        </p:txBody>
      </p:sp>
      <p:sp>
        <p:nvSpPr>
          <p:cNvPr id="11" name="Rectangle 10"/>
          <p:cNvSpPr/>
          <p:nvPr/>
        </p:nvSpPr>
        <p:spPr>
          <a:xfrm>
            <a:off x="658368" y="4498847"/>
            <a:ext cx="10874959" cy="1810512"/>
          </a:xfrm>
          <a:prstGeom prst="rect">
            <a:avLst/>
          </a:prstGeom>
          <a:solidFill>
            <a:srgbClr val="F8F9F7"/>
          </a:solidFill>
          <a:ln w="12700">
            <a:solidFill>
              <a:srgbClr val="C3CBC6"/>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2" name="Rectangle 11"/>
          <p:cNvSpPr/>
          <p:nvPr/>
        </p:nvSpPr>
        <p:spPr>
          <a:xfrm>
            <a:off x="658368" y="4498847"/>
            <a:ext cx="50292" cy="1316736"/>
          </a:xfrm>
          <a:prstGeom prst="rect">
            <a:avLst/>
          </a:prstGeom>
          <a:solidFill>
            <a:srgbClr val="35735A"/>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3" name="TextBox 12"/>
          <p:cNvSpPr txBox="1"/>
          <p:nvPr/>
        </p:nvSpPr>
        <p:spPr>
          <a:xfrm>
            <a:off x="932688" y="4681727"/>
            <a:ext cx="10372039" cy="950976"/>
          </a:xfrm>
          <a:prstGeom prst="rect">
            <a:avLst/>
          </a:prstGeom>
          <a:noFill/>
        </p:spPr>
        <p:txBody>
          <a:bodyPr wrap="square" lIns="0" tIns="0" rIns="0" bIns="0" anchor="t">
            <a:spAutoFit/>
          </a:bodyPr>
          <a:lstStyle/>
          <a:p>
            <a:pPr algn="l">
              <a:lnSpc>
                <a:spcPct val="118000"/>
              </a:lnSpc>
              <a:spcBef>
                <a:spcPts val="0"/>
              </a:spcBef>
              <a:spcAft>
                <a:spcPts val="600"/>
              </a:spcAft>
            </a:pPr>
            <a:r>
              <a:rPr sz="2400" b="1" i="0" dirty="0">
                <a:solidFill>
                  <a:srgbClr val="14181B"/>
                </a:solidFill>
                <a:latin typeface="Segoe UI"/>
              </a:rPr>
              <a:t>Fix</a:t>
            </a:r>
          </a:p>
          <a:p>
            <a:pPr algn="l">
              <a:lnSpc>
                <a:spcPct val="120000"/>
              </a:lnSpc>
              <a:spcBef>
                <a:spcPts val="0"/>
              </a:spcBef>
              <a:spcAft>
                <a:spcPts val="0"/>
              </a:spcAft>
            </a:pPr>
            <a:r>
              <a:rPr sz="2200" b="0" i="0" dirty="0">
                <a:solidFill>
                  <a:srgbClr val="3E4A4F"/>
                </a:solidFill>
                <a:latin typeface="Segoe UI"/>
              </a:rPr>
              <a:t>Chunks are currently cut back to back with no overlap. Cutting them with a 2 to 3 second overlap and stitching on the shared region removes the boundary word entirely. This is a rerun setting, not new code.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ECEEEB"/>
        </a:solidFill>
        <a:effectLst/>
      </p:bgPr>
    </p:bg>
    <p:spTree>
      <p:nvGrpSpPr>
        <p:cNvPr id="1" name=""/>
        <p:cNvGrpSpPr/>
        <p:nvPr/>
      </p:nvGrpSpPr>
      <p:grpSpPr>
        <a:xfrm>
          <a:off x="0" y="0"/>
          <a:ext cx="0" cy="0"/>
          <a:chOff x="0" y="0"/>
          <a:chExt cx="0" cy="0"/>
        </a:xfrm>
      </p:grpSpPr>
      <p:sp>
        <p:nvSpPr>
          <p:cNvPr id="2" name="TextBox 1"/>
          <p:cNvSpPr txBox="1"/>
          <p:nvPr/>
        </p:nvSpPr>
        <p:spPr>
          <a:xfrm>
            <a:off x="10618927" y="6309359"/>
            <a:ext cx="914400" cy="274320"/>
          </a:xfrm>
          <a:prstGeom prst="rect">
            <a:avLst/>
          </a:prstGeom>
          <a:noFill/>
        </p:spPr>
        <p:txBody>
          <a:bodyPr wrap="square" lIns="0" tIns="0" rIns="0" bIns="0" anchor="t">
            <a:spAutoFit/>
          </a:bodyPr>
          <a:lstStyle/>
          <a:p>
            <a:pPr algn="r">
              <a:lnSpc>
                <a:spcPct val="118000"/>
              </a:lnSpc>
              <a:spcBef>
                <a:spcPts val="0"/>
              </a:spcBef>
              <a:spcAft>
                <a:spcPts val="0"/>
              </a:spcAft>
            </a:pPr>
            <a:r>
              <a:rPr sz="2100" b="0" i="0">
                <a:solidFill>
                  <a:srgbClr val="6B787D"/>
                </a:solidFill>
                <a:latin typeface="Consolas"/>
              </a:rPr>
              <a:t>11</a:t>
            </a:r>
          </a:p>
        </p:txBody>
      </p:sp>
      <p:sp>
        <p:nvSpPr>
          <p:cNvPr id="3" name="TextBox 2"/>
          <p:cNvSpPr txBox="1"/>
          <p:nvPr/>
        </p:nvSpPr>
        <p:spPr>
          <a:xfrm>
            <a:off x="658368" y="420624"/>
            <a:ext cx="10874959" cy="310896"/>
          </a:xfrm>
          <a:prstGeom prst="rect">
            <a:avLst/>
          </a:prstGeom>
          <a:noFill/>
        </p:spPr>
        <p:txBody>
          <a:bodyPr wrap="square" lIns="0" tIns="0" rIns="0" bIns="0" anchor="t">
            <a:spAutoFit/>
          </a:bodyPr>
          <a:lstStyle/>
          <a:p>
            <a:pPr algn="l">
              <a:lnSpc>
                <a:spcPct val="118000"/>
              </a:lnSpc>
              <a:spcBef>
                <a:spcPts val="0"/>
              </a:spcBef>
              <a:spcAft>
                <a:spcPts val="0"/>
              </a:spcAft>
            </a:pPr>
            <a:r>
              <a:rPr sz="2100" b="1" i="0">
                <a:solidFill>
                  <a:srgbClr val="2E8FA3"/>
                </a:solidFill>
                <a:latin typeface="Consolas"/>
              </a:rPr>
              <a:t>06 / TRANSCRIPT QUALITY</a:t>
            </a:r>
          </a:p>
        </p:txBody>
      </p:sp>
      <p:sp>
        <p:nvSpPr>
          <p:cNvPr id="4" name="TextBox 3"/>
          <p:cNvSpPr txBox="1"/>
          <p:nvPr/>
        </p:nvSpPr>
        <p:spPr>
          <a:xfrm>
            <a:off x="658368" y="822960"/>
            <a:ext cx="10874959" cy="822960"/>
          </a:xfrm>
          <a:prstGeom prst="rect">
            <a:avLst/>
          </a:prstGeom>
          <a:noFill/>
        </p:spPr>
        <p:txBody>
          <a:bodyPr wrap="square" lIns="0" tIns="0" rIns="0" bIns="0" anchor="t">
            <a:spAutoFit/>
          </a:bodyPr>
          <a:lstStyle/>
          <a:p>
            <a:pPr algn="l">
              <a:lnSpc>
                <a:spcPct val="106000"/>
              </a:lnSpc>
              <a:spcBef>
                <a:spcPts val="0"/>
              </a:spcBef>
              <a:spcAft>
                <a:spcPts val="0"/>
              </a:spcAft>
            </a:pPr>
            <a:r>
              <a:rPr sz="3600" b="1" i="0">
                <a:solidFill>
                  <a:srgbClr val="14181B"/>
                </a:solidFill>
                <a:latin typeface="Segoe UI"/>
              </a:rPr>
              <a:t>Defect two: decoder repetition loops</a:t>
            </a:r>
          </a:p>
        </p:txBody>
      </p:sp>
      <p:sp>
        <p:nvSpPr>
          <p:cNvPr id="5" name="TextBox 4"/>
          <p:cNvSpPr txBox="1"/>
          <p:nvPr/>
        </p:nvSpPr>
        <p:spPr>
          <a:xfrm>
            <a:off x="658368" y="1389888"/>
            <a:ext cx="10874959" cy="822960"/>
          </a:xfrm>
          <a:prstGeom prst="rect">
            <a:avLst/>
          </a:prstGeom>
          <a:noFill/>
        </p:spPr>
        <p:txBody>
          <a:bodyPr wrap="square" lIns="0" tIns="0" rIns="0" bIns="0" anchor="t">
            <a:spAutoFit/>
          </a:bodyPr>
          <a:lstStyle/>
          <a:p>
            <a:pPr algn="l">
              <a:lnSpc>
                <a:spcPct val="124000"/>
              </a:lnSpc>
              <a:spcBef>
                <a:spcPts val="0"/>
              </a:spcBef>
              <a:spcAft>
                <a:spcPts val="0"/>
              </a:spcAft>
            </a:pPr>
            <a:r>
              <a:rPr sz="2400" b="0" i="0">
                <a:solidFill>
                  <a:srgbClr val="3E4A4F"/>
                </a:solidFill>
                <a:latin typeface="Segoe UI"/>
              </a:rPr>
              <a:t>The decoder locks onto one token and emits it for many seconds.</a:t>
            </a:r>
          </a:p>
        </p:txBody>
      </p:sp>
      <p:sp>
        <p:nvSpPr>
          <p:cNvPr id="6" name="Rectangle 5"/>
          <p:cNvSpPr/>
          <p:nvPr/>
        </p:nvSpPr>
        <p:spPr>
          <a:xfrm>
            <a:off x="658368" y="2066543"/>
            <a:ext cx="2286000" cy="310896"/>
          </a:xfrm>
          <a:prstGeom prst="rect">
            <a:avLst/>
          </a:prstGeom>
          <a:solidFill>
            <a:srgbClr val="F5EAD2"/>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2100" b="1" i="0">
                <a:solidFill>
                  <a:srgbClr val="B5811F"/>
                </a:solidFill>
                <a:latin typeface="Consolas"/>
              </a:rPr>
              <a:t>46 OF 3,532</a:t>
            </a:r>
          </a:p>
        </p:txBody>
      </p:sp>
      <p:sp>
        <p:nvSpPr>
          <p:cNvPr id="7" name="Rectangle 6"/>
          <p:cNvSpPr/>
          <p:nvPr/>
        </p:nvSpPr>
        <p:spPr>
          <a:xfrm>
            <a:off x="658368" y="2578608"/>
            <a:ext cx="10874959" cy="1389888"/>
          </a:xfrm>
          <a:prstGeom prst="rect">
            <a:avLst/>
          </a:prstGeom>
          <a:solidFill>
            <a:srgbClr val="F8F9F7"/>
          </a:solidFill>
          <a:ln w="12700">
            <a:solidFill>
              <a:srgbClr val="C3CBC6"/>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8" name="Rectangle 7"/>
          <p:cNvSpPr/>
          <p:nvPr/>
        </p:nvSpPr>
        <p:spPr>
          <a:xfrm>
            <a:off x="658368" y="2578608"/>
            <a:ext cx="50292" cy="1225296"/>
          </a:xfrm>
          <a:prstGeom prst="rect">
            <a:avLst/>
          </a:prstGeom>
          <a:solidFill>
            <a:srgbClr val="B5811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 name="TextBox 8"/>
          <p:cNvSpPr txBox="1"/>
          <p:nvPr/>
        </p:nvSpPr>
        <p:spPr>
          <a:xfrm>
            <a:off x="932688" y="2724912"/>
            <a:ext cx="10372039" cy="420624"/>
          </a:xfrm>
          <a:prstGeom prst="rect">
            <a:avLst/>
          </a:prstGeom>
          <a:noFill/>
        </p:spPr>
        <p:txBody>
          <a:bodyPr wrap="square" lIns="0" tIns="0" rIns="0" bIns="0" anchor="t">
            <a:spAutoFit/>
          </a:bodyPr>
          <a:lstStyle/>
          <a:p>
            <a:pPr algn="l">
              <a:lnSpc>
                <a:spcPct val="130000"/>
              </a:lnSpc>
              <a:spcBef>
                <a:spcPts val="0"/>
              </a:spcBef>
              <a:spcAft>
                <a:spcPts val="0"/>
              </a:spcAft>
            </a:pPr>
            <a:r>
              <a:rPr sz="3000" b="0" i="0">
                <a:solidFill>
                  <a:srgbClr val="14181B"/>
                </a:solidFill>
                <a:latin typeface="Nirmala UI"/>
              </a:rPr>
              <a:t>বাজার বাজার বাজার বাজার বাজার বাজার</a:t>
            </a:r>
          </a:p>
        </p:txBody>
      </p:sp>
      <p:sp>
        <p:nvSpPr>
          <p:cNvPr id="10" name="TextBox 9"/>
          <p:cNvSpPr txBox="1"/>
          <p:nvPr/>
        </p:nvSpPr>
        <p:spPr>
          <a:xfrm>
            <a:off x="932688" y="3127248"/>
            <a:ext cx="10372039" cy="658368"/>
          </a:xfrm>
          <a:prstGeom prst="rect">
            <a:avLst/>
          </a:prstGeom>
          <a:noFill/>
        </p:spPr>
        <p:txBody>
          <a:bodyPr wrap="square" lIns="0" tIns="0" rIns="0" bIns="0" anchor="t">
            <a:spAutoFit/>
          </a:bodyPr>
          <a:lstStyle/>
          <a:p>
            <a:pPr algn="l">
              <a:lnSpc>
                <a:spcPct val="120000"/>
              </a:lnSpc>
              <a:spcBef>
                <a:spcPts val="0"/>
              </a:spcBef>
              <a:spcAft>
                <a:spcPts val="0"/>
              </a:spcAft>
            </a:pPr>
            <a:r>
              <a:rPr sz="2100" b="0" i="0" dirty="0">
                <a:solidFill>
                  <a:srgbClr val="3E4A4F"/>
                </a:solidFill>
                <a:latin typeface="Segoe UI"/>
              </a:rPr>
              <a:t>These carry no readable meaning, so they are dropped from supervision rather than quietly labelled neutral.</a:t>
            </a:r>
          </a:p>
        </p:txBody>
      </p:sp>
      <p:sp>
        <p:nvSpPr>
          <p:cNvPr id="11" name="Rectangle 10"/>
          <p:cNvSpPr/>
          <p:nvPr/>
        </p:nvSpPr>
        <p:spPr>
          <a:xfrm>
            <a:off x="658368" y="4195620"/>
            <a:ext cx="10874959" cy="2038818"/>
          </a:xfrm>
          <a:prstGeom prst="rect">
            <a:avLst/>
          </a:prstGeom>
          <a:solidFill>
            <a:srgbClr val="F8F9F7"/>
          </a:solidFill>
          <a:ln w="12700">
            <a:solidFill>
              <a:srgbClr val="C3CBC6"/>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2" name="Rectangle 11"/>
          <p:cNvSpPr/>
          <p:nvPr/>
        </p:nvSpPr>
        <p:spPr>
          <a:xfrm>
            <a:off x="658368" y="4096511"/>
            <a:ext cx="50292" cy="1389888"/>
          </a:xfrm>
          <a:prstGeom prst="rect">
            <a:avLst/>
          </a:prstGeom>
          <a:solidFill>
            <a:srgbClr val="A6423C"/>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3" name="TextBox 12"/>
          <p:cNvSpPr txBox="1"/>
          <p:nvPr/>
        </p:nvSpPr>
        <p:spPr>
          <a:xfrm>
            <a:off x="932688" y="4378501"/>
            <a:ext cx="10372039" cy="1024128"/>
          </a:xfrm>
          <a:prstGeom prst="rect">
            <a:avLst/>
          </a:prstGeom>
          <a:noFill/>
        </p:spPr>
        <p:txBody>
          <a:bodyPr wrap="square" lIns="0" tIns="0" rIns="0" bIns="0" anchor="t">
            <a:spAutoFit/>
          </a:bodyPr>
          <a:lstStyle/>
          <a:p>
            <a:pPr algn="l">
              <a:lnSpc>
                <a:spcPct val="118000"/>
              </a:lnSpc>
              <a:spcBef>
                <a:spcPts val="0"/>
              </a:spcBef>
              <a:spcAft>
                <a:spcPts val="600"/>
              </a:spcAft>
            </a:pPr>
            <a:r>
              <a:rPr sz="2400" b="1" i="0">
                <a:solidFill>
                  <a:srgbClr val="14181B"/>
                </a:solidFill>
                <a:latin typeface="Segoe UI"/>
              </a:rPr>
              <a:t>Likely cause, and it is in the configuration</a:t>
            </a:r>
          </a:p>
          <a:p>
            <a:pPr algn="l">
              <a:lnSpc>
                <a:spcPct val="120000"/>
              </a:lnSpc>
              <a:spcBef>
                <a:spcPts val="0"/>
              </a:spcBef>
              <a:spcAft>
                <a:spcPts val="0"/>
              </a:spcAft>
            </a:pPr>
            <a:r>
              <a:rPr sz="2200" b="0" i="0">
                <a:solidFill>
                  <a:srgbClr val="3E4A4F"/>
                </a:solidFill>
                <a:latin typeface="Segoe UI"/>
              </a:rPr>
              <a:t>The run sets a repetition penalty of 0.8. A penalty above 1.0 suppresses tokens already produced. A value below 1.0 does the opposite and makes repeating them more likely. Raising it above 1.0 is the direct fix.</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ECEEEB"/>
        </a:solidFill>
        <a:effectLst/>
      </p:bgPr>
    </p:bg>
    <p:spTree>
      <p:nvGrpSpPr>
        <p:cNvPr id="1" name=""/>
        <p:cNvGrpSpPr/>
        <p:nvPr/>
      </p:nvGrpSpPr>
      <p:grpSpPr>
        <a:xfrm>
          <a:off x="0" y="0"/>
          <a:ext cx="0" cy="0"/>
          <a:chOff x="0" y="0"/>
          <a:chExt cx="0" cy="0"/>
        </a:xfrm>
      </p:grpSpPr>
      <p:sp>
        <p:nvSpPr>
          <p:cNvPr id="2" name="TextBox 1"/>
          <p:cNvSpPr txBox="1"/>
          <p:nvPr/>
        </p:nvSpPr>
        <p:spPr>
          <a:xfrm>
            <a:off x="10618927" y="6309359"/>
            <a:ext cx="914400" cy="274320"/>
          </a:xfrm>
          <a:prstGeom prst="rect">
            <a:avLst/>
          </a:prstGeom>
          <a:noFill/>
        </p:spPr>
        <p:txBody>
          <a:bodyPr wrap="square" lIns="0" tIns="0" rIns="0" bIns="0" anchor="t">
            <a:spAutoFit/>
          </a:bodyPr>
          <a:lstStyle/>
          <a:p>
            <a:pPr algn="r">
              <a:lnSpc>
                <a:spcPct val="118000"/>
              </a:lnSpc>
              <a:spcBef>
                <a:spcPts val="0"/>
              </a:spcBef>
              <a:spcAft>
                <a:spcPts val="0"/>
              </a:spcAft>
            </a:pPr>
            <a:r>
              <a:rPr sz="2100" b="0" i="0">
                <a:solidFill>
                  <a:srgbClr val="6B787D"/>
                </a:solidFill>
                <a:latin typeface="Consolas"/>
              </a:rPr>
              <a:t>12</a:t>
            </a:r>
          </a:p>
        </p:txBody>
      </p:sp>
      <p:sp>
        <p:nvSpPr>
          <p:cNvPr id="3" name="TextBox 2"/>
          <p:cNvSpPr txBox="1"/>
          <p:nvPr/>
        </p:nvSpPr>
        <p:spPr>
          <a:xfrm>
            <a:off x="658368" y="420624"/>
            <a:ext cx="10874959" cy="310896"/>
          </a:xfrm>
          <a:prstGeom prst="rect">
            <a:avLst/>
          </a:prstGeom>
          <a:noFill/>
        </p:spPr>
        <p:txBody>
          <a:bodyPr wrap="square" lIns="0" tIns="0" rIns="0" bIns="0" anchor="t">
            <a:spAutoFit/>
          </a:bodyPr>
          <a:lstStyle/>
          <a:p>
            <a:pPr algn="l">
              <a:lnSpc>
                <a:spcPct val="118000"/>
              </a:lnSpc>
              <a:spcBef>
                <a:spcPts val="0"/>
              </a:spcBef>
              <a:spcAft>
                <a:spcPts val="0"/>
              </a:spcAft>
            </a:pPr>
            <a:r>
              <a:rPr sz="2100" b="1" i="0">
                <a:solidFill>
                  <a:srgbClr val="2E8FA3"/>
                </a:solidFill>
                <a:latin typeface="Consolas"/>
              </a:rPr>
              <a:t>07 / STAGE 4, FUSION</a:t>
            </a:r>
          </a:p>
        </p:txBody>
      </p:sp>
      <p:sp>
        <p:nvSpPr>
          <p:cNvPr id="4" name="TextBox 3"/>
          <p:cNvSpPr txBox="1"/>
          <p:nvPr/>
        </p:nvSpPr>
        <p:spPr>
          <a:xfrm>
            <a:off x="658368" y="822960"/>
            <a:ext cx="10874959" cy="822960"/>
          </a:xfrm>
          <a:prstGeom prst="rect">
            <a:avLst/>
          </a:prstGeom>
          <a:noFill/>
        </p:spPr>
        <p:txBody>
          <a:bodyPr wrap="square" lIns="0" tIns="0" rIns="0" bIns="0" anchor="t">
            <a:spAutoFit/>
          </a:bodyPr>
          <a:lstStyle/>
          <a:p>
            <a:pPr algn="l">
              <a:lnSpc>
                <a:spcPct val="106000"/>
              </a:lnSpc>
              <a:spcBef>
                <a:spcPts val="0"/>
              </a:spcBef>
              <a:spcAft>
                <a:spcPts val="0"/>
              </a:spcAft>
            </a:pPr>
            <a:r>
              <a:rPr sz="3600" b="1" i="0">
                <a:solidFill>
                  <a:srgbClr val="14181B"/>
                </a:solidFill>
                <a:latin typeface="Segoe UI"/>
              </a:rPr>
              <a:t>Attaching every word to a speaker</a:t>
            </a:r>
          </a:p>
        </p:txBody>
      </p:sp>
      <p:sp>
        <p:nvSpPr>
          <p:cNvPr id="5" name="TextBox 4"/>
          <p:cNvSpPr txBox="1"/>
          <p:nvPr/>
        </p:nvSpPr>
        <p:spPr>
          <a:xfrm>
            <a:off x="658368" y="1389888"/>
            <a:ext cx="10874959" cy="822960"/>
          </a:xfrm>
          <a:prstGeom prst="rect">
            <a:avLst/>
          </a:prstGeom>
          <a:noFill/>
        </p:spPr>
        <p:txBody>
          <a:bodyPr wrap="square" lIns="0" tIns="0" rIns="0" bIns="0" anchor="t">
            <a:spAutoFit/>
          </a:bodyPr>
          <a:lstStyle/>
          <a:p>
            <a:pPr algn="l">
              <a:lnSpc>
                <a:spcPct val="124000"/>
              </a:lnSpc>
              <a:spcBef>
                <a:spcPts val="0"/>
              </a:spcBef>
              <a:spcAft>
                <a:spcPts val="0"/>
              </a:spcAft>
            </a:pPr>
            <a:r>
              <a:rPr sz="2400" b="0" i="0">
                <a:solidFill>
                  <a:srgbClr val="3E4A4F"/>
                </a:solidFill>
                <a:latin typeface="Segoe UI"/>
              </a:rPr>
              <a:t>Diarization gives intervals with speaker labels. Recognition gives words with timestamps. Neither knows about the other.</a:t>
            </a:r>
          </a:p>
        </p:txBody>
      </p:sp>
      <p:sp>
        <p:nvSpPr>
          <p:cNvPr id="6" name="TextBox 5"/>
          <p:cNvSpPr txBox="1"/>
          <p:nvPr/>
        </p:nvSpPr>
        <p:spPr>
          <a:xfrm>
            <a:off x="658368" y="2286981"/>
            <a:ext cx="10874959" cy="457200"/>
          </a:xfrm>
          <a:prstGeom prst="rect">
            <a:avLst/>
          </a:prstGeom>
          <a:noFill/>
        </p:spPr>
        <p:txBody>
          <a:bodyPr wrap="square" lIns="0" tIns="0" rIns="0" bIns="0" anchor="t">
            <a:spAutoFit/>
          </a:bodyPr>
          <a:lstStyle/>
          <a:p>
            <a:pPr algn="l">
              <a:lnSpc>
                <a:spcPct val="118000"/>
              </a:lnSpc>
              <a:spcBef>
                <a:spcPts val="0"/>
              </a:spcBef>
              <a:spcAft>
                <a:spcPts val="0"/>
              </a:spcAft>
            </a:pPr>
            <a:r>
              <a:rPr sz="2300" b="0" i="0" dirty="0">
                <a:solidFill>
                  <a:srgbClr val="14181B"/>
                </a:solidFill>
                <a:latin typeface="Segoe UI"/>
              </a:rPr>
              <a:t>•   Take the midpoint of the word. If it falls inside one speaker interval, that speaker owns it</a:t>
            </a:r>
          </a:p>
        </p:txBody>
      </p:sp>
      <p:sp>
        <p:nvSpPr>
          <p:cNvPr id="7" name="TextBox 6"/>
          <p:cNvSpPr txBox="1"/>
          <p:nvPr/>
        </p:nvSpPr>
        <p:spPr>
          <a:xfrm>
            <a:off x="658368" y="3036789"/>
            <a:ext cx="10874959" cy="457200"/>
          </a:xfrm>
          <a:prstGeom prst="rect">
            <a:avLst/>
          </a:prstGeom>
          <a:noFill/>
        </p:spPr>
        <p:txBody>
          <a:bodyPr wrap="square" lIns="0" tIns="0" rIns="0" bIns="0" anchor="t">
            <a:spAutoFit/>
          </a:bodyPr>
          <a:lstStyle/>
          <a:p>
            <a:pPr algn="l">
              <a:lnSpc>
                <a:spcPct val="118000"/>
              </a:lnSpc>
              <a:spcBef>
                <a:spcPts val="0"/>
              </a:spcBef>
              <a:spcAft>
                <a:spcPts val="0"/>
              </a:spcAft>
            </a:pPr>
            <a:r>
              <a:rPr sz="2300" b="0" i="0">
                <a:solidFill>
                  <a:srgbClr val="14181B"/>
                </a:solidFill>
                <a:latin typeface="Segoe UI"/>
              </a:rPr>
              <a:t>•   If the midpoint falls in a gap, fall back to the interval with the largest overlap</a:t>
            </a:r>
          </a:p>
        </p:txBody>
      </p:sp>
      <p:sp>
        <p:nvSpPr>
          <p:cNvPr id="8" name="TextBox 7"/>
          <p:cNvSpPr txBox="1"/>
          <p:nvPr/>
        </p:nvSpPr>
        <p:spPr>
          <a:xfrm>
            <a:off x="658368" y="3530565"/>
            <a:ext cx="10874959" cy="457200"/>
          </a:xfrm>
          <a:prstGeom prst="rect">
            <a:avLst/>
          </a:prstGeom>
          <a:noFill/>
        </p:spPr>
        <p:txBody>
          <a:bodyPr wrap="square" lIns="0" tIns="0" rIns="0" bIns="0" anchor="t">
            <a:spAutoFit/>
          </a:bodyPr>
          <a:lstStyle/>
          <a:p>
            <a:pPr algn="l">
              <a:lnSpc>
                <a:spcPct val="118000"/>
              </a:lnSpc>
              <a:spcBef>
                <a:spcPts val="0"/>
              </a:spcBef>
              <a:spcAft>
                <a:spcPts val="0"/>
              </a:spcAft>
            </a:pPr>
            <a:r>
              <a:rPr sz="2300" b="0" i="0">
                <a:solidFill>
                  <a:srgbClr val="14181B"/>
                </a:solidFill>
                <a:latin typeface="Segoe UI"/>
              </a:rPr>
              <a:t>•   If two speakers overlap in time, the one who started first keeps the word</a:t>
            </a:r>
          </a:p>
        </p:txBody>
      </p:sp>
      <p:sp>
        <p:nvSpPr>
          <p:cNvPr id="9" name="TextBox 8"/>
          <p:cNvSpPr txBox="1"/>
          <p:nvPr/>
        </p:nvSpPr>
        <p:spPr>
          <a:xfrm>
            <a:off x="658368" y="4024342"/>
            <a:ext cx="10874959" cy="457200"/>
          </a:xfrm>
          <a:prstGeom prst="rect">
            <a:avLst/>
          </a:prstGeom>
          <a:noFill/>
        </p:spPr>
        <p:txBody>
          <a:bodyPr wrap="square" lIns="0" tIns="0" rIns="0" bIns="0" anchor="t">
            <a:spAutoFit/>
          </a:bodyPr>
          <a:lstStyle/>
          <a:p>
            <a:pPr algn="l">
              <a:lnSpc>
                <a:spcPct val="118000"/>
              </a:lnSpc>
              <a:spcBef>
                <a:spcPts val="0"/>
              </a:spcBef>
              <a:spcAft>
                <a:spcPts val="0"/>
              </a:spcAft>
            </a:pPr>
            <a:r>
              <a:rPr sz="2300" b="0" i="0">
                <a:solidFill>
                  <a:srgbClr val="14181B"/>
                </a:solidFill>
                <a:latin typeface="Segoe UI"/>
              </a:rPr>
              <a:t>•   Consecutive words from one speaker are grouped into an utterance, the unit used downstream</a:t>
            </a:r>
          </a:p>
        </p:txBody>
      </p:sp>
      <p:sp>
        <p:nvSpPr>
          <p:cNvPr id="10" name="TextBox 9"/>
          <p:cNvSpPr txBox="1"/>
          <p:nvPr/>
        </p:nvSpPr>
        <p:spPr>
          <a:xfrm>
            <a:off x="665682" y="4865590"/>
            <a:ext cx="10874959" cy="365760"/>
          </a:xfrm>
          <a:prstGeom prst="rect">
            <a:avLst/>
          </a:prstGeom>
          <a:noFill/>
        </p:spPr>
        <p:txBody>
          <a:bodyPr wrap="square" lIns="0" tIns="0" rIns="0" bIns="0" anchor="t">
            <a:spAutoFit/>
          </a:bodyPr>
          <a:lstStyle/>
          <a:p>
            <a:pPr algn="l">
              <a:lnSpc>
                <a:spcPct val="118000"/>
              </a:lnSpc>
              <a:spcBef>
                <a:spcPts val="0"/>
              </a:spcBef>
              <a:spcAft>
                <a:spcPts val="0"/>
              </a:spcAft>
            </a:pPr>
            <a:r>
              <a:rPr lang="en-US" sz="2100" b="0" i="0" dirty="0">
                <a:solidFill>
                  <a:srgbClr val="3E4A4F"/>
                </a:solidFill>
                <a:latin typeface="Segoe UI"/>
              </a:rPr>
              <a:t>The midpoint is used rather than the word start because start timestamps drift at chunk boundaries and the midpoint is the more stable of the two.</a:t>
            </a:r>
          </a:p>
        </p:txBody>
      </p:sp>
      <p:sp>
        <p:nvSpPr>
          <p:cNvPr id="11" name="Rectangle 10"/>
          <p:cNvSpPr/>
          <p:nvPr/>
        </p:nvSpPr>
        <p:spPr>
          <a:xfrm>
            <a:off x="658368" y="5650992"/>
            <a:ext cx="10874959" cy="914400"/>
          </a:xfrm>
          <a:prstGeom prst="rect">
            <a:avLst/>
          </a:prstGeom>
          <a:solidFill>
            <a:srgbClr val="F8F9F7"/>
          </a:solidFill>
          <a:ln w="12700">
            <a:solidFill>
              <a:srgbClr val="C3CBC6"/>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2" name="TextBox 11"/>
          <p:cNvSpPr txBox="1"/>
          <p:nvPr/>
        </p:nvSpPr>
        <p:spPr>
          <a:xfrm>
            <a:off x="841247" y="5769864"/>
            <a:ext cx="5126583" cy="420624"/>
          </a:xfrm>
          <a:prstGeom prst="rect">
            <a:avLst/>
          </a:prstGeom>
          <a:noFill/>
        </p:spPr>
        <p:txBody>
          <a:bodyPr wrap="square" lIns="0" tIns="0" rIns="0" bIns="0" anchor="t">
            <a:spAutoFit/>
          </a:bodyPr>
          <a:lstStyle/>
          <a:p>
            <a:pPr algn="l">
              <a:lnSpc>
                <a:spcPct val="118000"/>
              </a:lnSpc>
              <a:spcBef>
                <a:spcPts val="0"/>
              </a:spcBef>
              <a:spcAft>
                <a:spcPts val="0"/>
              </a:spcAft>
            </a:pPr>
            <a:r>
              <a:rPr sz="3200" b="1" i="0">
                <a:solidFill>
                  <a:srgbClr val="14181B"/>
                </a:solidFill>
                <a:latin typeface="Segoe UI"/>
              </a:rPr>
              <a:t>3,532</a:t>
            </a:r>
          </a:p>
        </p:txBody>
      </p:sp>
      <p:sp>
        <p:nvSpPr>
          <p:cNvPr id="13" name="TextBox 12"/>
          <p:cNvSpPr txBox="1"/>
          <p:nvPr/>
        </p:nvSpPr>
        <p:spPr>
          <a:xfrm>
            <a:off x="841247" y="6217920"/>
            <a:ext cx="5163159" cy="292608"/>
          </a:xfrm>
          <a:prstGeom prst="rect">
            <a:avLst/>
          </a:prstGeom>
          <a:noFill/>
        </p:spPr>
        <p:txBody>
          <a:bodyPr wrap="square" lIns="0" tIns="0" rIns="0" bIns="0" anchor="t">
            <a:spAutoFit/>
          </a:bodyPr>
          <a:lstStyle/>
          <a:p>
            <a:pPr algn="l">
              <a:lnSpc>
                <a:spcPct val="118000"/>
              </a:lnSpc>
              <a:spcBef>
                <a:spcPts val="0"/>
              </a:spcBef>
              <a:spcAft>
                <a:spcPts val="0"/>
              </a:spcAft>
            </a:pPr>
            <a:r>
              <a:rPr sz="2100" b="0" i="0">
                <a:solidFill>
                  <a:srgbClr val="6B787D"/>
                </a:solidFill>
                <a:latin typeface="Consolas"/>
              </a:rPr>
              <a:t>UTTERANCES</a:t>
            </a:r>
          </a:p>
        </p:txBody>
      </p:sp>
      <p:sp>
        <p:nvSpPr>
          <p:cNvPr id="14" name="Rectangle 13"/>
          <p:cNvSpPr/>
          <p:nvPr/>
        </p:nvSpPr>
        <p:spPr>
          <a:xfrm>
            <a:off x="6095847" y="5742431"/>
            <a:ext cx="7315" cy="731520"/>
          </a:xfrm>
          <a:prstGeom prst="rect">
            <a:avLst/>
          </a:prstGeom>
          <a:solidFill>
            <a:srgbClr val="C3CBC6"/>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5" name="TextBox 14"/>
          <p:cNvSpPr txBox="1"/>
          <p:nvPr/>
        </p:nvSpPr>
        <p:spPr>
          <a:xfrm>
            <a:off x="6278727" y="5769864"/>
            <a:ext cx="5126583" cy="420624"/>
          </a:xfrm>
          <a:prstGeom prst="rect">
            <a:avLst/>
          </a:prstGeom>
          <a:noFill/>
        </p:spPr>
        <p:txBody>
          <a:bodyPr wrap="square" lIns="0" tIns="0" rIns="0" bIns="0" anchor="t">
            <a:spAutoFit/>
          </a:bodyPr>
          <a:lstStyle/>
          <a:p>
            <a:pPr algn="l">
              <a:lnSpc>
                <a:spcPct val="118000"/>
              </a:lnSpc>
              <a:spcBef>
                <a:spcPts val="0"/>
              </a:spcBef>
              <a:spcAft>
                <a:spcPts val="0"/>
              </a:spcAft>
            </a:pPr>
            <a:r>
              <a:rPr sz="3200" b="1" i="0">
                <a:solidFill>
                  <a:srgbClr val="14181B"/>
                </a:solidFill>
                <a:latin typeface="Segoe UI"/>
              </a:rPr>
              <a:t>85.1%</a:t>
            </a:r>
          </a:p>
        </p:txBody>
      </p:sp>
      <p:sp>
        <p:nvSpPr>
          <p:cNvPr id="16" name="TextBox 15"/>
          <p:cNvSpPr txBox="1"/>
          <p:nvPr/>
        </p:nvSpPr>
        <p:spPr>
          <a:xfrm>
            <a:off x="6278727" y="6217920"/>
            <a:ext cx="5163159" cy="292608"/>
          </a:xfrm>
          <a:prstGeom prst="rect">
            <a:avLst/>
          </a:prstGeom>
          <a:noFill/>
        </p:spPr>
        <p:txBody>
          <a:bodyPr wrap="square" lIns="0" tIns="0" rIns="0" bIns="0" anchor="t">
            <a:spAutoFit/>
          </a:bodyPr>
          <a:lstStyle/>
          <a:p>
            <a:pPr algn="l">
              <a:lnSpc>
                <a:spcPct val="118000"/>
              </a:lnSpc>
              <a:spcBef>
                <a:spcPts val="0"/>
              </a:spcBef>
              <a:spcAft>
                <a:spcPts val="0"/>
              </a:spcAft>
            </a:pPr>
            <a:r>
              <a:rPr sz="2100" b="0" i="0">
                <a:solidFill>
                  <a:srgbClr val="6B787D"/>
                </a:solidFill>
                <a:latin typeface="Consolas"/>
              </a:rPr>
              <a:t>WORDS ASSIGNED</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ECEEEB"/>
        </a:solidFill>
        <a:effectLst/>
      </p:bgPr>
    </p:bg>
    <p:spTree>
      <p:nvGrpSpPr>
        <p:cNvPr id="1" name=""/>
        <p:cNvGrpSpPr/>
        <p:nvPr/>
      </p:nvGrpSpPr>
      <p:grpSpPr>
        <a:xfrm>
          <a:off x="0" y="0"/>
          <a:ext cx="0" cy="0"/>
          <a:chOff x="0" y="0"/>
          <a:chExt cx="0" cy="0"/>
        </a:xfrm>
      </p:grpSpPr>
      <p:sp>
        <p:nvSpPr>
          <p:cNvPr id="2" name="TextBox 1"/>
          <p:cNvSpPr txBox="1"/>
          <p:nvPr/>
        </p:nvSpPr>
        <p:spPr>
          <a:xfrm>
            <a:off x="10618927" y="6309359"/>
            <a:ext cx="914400" cy="274320"/>
          </a:xfrm>
          <a:prstGeom prst="rect">
            <a:avLst/>
          </a:prstGeom>
          <a:noFill/>
        </p:spPr>
        <p:txBody>
          <a:bodyPr wrap="square" lIns="0" tIns="0" rIns="0" bIns="0" anchor="t">
            <a:spAutoFit/>
          </a:bodyPr>
          <a:lstStyle/>
          <a:p>
            <a:pPr algn="r">
              <a:lnSpc>
                <a:spcPct val="118000"/>
              </a:lnSpc>
              <a:spcBef>
                <a:spcPts val="0"/>
              </a:spcBef>
              <a:spcAft>
                <a:spcPts val="0"/>
              </a:spcAft>
            </a:pPr>
            <a:r>
              <a:rPr sz="2100" b="0" i="0">
                <a:solidFill>
                  <a:srgbClr val="6B787D"/>
                </a:solidFill>
                <a:latin typeface="Consolas"/>
              </a:rPr>
              <a:t>13</a:t>
            </a:r>
          </a:p>
        </p:txBody>
      </p:sp>
      <p:sp>
        <p:nvSpPr>
          <p:cNvPr id="3" name="TextBox 2"/>
          <p:cNvSpPr txBox="1"/>
          <p:nvPr/>
        </p:nvSpPr>
        <p:spPr>
          <a:xfrm>
            <a:off x="658368" y="420624"/>
            <a:ext cx="10874959" cy="310896"/>
          </a:xfrm>
          <a:prstGeom prst="rect">
            <a:avLst/>
          </a:prstGeom>
          <a:noFill/>
        </p:spPr>
        <p:txBody>
          <a:bodyPr wrap="square" lIns="0" tIns="0" rIns="0" bIns="0" anchor="t">
            <a:spAutoFit/>
          </a:bodyPr>
          <a:lstStyle/>
          <a:p>
            <a:pPr algn="l">
              <a:lnSpc>
                <a:spcPct val="118000"/>
              </a:lnSpc>
              <a:spcBef>
                <a:spcPts val="0"/>
              </a:spcBef>
              <a:spcAft>
                <a:spcPts val="0"/>
              </a:spcAft>
            </a:pPr>
            <a:r>
              <a:rPr sz="2100" b="1" i="0">
                <a:solidFill>
                  <a:srgbClr val="2E8FA3"/>
                </a:solidFill>
                <a:latin typeface="Consolas"/>
              </a:rPr>
              <a:t>08 / STAGE 5, TARGETS</a:t>
            </a:r>
          </a:p>
        </p:txBody>
      </p:sp>
      <p:sp>
        <p:nvSpPr>
          <p:cNvPr id="4" name="TextBox 3"/>
          <p:cNvSpPr txBox="1"/>
          <p:nvPr/>
        </p:nvSpPr>
        <p:spPr>
          <a:xfrm>
            <a:off x="658368" y="822960"/>
            <a:ext cx="10874959" cy="822960"/>
          </a:xfrm>
          <a:prstGeom prst="rect">
            <a:avLst/>
          </a:prstGeom>
          <a:noFill/>
        </p:spPr>
        <p:txBody>
          <a:bodyPr wrap="square" lIns="0" tIns="0" rIns="0" bIns="0" anchor="t">
            <a:spAutoFit/>
          </a:bodyPr>
          <a:lstStyle/>
          <a:p>
            <a:pPr algn="l">
              <a:lnSpc>
                <a:spcPct val="106000"/>
              </a:lnSpc>
              <a:spcBef>
                <a:spcPts val="0"/>
              </a:spcBef>
              <a:spcAft>
                <a:spcPts val="0"/>
              </a:spcAft>
            </a:pPr>
            <a:r>
              <a:rPr sz="3600" b="1" i="0">
                <a:solidFill>
                  <a:srgbClr val="14181B"/>
                </a:solidFill>
                <a:latin typeface="Segoe UI"/>
              </a:rPr>
              <a:t>Finding what a sentence is actually about</a:t>
            </a:r>
          </a:p>
        </p:txBody>
      </p:sp>
      <p:sp>
        <p:nvSpPr>
          <p:cNvPr id="5" name="TextBox 4"/>
          <p:cNvSpPr txBox="1"/>
          <p:nvPr/>
        </p:nvSpPr>
        <p:spPr>
          <a:xfrm>
            <a:off x="658368" y="1389888"/>
            <a:ext cx="10874959" cy="822960"/>
          </a:xfrm>
          <a:prstGeom prst="rect">
            <a:avLst/>
          </a:prstGeom>
          <a:noFill/>
        </p:spPr>
        <p:txBody>
          <a:bodyPr wrap="square" lIns="0" tIns="0" rIns="0" bIns="0" anchor="t">
            <a:spAutoFit/>
          </a:bodyPr>
          <a:lstStyle/>
          <a:p>
            <a:pPr algn="l">
              <a:lnSpc>
                <a:spcPct val="124000"/>
              </a:lnSpc>
              <a:spcBef>
                <a:spcPts val="0"/>
              </a:spcBef>
              <a:spcAft>
                <a:spcPts val="0"/>
              </a:spcAft>
            </a:pPr>
            <a:r>
              <a:rPr sz="2400" b="0" i="0">
                <a:solidFill>
                  <a:srgbClr val="3E4A4F"/>
                </a:solidFill>
                <a:latin typeface="Segoe UI"/>
              </a:rPr>
              <a:t>Bangla attaches case and definiteness as suffixes, so exact string matching sees six unrelated words where there is one target.</a:t>
            </a:r>
          </a:p>
        </p:txBody>
      </p:sp>
      <p:graphicFrame>
        <p:nvGraphicFramePr>
          <p:cNvPr id="6" name="Table 5"/>
          <p:cNvGraphicFramePr>
            <a:graphicFrameLocks noGrp="1"/>
          </p:cNvGraphicFramePr>
          <p:nvPr/>
        </p:nvGraphicFramePr>
        <p:xfrm>
          <a:off x="658368" y="2468879"/>
          <a:ext cx="5120638" cy="3145536"/>
        </p:xfrm>
        <a:graphic>
          <a:graphicData uri="http://schemas.openxmlformats.org/drawingml/2006/table">
            <a:tbl>
              <a:tblPr>
                <a:tableStyleId>{5C22544A-7EE6-4342-B048-85BDC9FD1C3A}</a:tableStyleId>
              </a:tblPr>
              <a:tblGrid>
                <a:gridCol w="3413759">
                  <a:extLst>
                    <a:ext uri="{9D8B030D-6E8A-4147-A177-3AD203B41FA5}">
                      <a16:colId xmlns:a16="http://schemas.microsoft.com/office/drawing/2014/main" val="20000"/>
                    </a:ext>
                  </a:extLst>
                </a:gridCol>
                <a:gridCol w="1706879">
                  <a:extLst>
                    <a:ext uri="{9D8B030D-6E8A-4147-A177-3AD203B41FA5}">
                      <a16:colId xmlns:a16="http://schemas.microsoft.com/office/drawing/2014/main" val="20001"/>
                    </a:ext>
                  </a:extLst>
                </a:gridCol>
              </a:tblGrid>
              <a:tr h="393192">
                <a:tc>
                  <a:txBody>
                    <a:bodyPr/>
                    <a:lstStyle/>
                    <a:p>
                      <a:pPr algn="l"/>
                      <a:r>
                        <a:rPr sz="2100" b="1" i="0">
                          <a:solidFill>
                            <a:srgbClr val="6B787D"/>
                          </a:solidFill>
                          <a:latin typeface="Consolas"/>
                        </a:rPr>
                        <a:t>Surface form</a:t>
                      </a:r>
                    </a:p>
                  </a:txBody>
                  <a:tcPr marL="100584" marR="100584" marT="27432" marB="27432" anchor="ctr">
                    <a:solidFill>
                      <a:srgbClr val="E0E5E1"/>
                    </a:solidFill>
                  </a:tcPr>
                </a:tc>
                <a:tc>
                  <a:txBody>
                    <a:bodyPr/>
                    <a:lstStyle/>
                    <a:p>
                      <a:pPr algn="r"/>
                      <a:r>
                        <a:rPr sz="2100" b="1" i="0">
                          <a:solidFill>
                            <a:srgbClr val="6B787D"/>
                          </a:solidFill>
                          <a:latin typeface="Consolas"/>
                        </a:rPr>
                        <a:t>Count</a:t>
                      </a:r>
                    </a:p>
                  </a:txBody>
                  <a:tcPr marL="100584" marR="100584" marT="27432" marB="27432" anchor="ctr">
                    <a:solidFill>
                      <a:srgbClr val="E0E5E1"/>
                    </a:solidFill>
                  </a:tcPr>
                </a:tc>
                <a:extLst>
                  <a:ext uri="{0D108BD9-81ED-4DB2-BD59-A6C34878D82A}">
                    <a16:rowId xmlns:a16="http://schemas.microsoft.com/office/drawing/2014/main" val="10000"/>
                  </a:ext>
                </a:extLst>
              </a:tr>
              <a:tr h="393192">
                <a:tc>
                  <a:txBody>
                    <a:bodyPr/>
                    <a:lstStyle/>
                    <a:p>
                      <a:pPr algn="l"/>
                      <a:r>
                        <a:rPr sz="2100" b="0" i="0">
                          <a:solidFill>
                            <a:srgbClr val="14181B"/>
                          </a:solidFill>
                          <a:latin typeface="Nirmala UI"/>
                        </a:rPr>
                        <a:t>ব্যাংক</a:t>
                      </a:r>
                    </a:p>
                  </a:txBody>
                  <a:tcPr marL="100584" marR="100584" marT="27432" marB="27432" anchor="ctr">
                    <a:solidFill>
                      <a:srgbClr val="F8F9F7"/>
                    </a:solidFill>
                  </a:tcPr>
                </a:tc>
                <a:tc>
                  <a:txBody>
                    <a:bodyPr/>
                    <a:lstStyle/>
                    <a:p>
                      <a:pPr algn="r"/>
                      <a:r>
                        <a:rPr sz="2100" b="0" i="0">
                          <a:solidFill>
                            <a:srgbClr val="14181B"/>
                          </a:solidFill>
                          <a:latin typeface="Consolas"/>
                        </a:rPr>
                        <a:t>164</a:t>
                      </a:r>
                    </a:p>
                  </a:txBody>
                  <a:tcPr marL="100584" marR="100584" marT="27432" marB="27432" anchor="ctr">
                    <a:solidFill>
                      <a:srgbClr val="F8F9F7"/>
                    </a:solidFill>
                  </a:tcPr>
                </a:tc>
                <a:extLst>
                  <a:ext uri="{0D108BD9-81ED-4DB2-BD59-A6C34878D82A}">
                    <a16:rowId xmlns:a16="http://schemas.microsoft.com/office/drawing/2014/main" val="10001"/>
                  </a:ext>
                </a:extLst>
              </a:tr>
              <a:tr h="393192">
                <a:tc>
                  <a:txBody>
                    <a:bodyPr/>
                    <a:lstStyle/>
                    <a:p>
                      <a:pPr algn="l"/>
                      <a:r>
                        <a:rPr sz="2100" b="0" i="0">
                          <a:solidFill>
                            <a:srgbClr val="14181B"/>
                          </a:solidFill>
                          <a:latin typeface="Nirmala UI"/>
                        </a:rPr>
                        <a:t>ব্যাংকের</a:t>
                      </a:r>
                    </a:p>
                  </a:txBody>
                  <a:tcPr marL="100584" marR="100584" marT="27432" marB="27432" anchor="ctr">
                    <a:solidFill>
                      <a:srgbClr val="F8F9F7"/>
                    </a:solidFill>
                  </a:tcPr>
                </a:tc>
                <a:tc>
                  <a:txBody>
                    <a:bodyPr/>
                    <a:lstStyle/>
                    <a:p>
                      <a:pPr algn="r"/>
                      <a:r>
                        <a:rPr sz="2100" b="0" i="0">
                          <a:solidFill>
                            <a:srgbClr val="14181B"/>
                          </a:solidFill>
                          <a:latin typeface="Consolas"/>
                        </a:rPr>
                        <a:t>139</a:t>
                      </a:r>
                    </a:p>
                  </a:txBody>
                  <a:tcPr marL="100584" marR="100584" marT="27432" marB="27432" anchor="ctr">
                    <a:solidFill>
                      <a:srgbClr val="F8F9F7"/>
                    </a:solidFill>
                  </a:tcPr>
                </a:tc>
                <a:extLst>
                  <a:ext uri="{0D108BD9-81ED-4DB2-BD59-A6C34878D82A}">
                    <a16:rowId xmlns:a16="http://schemas.microsoft.com/office/drawing/2014/main" val="10002"/>
                  </a:ext>
                </a:extLst>
              </a:tr>
              <a:tr h="393192">
                <a:tc>
                  <a:txBody>
                    <a:bodyPr/>
                    <a:lstStyle/>
                    <a:p>
                      <a:pPr algn="l"/>
                      <a:r>
                        <a:rPr sz="2100" b="0" i="0">
                          <a:solidFill>
                            <a:srgbClr val="14181B"/>
                          </a:solidFill>
                          <a:latin typeface="Nirmala UI"/>
                        </a:rPr>
                        <a:t>ব্যাংকিং</a:t>
                      </a:r>
                    </a:p>
                  </a:txBody>
                  <a:tcPr marL="100584" marR="100584" marT="27432" marB="27432" anchor="ctr">
                    <a:solidFill>
                      <a:srgbClr val="F8F9F7"/>
                    </a:solidFill>
                  </a:tcPr>
                </a:tc>
                <a:tc>
                  <a:txBody>
                    <a:bodyPr/>
                    <a:lstStyle/>
                    <a:p>
                      <a:pPr algn="r"/>
                      <a:r>
                        <a:rPr sz="2100" b="0" i="0">
                          <a:solidFill>
                            <a:srgbClr val="14181B"/>
                          </a:solidFill>
                          <a:latin typeface="Consolas"/>
                        </a:rPr>
                        <a:t>99</a:t>
                      </a:r>
                    </a:p>
                  </a:txBody>
                  <a:tcPr marL="100584" marR="100584" marT="27432" marB="27432" anchor="ctr">
                    <a:solidFill>
                      <a:srgbClr val="F8F9F7"/>
                    </a:solidFill>
                  </a:tcPr>
                </a:tc>
                <a:extLst>
                  <a:ext uri="{0D108BD9-81ED-4DB2-BD59-A6C34878D82A}">
                    <a16:rowId xmlns:a16="http://schemas.microsoft.com/office/drawing/2014/main" val="10003"/>
                  </a:ext>
                </a:extLst>
              </a:tr>
              <a:tr h="393192">
                <a:tc>
                  <a:txBody>
                    <a:bodyPr/>
                    <a:lstStyle/>
                    <a:p>
                      <a:pPr algn="l"/>
                      <a:r>
                        <a:rPr sz="2100" b="0" i="0">
                          <a:solidFill>
                            <a:srgbClr val="14181B"/>
                          </a:solidFill>
                          <a:latin typeface="Nirmala UI"/>
                        </a:rPr>
                        <a:t>ব্যাংকে</a:t>
                      </a:r>
                    </a:p>
                  </a:txBody>
                  <a:tcPr marL="100584" marR="100584" marT="27432" marB="27432" anchor="ctr">
                    <a:solidFill>
                      <a:srgbClr val="F8F9F7"/>
                    </a:solidFill>
                  </a:tcPr>
                </a:tc>
                <a:tc>
                  <a:txBody>
                    <a:bodyPr/>
                    <a:lstStyle/>
                    <a:p>
                      <a:pPr algn="r"/>
                      <a:r>
                        <a:rPr sz="2100" b="0" i="0">
                          <a:solidFill>
                            <a:srgbClr val="14181B"/>
                          </a:solidFill>
                          <a:latin typeface="Consolas"/>
                        </a:rPr>
                        <a:t>50</a:t>
                      </a:r>
                    </a:p>
                  </a:txBody>
                  <a:tcPr marL="100584" marR="100584" marT="27432" marB="27432" anchor="ctr">
                    <a:solidFill>
                      <a:srgbClr val="F8F9F7"/>
                    </a:solidFill>
                  </a:tcPr>
                </a:tc>
                <a:extLst>
                  <a:ext uri="{0D108BD9-81ED-4DB2-BD59-A6C34878D82A}">
                    <a16:rowId xmlns:a16="http://schemas.microsoft.com/office/drawing/2014/main" val="10004"/>
                  </a:ext>
                </a:extLst>
              </a:tr>
              <a:tr h="393192">
                <a:tc>
                  <a:txBody>
                    <a:bodyPr/>
                    <a:lstStyle/>
                    <a:p>
                      <a:pPr algn="l"/>
                      <a:r>
                        <a:rPr sz="2100" b="0" i="0">
                          <a:solidFill>
                            <a:srgbClr val="14181B"/>
                          </a:solidFill>
                          <a:latin typeface="Nirmala UI"/>
                        </a:rPr>
                        <a:t>ব্যাংকগুলো</a:t>
                      </a:r>
                    </a:p>
                  </a:txBody>
                  <a:tcPr marL="100584" marR="100584" marT="27432" marB="27432" anchor="ctr">
                    <a:solidFill>
                      <a:srgbClr val="F8F9F7"/>
                    </a:solidFill>
                  </a:tcPr>
                </a:tc>
                <a:tc>
                  <a:txBody>
                    <a:bodyPr/>
                    <a:lstStyle/>
                    <a:p>
                      <a:pPr algn="r"/>
                      <a:r>
                        <a:rPr sz="2100" b="0" i="0">
                          <a:solidFill>
                            <a:srgbClr val="14181B"/>
                          </a:solidFill>
                          <a:latin typeface="Consolas"/>
                        </a:rPr>
                        <a:t>10</a:t>
                      </a:r>
                    </a:p>
                  </a:txBody>
                  <a:tcPr marL="100584" marR="100584" marT="27432" marB="27432" anchor="ctr">
                    <a:solidFill>
                      <a:srgbClr val="F8F9F7"/>
                    </a:solidFill>
                  </a:tcPr>
                </a:tc>
                <a:extLst>
                  <a:ext uri="{0D108BD9-81ED-4DB2-BD59-A6C34878D82A}">
                    <a16:rowId xmlns:a16="http://schemas.microsoft.com/office/drawing/2014/main" val="10005"/>
                  </a:ext>
                </a:extLst>
              </a:tr>
              <a:tr h="393192">
                <a:tc>
                  <a:txBody>
                    <a:bodyPr/>
                    <a:lstStyle/>
                    <a:p>
                      <a:pPr algn="l"/>
                      <a:r>
                        <a:rPr sz="2100" b="0" i="0">
                          <a:solidFill>
                            <a:srgbClr val="14181B"/>
                          </a:solidFill>
                          <a:latin typeface="Nirmala UI"/>
                        </a:rPr>
                        <a:t>ব্যাংকগুলোর</a:t>
                      </a:r>
                    </a:p>
                  </a:txBody>
                  <a:tcPr marL="100584" marR="100584" marT="27432" marB="27432" anchor="ctr">
                    <a:solidFill>
                      <a:srgbClr val="F8F9F7"/>
                    </a:solidFill>
                  </a:tcPr>
                </a:tc>
                <a:tc>
                  <a:txBody>
                    <a:bodyPr/>
                    <a:lstStyle/>
                    <a:p>
                      <a:pPr algn="r"/>
                      <a:r>
                        <a:rPr sz="2100" b="0" i="0">
                          <a:solidFill>
                            <a:srgbClr val="14181B"/>
                          </a:solidFill>
                          <a:latin typeface="Consolas"/>
                        </a:rPr>
                        <a:t>10</a:t>
                      </a:r>
                    </a:p>
                  </a:txBody>
                  <a:tcPr marL="100584" marR="100584" marT="27432" marB="27432" anchor="ctr">
                    <a:solidFill>
                      <a:srgbClr val="F8F9F7"/>
                    </a:solidFill>
                  </a:tcPr>
                </a:tc>
                <a:extLst>
                  <a:ext uri="{0D108BD9-81ED-4DB2-BD59-A6C34878D82A}">
                    <a16:rowId xmlns:a16="http://schemas.microsoft.com/office/drawing/2014/main" val="10006"/>
                  </a:ext>
                </a:extLst>
              </a:tr>
              <a:tr h="393192">
                <a:tc>
                  <a:txBody>
                    <a:bodyPr/>
                    <a:lstStyle/>
                    <a:p>
                      <a:pPr algn="l"/>
                      <a:r>
                        <a:rPr sz="2100" b="1" i="0">
                          <a:solidFill>
                            <a:srgbClr val="14181B"/>
                          </a:solidFill>
                          <a:latin typeface="Segoe UI"/>
                        </a:rPr>
                        <a:t>one stem covers</a:t>
                      </a:r>
                    </a:p>
                  </a:txBody>
                  <a:tcPr marL="100584" marR="100584" marT="27432" marB="27432" anchor="ctr">
                    <a:solidFill>
                      <a:srgbClr val="E0E5E1"/>
                    </a:solidFill>
                  </a:tcPr>
                </a:tc>
                <a:tc>
                  <a:txBody>
                    <a:bodyPr/>
                    <a:lstStyle/>
                    <a:p>
                      <a:pPr algn="r"/>
                      <a:r>
                        <a:rPr sz="2100" b="1" i="0">
                          <a:solidFill>
                            <a:srgbClr val="14181B"/>
                          </a:solidFill>
                          <a:latin typeface="Consolas"/>
                        </a:rPr>
                        <a:t>555</a:t>
                      </a:r>
                    </a:p>
                  </a:txBody>
                  <a:tcPr marL="100584" marR="100584" marT="27432" marB="27432" anchor="ctr">
                    <a:solidFill>
                      <a:srgbClr val="E0E5E1"/>
                    </a:solidFill>
                  </a:tcPr>
                </a:tc>
                <a:extLst>
                  <a:ext uri="{0D108BD9-81ED-4DB2-BD59-A6C34878D82A}">
                    <a16:rowId xmlns:a16="http://schemas.microsoft.com/office/drawing/2014/main" val="10007"/>
                  </a:ext>
                </a:extLst>
              </a:tr>
            </a:tbl>
          </a:graphicData>
        </a:graphic>
      </p:graphicFrame>
      <p:sp>
        <p:nvSpPr>
          <p:cNvPr id="7" name="TextBox 6"/>
          <p:cNvSpPr txBox="1"/>
          <p:nvPr/>
        </p:nvSpPr>
        <p:spPr>
          <a:xfrm>
            <a:off x="6144768" y="2468879"/>
            <a:ext cx="5388559" cy="365760"/>
          </a:xfrm>
          <a:prstGeom prst="rect">
            <a:avLst/>
          </a:prstGeom>
          <a:noFill/>
        </p:spPr>
        <p:txBody>
          <a:bodyPr wrap="square" lIns="0" tIns="0" rIns="0" bIns="0" anchor="t">
            <a:spAutoFit/>
          </a:bodyPr>
          <a:lstStyle/>
          <a:p>
            <a:pPr algn="l">
              <a:lnSpc>
                <a:spcPct val="118000"/>
              </a:lnSpc>
              <a:spcBef>
                <a:spcPts val="0"/>
              </a:spcBef>
              <a:spcAft>
                <a:spcPts val="0"/>
              </a:spcAft>
            </a:pPr>
            <a:r>
              <a:rPr sz="2200" b="0" i="0">
                <a:solidFill>
                  <a:srgbClr val="3E4A4F"/>
                </a:solidFill>
                <a:latin typeface="Segoe UI"/>
              </a:rPr>
              <a:t>A prefix rule is blunt, so each entry carries an exclusion list.</a:t>
            </a:r>
          </a:p>
        </p:txBody>
      </p:sp>
      <p:graphicFrame>
        <p:nvGraphicFramePr>
          <p:cNvPr id="8" name="Table 7"/>
          <p:cNvGraphicFramePr>
            <a:graphicFrameLocks noGrp="1"/>
          </p:cNvGraphicFramePr>
          <p:nvPr>
            <p:extLst>
              <p:ext uri="{D42A27DB-BD31-4B8C-83A1-F6EECF244321}">
                <p14:modId xmlns:p14="http://schemas.microsoft.com/office/powerpoint/2010/main" val="3161598376"/>
              </p:ext>
            </p:extLst>
          </p:nvPr>
        </p:nvGraphicFramePr>
        <p:xfrm>
          <a:off x="6144768" y="3376168"/>
          <a:ext cx="5388557" cy="2331720"/>
        </p:xfrm>
        <a:graphic>
          <a:graphicData uri="http://schemas.openxmlformats.org/drawingml/2006/table">
            <a:tbl>
              <a:tblPr>
                <a:tableStyleId>{5C22544A-7EE6-4342-B048-85BDC9FD1C3A}</a:tableStyleId>
              </a:tblPr>
              <a:tblGrid>
                <a:gridCol w="1347139">
                  <a:extLst>
                    <a:ext uri="{9D8B030D-6E8A-4147-A177-3AD203B41FA5}">
                      <a16:colId xmlns:a16="http://schemas.microsoft.com/office/drawing/2014/main" val="20000"/>
                    </a:ext>
                  </a:extLst>
                </a:gridCol>
                <a:gridCol w="1751281">
                  <a:extLst>
                    <a:ext uri="{9D8B030D-6E8A-4147-A177-3AD203B41FA5}">
                      <a16:colId xmlns:a16="http://schemas.microsoft.com/office/drawing/2014/main" val="20001"/>
                    </a:ext>
                  </a:extLst>
                </a:gridCol>
                <a:gridCol w="2290137">
                  <a:extLst>
                    <a:ext uri="{9D8B030D-6E8A-4147-A177-3AD203B41FA5}">
                      <a16:colId xmlns:a16="http://schemas.microsoft.com/office/drawing/2014/main" val="20002"/>
                    </a:ext>
                  </a:extLst>
                </a:gridCol>
              </a:tblGrid>
              <a:tr h="0">
                <a:tc>
                  <a:txBody>
                    <a:bodyPr/>
                    <a:lstStyle/>
                    <a:p>
                      <a:pPr algn="l"/>
                      <a:r>
                        <a:rPr sz="2100" b="1" i="0">
                          <a:solidFill>
                            <a:srgbClr val="6B787D"/>
                          </a:solidFill>
                          <a:latin typeface="Consolas"/>
                        </a:rPr>
                        <a:t>Stem</a:t>
                      </a:r>
                    </a:p>
                  </a:txBody>
                  <a:tcPr marL="100584" marR="100584" marT="27432" marB="27432" anchor="ctr">
                    <a:solidFill>
                      <a:srgbClr val="E0E5E1"/>
                    </a:solidFill>
                  </a:tcPr>
                </a:tc>
                <a:tc>
                  <a:txBody>
                    <a:bodyPr/>
                    <a:lstStyle/>
                    <a:p>
                      <a:pPr algn="l"/>
                      <a:r>
                        <a:rPr sz="2100" b="1" i="0">
                          <a:solidFill>
                            <a:srgbClr val="6B787D"/>
                          </a:solidFill>
                          <a:latin typeface="Consolas"/>
                        </a:rPr>
                        <a:t>Blocked</a:t>
                      </a:r>
                    </a:p>
                  </a:txBody>
                  <a:tcPr marL="100584" marR="100584" marT="27432" marB="27432" anchor="ctr">
                    <a:solidFill>
                      <a:srgbClr val="E0E5E1"/>
                    </a:solidFill>
                  </a:tcPr>
                </a:tc>
                <a:tc>
                  <a:txBody>
                    <a:bodyPr/>
                    <a:lstStyle/>
                    <a:p>
                      <a:pPr algn="l"/>
                      <a:r>
                        <a:rPr sz="2100" b="1" i="0">
                          <a:solidFill>
                            <a:srgbClr val="6B787D"/>
                          </a:solidFill>
                          <a:latin typeface="Consolas"/>
                        </a:rPr>
                        <a:t>Reason</a:t>
                      </a:r>
                    </a:p>
                  </a:txBody>
                  <a:tcPr marL="100584" marR="100584" marT="27432" marB="27432" anchor="ctr">
                    <a:solidFill>
                      <a:srgbClr val="E0E5E1"/>
                    </a:solidFill>
                  </a:tcPr>
                </a:tc>
                <a:extLst>
                  <a:ext uri="{0D108BD9-81ED-4DB2-BD59-A6C34878D82A}">
                    <a16:rowId xmlns:a16="http://schemas.microsoft.com/office/drawing/2014/main" val="10000"/>
                  </a:ext>
                </a:extLst>
              </a:tr>
              <a:tr h="420624">
                <a:tc>
                  <a:txBody>
                    <a:bodyPr/>
                    <a:lstStyle/>
                    <a:p>
                      <a:pPr algn="l"/>
                      <a:r>
                        <a:rPr sz="2100" b="0" i="0">
                          <a:solidFill>
                            <a:srgbClr val="14181B"/>
                          </a:solidFill>
                          <a:latin typeface="Nirmala UI"/>
                        </a:rPr>
                        <a:t>সুদ</a:t>
                      </a:r>
                    </a:p>
                  </a:txBody>
                  <a:tcPr marL="100584" marR="100584" marT="27432" marB="27432" anchor="ctr">
                    <a:solidFill>
                      <a:srgbClr val="F8F9F7"/>
                    </a:solidFill>
                  </a:tcPr>
                </a:tc>
                <a:tc>
                  <a:txBody>
                    <a:bodyPr/>
                    <a:lstStyle/>
                    <a:p>
                      <a:pPr algn="l"/>
                      <a:r>
                        <a:rPr sz="2100" b="0" i="0">
                          <a:solidFill>
                            <a:srgbClr val="14181B"/>
                          </a:solidFill>
                          <a:latin typeface="Nirmala UI"/>
                        </a:rPr>
                        <a:t>সুদান</a:t>
                      </a:r>
                    </a:p>
                  </a:txBody>
                  <a:tcPr marL="100584" marR="100584" marT="27432" marB="27432" anchor="ctr">
                    <a:solidFill>
                      <a:srgbClr val="F8F9F7"/>
                    </a:solidFill>
                  </a:tcPr>
                </a:tc>
                <a:tc>
                  <a:txBody>
                    <a:bodyPr/>
                    <a:lstStyle/>
                    <a:p>
                      <a:pPr algn="l"/>
                      <a:r>
                        <a:rPr sz="2100" b="0" i="0">
                          <a:solidFill>
                            <a:srgbClr val="14181B"/>
                          </a:solidFill>
                          <a:latin typeface="Segoe UI"/>
                        </a:rPr>
                        <a:t>interest vs Sudan</a:t>
                      </a:r>
                    </a:p>
                  </a:txBody>
                  <a:tcPr marL="100584" marR="100584" marT="27432" marB="27432" anchor="ctr">
                    <a:solidFill>
                      <a:srgbClr val="F8F9F7"/>
                    </a:solidFill>
                  </a:tcPr>
                </a:tc>
                <a:extLst>
                  <a:ext uri="{0D108BD9-81ED-4DB2-BD59-A6C34878D82A}">
                    <a16:rowId xmlns:a16="http://schemas.microsoft.com/office/drawing/2014/main" val="10001"/>
                  </a:ext>
                </a:extLst>
              </a:tr>
              <a:tr h="420624">
                <a:tc>
                  <a:txBody>
                    <a:bodyPr/>
                    <a:lstStyle/>
                    <a:p>
                      <a:pPr algn="l"/>
                      <a:r>
                        <a:rPr sz="2100" b="0" i="0">
                          <a:solidFill>
                            <a:srgbClr val="14181B"/>
                          </a:solidFill>
                          <a:latin typeface="Nirmala UI"/>
                        </a:rPr>
                        <a:t>ভালো</a:t>
                      </a:r>
                    </a:p>
                  </a:txBody>
                  <a:tcPr marL="100584" marR="100584" marT="27432" marB="27432" anchor="ctr">
                    <a:solidFill>
                      <a:srgbClr val="F8F9F7"/>
                    </a:solidFill>
                  </a:tcPr>
                </a:tc>
                <a:tc>
                  <a:txBody>
                    <a:bodyPr/>
                    <a:lstStyle/>
                    <a:p>
                      <a:pPr algn="l"/>
                      <a:r>
                        <a:rPr sz="2100" b="0" i="0">
                          <a:solidFill>
                            <a:srgbClr val="14181B"/>
                          </a:solidFill>
                          <a:latin typeface="Nirmala UI"/>
                        </a:rPr>
                        <a:t>ভালোবাসা</a:t>
                      </a:r>
                    </a:p>
                  </a:txBody>
                  <a:tcPr marL="100584" marR="100584" marT="27432" marB="27432" anchor="ctr">
                    <a:solidFill>
                      <a:srgbClr val="F8F9F7"/>
                    </a:solidFill>
                  </a:tcPr>
                </a:tc>
                <a:tc>
                  <a:txBody>
                    <a:bodyPr/>
                    <a:lstStyle/>
                    <a:p>
                      <a:pPr algn="l"/>
                      <a:r>
                        <a:rPr sz="2100" b="0" i="0">
                          <a:solidFill>
                            <a:srgbClr val="14181B"/>
                          </a:solidFill>
                          <a:latin typeface="Segoe UI"/>
                        </a:rPr>
                        <a:t>good vs love</a:t>
                      </a:r>
                    </a:p>
                  </a:txBody>
                  <a:tcPr marL="100584" marR="100584" marT="27432" marB="27432" anchor="ctr">
                    <a:solidFill>
                      <a:srgbClr val="F8F9F7"/>
                    </a:solidFill>
                  </a:tcPr>
                </a:tc>
                <a:extLst>
                  <a:ext uri="{0D108BD9-81ED-4DB2-BD59-A6C34878D82A}">
                    <a16:rowId xmlns:a16="http://schemas.microsoft.com/office/drawing/2014/main" val="10002"/>
                  </a:ext>
                </a:extLst>
              </a:tr>
              <a:tr h="420624">
                <a:tc>
                  <a:txBody>
                    <a:bodyPr/>
                    <a:lstStyle/>
                    <a:p>
                      <a:pPr algn="l"/>
                      <a:r>
                        <a:rPr sz="2100" b="0" i="0">
                          <a:solidFill>
                            <a:srgbClr val="14181B"/>
                          </a:solidFill>
                          <a:latin typeface="Nirmala UI"/>
                        </a:rPr>
                        <a:t>সুবিধা</a:t>
                      </a:r>
                    </a:p>
                  </a:txBody>
                  <a:tcPr marL="100584" marR="100584" marT="27432" marB="27432" anchor="ctr">
                    <a:solidFill>
                      <a:srgbClr val="F8F9F7"/>
                    </a:solidFill>
                  </a:tcPr>
                </a:tc>
                <a:tc>
                  <a:txBody>
                    <a:bodyPr/>
                    <a:lstStyle/>
                    <a:p>
                      <a:pPr algn="l"/>
                      <a:r>
                        <a:rPr sz="2100" b="0" i="0">
                          <a:solidFill>
                            <a:srgbClr val="14181B"/>
                          </a:solidFill>
                          <a:latin typeface="Nirmala UI"/>
                        </a:rPr>
                        <a:t>অসুবিধা</a:t>
                      </a:r>
                    </a:p>
                  </a:txBody>
                  <a:tcPr marL="100584" marR="100584" marT="27432" marB="27432" anchor="ctr">
                    <a:solidFill>
                      <a:srgbClr val="F8F9F7"/>
                    </a:solidFill>
                  </a:tcPr>
                </a:tc>
                <a:tc>
                  <a:txBody>
                    <a:bodyPr/>
                    <a:lstStyle/>
                    <a:p>
                      <a:pPr algn="l"/>
                      <a:r>
                        <a:rPr sz="2100" b="0" i="0">
                          <a:solidFill>
                            <a:srgbClr val="14181B"/>
                          </a:solidFill>
                          <a:latin typeface="Segoe UI"/>
                        </a:rPr>
                        <a:t>benefit vs drawback</a:t>
                      </a:r>
                    </a:p>
                  </a:txBody>
                  <a:tcPr marL="100584" marR="100584" marT="27432" marB="27432" anchor="ctr">
                    <a:solidFill>
                      <a:srgbClr val="F8F9F7"/>
                    </a:solidFill>
                  </a:tcPr>
                </a:tc>
                <a:extLst>
                  <a:ext uri="{0D108BD9-81ED-4DB2-BD59-A6C34878D82A}">
                    <a16:rowId xmlns:a16="http://schemas.microsoft.com/office/drawing/2014/main" val="10003"/>
                  </a:ext>
                </a:extLst>
              </a:tr>
              <a:tr h="420624">
                <a:tc>
                  <a:txBody>
                    <a:bodyPr/>
                    <a:lstStyle/>
                    <a:p>
                      <a:pPr algn="l"/>
                      <a:r>
                        <a:rPr sz="2100" b="0" i="0">
                          <a:solidFill>
                            <a:srgbClr val="14181B"/>
                          </a:solidFill>
                          <a:latin typeface="Nirmala UI"/>
                        </a:rPr>
                        <a:t>ঋণ</a:t>
                      </a:r>
                    </a:p>
                  </a:txBody>
                  <a:tcPr marL="100584" marR="100584" marT="27432" marB="27432" anchor="ctr">
                    <a:solidFill>
                      <a:srgbClr val="F8F9F7"/>
                    </a:solidFill>
                  </a:tcPr>
                </a:tc>
                <a:tc>
                  <a:txBody>
                    <a:bodyPr/>
                    <a:lstStyle/>
                    <a:p>
                      <a:pPr algn="l"/>
                      <a:r>
                        <a:rPr sz="2100" b="0" i="0">
                          <a:solidFill>
                            <a:srgbClr val="14181B"/>
                          </a:solidFill>
                          <a:latin typeface="Nirmala UI"/>
                        </a:rPr>
                        <a:t>ঋণখেলাপি</a:t>
                      </a:r>
                    </a:p>
                  </a:txBody>
                  <a:tcPr marL="100584" marR="100584" marT="27432" marB="27432" anchor="ctr">
                    <a:solidFill>
                      <a:srgbClr val="F8F9F7"/>
                    </a:solidFill>
                  </a:tcPr>
                </a:tc>
                <a:tc>
                  <a:txBody>
                    <a:bodyPr/>
                    <a:lstStyle/>
                    <a:p>
                      <a:pPr algn="l"/>
                      <a:r>
                        <a:rPr sz="2100" b="0" i="0" dirty="0">
                          <a:solidFill>
                            <a:srgbClr val="14181B"/>
                          </a:solidFill>
                          <a:latin typeface="Segoe UI"/>
                        </a:rPr>
                        <a:t>credit vs default</a:t>
                      </a:r>
                    </a:p>
                  </a:txBody>
                  <a:tcPr marL="100584" marR="100584" marT="27432" marB="27432" anchor="ctr">
                    <a:solidFill>
                      <a:srgbClr val="F8F9F7"/>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ECEEEB"/>
        </a:solidFill>
        <a:effectLst/>
      </p:bgPr>
    </p:bg>
    <p:spTree>
      <p:nvGrpSpPr>
        <p:cNvPr id="1" name=""/>
        <p:cNvGrpSpPr/>
        <p:nvPr/>
      </p:nvGrpSpPr>
      <p:grpSpPr>
        <a:xfrm>
          <a:off x="0" y="0"/>
          <a:ext cx="0" cy="0"/>
          <a:chOff x="0" y="0"/>
          <a:chExt cx="0" cy="0"/>
        </a:xfrm>
      </p:grpSpPr>
      <p:sp>
        <p:nvSpPr>
          <p:cNvPr id="2" name="TextBox 1"/>
          <p:cNvSpPr txBox="1"/>
          <p:nvPr/>
        </p:nvSpPr>
        <p:spPr>
          <a:xfrm>
            <a:off x="10618927" y="6309359"/>
            <a:ext cx="914400" cy="274320"/>
          </a:xfrm>
          <a:prstGeom prst="rect">
            <a:avLst/>
          </a:prstGeom>
          <a:noFill/>
        </p:spPr>
        <p:txBody>
          <a:bodyPr wrap="square" lIns="0" tIns="0" rIns="0" bIns="0" anchor="t">
            <a:spAutoFit/>
          </a:bodyPr>
          <a:lstStyle/>
          <a:p>
            <a:pPr algn="r">
              <a:lnSpc>
                <a:spcPct val="118000"/>
              </a:lnSpc>
              <a:spcBef>
                <a:spcPts val="0"/>
              </a:spcBef>
              <a:spcAft>
                <a:spcPts val="0"/>
              </a:spcAft>
            </a:pPr>
            <a:r>
              <a:rPr sz="2100" b="0" i="0">
                <a:solidFill>
                  <a:srgbClr val="6B787D"/>
                </a:solidFill>
                <a:latin typeface="Consolas"/>
              </a:rPr>
              <a:t>14</a:t>
            </a:r>
          </a:p>
        </p:txBody>
      </p:sp>
      <p:sp>
        <p:nvSpPr>
          <p:cNvPr id="3" name="TextBox 2"/>
          <p:cNvSpPr txBox="1"/>
          <p:nvPr/>
        </p:nvSpPr>
        <p:spPr>
          <a:xfrm>
            <a:off x="658368" y="420624"/>
            <a:ext cx="10874959" cy="310896"/>
          </a:xfrm>
          <a:prstGeom prst="rect">
            <a:avLst/>
          </a:prstGeom>
          <a:noFill/>
        </p:spPr>
        <p:txBody>
          <a:bodyPr wrap="square" lIns="0" tIns="0" rIns="0" bIns="0" anchor="t">
            <a:spAutoFit/>
          </a:bodyPr>
          <a:lstStyle/>
          <a:p>
            <a:pPr algn="l">
              <a:lnSpc>
                <a:spcPct val="118000"/>
              </a:lnSpc>
              <a:spcBef>
                <a:spcPts val="0"/>
              </a:spcBef>
              <a:spcAft>
                <a:spcPts val="0"/>
              </a:spcAft>
            </a:pPr>
            <a:r>
              <a:rPr sz="2100" b="1" i="0">
                <a:solidFill>
                  <a:srgbClr val="2E8FA3"/>
                </a:solidFill>
                <a:latin typeface="Consolas"/>
              </a:rPr>
              <a:t>08 / STAGE 5, TARGETS</a:t>
            </a:r>
          </a:p>
        </p:txBody>
      </p:sp>
      <p:sp>
        <p:nvSpPr>
          <p:cNvPr id="4" name="TextBox 3"/>
          <p:cNvSpPr txBox="1"/>
          <p:nvPr/>
        </p:nvSpPr>
        <p:spPr>
          <a:xfrm>
            <a:off x="658368" y="822960"/>
            <a:ext cx="10874959" cy="822960"/>
          </a:xfrm>
          <a:prstGeom prst="rect">
            <a:avLst/>
          </a:prstGeom>
          <a:noFill/>
        </p:spPr>
        <p:txBody>
          <a:bodyPr wrap="square" lIns="0" tIns="0" rIns="0" bIns="0" anchor="t">
            <a:spAutoFit/>
          </a:bodyPr>
          <a:lstStyle/>
          <a:p>
            <a:pPr algn="l">
              <a:lnSpc>
                <a:spcPct val="106000"/>
              </a:lnSpc>
              <a:spcBef>
                <a:spcPts val="0"/>
              </a:spcBef>
              <a:spcAft>
                <a:spcPts val="0"/>
              </a:spcAft>
            </a:pPr>
            <a:r>
              <a:rPr sz="3600" b="1" i="0">
                <a:solidFill>
                  <a:srgbClr val="14181B"/>
                </a:solidFill>
                <a:latin typeface="Segoe UI"/>
              </a:rPr>
              <a:t>Target lexicon coverage</a:t>
            </a:r>
          </a:p>
        </p:txBody>
      </p:sp>
      <p:sp>
        <p:nvSpPr>
          <p:cNvPr id="5" name="Rectangle 4"/>
          <p:cNvSpPr/>
          <p:nvPr/>
        </p:nvSpPr>
        <p:spPr>
          <a:xfrm>
            <a:off x="658368" y="1664208"/>
            <a:ext cx="10874959" cy="1078992"/>
          </a:xfrm>
          <a:prstGeom prst="rect">
            <a:avLst/>
          </a:prstGeom>
          <a:solidFill>
            <a:srgbClr val="F8F9F7"/>
          </a:solidFill>
          <a:ln w="12700">
            <a:solidFill>
              <a:srgbClr val="C3CBC6"/>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6" name="TextBox 5"/>
          <p:cNvSpPr txBox="1"/>
          <p:nvPr/>
        </p:nvSpPr>
        <p:spPr>
          <a:xfrm>
            <a:off x="841247" y="1783080"/>
            <a:ext cx="3314090" cy="420624"/>
          </a:xfrm>
          <a:prstGeom prst="rect">
            <a:avLst/>
          </a:prstGeom>
          <a:noFill/>
        </p:spPr>
        <p:txBody>
          <a:bodyPr wrap="square" lIns="0" tIns="0" rIns="0" bIns="0" anchor="t">
            <a:spAutoFit/>
          </a:bodyPr>
          <a:lstStyle/>
          <a:p>
            <a:pPr algn="l">
              <a:lnSpc>
                <a:spcPct val="118000"/>
              </a:lnSpc>
              <a:spcBef>
                <a:spcPts val="0"/>
              </a:spcBef>
              <a:spcAft>
                <a:spcPts val="0"/>
              </a:spcAft>
            </a:pPr>
            <a:r>
              <a:rPr sz="3200" b="1" i="0">
                <a:solidFill>
                  <a:srgbClr val="14181B"/>
                </a:solidFill>
                <a:latin typeface="Segoe UI"/>
              </a:rPr>
              <a:t>52</a:t>
            </a:r>
          </a:p>
        </p:txBody>
      </p:sp>
      <p:sp>
        <p:nvSpPr>
          <p:cNvPr id="7" name="TextBox 6"/>
          <p:cNvSpPr txBox="1"/>
          <p:nvPr/>
        </p:nvSpPr>
        <p:spPr>
          <a:xfrm>
            <a:off x="841247" y="2231136"/>
            <a:ext cx="3350666" cy="292608"/>
          </a:xfrm>
          <a:prstGeom prst="rect">
            <a:avLst/>
          </a:prstGeom>
          <a:noFill/>
        </p:spPr>
        <p:txBody>
          <a:bodyPr wrap="square" lIns="0" tIns="0" rIns="0" bIns="0" anchor="t">
            <a:spAutoFit/>
          </a:bodyPr>
          <a:lstStyle/>
          <a:p>
            <a:pPr algn="l">
              <a:lnSpc>
                <a:spcPct val="118000"/>
              </a:lnSpc>
              <a:spcBef>
                <a:spcPts val="0"/>
              </a:spcBef>
              <a:spcAft>
                <a:spcPts val="0"/>
              </a:spcAft>
            </a:pPr>
            <a:r>
              <a:rPr sz="2100" b="0" i="0">
                <a:solidFill>
                  <a:srgbClr val="6B787D"/>
                </a:solidFill>
                <a:latin typeface="Consolas"/>
              </a:rPr>
              <a:t>TARGETS</a:t>
            </a:r>
          </a:p>
        </p:txBody>
      </p:sp>
      <p:sp>
        <p:nvSpPr>
          <p:cNvPr id="8" name="Rectangle 7"/>
          <p:cNvSpPr/>
          <p:nvPr/>
        </p:nvSpPr>
        <p:spPr>
          <a:xfrm>
            <a:off x="4283354" y="1755648"/>
            <a:ext cx="7315" cy="896112"/>
          </a:xfrm>
          <a:prstGeom prst="rect">
            <a:avLst/>
          </a:prstGeom>
          <a:solidFill>
            <a:srgbClr val="C3CBC6"/>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 name="TextBox 8"/>
          <p:cNvSpPr txBox="1"/>
          <p:nvPr/>
        </p:nvSpPr>
        <p:spPr>
          <a:xfrm>
            <a:off x="4466234" y="1783080"/>
            <a:ext cx="3314090" cy="420624"/>
          </a:xfrm>
          <a:prstGeom prst="rect">
            <a:avLst/>
          </a:prstGeom>
          <a:noFill/>
        </p:spPr>
        <p:txBody>
          <a:bodyPr wrap="square" lIns="0" tIns="0" rIns="0" bIns="0" anchor="t">
            <a:spAutoFit/>
          </a:bodyPr>
          <a:lstStyle/>
          <a:p>
            <a:pPr algn="l">
              <a:lnSpc>
                <a:spcPct val="118000"/>
              </a:lnSpc>
              <a:spcBef>
                <a:spcPts val="0"/>
              </a:spcBef>
              <a:spcAft>
                <a:spcPts val="0"/>
              </a:spcAft>
            </a:pPr>
            <a:r>
              <a:rPr sz="3200" b="1" i="0">
                <a:solidFill>
                  <a:srgbClr val="14181B"/>
                </a:solidFill>
                <a:latin typeface="Segoe UI"/>
              </a:rPr>
              <a:t>3,109</a:t>
            </a:r>
          </a:p>
        </p:txBody>
      </p:sp>
      <p:sp>
        <p:nvSpPr>
          <p:cNvPr id="10" name="TextBox 9"/>
          <p:cNvSpPr txBox="1"/>
          <p:nvPr/>
        </p:nvSpPr>
        <p:spPr>
          <a:xfrm>
            <a:off x="4466234" y="2231136"/>
            <a:ext cx="3350666" cy="292608"/>
          </a:xfrm>
          <a:prstGeom prst="rect">
            <a:avLst/>
          </a:prstGeom>
          <a:noFill/>
        </p:spPr>
        <p:txBody>
          <a:bodyPr wrap="square" lIns="0" tIns="0" rIns="0" bIns="0" anchor="t">
            <a:spAutoFit/>
          </a:bodyPr>
          <a:lstStyle/>
          <a:p>
            <a:pPr algn="l">
              <a:lnSpc>
                <a:spcPct val="118000"/>
              </a:lnSpc>
              <a:spcBef>
                <a:spcPts val="0"/>
              </a:spcBef>
              <a:spcAft>
                <a:spcPts val="0"/>
              </a:spcAft>
            </a:pPr>
            <a:r>
              <a:rPr sz="2100" b="0" i="0">
                <a:solidFill>
                  <a:srgbClr val="6B787D"/>
                </a:solidFill>
                <a:latin typeface="Consolas"/>
              </a:rPr>
              <a:t>TARGET PAIRS</a:t>
            </a:r>
          </a:p>
        </p:txBody>
      </p:sp>
      <p:sp>
        <p:nvSpPr>
          <p:cNvPr id="11" name="Rectangle 10"/>
          <p:cNvSpPr/>
          <p:nvPr/>
        </p:nvSpPr>
        <p:spPr>
          <a:xfrm>
            <a:off x="7908340" y="1755648"/>
            <a:ext cx="7315" cy="896112"/>
          </a:xfrm>
          <a:prstGeom prst="rect">
            <a:avLst/>
          </a:prstGeom>
          <a:solidFill>
            <a:srgbClr val="C3CBC6"/>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2" name="TextBox 11"/>
          <p:cNvSpPr txBox="1"/>
          <p:nvPr/>
        </p:nvSpPr>
        <p:spPr>
          <a:xfrm>
            <a:off x="8091220" y="1783080"/>
            <a:ext cx="3314090" cy="420624"/>
          </a:xfrm>
          <a:prstGeom prst="rect">
            <a:avLst/>
          </a:prstGeom>
          <a:noFill/>
        </p:spPr>
        <p:txBody>
          <a:bodyPr wrap="square" lIns="0" tIns="0" rIns="0" bIns="0" anchor="t">
            <a:spAutoFit/>
          </a:bodyPr>
          <a:lstStyle/>
          <a:p>
            <a:pPr algn="l">
              <a:lnSpc>
                <a:spcPct val="118000"/>
              </a:lnSpc>
              <a:spcBef>
                <a:spcPts val="0"/>
              </a:spcBef>
              <a:spcAft>
                <a:spcPts val="0"/>
              </a:spcAft>
            </a:pPr>
            <a:r>
              <a:rPr sz="3200" b="1" i="0">
                <a:solidFill>
                  <a:srgbClr val="14181B"/>
                </a:solidFill>
                <a:latin typeface="Segoe UI"/>
              </a:rPr>
              <a:t>48</a:t>
            </a:r>
          </a:p>
        </p:txBody>
      </p:sp>
      <p:sp>
        <p:nvSpPr>
          <p:cNvPr id="13" name="TextBox 12"/>
          <p:cNvSpPr txBox="1"/>
          <p:nvPr/>
        </p:nvSpPr>
        <p:spPr>
          <a:xfrm>
            <a:off x="8091220" y="2231136"/>
            <a:ext cx="3350666" cy="292608"/>
          </a:xfrm>
          <a:prstGeom prst="rect">
            <a:avLst/>
          </a:prstGeom>
          <a:noFill/>
        </p:spPr>
        <p:txBody>
          <a:bodyPr wrap="square" lIns="0" tIns="0" rIns="0" bIns="0" anchor="t">
            <a:spAutoFit/>
          </a:bodyPr>
          <a:lstStyle/>
          <a:p>
            <a:pPr algn="l">
              <a:lnSpc>
                <a:spcPct val="118000"/>
              </a:lnSpc>
              <a:spcBef>
                <a:spcPts val="0"/>
              </a:spcBef>
              <a:spcAft>
                <a:spcPts val="0"/>
              </a:spcAft>
            </a:pPr>
            <a:r>
              <a:rPr sz="2100" b="0" i="0">
                <a:solidFill>
                  <a:srgbClr val="6B787D"/>
                </a:solidFill>
                <a:latin typeface="Consolas"/>
              </a:rPr>
              <a:t>SEEN IN CORPUS</a:t>
            </a:r>
          </a:p>
        </p:txBody>
      </p:sp>
      <p:graphicFrame>
        <p:nvGraphicFramePr>
          <p:cNvPr id="14" name="Table 13"/>
          <p:cNvGraphicFramePr>
            <a:graphicFrameLocks noGrp="1"/>
          </p:cNvGraphicFramePr>
          <p:nvPr/>
        </p:nvGraphicFramePr>
        <p:xfrm>
          <a:off x="658368" y="2980944"/>
          <a:ext cx="10874957" cy="2194560"/>
        </p:xfrm>
        <a:graphic>
          <a:graphicData uri="http://schemas.openxmlformats.org/drawingml/2006/table">
            <a:tbl>
              <a:tblPr>
                <a:tableStyleId>{5C22544A-7EE6-4342-B048-85BDC9FD1C3A}</a:tableStyleId>
              </a:tblPr>
              <a:tblGrid>
                <a:gridCol w="3411751">
                  <a:extLst>
                    <a:ext uri="{9D8B030D-6E8A-4147-A177-3AD203B41FA5}">
                      <a16:colId xmlns:a16="http://schemas.microsoft.com/office/drawing/2014/main" val="20000"/>
                    </a:ext>
                  </a:extLst>
                </a:gridCol>
                <a:gridCol w="1919110">
                  <a:extLst>
                    <a:ext uri="{9D8B030D-6E8A-4147-A177-3AD203B41FA5}">
                      <a16:colId xmlns:a16="http://schemas.microsoft.com/office/drawing/2014/main" val="20001"/>
                    </a:ext>
                  </a:extLst>
                </a:gridCol>
                <a:gridCol w="5544096">
                  <a:extLst>
                    <a:ext uri="{9D8B030D-6E8A-4147-A177-3AD203B41FA5}">
                      <a16:colId xmlns:a16="http://schemas.microsoft.com/office/drawing/2014/main" val="20002"/>
                    </a:ext>
                  </a:extLst>
                </a:gridCol>
              </a:tblGrid>
              <a:tr h="438912">
                <a:tc>
                  <a:txBody>
                    <a:bodyPr/>
                    <a:lstStyle/>
                    <a:p>
                      <a:pPr algn="l"/>
                      <a:r>
                        <a:rPr sz="2100" b="1" i="0">
                          <a:solidFill>
                            <a:srgbClr val="6B787D"/>
                          </a:solidFill>
                          <a:latin typeface="Consolas"/>
                        </a:rPr>
                        <a:t>Target type</a:t>
                      </a:r>
                    </a:p>
                  </a:txBody>
                  <a:tcPr marL="100584" marR="100584" marT="27432" marB="27432" anchor="ctr">
                    <a:solidFill>
                      <a:srgbClr val="E0E5E1"/>
                    </a:solidFill>
                  </a:tcPr>
                </a:tc>
                <a:tc>
                  <a:txBody>
                    <a:bodyPr/>
                    <a:lstStyle/>
                    <a:p>
                      <a:pPr algn="r"/>
                      <a:r>
                        <a:rPr sz="2100" b="1" i="0">
                          <a:solidFill>
                            <a:srgbClr val="6B787D"/>
                          </a:solidFill>
                          <a:latin typeface="Consolas"/>
                        </a:rPr>
                        <a:t>Pairs</a:t>
                      </a:r>
                    </a:p>
                  </a:txBody>
                  <a:tcPr marL="100584" marR="100584" marT="27432" marB="27432" anchor="ctr">
                    <a:solidFill>
                      <a:srgbClr val="E0E5E1"/>
                    </a:solidFill>
                  </a:tcPr>
                </a:tc>
                <a:tc>
                  <a:txBody>
                    <a:bodyPr/>
                    <a:lstStyle/>
                    <a:p>
                      <a:pPr algn="l"/>
                      <a:r>
                        <a:rPr sz="2100" b="1" i="0">
                          <a:solidFill>
                            <a:srgbClr val="6B787D"/>
                          </a:solidFill>
                          <a:latin typeface="Consolas"/>
                        </a:rPr>
                        <a:t>Examples</a:t>
                      </a:r>
                    </a:p>
                  </a:txBody>
                  <a:tcPr marL="100584" marR="100584" marT="27432" marB="27432" anchor="ctr">
                    <a:solidFill>
                      <a:srgbClr val="E0E5E1"/>
                    </a:solidFill>
                  </a:tcPr>
                </a:tc>
                <a:extLst>
                  <a:ext uri="{0D108BD9-81ED-4DB2-BD59-A6C34878D82A}">
                    <a16:rowId xmlns:a16="http://schemas.microsoft.com/office/drawing/2014/main" val="10000"/>
                  </a:ext>
                </a:extLst>
              </a:tr>
              <a:tr h="438912">
                <a:tc>
                  <a:txBody>
                    <a:bodyPr/>
                    <a:lstStyle/>
                    <a:p>
                      <a:pPr algn="l"/>
                      <a:r>
                        <a:rPr sz="2100" b="0" i="0">
                          <a:solidFill>
                            <a:srgbClr val="14181B"/>
                          </a:solidFill>
                          <a:latin typeface="Segoe UI"/>
                        </a:rPr>
                        <a:t>MACRO_INDICATOR</a:t>
                      </a:r>
                    </a:p>
                  </a:txBody>
                  <a:tcPr marL="100584" marR="100584" marT="27432" marB="27432" anchor="ctr">
                    <a:solidFill>
                      <a:srgbClr val="F8F9F7"/>
                    </a:solidFill>
                  </a:tcPr>
                </a:tc>
                <a:tc>
                  <a:txBody>
                    <a:bodyPr/>
                    <a:lstStyle/>
                    <a:p>
                      <a:pPr algn="r"/>
                      <a:r>
                        <a:rPr sz="2100" b="0" i="0">
                          <a:solidFill>
                            <a:srgbClr val="14181B"/>
                          </a:solidFill>
                          <a:latin typeface="Consolas"/>
                        </a:rPr>
                        <a:t>1,121</a:t>
                      </a:r>
                    </a:p>
                  </a:txBody>
                  <a:tcPr marL="100584" marR="100584" marT="27432" marB="27432" anchor="ctr">
                    <a:solidFill>
                      <a:srgbClr val="F8F9F7"/>
                    </a:solidFill>
                  </a:tcPr>
                </a:tc>
                <a:tc>
                  <a:txBody>
                    <a:bodyPr/>
                    <a:lstStyle/>
                    <a:p>
                      <a:pPr algn="l"/>
                      <a:r>
                        <a:rPr sz="2100" b="0" i="0">
                          <a:solidFill>
                            <a:srgbClr val="14181B"/>
                          </a:solidFill>
                          <a:latin typeface="Nirmala UI"/>
                        </a:rPr>
                        <a:t>মূল্যস্ফীতি</a:t>
                      </a:r>
                      <a:r>
                        <a:rPr sz="2100" b="0" i="0">
                          <a:solidFill>
                            <a:srgbClr val="14181B"/>
                          </a:solidFill>
                          <a:latin typeface="Segoe UI"/>
                        </a:rPr>
                        <a:t>, </a:t>
                      </a:r>
                      <a:r>
                        <a:rPr sz="2100" b="0" i="0">
                          <a:solidFill>
                            <a:srgbClr val="14181B"/>
                          </a:solidFill>
                          <a:latin typeface="Nirmala UI"/>
                        </a:rPr>
                        <a:t>রিজার্ভ</a:t>
                      </a:r>
                      <a:r>
                        <a:rPr sz="2100" b="0" i="0">
                          <a:solidFill>
                            <a:srgbClr val="14181B"/>
                          </a:solidFill>
                          <a:latin typeface="Segoe UI"/>
                        </a:rPr>
                        <a:t>, </a:t>
                      </a:r>
                      <a:r>
                        <a:rPr sz="2100" b="0" i="0">
                          <a:solidFill>
                            <a:srgbClr val="14181B"/>
                          </a:solidFill>
                          <a:latin typeface="Nirmala UI"/>
                        </a:rPr>
                        <a:t>বিনিয়োগ</a:t>
                      </a:r>
                    </a:p>
                  </a:txBody>
                  <a:tcPr marL="100584" marR="100584" marT="27432" marB="27432" anchor="ctr">
                    <a:solidFill>
                      <a:srgbClr val="F8F9F7"/>
                    </a:solidFill>
                  </a:tcPr>
                </a:tc>
                <a:extLst>
                  <a:ext uri="{0D108BD9-81ED-4DB2-BD59-A6C34878D82A}">
                    <a16:rowId xmlns:a16="http://schemas.microsoft.com/office/drawing/2014/main" val="10001"/>
                  </a:ext>
                </a:extLst>
              </a:tr>
              <a:tr h="438912">
                <a:tc>
                  <a:txBody>
                    <a:bodyPr/>
                    <a:lstStyle/>
                    <a:p>
                      <a:pPr algn="l"/>
                      <a:r>
                        <a:rPr sz="2100" b="0" i="0">
                          <a:solidFill>
                            <a:srgbClr val="14181B"/>
                          </a:solidFill>
                          <a:latin typeface="Segoe UI"/>
                        </a:rPr>
                        <a:t>REGULATOR</a:t>
                      </a:r>
                    </a:p>
                  </a:txBody>
                  <a:tcPr marL="100584" marR="100584" marT="27432" marB="27432" anchor="ctr">
                    <a:solidFill>
                      <a:srgbClr val="F8F9F7"/>
                    </a:solidFill>
                  </a:tcPr>
                </a:tc>
                <a:tc>
                  <a:txBody>
                    <a:bodyPr/>
                    <a:lstStyle/>
                    <a:p>
                      <a:pPr algn="r"/>
                      <a:r>
                        <a:rPr sz="2100" b="0" i="0">
                          <a:solidFill>
                            <a:srgbClr val="14181B"/>
                          </a:solidFill>
                          <a:latin typeface="Consolas"/>
                        </a:rPr>
                        <a:t>980</a:t>
                      </a:r>
                    </a:p>
                  </a:txBody>
                  <a:tcPr marL="100584" marR="100584" marT="27432" marB="27432" anchor="ctr">
                    <a:solidFill>
                      <a:srgbClr val="F8F9F7"/>
                    </a:solidFill>
                  </a:tcPr>
                </a:tc>
                <a:tc>
                  <a:txBody>
                    <a:bodyPr/>
                    <a:lstStyle/>
                    <a:p>
                      <a:pPr algn="l"/>
                      <a:r>
                        <a:rPr sz="2100" b="0" i="0">
                          <a:solidFill>
                            <a:srgbClr val="14181B"/>
                          </a:solidFill>
                          <a:latin typeface="Nirmala UI"/>
                        </a:rPr>
                        <a:t>বাংলাদেশ ব্যাংক</a:t>
                      </a:r>
                      <a:r>
                        <a:rPr sz="2100" b="0" i="0">
                          <a:solidFill>
                            <a:srgbClr val="14181B"/>
                          </a:solidFill>
                          <a:latin typeface="Segoe UI"/>
                        </a:rPr>
                        <a:t>, </a:t>
                      </a:r>
                      <a:r>
                        <a:rPr sz="2100" b="0" i="0">
                          <a:solidFill>
                            <a:srgbClr val="14181B"/>
                          </a:solidFill>
                          <a:latin typeface="Nirmala UI"/>
                        </a:rPr>
                        <a:t>বাজেট</a:t>
                      </a:r>
                    </a:p>
                  </a:txBody>
                  <a:tcPr marL="100584" marR="100584" marT="27432" marB="27432" anchor="ctr">
                    <a:solidFill>
                      <a:srgbClr val="F8F9F7"/>
                    </a:solidFill>
                  </a:tcPr>
                </a:tc>
                <a:extLst>
                  <a:ext uri="{0D108BD9-81ED-4DB2-BD59-A6C34878D82A}">
                    <a16:rowId xmlns:a16="http://schemas.microsoft.com/office/drawing/2014/main" val="10002"/>
                  </a:ext>
                </a:extLst>
              </a:tr>
              <a:tr h="438912">
                <a:tc>
                  <a:txBody>
                    <a:bodyPr/>
                    <a:lstStyle/>
                    <a:p>
                      <a:pPr algn="l"/>
                      <a:r>
                        <a:rPr sz="2100" b="0" i="0">
                          <a:solidFill>
                            <a:srgbClr val="14181B"/>
                          </a:solidFill>
                          <a:latin typeface="Segoe UI"/>
                        </a:rPr>
                        <a:t>SECTOR</a:t>
                      </a:r>
                    </a:p>
                  </a:txBody>
                  <a:tcPr marL="100584" marR="100584" marT="27432" marB="27432" anchor="ctr">
                    <a:solidFill>
                      <a:srgbClr val="F8F9F7"/>
                    </a:solidFill>
                  </a:tcPr>
                </a:tc>
                <a:tc>
                  <a:txBody>
                    <a:bodyPr/>
                    <a:lstStyle/>
                    <a:p>
                      <a:pPr algn="r"/>
                      <a:r>
                        <a:rPr sz="2100" b="0" i="0">
                          <a:solidFill>
                            <a:srgbClr val="14181B"/>
                          </a:solidFill>
                          <a:latin typeface="Consolas"/>
                        </a:rPr>
                        <a:t>901</a:t>
                      </a:r>
                    </a:p>
                  </a:txBody>
                  <a:tcPr marL="100584" marR="100584" marT="27432" marB="27432" anchor="ctr">
                    <a:solidFill>
                      <a:srgbClr val="F8F9F7"/>
                    </a:solidFill>
                  </a:tcPr>
                </a:tc>
                <a:tc>
                  <a:txBody>
                    <a:bodyPr/>
                    <a:lstStyle/>
                    <a:p>
                      <a:pPr algn="l"/>
                      <a:r>
                        <a:rPr sz="2100" b="0" i="0">
                          <a:solidFill>
                            <a:srgbClr val="14181B"/>
                          </a:solidFill>
                          <a:latin typeface="Nirmala UI"/>
                        </a:rPr>
                        <a:t>গ্যাস</a:t>
                      </a:r>
                      <a:r>
                        <a:rPr sz="2100" b="0" i="0">
                          <a:solidFill>
                            <a:srgbClr val="14181B"/>
                          </a:solidFill>
                          <a:latin typeface="Segoe UI"/>
                        </a:rPr>
                        <a:t>, </a:t>
                      </a:r>
                      <a:r>
                        <a:rPr sz="2100" b="0" i="0">
                          <a:solidFill>
                            <a:srgbClr val="14181B"/>
                          </a:solidFill>
                          <a:latin typeface="Nirmala UI"/>
                        </a:rPr>
                        <a:t>কৃষি</a:t>
                      </a:r>
                      <a:r>
                        <a:rPr sz="2100" b="0" i="0">
                          <a:solidFill>
                            <a:srgbClr val="14181B"/>
                          </a:solidFill>
                          <a:latin typeface="Segoe UI"/>
                        </a:rPr>
                        <a:t>, </a:t>
                      </a:r>
                      <a:r>
                        <a:rPr sz="2100" b="0" i="0">
                          <a:solidFill>
                            <a:srgbClr val="14181B"/>
                          </a:solidFill>
                          <a:latin typeface="Nirmala UI"/>
                        </a:rPr>
                        <a:t>শিল্প</a:t>
                      </a:r>
                    </a:p>
                  </a:txBody>
                  <a:tcPr marL="100584" marR="100584" marT="27432" marB="27432" anchor="ctr">
                    <a:solidFill>
                      <a:srgbClr val="F8F9F7"/>
                    </a:solidFill>
                  </a:tcPr>
                </a:tc>
                <a:extLst>
                  <a:ext uri="{0D108BD9-81ED-4DB2-BD59-A6C34878D82A}">
                    <a16:rowId xmlns:a16="http://schemas.microsoft.com/office/drawing/2014/main" val="10003"/>
                  </a:ext>
                </a:extLst>
              </a:tr>
              <a:tr h="438912">
                <a:tc>
                  <a:txBody>
                    <a:bodyPr/>
                    <a:lstStyle/>
                    <a:p>
                      <a:pPr algn="l"/>
                      <a:r>
                        <a:rPr sz="2100" b="0" i="0">
                          <a:solidFill>
                            <a:srgbClr val="14181B"/>
                          </a:solidFill>
                          <a:latin typeface="Segoe UI"/>
                        </a:rPr>
                        <a:t>MARKET</a:t>
                      </a:r>
                    </a:p>
                  </a:txBody>
                  <a:tcPr marL="100584" marR="100584" marT="27432" marB="27432" anchor="ctr">
                    <a:solidFill>
                      <a:srgbClr val="F8F9F7"/>
                    </a:solidFill>
                  </a:tcPr>
                </a:tc>
                <a:tc>
                  <a:txBody>
                    <a:bodyPr/>
                    <a:lstStyle/>
                    <a:p>
                      <a:pPr algn="r"/>
                      <a:r>
                        <a:rPr sz="2100" b="0" i="0">
                          <a:solidFill>
                            <a:srgbClr val="14181B"/>
                          </a:solidFill>
                          <a:latin typeface="Consolas"/>
                        </a:rPr>
                        <a:t>107</a:t>
                      </a:r>
                    </a:p>
                  </a:txBody>
                  <a:tcPr marL="100584" marR="100584" marT="27432" marB="27432" anchor="ctr">
                    <a:solidFill>
                      <a:srgbClr val="F8F9F7"/>
                    </a:solidFill>
                  </a:tcPr>
                </a:tc>
                <a:tc>
                  <a:txBody>
                    <a:bodyPr/>
                    <a:lstStyle/>
                    <a:p>
                      <a:pPr algn="l"/>
                      <a:r>
                        <a:rPr sz="2100" b="0" i="0">
                          <a:solidFill>
                            <a:srgbClr val="14181B"/>
                          </a:solidFill>
                          <a:latin typeface="Nirmala UI"/>
                        </a:rPr>
                        <a:t>শেয়ারবাজার</a:t>
                      </a:r>
                      <a:r>
                        <a:rPr sz="2100" b="0" i="0">
                          <a:solidFill>
                            <a:srgbClr val="14181B"/>
                          </a:solidFill>
                          <a:latin typeface="Segoe UI"/>
                        </a:rPr>
                        <a:t>, </a:t>
                      </a:r>
                      <a:r>
                        <a:rPr sz="2100" b="0" i="0">
                          <a:solidFill>
                            <a:srgbClr val="14181B"/>
                          </a:solidFill>
                          <a:latin typeface="Nirmala UI"/>
                        </a:rPr>
                        <a:t>পুঁজিবাজার</a:t>
                      </a:r>
                    </a:p>
                  </a:txBody>
                  <a:tcPr marL="100584" marR="100584" marT="27432" marB="27432" anchor="ctr">
                    <a:solidFill>
                      <a:srgbClr val="F8F9F7"/>
                    </a:solidFill>
                  </a:tcPr>
                </a:tc>
                <a:extLst>
                  <a:ext uri="{0D108BD9-81ED-4DB2-BD59-A6C34878D82A}">
                    <a16:rowId xmlns:a16="http://schemas.microsoft.com/office/drawing/2014/main" val="10004"/>
                  </a:ext>
                </a:extLst>
              </a:tr>
            </a:tbl>
          </a:graphicData>
        </a:graphic>
      </p:graphicFrame>
      <p:sp>
        <p:nvSpPr>
          <p:cNvPr id="15" name="Rectangle 14"/>
          <p:cNvSpPr/>
          <p:nvPr/>
        </p:nvSpPr>
        <p:spPr>
          <a:xfrm>
            <a:off x="658368" y="5486400"/>
            <a:ext cx="10874959" cy="1042415"/>
          </a:xfrm>
          <a:prstGeom prst="rect">
            <a:avLst/>
          </a:prstGeom>
          <a:solidFill>
            <a:srgbClr val="F8F9F7"/>
          </a:solidFill>
          <a:ln w="12700">
            <a:solidFill>
              <a:srgbClr val="C3CBC6"/>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6" name="Rectangle 15"/>
          <p:cNvSpPr/>
          <p:nvPr/>
        </p:nvSpPr>
        <p:spPr>
          <a:xfrm>
            <a:off x="658368" y="5486400"/>
            <a:ext cx="50292" cy="1042415"/>
          </a:xfrm>
          <a:prstGeom prst="rect">
            <a:avLst/>
          </a:prstGeom>
          <a:solidFill>
            <a:srgbClr val="1D4E5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7" name="TextBox 16"/>
          <p:cNvSpPr txBox="1"/>
          <p:nvPr/>
        </p:nvSpPr>
        <p:spPr>
          <a:xfrm>
            <a:off x="932688" y="5669280"/>
            <a:ext cx="10372039" cy="676655"/>
          </a:xfrm>
          <a:prstGeom prst="rect">
            <a:avLst/>
          </a:prstGeom>
          <a:noFill/>
        </p:spPr>
        <p:txBody>
          <a:bodyPr wrap="square" lIns="0" tIns="0" rIns="0" bIns="0" anchor="t">
            <a:spAutoFit/>
          </a:bodyPr>
          <a:lstStyle/>
          <a:p>
            <a:pPr algn="l">
              <a:lnSpc>
                <a:spcPct val="120000"/>
              </a:lnSpc>
              <a:spcBef>
                <a:spcPts val="0"/>
              </a:spcBef>
              <a:spcAft>
                <a:spcPts val="0"/>
              </a:spcAft>
            </a:pPr>
            <a:r>
              <a:rPr sz="2200" b="0" i="0">
                <a:solidFill>
                  <a:srgbClr val="3E4A4F"/>
                </a:solidFill>
                <a:latin typeface="Segoe UI"/>
              </a:rPr>
              <a:t>One utterance produces one row per distinct target it mentions, so a sentence naming both inflation and reserves is scored twice, once for each.</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ECEEEB"/>
        </a:solidFill>
        <a:effectLst/>
      </p:bgPr>
    </p:bg>
    <p:spTree>
      <p:nvGrpSpPr>
        <p:cNvPr id="1" name=""/>
        <p:cNvGrpSpPr/>
        <p:nvPr/>
      </p:nvGrpSpPr>
      <p:grpSpPr>
        <a:xfrm>
          <a:off x="0" y="0"/>
          <a:ext cx="0" cy="0"/>
          <a:chOff x="0" y="0"/>
          <a:chExt cx="0" cy="0"/>
        </a:xfrm>
      </p:grpSpPr>
      <p:sp>
        <p:nvSpPr>
          <p:cNvPr id="2" name="TextBox 1"/>
          <p:cNvSpPr txBox="1"/>
          <p:nvPr/>
        </p:nvSpPr>
        <p:spPr>
          <a:xfrm>
            <a:off x="10618927" y="6309359"/>
            <a:ext cx="914400" cy="274320"/>
          </a:xfrm>
          <a:prstGeom prst="rect">
            <a:avLst/>
          </a:prstGeom>
          <a:noFill/>
        </p:spPr>
        <p:txBody>
          <a:bodyPr wrap="square" lIns="0" tIns="0" rIns="0" bIns="0" anchor="t">
            <a:spAutoFit/>
          </a:bodyPr>
          <a:lstStyle/>
          <a:p>
            <a:pPr algn="r">
              <a:lnSpc>
                <a:spcPct val="118000"/>
              </a:lnSpc>
              <a:spcBef>
                <a:spcPts val="0"/>
              </a:spcBef>
              <a:spcAft>
                <a:spcPts val="0"/>
              </a:spcAft>
            </a:pPr>
            <a:r>
              <a:rPr sz="2100" b="0" i="0">
                <a:solidFill>
                  <a:srgbClr val="6B787D"/>
                </a:solidFill>
                <a:latin typeface="Consolas"/>
              </a:rPr>
              <a:t>15</a:t>
            </a:r>
          </a:p>
        </p:txBody>
      </p:sp>
      <p:sp>
        <p:nvSpPr>
          <p:cNvPr id="3" name="TextBox 2"/>
          <p:cNvSpPr txBox="1"/>
          <p:nvPr/>
        </p:nvSpPr>
        <p:spPr>
          <a:xfrm>
            <a:off x="658368" y="420624"/>
            <a:ext cx="10874959" cy="310896"/>
          </a:xfrm>
          <a:prstGeom prst="rect">
            <a:avLst/>
          </a:prstGeom>
          <a:noFill/>
        </p:spPr>
        <p:txBody>
          <a:bodyPr wrap="square" lIns="0" tIns="0" rIns="0" bIns="0" anchor="t">
            <a:spAutoFit/>
          </a:bodyPr>
          <a:lstStyle/>
          <a:p>
            <a:pPr algn="l">
              <a:lnSpc>
                <a:spcPct val="118000"/>
              </a:lnSpc>
              <a:spcBef>
                <a:spcPts val="0"/>
              </a:spcBef>
              <a:spcAft>
                <a:spcPts val="0"/>
              </a:spcAft>
            </a:pPr>
            <a:r>
              <a:rPr sz="2100" b="1" i="0">
                <a:solidFill>
                  <a:srgbClr val="2E8FA3"/>
                </a:solidFill>
                <a:latin typeface="Consolas"/>
              </a:rPr>
              <a:t>09 / THE POLARITY IDEA</a:t>
            </a:r>
          </a:p>
        </p:txBody>
      </p:sp>
      <p:sp>
        <p:nvSpPr>
          <p:cNvPr id="4" name="TextBox 3"/>
          <p:cNvSpPr txBox="1"/>
          <p:nvPr/>
        </p:nvSpPr>
        <p:spPr>
          <a:xfrm>
            <a:off x="658368" y="822960"/>
            <a:ext cx="10874959" cy="822960"/>
          </a:xfrm>
          <a:prstGeom prst="rect">
            <a:avLst/>
          </a:prstGeom>
          <a:noFill/>
        </p:spPr>
        <p:txBody>
          <a:bodyPr wrap="square" lIns="0" tIns="0" rIns="0" bIns="0" anchor="t">
            <a:spAutoFit/>
          </a:bodyPr>
          <a:lstStyle/>
          <a:p>
            <a:pPr algn="l">
              <a:lnSpc>
                <a:spcPct val="106000"/>
              </a:lnSpc>
              <a:spcBef>
                <a:spcPts val="0"/>
              </a:spcBef>
              <a:spcAft>
                <a:spcPts val="0"/>
              </a:spcAft>
            </a:pPr>
            <a:r>
              <a:rPr sz="3400" b="1" i="0">
                <a:solidFill>
                  <a:srgbClr val="14181B"/>
                </a:solidFill>
                <a:latin typeface="Segoe UI"/>
              </a:rPr>
              <a:t>A rising number is not good or bad until you know what is rising</a:t>
            </a:r>
          </a:p>
        </p:txBody>
      </p:sp>
      <p:sp>
        <p:nvSpPr>
          <p:cNvPr id="5" name="TextBox 4"/>
          <p:cNvSpPr txBox="1"/>
          <p:nvPr/>
        </p:nvSpPr>
        <p:spPr>
          <a:xfrm>
            <a:off x="658368" y="1901952"/>
            <a:ext cx="10874959" cy="822960"/>
          </a:xfrm>
          <a:prstGeom prst="rect">
            <a:avLst/>
          </a:prstGeom>
          <a:noFill/>
        </p:spPr>
        <p:txBody>
          <a:bodyPr wrap="square" lIns="0" tIns="0" rIns="0" bIns="0" anchor="t">
            <a:spAutoFit/>
          </a:bodyPr>
          <a:lstStyle/>
          <a:p>
            <a:pPr algn="l">
              <a:lnSpc>
                <a:spcPct val="124000"/>
              </a:lnSpc>
              <a:spcBef>
                <a:spcPts val="0"/>
              </a:spcBef>
              <a:spcAft>
                <a:spcPts val="0"/>
              </a:spcAft>
            </a:pPr>
            <a:r>
              <a:rPr sz="2400" b="0" i="0">
                <a:solidFill>
                  <a:srgbClr val="3E4A4F"/>
                </a:solidFill>
                <a:latin typeface="Segoe UI"/>
              </a:rPr>
              <a:t>Ordinary sentiment analysis treats an increase word as positive. In economic talk that is wrong about half the time.</a:t>
            </a:r>
          </a:p>
        </p:txBody>
      </p:sp>
      <p:sp>
        <p:nvSpPr>
          <p:cNvPr id="6" name="Rectangle 5"/>
          <p:cNvSpPr/>
          <p:nvPr/>
        </p:nvSpPr>
        <p:spPr>
          <a:xfrm>
            <a:off x="658368" y="2980944"/>
            <a:ext cx="5254599" cy="2212848"/>
          </a:xfrm>
          <a:prstGeom prst="rect">
            <a:avLst/>
          </a:prstGeom>
          <a:solidFill>
            <a:srgbClr val="F8F9F7"/>
          </a:solidFill>
          <a:ln w="12700">
            <a:solidFill>
              <a:srgbClr val="C3CBC6"/>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7" name="Rectangle 6"/>
          <p:cNvSpPr/>
          <p:nvPr/>
        </p:nvSpPr>
        <p:spPr>
          <a:xfrm>
            <a:off x="658368" y="2980944"/>
            <a:ext cx="50292" cy="2212848"/>
          </a:xfrm>
          <a:prstGeom prst="rect">
            <a:avLst/>
          </a:prstGeom>
          <a:solidFill>
            <a:srgbClr val="35735A"/>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8" name="TextBox 7"/>
          <p:cNvSpPr txBox="1"/>
          <p:nvPr/>
        </p:nvSpPr>
        <p:spPr>
          <a:xfrm>
            <a:off x="932688" y="3182112"/>
            <a:ext cx="5163312" cy="462691"/>
          </a:xfrm>
          <a:prstGeom prst="rect">
            <a:avLst/>
          </a:prstGeom>
          <a:noFill/>
        </p:spPr>
        <p:txBody>
          <a:bodyPr wrap="square" lIns="0" tIns="0" rIns="0" bIns="0" anchor="t">
            <a:spAutoFit/>
          </a:bodyPr>
          <a:lstStyle/>
          <a:p>
            <a:pPr algn="l">
              <a:lnSpc>
                <a:spcPct val="118000"/>
              </a:lnSpc>
              <a:spcBef>
                <a:spcPts val="0"/>
              </a:spcBef>
              <a:spcAft>
                <a:spcPts val="0"/>
              </a:spcAft>
            </a:pPr>
            <a:r>
              <a:rPr sz="2800" b="0" i="0" dirty="0" err="1">
                <a:solidFill>
                  <a:srgbClr val="14181B"/>
                </a:solidFill>
                <a:latin typeface="Nirmala UI"/>
              </a:rPr>
              <a:t>বৈদেশিক</a:t>
            </a:r>
            <a:r>
              <a:rPr sz="2800" b="0" i="0" dirty="0">
                <a:solidFill>
                  <a:srgbClr val="14181B"/>
                </a:solidFill>
                <a:latin typeface="Nirmala UI"/>
              </a:rPr>
              <a:t> </a:t>
            </a:r>
            <a:r>
              <a:rPr sz="2800" b="0" i="0" dirty="0" err="1">
                <a:solidFill>
                  <a:srgbClr val="14181B"/>
                </a:solidFill>
                <a:latin typeface="Nirmala UI"/>
              </a:rPr>
              <a:t>মুদ্রার</a:t>
            </a:r>
            <a:r>
              <a:rPr sz="2800" b="0" i="0" dirty="0">
                <a:solidFill>
                  <a:srgbClr val="14181B"/>
                </a:solidFill>
                <a:latin typeface="Nirmala UI"/>
              </a:rPr>
              <a:t> </a:t>
            </a:r>
            <a:r>
              <a:rPr sz="2800" b="0" i="0" dirty="0" err="1">
                <a:solidFill>
                  <a:srgbClr val="14181B"/>
                </a:solidFill>
                <a:latin typeface="Nirmala UI"/>
              </a:rPr>
              <a:t>রিজার্ভ</a:t>
            </a:r>
            <a:r>
              <a:rPr sz="2800" b="0" i="0" dirty="0">
                <a:solidFill>
                  <a:srgbClr val="14181B"/>
                </a:solidFill>
                <a:latin typeface="Nirmala UI"/>
              </a:rPr>
              <a:t> </a:t>
            </a:r>
            <a:r>
              <a:rPr sz="2800" b="0" i="0" dirty="0" err="1">
                <a:solidFill>
                  <a:srgbClr val="14181B"/>
                </a:solidFill>
                <a:latin typeface="Nirmala UI"/>
              </a:rPr>
              <a:t>বেড়েছে</a:t>
            </a:r>
            <a:endParaRPr sz="2800" b="0" i="0" dirty="0">
              <a:solidFill>
                <a:srgbClr val="14181B"/>
              </a:solidFill>
              <a:latin typeface="Nirmala UI"/>
            </a:endParaRPr>
          </a:p>
        </p:txBody>
      </p:sp>
      <p:sp>
        <p:nvSpPr>
          <p:cNvPr id="9" name="TextBox 8"/>
          <p:cNvSpPr txBox="1"/>
          <p:nvPr/>
        </p:nvSpPr>
        <p:spPr>
          <a:xfrm>
            <a:off x="932688" y="3730752"/>
            <a:ext cx="5071719" cy="347018"/>
          </a:xfrm>
          <a:prstGeom prst="rect">
            <a:avLst/>
          </a:prstGeom>
          <a:noFill/>
        </p:spPr>
        <p:txBody>
          <a:bodyPr wrap="square" lIns="0" tIns="0" rIns="0" bIns="0" anchor="t">
            <a:spAutoFit/>
          </a:bodyPr>
          <a:lstStyle/>
          <a:p>
            <a:pPr algn="l">
              <a:lnSpc>
                <a:spcPct val="118000"/>
              </a:lnSpc>
              <a:spcBef>
                <a:spcPts val="0"/>
              </a:spcBef>
              <a:spcAft>
                <a:spcPts val="0"/>
              </a:spcAft>
            </a:pPr>
            <a:r>
              <a:rPr sz="2100" b="0" i="0" dirty="0">
                <a:solidFill>
                  <a:srgbClr val="3E4A4F"/>
                </a:solidFill>
                <a:latin typeface="Segoe UI"/>
              </a:rPr>
              <a:t>Foreign exchange reserves have increased.</a:t>
            </a:r>
          </a:p>
        </p:txBody>
      </p:sp>
      <p:sp>
        <p:nvSpPr>
          <p:cNvPr id="10" name="TextBox 9"/>
          <p:cNvSpPr txBox="1"/>
          <p:nvPr/>
        </p:nvSpPr>
        <p:spPr>
          <a:xfrm>
            <a:off x="932688" y="4187952"/>
            <a:ext cx="4705959" cy="822960"/>
          </a:xfrm>
          <a:prstGeom prst="rect">
            <a:avLst/>
          </a:prstGeom>
          <a:noFill/>
        </p:spPr>
        <p:txBody>
          <a:bodyPr wrap="square" lIns="0" tIns="0" rIns="0" bIns="0" anchor="t">
            <a:spAutoFit/>
          </a:bodyPr>
          <a:lstStyle/>
          <a:p>
            <a:pPr algn="l">
              <a:lnSpc>
                <a:spcPct val="120000"/>
              </a:lnSpc>
              <a:spcBef>
                <a:spcPts val="0"/>
              </a:spcBef>
              <a:spcAft>
                <a:spcPts val="600"/>
              </a:spcAft>
            </a:pPr>
            <a:r>
              <a:rPr sz="2200" b="0" i="0">
                <a:solidFill>
                  <a:srgbClr val="14181B"/>
                </a:solidFill>
                <a:latin typeface="Segoe UI"/>
              </a:rPr>
              <a:t>Reserves carry orientation +1. The increase cue keeps its sign.</a:t>
            </a:r>
          </a:p>
        </p:txBody>
      </p:sp>
      <p:sp>
        <p:nvSpPr>
          <p:cNvPr id="11" name="Rectangle 10"/>
          <p:cNvSpPr/>
          <p:nvPr/>
        </p:nvSpPr>
        <p:spPr>
          <a:xfrm>
            <a:off x="4358487" y="4654296"/>
            <a:ext cx="1645920" cy="310896"/>
          </a:xfrm>
          <a:prstGeom prst="rect">
            <a:avLst/>
          </a:prstGeom>
          <a:solidFill>
            <a:srgbClr val="DDE9E2"/>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2100" b="1" i="0" dirty="0">
                <a:solidFill>
                  <a:srgbClr val="35735A"/>
                </a:solidFill>
                <a:latin typeface="Consolas"/>
              </a:rPr>
              <a:t>POSITIVE</a:t>
            </a:r>
          </a:p>
        </p:txBody>
      </p:sp>
      <p:sp>
        <p:nvSpPr>
          <p:cNvPr id="12" name="Rectangle 11"/>
          <p:cNvSpPr/>
          <p:nvPr/>
        </p:nvSpPr>
        <p:spPr>
          <a:xfrm>
            <a:off x="6278727" y="2980944"/>
            <a:ext cx="5254599" cy="2212848"/>
          </a:xfrm>
          <a:prstGeom prst="rect">
            <a:avLst/>
          </a:prstGeom>
          <a:solidFill>
            <a:srgbClr val="F8F9F7"/>
          </a:solidFill>
          <a:ln w="12700">
            <a:solidFill>
              <a:srgbClr val="C3CBC6"/>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3" name="Rectangle 12"/>
          <p:cNvSpPr/>
          <p:nvPr/>
        </p:nvSpPr>
        <p:spPr>
          <a:xfrm>
            <a:off x="6278727" y="2980944"/>
            <a:ext cx="50292" cy="2212848"/>
          </a:xfrm>
          <a:prstGeom prst="rect">
            <a:avLst/>
          </a:prstGeom>
          <a:solidFill>
            <a:srgbClr val="A6423C"/>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4" name="TextBox 13"/>
          <p:cNvSpPr txBox="1"/>
          <p:nvPr/>
        </p:nvSpPr>
        <p:spPr>
          <a:xfrm>
            <a:off x="6553047" y="3182112"/>
            <a:ext cx="4705959" cy="457200"/>
          </a:xfrm>
          <a:prstGeom prst="rect">
            <a:avLst/>
          </a:prstGeom>
          <a:noFill/>
        </p:spPr>
        <p:txBody>
          <a:bodyPr wrap="square" lIns="0" tIns="0" rIns="0" bIns="0" anchor="t">
            <a:spAutoFit/>
          </a:bodyPr>
          <a:lstStyle/>
          <a:p>
            <a:pPr algn="l">
              <a:lnSpc>
                <a:spcPct val="118000"/>
              </a:lnSpc>
              <a:spcBef>
                <a:spcPts val="0"/>
              </a:spcBef>
              <a:spcAft>
                <a:spcPts val="0"/>
              </a:spcAft>
            </a:pPr>
            <a:r>
              <a:rPr sz="2800" b="0" i="0">
                <a:solidFill>
                  <a:srgbClr val="14181B"/>
                </a:solidFill>
                <a:latin typeface="Nirmala UI"/>
              </a:rPr>
              <a:t>মূল্যস্ফীতি বেড়েছে</a:t>
            </a:r>
          </a:p>
        </p:txBody>
      </p:sp>
      <p:sp>
        <p:nvSpPr>
          <p:cNvPr id="15" name="TextBox 14"/>
          <p:cNvSpPr txBox="1"/>
          <p:nvPr/>
        </p:nvSpPr>
        <p:spPr>
          <a:xfrm>
            <a:off x="6553047" y="3730752"/>
            <a:ext cx="4705959" cy="365760"/>
          </a:xfrm>
          <a:prstGeom prst="rect">
            <a:avLst/>
          </a:prstGeom>
          <a:noFill/>
        </p:spPr>
        <p:txBody>
          <a:bodyPr wrap="square" lIns="0" tIns="0" rIns="0" bIns="0" anchor="t">
            <a:spAutoFit/>
          </a:bodyPr>
          <a:lstStyle/>
          <a:p>
            <a:pPr algn="l">
              <a:lnSpc>
                <a:spcPct val="118000"/>
              </a:lnSpc>
              <a:spcBef>
                <a:spcPts val="0"/>
              </a:spcBef>
              <a:spcAft>
                <a:spcPts val="0"/>
              </a:spcAft>
            </a:pPr>
            <a:r>
              <a:rPr sz="2100" b="0" i="0">
                <a:solidFill>
                  <a:srgbClr val="3E4A4F"/>
                </a:solidFill>
                <a:latin typeface="Segoe UI"/>
              </a:rPr>
              <a:t>Inflation has increased.</a:t>
            </a:r>
          </a:p>
        </p:txBody>
      </p:sp>
      <p:sp>
        <p:nvSpPr>
          <p:cNvPr id="16" name="TextBox 15"/>
          <p:cNvSpPr txBox="1"/>
          <p:nvPr/>
        </p:nvSpPr>
        <p:spPr>
          <a:xfrm>
            <a:off x="6553047" y="4187952"/>
            <a:ext cx="4705959" cy="822960"/>
          </a:xfrm>
          <a:prstGeom prst="rect">
            <a:avLst/>
          </a:prstGeom>
          <a:noFill/>
        </p:spPr>
        <p:txBody>
          <a:bodyPr wrap="square" lIns="0" tIns="0" rIns="0" bIns="0" anchor="t">
            <a:spAutoFit/>
          </a:bodyPr>
          <a:lstStyle/>
          <a:p>
            <a:pPr algn="l">
              <a:lnSpc>
                <a:spcPct val="120000"/>
              </a:lnSpc>
              <a:spcBef>
                <a:spcPts val="0"/>
              </a:spcBef>
              <a:spcAft>
                <a:spcPts val="600"/>
              </a:spcAft>
            </a:pPr>
            <a:r>
              <a:rPr sz="2200" b="0" i="0">
                <a:solidFill>
                  <a:srgbClr val="14181B"/>
                </a:solidFill>
                <a:latin typeface="Segoe UI"/>
              </a:rPr>
              <a:t>Inflation carries orientation -1. The same cue flips.</a:t>
            </a:r>
          </a:p>
        </p:txBody>
      </p:sp>
      <p:sp>
        <p:nvSpPr>
          <p:cNvPr id="17" name="Rectangle 16"/>
          <p:cNvSpPr/>
          <p:nvPr/>
        </p:nvSpPr>
        <p:spPr>
          <a:xfrm>
            <a:off x="8790126" y="4599431"/>
            <a:ext cx="1737360" cy="310896"/>
          </a:xfrm>
          <a:prstGeom prst="rect">
            <a:avLst/>
          </a:prstGeom>
          <a:solidFill>
            <a:srgbClr val="F2E0DE"/>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2100" b="1" i="0" dirty="0">
                <a:solidFill>
                  <a:srgbClr val="A6423C"/>
                </a:solidFill>
                <a:latin typeface="Consolas"/>
              </a:rPr>
              <a:t>NEGATIVE</a:t>
            </a:r>
          </a:p>
        </p:txBody>
      </p:sp>
      <p:sp>
        <p:nvSpPr>
          <p:cNvPr id="18" name="TextBox 17"/>
          <p:cNvSpPr txBox="1"/>
          <p:nvPr/>
        </p:nvSpPr>
        <p:spPr>
          <a:xfrm>
            <a:off x="658368" y="5413248"/>
            <a:ext cx="10874959" cy="548640"/>
          </a:xfrm>
          <a:prstGeom prst="rect">
            <a:avLst/>
          </a:prstGeom>
          <a:noFill/>
        </p:spPr>
        <p:txBody>
          <a:bodyPr wrap="square" lIns="0" tIns="0" rIns="0" bIns="0" anchor="t">
            <a:spAutoFit/>
          </a:bodyPr>
          <a:lstStyle/>
          <a:p>
            <a:pPr algn="l">
              <a:lnSpc>
                <a:spcPct val="120000"/>
              </a:lnSpc>
              <a:spcBef>
                <a:spcPts val="0"/>
              </a:spcBef>
              <a:spcAft>
                <a:spcPts val="0"/>
              </a:spcAft>
            </a:pPr>
            <a:r>
              <a:rPr sz="2200" b="0" i="0">
                <a:solidFill>
                  <a:srgbClr val="3E4A4F"/>
                </a:solidFill>
                <a:latin typeface="Segoe UI"/>
              </a:rPr>
              <a:t>Because each target is scored separately, one sentence can carry two labels at once. A sentence level model cannot represent that.</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ECEEEB"/>
        </a:solidFill>
        <a:effectLst/>
      </p:bgPr>
    </p:bg>
    <p:spTree>
      <p:nvGrpSpPr>
        <p:cNvPr id="1" name=""/>
        <p:cNvGrpSpPr/>
        <p:nvPr/>
      </p:nvGrpSpPr>
      <p:grpSpPr>
        <a:xfrm>
          <a:off x="0" y="0"/>
          <a:ext cx="0" cy="0"/>
          <a:chOff x="0" y="0"/>
          <a:chExt cx="0" cy="0"/>
        </a:xfrm>
      </p:grpSpPr>
      <p:sp>
        <p:nvSpPr>
          <p:cNvPr id="2" name="TextBox 1"/>
          <p:cNvSpPr txBox="1"/>
          <p:nvPr/>
        </p:nvSpPr>
        <p:spPr>
          <a:xfrm>
            <a:off x="10618927" y="6309359"/>
            <a:ext cx="914400" cy="274320"/>
          </a:xfrm>
          <a:prstGeom prst="rect">
            <a:avLst/>
          </a:prstGeom>
          <a:noFill/>
        </p:spPr>
        <p:txBody>
          <a:bodyPr wrap="square" lIns="0" tIns="0" rIns="0" bIns="0" anchor="t">
            <a:spAutoFit/>
          </a:bodyPr>
          <a:lstStyle/>
          <a:p>
            <a:pPr algn="r">
              <a:lnSpc>
                <a:spcPct val="118000"/>
              </a:lnSpc>
              <a:spcBef>
                <a:spcPts val="0"/>
              </a:spcBef>
              <a:spcAft>
                <a:spcPts val="0"/>
              </a:spcAft>
            </a:pPr>
            <a:r>
              <a:rPr sz="2100" b="0" i="0">
                <a:solidFill>
                  <a:srgbClr val="6B787D"/>
                </a:solidFill>
                <a:latin typeface="Consolas"/>
              </a:rPr>
              <a:t>16</a:t>
            </a:r>
          </a:p>
        </p:txBody>
      </p:sp>
      <p:sp>
        <p:nvSpPr>
          <p:cNvPr id="3" name="TextBox 2"/>
          <p:cNvSpPr txBox="1"/>
          <p:nvPr/>
        </p:nvSpPr>
        <p:spPr>
          <a:xfrm>
            <a:off x="658368" y="420624"/>
            <a:ext cx="10874959" cy="310896"/>
          </a:xfrm>
          <a:prstGeom prst="rect">
            <a:avLst/>
          </a:prstGeom>
          <a:noFill/>
        </p:spPr>
        <p:txBody>
          <a:bodyPr wrap="square" lIns="0" tIns="0" rIns="0" bIns="0" anchor="t">
            <a:spAutoFit/>
          </a:bodyPr>
          <a:lstStyle/>
          <a:p>
            <a:pPr algn="l">
              <a:lnSpc>
                <a:spcPct val="118000"/>
              </a:lnSpc>
              <a:spcBef>
                <a:spcPts val="0"/>
              </a:spcBef>
              <a:spcAft>
                <a:spcPts val="0"/>
              </a:spcAft>
            </a:pPr>
            <a:r>
              <a:rPr sz="2100" b="1" i="0">
                <a:solidFill>
                  <a:srgbClr val="2E8FA3"/>
                </a:solidFill>
                <a:latin typeface="Consolas"/>
              </a:rPr>
              <a:t>09 / THE POLARITY IDEA</a:t>
            </a:r>
          </a:p>
        </p:txBody>
      </p:sp>
      <p:sp>
        <p:nvSpPr>
          <p:cNvPr id="4" name="TextBox 3"/>
          <p:cNvSpPr txBox="1"/>
          <p:nvPr/>
        </p:nvSpPr>
        <p:spPr>
          <a:xfrm>
            <a:off x="658368" y="822960"/>
            <a:ext cx="10874959" cy="822960"/>
          </a:xfrm>
          <a:prstGeom prst="rect">
            <a:avLst/>
          </a:prstGeom>
          <a:noFill/>
        </p:spPr>
        <p:txBody>
          <a:bodyPr wrap="square" lIns="0" tIns="0" rIns="0" bIns="0" anchor="t">
            <a:spAutoFit/>
          </a:bodyPr>
          <a:lstStyle/>
          <a:p>
            <a:pPr algn="l">
              <a:lnSpc>
                <a:spcPct val="106000"/>
              </a:lnSpc>
              <a:spcBef>
                <a:spcPts val="0"/>
              </a:spcBef>
              <a:spcAft>
                <a:spcPts val="0"/>
              </a:spcAft>
            </a:pPr>
            <a:r>
              <a:rPr sz="3600" b="1" i="0">
                <a:solidFill>
                  <a:srgbClr val="14181B"/>
                </a:solidFill>
                <a:latin typeface="Segoe UI"/>
              </a:rPr>
              <a:t>Every target carries an orientation</a:t>
            </a:r>
          </a:p>
        </p:txBody>
      </p:sp>
      <p:sp>
        <p:nvSpPr>
          <p:cNvPr id="5" name="Rectangle 4"/>
          <p:cNvSpPr/>
          <p:nvPr/>
        </p:nvSpPr>
        <p:spPr>
          <a:xfrm>
            <a:off x="658368" y="1664208"/>
            <a:ext cx="3472586" cy="3655044"/>
          </a:xfrm>
          <a:prstGeom prst="rect">
            <a:avLst/>
          </a:prstGeom>
          <a:solidFill>
            <a:srgbClr val="F8F9F7"/>
          </a:solidFill>
          <a:ln w="12700">
            <a:solidFill>
              <a:srgbClr val="C3CBC6"/>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6" name="Rectangle 5"/>
          <p:cNvSpPr/>
          <p:nvPr/>
        </p:nvSpPr>
        <p:spPr>
          <a:xfrm>
            <a:off x="658368" y="1664208"/>
            <a:ext cx="3472586" cy="68580"/>
          </a:xfrm>
          <a:prstGeom prst="rect">
            <a:avLst/>
          </a:prstGeom>
          <a:solidFill>
            <a:srgbClr val="35735A"/>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7" name="TextBox 6"/>
          <p:cNvSpPr txBox="1"/>
          <p:nvPr/>
        </p:nvSpPr>
        <p:spPr>
          <a:xfrm>
            <a:off x="896112" y="1938528"/>
            <a:ext cx="3015386" cy="457200"/>
          </a:xfrm>
          <a:prstGeom prst="rect">
            <a:avLst/>
          </a:prstGeom>
          <a:noFill/>
        </p:spPr>
        <p:txBody>
          <a:bodyPr wrap="square" lIns="0" tIns="0" rIns="0" bIns="0" anchor="t">
            <a:spAutoFit/>
          </a:bodyPr>
          <a:lstStyle/>
          <a:p>
            <a:pPr algn="l">
              <a:lnSpc>
                <a:spcPct val="118000"/>
              </a:lnSpc>
              <a:spcBef>
                <a:spcPts val="0"/>
              </a:spcBef>
              <a:spcAft>
                <a:spcPts val="0"/>
              </a:spcAft>
            </a:pPr>
            <a:r>
              <a:rPr sz="2100" b="1" i="0">
                <a:solidFill>
                  <a:srgbClr val="35735A"/>
                </a:solidFill>
                <a:latin typeface="Consolas"/>
              </a:rPr>
              <a:t>ORIENTATION +1</a:t>
            </a:r>
          </a:p>
        </p:txBody>
      </p:sp>
      <p:sp>
        <p:nvSpPr>
          <p:cNvPr id="8" name="TextBox 7"/>
          <p:cNvSpPr txBox="1"/>
          <p:nvPr/>
        </p:nvSpPr>
        <p:spPr>
          <a:xfrm>
            <a:off x="896112" y="2395728"/>
            <a:ext cx="3015386" cy="548640"/>
          </a:xfrm>
          <a:prstGeom prst="rect">
            <a:avLst/>
          </a:prstGeom>
          <a:noFill/>
        </p:spPr>
        <p:txBody>
          <a:bodyPr wrap="square" lIns="0" tIns="0" rIns="0" bIns="0" anchor="t">
            <a:spAutoFit/>
          </a:bodyPr>
          <a:lstStyle/>
          <a:p>
            <a:pPr algn="l">
              <a:lnSpc>
                <a:spcPct val="114000"/>
              </a:lnSpc>
              <a:spcBef>
                <a:spcPts val="0"/>
              </a:spcBef>
              <a:spcAft>
                <a:spcPts val="0"/>
              </a:spcAft>
            </a:pPr>
            <a:r>
              <a:rPr sz="2400" b="1" i="0">
                <a:solidFill>
                  <a:srgbClr val="14181B"/>
                </a:solidFill>
                <a:latin typeface="Segoe UI"/>
              </a:rPr>
              <a:t>A rise is good news</a:t>
            </a:r>
          </a:p>
        </p:txBody>
      </p:sp>
      <p:sp>
        <p:nvSpPr>
          <p:cNvPr id="9" name="TextBox 8"/>
          <p:cNvSpPr txBox="1"/>
          <p:nvPr/>
        </p:nvSpPr>
        <p:spPr>
          <a:xfrm>
            <a:off x="896112" y="3145536"/>
            <a:ext cx="3015386" cy="1188720"/>
          </a:xfrm>
          <a:prstGeom prst="rect">
            <a:avLst/>
          </a:prstGeom>
          <a:noFill/>
        </p:spPr>
        <p:txBody>
          <a:bodyPr wrap="square" lIns="0" tIns="0" rIns="0" bIns="0" anchor="t">
            <a:spAutoFit/>
          </a:bodyPr>
          <a:lstStyle/>
          <a:p>
            <a:pPr algn="l">
              <a:lnSpc>
                <a:spcPct val="120000"/>
              </a:lnSpc>
              <a:spcBef>
                <a:spcPts val="0"/>
              </a:spcBef>
              <a:spcAft>
                <a:spcPts val="0"/>
              </a:spcAft>
            </a:pPr>
            <a:r>
              <a:rPr sz="2100" b="0" i="0">
                <a:solidFill>
                  <a:srgbClr val="3E4A4F"/>
                </a:solidFill>
                <a:latin typeface="Segoe UI"/>
              </a:rPr>
              <a:t>14 targets: reserves, remittance, GDP, exports, investment, employment, revenue, output, the market index.</a:t>
            </a:r>
          </a:p>
        </p:txBody>
      </p:sp>
      <p:sp>
        <p:nvSpPr>
          <p:cNvPr id="10" name="Rectangle 9"/>
          <p:cNvSpPr/>
          <p:nvPr/>
        </p:nvSpPr>
        <p:spPr>
          <a:xfrm>
            <a:off x="4359554" y="1664208"/>
            <a:ext cx="3472586" cy="3655044"/>
          </a:xfrm>
          <a:prstGeom prst="rect">
            <a:avLst/>
          </a:prstGeom>
          <a:solidFill>
            <a:srgbClr val="F8F9F7"/>
          </a:solidFill>
          <a:ln w="12700">
            <a:solidFill>
              <a:srgbClr val="C3CBC6"/>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1" name="Rectangle 10"/>
          <p:cNvSpPr/>
          <p:nvPr/>
        </p:nvSpPr>
        <p:spPr>
          <a:xfrm>
            <a:off x="4359554" y="1664208"/>
            <a:ext cx="3472586" cy="68580"/>
          </a:xfrm>
          <a:prstGeom prst="rect">
            <a:avLst/>
          </a:prstGeom>
          <a:solidFill>
            <a:srgbClr val="A6423C"/>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2" name="TextBox 11"/>
          <p:cNvSpPr txBox="1"/>
          <p:nvPr/>
        </p:nvSpPr>
        <p:spPr>
          <a:xfrm>
            <a:off x="4597298" y="1938528"/>
            <a:ext cx="3015386" cy="457200"/>
          </a:xfrm>
          <a:prstGeom prst="rect">
            <a:avLst/>
          </a:prstGeom>
          <a:noFill/>
        </p:spPr>
        <p:txBody>
          <a:bodyPr wrap="square" lIns="0" tIns="0" rIns="0" bIns="0" anchor="t">
            <a:spAutoFit/>
          </a:bodyPr>
          <a:lstStyle/>
          <a:p>
            <a:pPr algn="l">
              <a:lnSpc>
                <a:spcPct val="118000"/>
              </a:lnSpc>
              <a:spcBef>
                <a:spcPts val="0"/>
              </a:spcBef>
              <a:spcAft>
                <a:spcPts val="0"/>
              </a:spcAft>
            </a:pPr>
            <a:r>
              <a:rPr sz="2100" b="1" i="0">
                <a:solidFill>
                  <a:srgbClr val="A6423C"/>
                </a:solidFill>
                <a:latin typeface="Consolas"/>
              </a:rPr>
              <a:t>ORIENTATION -1</a:t>
            </a:r>
          </a:p>
        </p:txBody>
      </p:sp>
      <p:sp>
        <p:nvSpPr>
          <p:cNvPr id="13" name="TextBox 12"/>
          <p:cNvSpPr txBox="1"/>
          <p:nvPr/>
        </p:nvSpPr>
        <p:spPr>
          <a:xfrm>
            <a:off x="4597298" y="2395728"/>
            <a:ext cx="3015386" cy="548640"/>
          </a:xfrm>
          <a:prstGeom prst="rect">
            <a:avLst/>
          </a:prstGeom>
          <a:noFill/>
        </p:spPr>
        <p:txBody>
          <a:bodyPr wrap="square" lIns="0" tIns="0" rIns="0" bIns="0" anchor="t">
            <a:spAutoFit/>
          </a:bodyPr>
          <a:lstStyle/>
          <a:p>
            <a:pPr algn="l">
              <a:lnSpc>
                <a:spcPct val="114000"/>
              </a:lnSpc>
              <a:spcBef>
                <a:spcPts val="0"/>
              </a:spcBef>
              <a:spcAft>
                <a:spcPts val="0"/>
              </a:spcAft>
            </a:pPr>
            <a:r>
              <a:rPr sz="2400" b="1" i="0">
                <a:solidFill>
                  <a:srgbClr val="14181B"/>
                </a:solidFill>
                <a:latin typeface="Segoe UI"/>
              </a:rPr>
              <a:t>A rise is bad news</a:t>
            </a:r>
          </a:p>
        </p:txBody>
      </p:sp>
      <p:sp>
        <p:nvSpPr>
          <p:cNvPr id="14" name="TextBox 13"/>
          <p:cNvSpPr txBox="1"/>
          <p:nvPr/>
        </p:nvSpPr>
        <p:spPr>
          <a:xfrm>
            <a:off x="4597298" y="3145536"/>
            <a:ext cx="3015386" cy="1188720"/>
          </a:xfrm>
          <a:prstGeom prst="rect">
            <a:avLst/>
          </a:prstGeom>
          <a:noFill/>
        </p:spPr>
        <p:txBody>
          <a:bodyPr wrap="square" lIns="0" tIns="0" rIns="0" bIns="0" anchor="t">
            <a:spAutoFit/>
          </a:bodyPr>
          <a:lstStyle/>
          <a:p>
            <a:pPr algn="l">
              <a:lnSpc>
                <a:spcPct val="120000"/>
              </a:lnSpc>
              <a:spcBef>
                <a:spcPts val="0"/>
              </a:spcBef>
              <a:spcAft>
                <a:spcPts val="0"/>
              </a:spcAft>
            </a:pPr>
            <a:r>
              <a:rPr sz="2100" b="0" i="0">
                <a:solidFill>
                  <a:srgbClr val="3E4A4F"/>
                </a:solidFill>
                <a:latin typeface="Segoe UI"/>
              </a:rPr>
              <a:t>9 targets: inflation, consumer prices, bad loans, foreign debt, capital flight, the policy rate, public spending.</a:t>
            </a:r>
          </a:p>
        </p:txBody>
      </p:sp>
      <p:sp>
        <p:nvSpPr>
          <p:cNvPr id="15" name="Rectangle 14"/>
          <p:cNvSpPr/>
          <p:nvPr/>
        </p:nvSpPr>
        <p:spPr>
          <a:xfrm>
            <a:off x="8060740" y="1664208"/>
            <a:ext cx="3472586" cy="3655044"/>
          </a:xfrm>
          <a:prstGeom prst="rect">
            <a:avLst/>
          </a:prstGeom>
          <a:solidFill>
            <a:srgbClr val="F8F9F7"/>
          </a:solidFill>
          <a:ln w="12700">
            <a:solidFill>
              <a:srgbClr val="C3CBC6"/>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6" name="Rectangle 15"/>
          <p:cNvSpPr/>
          <p:nvPr/>
        </p:nvSpPr>
        <p:spPr>
          <a:xfrm>
            <a:off x="8060740" y="1664208"/>
            <a:ext cx="3472586" cy="68580"/>
          </a:xfrm>
          <a:prstGeom prst="rect">
            <a:avLst/>
          </a:prstGeom>
          <a:solidFill>
            <a:srgbClr val="77827C"/>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7" name="TextBox 16"/>
          <p:cNvSpPr txBox="1"/>
          <p:nvPr/>
        </p:nvSpPr>
        <p:spPr>
          <a:xfrm>
            <a:off x="8298484" y="1938528"/>
            <a:ext cx="3015386" cy="457200"/>
          </a:xfrm>
          <a:prstGeom prst="rect">
            <a:avLst/>
          </a:prstGeom>
          <a:noFill/>
        </p:spPr>
        <p:txBody>
          <a:bodyPr wrap="square" lIns="0" tIns="0" rIns="0" bIns="0" anchor="t">
            <a:spAutoFit/>
          </a:bodyPr>
          <a:lstStyle/>
          <a:p>
            <a:pPr algn="l">
              <a:lnSpc>
                <a:spcPct val="118000"/>
              </a:lnSpc>
              <a:spcBef>
                <a:spcPts val="0"/>
              </a:spcBef>
              <a:spcAft>
                <a:spcPts val="0"/>
              </a:spcAft>
            </a:pPr>
            <a:r>
              <a:rPr sz="2100" b="1" i="0">
                <a:solidFill>
                  <a:srgbClr val="77827C"/>
                </a:solidFill>
                <a:latin typeface="Consolas"/>
              </a:rPr>
              <a:t>ORIENTATION 0</a:t>
            </a:r>
          </a:p>
        </p:txBody>
      </p:sp>
      <p:sp>
        <p:nvSpPr>
          <p:cNvPr id="18" name="TextBox 17"/>
          <p:cNvSpPr txBox="1"/>
          <p:nvPr/>
        </p:nvSpPr>
        <p:spPr>
          <a:xfrm>
            <a:off x="8298484" y="2395728"/>
            <a:ext cx="3253130" cy="385490"/>
          </a:xfrm>
          <a:prstGeom prst="rect">
            <a:avLst/>
          </a:prstGeom>
          <a:noFill/>
        </p:spPr>
        <p:txBody>
          <a:bodyPr wrap="square" lIns="0" tIns="0" rIns="0" bIns="0" anchor="t">
            <a:spAutoFit/>
          </a:bodyPr>
          <a:lstStyle/>
          <a:p>
            <a:pPr algn="l">
              <a:lnSpc>
                <a:spcPct val="114000"/>
              </a:lnSpc>
              <a:spcBef>
                <a:spcPts val="0"/>
              </a:spcBef>
              <a:spcAft>
                <a:spcPts val="0"/>
              </a:spcAft>
            </a:pPr>
            <a:r>
              <a:rPr sz="2400" b="1" i="0" dirty="0">
                <a:solidFill>
                  <a:srgbClr val="14181B"/>
                </a:solidFill>
                <a:latin typeface="Segoe UI"/>
              </a:rPr>
              <a:t>An entity, no direction</a:t>
            </a:r>
          </a:p>
        </p:txBody>
      </p:sp>
      <p:sp>
        <p:nvSpPr>
          <p:cNvPr id="19" name="TextBox 18"/>
          <p:cNvSpPr txBox="1"/>
          <p:nvPr/>
        </p:nvSpPr>
        <p:spPr>
          <a:xfrm>
            <a:off x="8298484" y="3145536"/>
            <a:ext cx="3015386" cy="1188720"/>
          </a:xfrm>
          <a:prstGeom prst="rect">
            <a:avLst/>
          </a:prstGeom>
          <a:noFill/>
        </p:spPr>
        <p:txBody>
          <a:bodyPr wrap="square" lIns="0" tIns="0" rIns="0" bIns="0" anchor="t">
            <a:spAutoFit/>
          </a:bodyPr>
          <a:lstStyle/>
          <a:p>
            <a:pPr algn="l">
              <a:lnSpc>
                <a:spcPct val="120000"/>
              </a:lnSpc>
              <a:spcBef>
                <a:spcPts val="0"/>
              </a:spcBef>
              <a:spcAft>
                <a:spcPts val="0"/>
              </a:spcAft>
            </a:pPr>
            <a:r>
              <a:rPr sz="2100" b="0" i="0">
                <a:solidFill>
                  <a:srgbClr val="3E4A4F"/>
                </a:solidFill>
                <a:latin typeface="Segoe UI"/>
              </a:rPr>
              <a:t>29 targets such as banks, the government or the energy sector. Scored only by evaluative words.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ECEEEB"/>
        </a:solidFill>
        <a:effectLst/>
      </p:bgPr>
    </p:bg>
    <p:spTree>
      <p:nvGrpSpPr>
        <p:cNvPr id="1" name=""/>
        <p:cNvGrpSpPr/>
        <p:nvPr/>
      </p:nvGrpSpPr>
      <p:grpSpPr>
        <a:xfrm>
          <a:off x="0" y="0"/>
          <a:ext cx="0" cy="0"/>
          <a:chOff x="0" y="0"/>
          <a:chExt cx="0" cy="0"/>
        </a:xfrm>
      </p:grpSpPr>
      <p:sp>
        <p:nvSpPr>
          <p:cNvPr id="2" name="TextBox 1"/>
          <p:cNvSpPr txBox="1"/>
          <p:nvPr/>
        </p:nvSpPr>
        <p:spPr>
          <a:xfrm>
            <a:off x="10618927" y="6309359"/>
            <a:ext cx="914400" cy="274320"/>
          </a:xfrm>
          <a:prstGeom prst="rect">
            <a:avLst/>
          </a:prstGeom>
          <a:noFill/>
        </p:spPr>
        <p:txBody>
          <a:bodyPr wrap="square" lIns="0" tIns="0" rIns="0" bIns="0" anchor="t">
            <a:spAutoFit/>
          </a:bodyPr>
          <a:lstStyle/>
          <a:p>
            <a:pPr algn="r">
              <a:lnSpc>
                <a:spcPct val="118000"/>
              </a:lnSpc>
              <a:spcBef>
                <a:spcPts val="0"/>
              </a:spcBef>
              <a:spcAft>
                <a:spcPts val="0"/>
              </a:spcAft>
            </a:pPr>
            <a:r>
              <a:rPr sz="2100" b="0" i="0">
                <a:solidFill>
                  <a:srgbClr val="6B787D"/>
                </a:solidFill>
                <a:latin typeface="Consolas"/>
              </a:rPr>
              <a:t>17</a:t>
            </a:r>
          </a:p>
        </p:txBody>
      </p:sp>
      <p:sp>
        <p:nvSpPr>
          <p:cNvPr id="3" name="TextBox 2"/>
          <p:cNvSpPr txBox="1"/>
          <p:nvPr/>
        </p:nvSpPr>
        <p:spPr>
          <a:xfrm>
            <a:off x="658368" y="420624"/>
            <a:ext cx="10874959" cy="310896"/>
          </a:xfrm>
          <a:prstGeom prst="rect">
            <a:avLst/>
          </a:prstGeom>
          <a:noFill/>
        </p:spPr>
        <p:txBody>
          <a:bodyPr wrap="square" lIns="0" tIns="0" rIns="0" bIns="0" anchor="t">
            <a:spAutoFit/>
          </a:bodyPr>
          <a:lstStyle/>
          <a:p>
            <a:pPr algn="l">
              <a:lnSpc>
                <a:spcPct val="118000"/>
              </a:lnSpc>
              <a:spcBef>
                <a:spcPts val="0"/>
              </a:spcBef>
              <a:spcAft>
                <a:spcPts val="0"/>
              </a:spcAft>
            </a:pPr>
            <a:r>
              <a:rPr sz="2100" b="1" i="0">
                <a:solidFill>
                  <a:srgbClr val="2E8FA3"/>
                </a:solidFill>
                <a:latin typeface="Consolas"/>
              </a:rPr>
              <a:t>10 / SUPERVISION</a:t>
            </a:r>
          </a:p>
        </p:txBody>
      </p:sp>
      <p:sp>
        <p:nvSpPr>
          <p:cNvPr id="4" name="TextBox 3"/>
          <p:cNvSpPr txBox="1"/>
          <p:nvPr/>
        </p:nvSpPr>
        <p:spPr>
          <a:xfrm>
            <a:off x="658368" y="822960"/>
            <a:ext cx="10874959" cy="822960"/>
          </a:xfrm>
          <a:prstGeom prst="rect">
            <a:avLst/>
          </a:prstGeom>
          <a:noFill/>
        </p:spPr>
        <p:txBody>
          <a:bodyPr wrap="square" lIns="0" tIns="0" rIns="0" bIns="0" anchor="t">
            <a:spAutoFit/>
          </a:bodyPr>
          <a:lstStyle/>
          <a:p>
            <a:pPr algn="l">
              <a:lnSpc>
                <a:spcPct val="106000"/>
              </a:lnSpc>
              <a:spcBef>
                <a:spcPts val="0"/>
              </a:spcBef>
              <a:spcAft>
                <a:spcPts val="0"/>
              </a:spcAft>
            </a:pPr>
            <a:r>
              <a:rPr sz="3600" b="1" i="0">
                <a:solidFill>
                  <a:srgbClr val="14181B"/>
                </a:solidFill>
                <a:latin typeface="Segoe UI"/>
              </a:rPr>
              <a:t>Creating labels that can be traced back to words</a:t>
            </a:r>
          </a:p>
        </p:txBody>
      </p:sp>
      <p:sp>
        <p:nvSpPr>
          <p:cNvPr id="5" name="Rectangle 4"/>
          <p:cNvSpPr/>
          <p:nvPr/>
        </p:nvSpPr>
        <p:spPr>
          <a:xfrm>
            <a:off x="658368" y="1664208"/>
            <a:ext cx="6903720" cy="4242816"/>
          </a:xfrm>
          <a:prstGeom prst="rect">
            <a:avLst/>
          </a:prstGeom>
          <a:solidFill>
            <a:srgbClr val="1A2226"/>
          </a:solidFill>
          <a:ln w="12700">
            <a:solidFill>
              <a:srgbClr val="C3CBC6"/>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6" name="TextBox 5"/>
          <p:cNvSpPr txBox="1"/>
          <p:nvPr/>
        </p:nvSpPr>
        <p:spPr>
          <a:xfrm>
            <a:off x="841247" y="1810512"/>
            <a:ext cx="6592824" cy="3968496"/>
          </a:xfrm>
          <a:prstGeom prst="rect">
            <a:avLst/>
          </a:prstGeom>
          <a:noFill/>
        </p:spPr>
        <p:txBody>
          <a:bodyPr wrap="none" lIns="0" tIns="0" rIns="0" bIns="0">
            <a:spAutoFit/>
          </a:bodyPr>
          <a:lstStyle/>
          <a:p>
            <a:pPr>
              <a:lnSpc>
                <a:spcPct val="124000"/>
              </a:lnSpc>
              <a:spcAft>
                <a:spcPts val="0"/>
              </a:spcAft>
            </a:pPr>
            <a:r>
              <a:rPr sz="2100" b="0" i="0">
                <a:solidFill>
                  <a:srgbClr val="8FA8AA"/>
                </a:solidFill>
                <a:latin typeface="Consolas"/>
              </a:rPr>
              <a:t># every cue token within 12 tokens of the target</a:t>
            </a:r>
          </a:p>
          <a:p>
            <a:pPr>
              <a:lnSpc>
                <a:spcPct val="124000"/>
              </a:lnSpc>
              <a:spcAft>
                <a:spcPts val="0"/>
              </a:spcAft>
            </a:pPr>
            <a:r>
              <a:rPr sz="2100" b="0" i="0">
                <a:solidFill>
                  <a:srgbClr val="DFE7E6"/>
                </a:solidFill>
                <a:latin typeface="Consolas"/>
              </a:rPr>
              <a:t>polarity = cue.polarity</a:t>
            </a:r>
          </a:p>
          <a:p>
            <a:pPr>
              <a:lnSpc>
                <a:spcPct val="124000"/>
              </a:lnSpc>
              <a:spcAft>
                <a:spcPts val="0"/>
              </a:spcAft>
            </a:pPr>
            <a:r>
              <a:rPr sz="2100" b="0" i="0">
                <a:solidFill>
                  <a:srgbClr val="8FA8AA"/>
                </a:solidFill>
                <a:latin typeface="Consolas"/>
              </a:rPr>
              <a:t># direction words depend on the target</a:t>
            </a:r>
          </a:p>
          <a:p>
            <a:pPr>
              <a:lnSpc>
                <a:spcPct val="124000"/>
              </a:lnSpc>
              <a:spcAft>
                <a:spcPts val="0"/>
              </a:spcAft>
            </a:pPr>
            <a:r>
              <a:rPr sz="2100" b="0" i="0">
                <a:solidFill>
                  <a:srgbClr val="DFE7E6"/>
                </a:solidFill>
                <a:latin typeface="Consolas"/>
              </a:rPr>
              <a:t>if cue.kind == "direction":</a:t>
            </a:r>
          </a:p>
          <a:p>
            <a:pPr>
              <a:lnSpc>
                <a:spcPct val="124000"/>
              </a:lnSpc>
              <a:spcAft>
                <a:spcPts val="0"/>
              </a:spcAft>
            </a:pPr>
            <a:r>
              <a:rPr sz="2100" b="0" i="0">
                <a:solidFill>
                  <a:srgbClr val="DFE7E6"/>
                </a:solidFill>
                <a:latin typeface="Consolas"/>
              </a:rPr>
              <a:t>    if orientation == 0: skip</a:t>
            </a:r>
          </a:p>
          <a:p>
            <a:pPr>
              <a:lnSpc>
                <a:spcPct val="124000"/>
              </a:lnSpc>
              <a:spcAft>
                <a:spcPts val="0"/>
              </a:spcAft>
            </a:pPr>
            <a:r>
              <a:rPr sz="2100" b="0" i="0">
                <a:solidFill>
                  <a:srgbClr val="DFE7E6"/>
                </a:solidFill>
                <a:latin typeface="Consolas"/>
              </a:rPr>
              <a:t>    polarity *= orientation</a:t>
            </a:r>
          </a:p>
          <a:p>
            <a:pPr>
              <a:lnSpc>
                <a:spcPct val="124000"/>
              </a:lnSpc>
              <a:spcAft>
                <a:spcPts val="0"/>
              </a:spcAft>
            </a:pPr>
            <a:r>
              <a:rPr sz="2100" b="0" i="0">
                <a:solidFill>
                  <a:srgbClr val="8FA8AA"/>
                </a:solidFill>
                <a:latin typeface="Consolas"/>
              </a:rPr>
              <a:t># adjectives and verbs can be negated, nouns cannot</a:t>
            </a:r>
          </a:p>
          <a:p>
            <a:pPr>
              <a:lnSpc>
                <a:spcPct val="124000"/>
              </a:lnSpc>
              <a:spcAft>
                <a:spcPts val="0"/>
              </a:spcAft>
            </a:pPr>
            <a:r>
              <a:rPr sz="2100" b="0" i="0">
                <a:solidFill>
                  <a:srgbClr val="DFE7E6"/>
                </a:solidFill>
                <a:latin typeface="Consolas"/>
              </a:rPr>
              <a:t>if cue.negatable and negator within 3 tokens:</a:t>
            </a:r>
          </a:p>
          <a:p>
            <a:pPr>
              <a:lnSpc>
                <a:spcPct val="124000"/>
              </a:lnSpc>
              <a:spcAft>
                <a:spcPts val="0"/>
              </a:spcAft>
            </a:pPr>
            <a:r>
              <a:rPr sz="2100" b="0" i="0">
                <a:solidFill>
                  <a:srgbClr val="DFE7E6"/>
                </a:solidFill>
                <a:latin typeface="Consolas"/>
              </a:rPr>
              <a:t>    polarity *= -1</a:t>
            </a:r>
          </a:p>
          <a:p>
            <a:pPr>
              <a:lnSpc>
                <a:spcPct val="124000"/>
              </a:lnSpc>
              <a:spcAft>
                <a:spcPts val="0"/>
              </a:spcAft>
            </a:pPr>
            <a:r>
              <a:rPr sz="2100" b="0" i="0">
                <a:solidFill>
                  <a:srgbClr val="8FA8AA"/>
                </a:solidFill>
                <a:latin typeface="Consolas"/>
              </a:rPr>
              <a:t># nearer evidence counts for more</a:t>
            </a:r>
          </a:p>
          <a:p>
            <a:pPr>
              <a:lnSpc>
                <a:spcPct val="124000"/>
              </a:lnSpc>
              <a:spcAft>
                <a:spcPts val="0"/>
              </a:spcAft>
            </a:pPr>
            <a:r>
              <a:rPr sz="2100" b="0" i="0">
                <a:solidFill>
                  <a:srgbClr val="DFE7E6"/>
                </a:solidFill>
                <a:latin typeface="Consolas"/>
              </a:rPr>
              <a:t>decay = 1 / (1 + distance / 4)</a:t>
            </a:r>
          </a:p>
          <a:p>
            <a:pPr>
              <a:lnSpc>
                <a:spcPct val="124000"/>
              </a:lnSpc>
              <a:spcAft>
                <a:spcPts val="0"/>
              </a:spcAft>
            </a:pPr>
            <a:r>
              <a:rPr sz="2100" b="0" i="0">
                <a:solidFill>
                  <a:srgbClr val="DFE7E6"/>
                </a:solidFill>
                <a:latin typeface="Consolas"/>
              </a:rPr>
              <a:t>score += polarity * cue.weight * decay</a:t>
            </a:r>
          </a:p>
        </p:txBody>
      </p:sp>
      <p:sp>
        <p:nvSpPr>
          <p:cNvPr id="7" name="Rectangle 6"/>
          <p:cNvSpPr/>
          <p:nvPr/>
        </p:nvSpPr>
        <p:spPr>
          <a:xfrm>
            <a:off x="7927848" y="1664208"/>
            <a:ext cx="3605479" cy="4242816"/>
          </a:xfrm>
          <a:prstGeom prst="rect">
            <a:avLst/>
          </a:prstGeom>
          <a:solidFill>
            <a:srgbClr val="F8F9F7"/>
          </a:solidFill>
          <a:ln w="12700">
            <a:solidFill>
              <a:srgbClr val="C3CBC6"/>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8" name="Rectangle 7"/>
          <p:cNvSpPr/>
          <p:nvPr/>
        </p:nvSpPr>
        <p:spPr>
          <a:xfrm>
            <a:off x="7927848" y="1664208"/>
            <a:ext cx="50292" cy="3291840"/>
          </a:xfrm>
          <a:prstGeom prst="rect">
            <a:avLst/>
          </a:prstGeom>
          <a:solidFill>
            <a:srgbClr val="1D4E5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 name="TextBox 8"/>
          <p:cNvSpPr txBox="1"/>
          <p:nvPr/>
        </p:nvSpPr>
        <p:spPr>
          <a:xfrm>
            <a:off x="8202168" y="1847088"/>
            <a:ext cx="3102559" cy="2926080"/>
          </a:xfrm>
          <a:prstGeom prst="rect">
            <a:avLst/>
          </a:prstGeom>
          <a:noFill/>
        </p:spPr>
        <p:txBody>
          <a:bodyPr wrap="square" lIns="0" tIns="0" rIns="0" bIns="0" anchor="t">
            <a:spAutoFit/>
          </a:bodyPr>
          <a:lstStyle/>
          <a:p>
            <a:pPr algn="l">
              <a:lnSpc>
                <a:spcPct val="118000"/>
              </a:lnSpc>
              <a:spcBef>
                <a:spcPts val="0"/>
              </a:spcBef>
              <a:spcAft>
                <a:spcPts val="800"/>
              </a:spcAft>
            </a:pPr>
            <a:r>
              <a:rPr sz="2400" b="1" i="0" dirty="0">
                <a:solidFill>
                  <a:srgbClr val="14181B"/>
                </a:solidFill>
                <a:latin typeface="Segoe UI"/>
              </a:rPr>
              <a:t>Decision</a:t>
            </a:r>
          </a:p>
          <a:p>
            <a:pPr algn="l">
              <a:lnSpc>
                <a:spcPct val="118000"/>
              </a:lnSpc>
              <a:spcBef>
                <a:spcPts val="0"/>
              </a:spcBef>
              <a:spcAft>
                <a:spcPts val="400"/>
              </a:spcAft>
            </a:pPr>
            <a:r>
              <a:rPr sz="2200" b="0" i="0" dirty="0">
                <a:solidFill>
                  <a:srgbClr val="14181B"/>
                </a:solidFill>
                <a:latin typeface="Segoe UI"/>
              </a:rPr>
              <a:t>Above +0.55 is positive.</a:t>
            </a:r>
          </a:p>
          <a:p>
            <a:pPr algn="l">
              <a:lnSpc>
                <a:spcPct val="118000"/>
              </a:lnSpc>
              <a:spcBef>
                <a:spcPts val="0"/>
              </a:spcBef>
              <a:spcAft>
                <a:spcPts val="400"/>
              </a:spcAft>
            </a:pPr>
            <a:r>
              <a:rPr sz="2200" b="0" i="0" dirty="0">
                <a:solidFill>
                  <a:srgbClr val="14181B"/>
                </a:solidFill>
                <a:latin typeface="Segoe UI"/>
              </a:rPr>
              <a:t>Below -0.55 is negative.</a:t>
            </a:r>
          </a:p>
          <a:p>
            <a:pPr algn="l">
              <a:lnSpc>
                <a:spcPct val="118000"/>
              </a:lnSpc>
              <a:spcBef>
                <a:spcPts val="0"/>
              </a:spcBef>
              <a:spcAft>
                <a:spcPts val="1200"/>
              </a:spcAft>
            </a:pPr>
            <a:r>
              <a:rPr sz="2200" b="0" i="0" dirty="0">
                <a:solidFill>
                  <a:srgbClr val="14181B"/>
                </a:solidFill>
                <a:latin typeface="Segoe UI"/>
              </a:rPr>
              <a:t>Anything between is non evaluative.</a:t>
            </a:r>
          </a:p>
          <a:p>
            <a:pPr algn="l">
              <a:lnSpc>
                <a:spcPct val="120000"/>
              </a:lnSpc>
              <a:spcBef>
                <a:spcPts val="0"/>
              </a:spcBef>
              <a:spcAft>
                <a:spcPts val="0"/>
              </a:spcAft>
            </a:pPr>
            <a:r>
              <a:rPr sz="2100" b="0" i="0" dirty="0">
                <a:solidFill>
                  <a:srgbClr val="3E4A4F"/>
                </a:solidFill>
                <a:latin typeface="Segoe UI"/>
              </a:rPr>
              <a:t>The cue set holds 104 stems, each with a weight and a negation flag.</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ECEEEB"/>
        </a:solidFill>
        <a:effectLst/>
      </p:bgPr>
    </p:bg>
    <p:spTree>
      <p:nvGrpSpPr>
        <p:cNvPr id="1" name=""/>
        <p:cNvGrpSpPr/>
        <p:nvPr/>
      </p:nvGrpSpPr>
      <p:grpSpPr>
        <a:xfrm>
          <a:off x="0" y="0"/>
          <a:ext cx="0" cy="0"/>
          <a:chOff x="0" y="0"/>
          <a:chExt cx="0" cy="0"/>
        </a:xfrm>
      </p:grpSpPr>
      <p:sp>
        <p:nvSpPr>
          <p:cNvPr id="2" name="TextBox 1"/>
          <p:cNvSpPr txBox="1"/>
          <p:nvPr/>
        </p:nvSpPr>
        <p:spPr>
          <a:xfrm>
            <a:off x="10618927" y="6309359"/>
            <a:ext cx="914400" cy="274320"/>
          </a:xfrm>
          <a:prstGeom prst="rect">
            <a:avLst/>
          </a:prstGeom>
          <a:noFill/>
        </p:spPr>
        <p:txBody>
          <a:bodyPr wrap="square" lIns="0" tIns="0" rIns="0" bIns="0" anchor="t">
            <a:spAutoFit/>
          </a:bodyPr>
          <a:lstStyle/>
          <a:p>
            <a:pPr algn="r">
              <a:lnSpc>
                <a:spcPct val="118000"/>
              </a:lnSpc>
              <a:spcBef>
                <a:spcPts val="0"/>
              </a:spcBef>
              <a:spcAft>
                <a:spcPts val="0"/>
              </a:spcAft>
            </a:pPr>
            <a:r>
              <a:rPr sz="2100" b="0" i="0">
                <a:solidFill>
                  <a:srgbClr val="6B787D"/>
                </a:solidFill>
                <a:latin typeface="Consolas"/>
              </a:rPr>
              <a:t>18</a:t>
            </a:r>
          </a:p>
        </p:txBody>
      </p:sp>
      <p:sp>
        <p:nvSpPr>
          <p:cNvPr id="3" name="TextBox 2"/>
          <p:cNvSpPr txBox="1"/>
          <p:nvPr/>
        </p:nvSpPr>
        <p:spPr>
          <a:xfrm>
            <a:off x="658368" y="420624"/>
            <a:ext cx="10874959" cy="310896"/>
          </a:xfrm>
          <a:prstGeom prst="rect">
            <a:avLst/>
          </a:prstGeom>
          <a:noFill/>
        </p:spPr>
        <p:txBody>
          <a:bodyPr wrap="square" lIns="0" tIns="0" rIns="0" bIns="0" anchor="t">
            <a:spAutoFit/>
          </a:bodyPr>
          <a:lstStyle/>
          <a:p>
            <a:pPr algn="l">
              <a:lnSpc>
                <a:spcPct val="118000"/>
              </a:lnSpc>
              <a:spcBef>
                <a:spcPts val="0"/>
              </a:spcBef>
              <a:spcAft>
                <a:spcPts val="0"/>
              </a:spcAft>
            </a:pPr>
            <a:r>
              <a:rPr sz="2100" b="1" i="0">
                <a:solidFill>
                  <a:srgbClr val="2E8FA3"/>
                </a:solidFill>
                <a:latin typeface="Consolas"/>
              </a:rPr>
              <a:t>10 / SUPERVISION</a:t>
            </a:r>
          </a:p>
        </p:txBody>
      </p:sp>
      <p:sp>
        <p:nvSpPr>
          <p:cNvPr id="4" name="TextBox 3"/>
          <p:cNvSpPr txBox="1"/>
          <p:nvPr/>
        </p:nvSpPr>
        <p:spPr>
          <a:xfrm>
            <a:off x="658368" y="822960"/>
            <a:ext cx="10874959" cy="822960"/>
          </a:xfrm>
          <a:prstGeom prst="rect">
            <a:avLst/>
          </a:prstGeom>
          <a:noFill/>
        </p:spPr>
        <p:txBody>
          <a:bodyPr wrap="square" lIns="0" tIns="0" rIns="0" bIns="0" anchor="t">
            <a:spAutoFit/>
          </a:bodyPr>
          <a:lstStyle/>
          <a:p>
            <a:pPr algn="l">
              <a:lnSpc>
                <a:spcPct val="106000"/>
              </a:lnSpc>
              <a:spcBef>
                <a:spcPts val="0"/>
              </a:spcBef>
              <a:spcAft>
                <a:spcPts val="0"/>
              </a:spcAft>
            </a:pPr>
            <a:r>
              <a:rPr sz="3600" b="1" i="0">
                <a:solidFill>
                  <a:srgbClr val="14181B"/>
                </a:solidFill>
                <a:latin typeface="Segoe UI"/>
              </a:rPr>
              <a:t>Two corrections found by reading the output</a:t>
            </a:r>
          </a:p>
        </p:txBody>
      </p:sp>
      <p:sp>
        <p:nvSpPr>
          <p:cNvPr id="5" name="TextBox 4"/>
          <p:cNvSpPr txBox="1"/>
          <p:nvPr/>
        </p:nvSpPr>
        <p:spPr>
          <a:xfrm>
            <a:off x="658368" y="1664208"/>
            <a:ext cx="10874959" cy="365760"/>
          </a:xfrm>
          <a:prstGeom prst="rect">
            <a:avLst/>
          </a:prstGeom>
          <a:noFill/>
        </p:spPr>
        <p:txBody>
          <a:bodyPr wrap="square" lIns="0" tIns="0" rIns="0" bIns="0" anchor="t">
            <a:spAutoFit/>
          </a:bodyPr>
          <a:lstStyle/>
          <a:p>
            <a:pPr algn="l">
              <a:lnSpc>
                <a:spcPct val="118000"/>
              </a:lnSpc>
              <a:spcBef>
                <a:spcPts val="0"/>
              </a:spcBef>
              <a:spcAft>
                <a:spcPts val="0"/>
              </a:spcAft>
            </a:pPr>
            <a:r>
              <a:rPr sz="2300" b="1" i="0">
                <a:solidFill>
                  <a:srgbClr val="14181B"/>
                </a:solidFill>
                <a:latin typeface="Segoe UI"/>
              </a:rPr>
              <a:t>Negation has scope. A first version flipped any cue near a negator, and scored crisis as positive.</a:t>
            </a:r>
          </a:p>
        </p:txBody>
      </p:sp>
      <p:sp>
        <p:nvSpPr>
          <p:cNvPr id="6" name="Rectangle 5"/>
          <p:cNvSpPr/>
          <p:nvPr/>
        </p:nvSpPr>
        <p:spPr>
          <a:xfrm>
            <a:off x="658368" y="2139696"/>
            <a:ext cx="10874959" cy="1298448"/>
          </a:xfrm>
          <a:prstGeom prst="rect">
            <a:avLst/>
          </a:prstGeom>
          <a:solidFill>
            <a:srgbClr val="F8F9F7"/>
          </a:solidFill>
          <a:ln w="12700">
            <a:solidFill>
              <a:srgbClr val="C3CBC6"/>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7" name="Rectangle 6"/>
          <p:cNvSpPr/>
          <p:nvPr/>
        </p:nvSpPr>
        <p:spPr>
          <a:xfrm>
            <a:off x="658368" y="2139696"/>
            <a:ext cx="50292" cy="1298448"/>
          </a:xfrm>
          <a:prstGeom prst="rect">
            <a:avLst/>
          </a:prstGeom>
          <a:solidFill>
            <a:srgbClr val="A6423C"/>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8" name="TextBox 7"/>
          <p:cNvSpPr txBox="1"/>
          <p:nvPr/>
        </p:nvSpPr>
        <p:spPr>
          <a:xfrm>
            <a:off x="932688" y="2286000"/>
            <a:ext cx="10372039" cy="420624"/>
          </a:xfrm>
          <a:prstGeom prst="rect">
            <a:avLst/>
          </a:prstGeom>
          <a:noFill/>
        </p:spPr>
        <p:txBody>
          <a:bodyPr wrap="square" lIns="0" tIns="0" rIns="0" bIns="0" anchor="t">
            <a:spAutoFit/>
          </a:bodyPr>
          <a:lstStyle/>
          <a:p>
            <a:pPr algn="l">
              <a:lnSpc>
                <a:spcPct val="130000"/>
              </a:lnSpc>
              <a:spcBef>
                <a:spcPts val="0"/>
              </a:spcBef>
              <a:spcAft>
                <a:spcPts val="0"/>
              </a:spcAft>
            </a:pPr>
            <a:r>
              <a:rPr sz="2800" b="0" i="0">
                <a:solidFill>
                  <a:srgbClr val="14181B"/>
                </a:solidFill>
                <a:latin typeface="Nirmala UI"/>
              </a:rPr>
              <a:t>সংকট কাটছে না</a:t>
            </a:r>
          </a:p>
        </p:txBody>
      </p:sp>
      <p:sp>
        <p:nvSpPr>
          <p:cNvPr id="9" name="TextBox 8"/>
          <p:cNvSpPr txBox="1"/>
          <p:nvPr/>
        </p:nvSpPr>
        <p:spPr>
          <a:xfrm>
            <a:off x="932688" y="2688336"/>
            <a:ext cx="10372039" cy="731519"/>
          </a:xfrm>
          <a:prstGeom prst="rect">
            <a:avLst/>
          </a:prstGeom>
          <a:noFill/>
        </p:spPr>
        <p:txBody>
          <a:bodyPr wrap="square" lIns="0" tIns="0" rIns="0" bIns="0" anchor="t">
            <a:spAutoFit/>
          </a:bodyPr>
          <a:lstStyle/>
          <a:p>
            <a:pPr algn="l">
              <a:lnSpc>
                <a:spcPct val="120000"/>
              </a:lnSpc>
              <a:spcBef>
                <a:spcPts val="0"/>
              </a:spcBef>
              <a:spcAft>
                <a:spcPts val="0"/>
              </a:spcAft>
            </a:pPr>
            <a:r>
              <a:rPr sz="2100" b="0" i="0">
                <a:solidFill>
                  <a:srgbClr val="3E4A4F"/>
                </a:solidFill>
                <a:latin typeface="Segoe UI"/>
              </a:rPr>
              <a:t>The crisis is not passing. The </a:t>
            </a:r>
            <a:r>
              <a:rPr sz="2100" b="0" i="0">
                <a:solidFill>
                  <a:srgbClr val="3E4A4F"/>
                </a:solidFill>
                <a:latin typeface="Nirmala UI"/>
              </a:rPr>
              <a:t>না </a:t>
            </a:r>
            <a:r>
              <a:rPr sz="2100" b="0" i="0">
                <a:solidFill>
                  <a:srgbClr val="3E4A4F"/>
                </a:solidFill>
                <a:latin typeface="Segoe UI"/>
              </a:rPr>
              <a:t>negates the verb, not the noun, and it is still bad news. Only adjectives and verbs are now marked negatable.</a:t>
            </a:r>
          </a:p>
        </p:txBody>
      </p:sp>
      <p:sp>
        <p:nvSpPr>
          <p:cNvPr id="10" name="TextBox 9"/>
          <p:cNvSpPr txBox="1"/>
          <p:nvPr/>
        </p:nvSpPr>
        <p:spPr>
          <a:xfrm>
            <a:off x="658368" y="3767328"/>
            <a:ext cx="10874959" cy="365760"/>
          </a:xfrm>
          <a:prstGeom prst="rect">
            <a:avLst/>
          </a:prstGeom>
          <a:noFill/>
        </p:spPr>
        <p:txBody>
          <a:bodyPr wrap="square" lIns="0" tIns="0" rIns="0" bIns="0" anchor="t">
            <a:spAutoFit/>
          </a:bodyPr>
          <a:lstStyle/>
          <a:p>
            <a:pPr algn="l">
              <a:lnSpc>
                <a:spcPct val="118000"/>
              </a:lnSpc>
              <a:spcBef>
                <a:spcPts val="0"/>
              </a:spcBef>
              <a:spcAft>
                <a:spcPts val="0"/>
              </a:spcAft>
            </a:pPr>
            <a:r>
              <a:rPr sz="2300" b="1" i="0">
                <a:solidFill>
                  <a:srgbClr val="14181B"/>
                </a:solidFill>
                <a:latin typeface="Segoe UI"/>
              </a:rPr>
              <a:t>Bangla builds a negated verb complex. The particle can sit three tokens from the word it negates.</a:t>
            </a:r>
          </a:p>
        </p:txBody>
      </p:sp>
      <p:sp>
        <p:nvSpPr>
          <p:cNvPr id="11" name="Rectangle 10"/>
          <p:cNvSpPr/>
          <p:nvPr/>
        </p:nvSpPr>
        <p:spPr>
          <a:xfrm>
            <a:off x="658368" y="4242815"/>
            <a:ext cx="10874959" cy="1273081"/>
          </a:xfrm>
          <a:prstGeom prst="rect">
            <a:avLst/>
          </a:prstGeom>
          <a:solidFill>
            <a:srgbClr val="F8F9F7"/>
          </a:solidFill>
          <a:ln w="12700">
            <a:solidFill>
              <a:srgbClr val="C3CBC6"/>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2" name="Rectangle 11"/>
          <p:cNvSpPr/>
          <p:nvPr/>
        </p:nvSpPr>
        <p:spPr>
          <a:xfrm>
            <a:off x="658368" y="4242816"/>
            <a:ext cx="50292" cy="1188720"/>
          </a:xfrm>
          <a:prstGeom prst="rect">
            <a:avLst/>
          </a:prstGeom>
          <a:solidFill>
            <a:srgbClr val="A6423C"/>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3" name="TextBox 12"/>
          <p:cNvSpPr txBox="1"/>
          <p:nvPr/>
        </p:nvSpPr>
        <p:spPr>
          <a:xfrm>
            <a:off x="932688" y="4389120"/>
            <a:ext cx="10372039" cy="420624"/>
          </a:xfrm>
          <a:prstGeom prst="rect">
            <a:avLst/>
          </a:prstGeom>
          <a:noFill/>
        </p:spPr>
        <p:txBody>
          <a:bodyPr wrap="square" lIns="0" tIns="0" rIns="0" bIns="0" anchor="t">
            <a:spAutoFit/>
          </a:bodyPr>
          <a:lstStyle/>
          <a:p>
            <a:pPr algn="l">
              <a:lnSpc>
                <a:spcPct val="130000"/>
              </a:lnSpc>
              <a:spcBef>
                <a:spcPts val="0"/>
              </a:spcBef>
              <a:spcAft>
                <a:spcPts val="0"/>
              </a:spcAft>
            </a:pPr>
            <a:r>
              <a:rPr sz="2800" b="0" i="0">
                <a:solidFill>
                  <a:srgbClr val="14181B"/>
                </a:solidFill>
                <a:latin typeface="Nirmala UI"/>
              </a:rPr>
              <a:t>স্থিতিশীল করতে পারবেন না</a:t>
            </a:r>
          </a:p>
        </p:txBody>
      </p:sp>
      <p:sp>
        <p:nvSpPr>
          <p:cNvPr id="14" name="TextBox 13"/>
          <p:cNvSpPr txBox="1"/>
          <p:nvPr/>
        </p:nvSpPr>
        <p:spPr>
          <a:xfrm>
            <a:off x="932688" y="4791456"/>
            <a:ext cx="10372039" cy="621792"/>
          </a:xfrm>
          <a:prstGeom prst="rect">
            <a:avLst/>
          </a:prstGeom>
          <a:noFill/>
        </p:spPr>
        <p:txBody>
          <a:bodyPr wrap="square" lIns="0" tIns="0" rIns="0" bIns="0" anchor="t">
            <a:spAutoFit/>
          </a:bodyPr>
          <a:lstStyle/>
          <a:p>
            <a:pPr algn="l">
              <a:lnSpc>
                <a:spcPct val="120000"/>
              </a:lnSpc>
              <a:spcBef>
                <a:spcPts val="0"/>
              </a:spcBef>
              <a:spcAft>
                <a:spcPts val="0"/>
              </a:spcAft>
            </a:pPr>
            <a:r>
              <a:rPr sz="2100" b="0" i="0">
                <a:solidFill>
                  <a:srgbClr val="3E4A4F"/>
                </a:solidFill>
                <a:latin typeface="Segoe UI"/>
              </a:rPr>
              <a:t>You will not be able to stabilise it. Scored positive until the negation window was widened to three.</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ECEEEB"/>
        </a:solidFill>
        <a:effectLst/>
      </p:bgPr>
    </p:bg>
    <p:spTree>
      <p:nvGrpSpPr>
        <p:cNvPr id="1" name=""/>
        <p:cNvGrpSpPr/>
        <p:nvPr/>
      </p:nvGrpSpPr>
      <p:grpSpPr>
        <a:xfrm>
          <a:off x="0" y="0"/>
          <a:ext cx="0" cy="0"/>
          <a:chOff x="0" y="0"/>
          <a:chExt cx="0" cy="0"/>
        </a:xfrm>
      </p:grpSpPr>
      <p:sp>
        <p:nvSpPr>
          <p:cNvPr id="2" name="TextBox 1"/>
          <p:cNvSpPr txBox="1"/>
          <p:nvPr/>
        </p:nvSpPr>
        <p:spPr>
          <a:xfrm>
            <a:off x="10618927" y="6309359"/>
            <a:ext cx="914400" cy="274320"/>
          </a:xfrm>
          <a:prstGeom prst="rect">
            <a:avLst/>
          </a:prstGeom>
          <a:noFill/>
        </p:spPr>
        <p:txBody>
          <a:bodyPr wrap="square" lIns="0" tIns="0" rIns="0" bIns="0" anchor="t">
            <a:spAutoFit/>
          </a:bodyPr>
          <a:lstStyle/>
          <a:p>
            <a:pPr algn="r">
              <a:lnSpc>
                <a:spcPct val="118000"/>
              </a:lnSpc>
              <a:spcBef>
                <a:spcPts val="0"/>
              </a:spcBef>
              <a:spcAft>
                <a:spcPts val="0"/>
              </a:spcAft>
            </a:pPr>
            <a:r>
              <a:rPr sz="2100" b="0" i="0">
                <a:solidFill>
                  <a:srgbClr val="6B787D"/>
                </a:solidFill>
                <a:latin typeface="Consolas"/>
              </a:rPr>
              <a:t>19</a:t>
            </a:r>
          </a:p>
        </p:txBody>
      </p:sp>
      <p:sp>
        <p:nvSpPr>
          <p:cNvPr id="3" name="TextBox 2"/>
          <p:cNvSpPr txBox="1"/>
          <p:nvPr/>
        </p:nvSpPr>
        <p:spPr>
          <a:xfrm>
            <a:off x="658368" y="420624"/>
            <a:ext cx="10874959" cy="310896"/>
          </a:xfrm>
          <a:prstGeom prst="rect">
            <a:avLst/>
          </a:prstGeom>
          <a:noFill/>
        </p:spPr>
        <p:txBody>
          <a:bodyPr wrap="square" lIns="0" tIns="0" rIns="0" bIns="0" anchor="t">
            <a:spAutoFit/>
          </a:bodyPr>
          <a:lstStyle/>
          <a:p>
            <a:pPr algn="l">
              <a:lnSpc>
                <a:spcPct val="118000"/>
              </a:lnSpc>
              <a:spcBef>
                <a:spcPts val="0"/>
              </a:spcBef>
              <a:spcAft>
                <a:spcPts val="0"/>
              </a:spcAft>
            </a:pPr>
            <a:r>
              <a:rPr sz="2100" b="1" i="0">
                <a:solidFill>
                  <a:srgbClr val="2E8FA3"/>
                </a:solidFill>
                <a:latin typeface="Consolas"/>
              </a:rPr>
              <a:t>10 / SUPERVISION</a:t>
            </a:r>
          </a:p>
        </p:txBody>
      </p:sp>
      <p:sp>
        <p:nvSpPr>
          <p:cNvPr id="4" name="TextBox 3"/>
          <p:cNvSpPr txBox="1"/>
          <p:nvPr/>
        </p:nvSpPr>
        <p:spPr>
          <a:xfrm>
            <a:off x="658368" y="822960"/>
            <a:ext cx="10874959" cy="822960"/>
          </a:xfrm>
          <a:prstGeom prst="rect">
            <a:avLst/>
          </a:prstGeom>
          <a:noFill/>
        </p:spPr>
        <p:txBody>
          <a:bodyPr wrap="square" lIns="0" tIns="0" rIns="0" bIns="0" anchor="t">
            <a:spAutoFit/>
          </a:bodyPr>
          <a:lstStyle/>
          <a:p>
            <a:pPr algn="l">
              <a:lnSpc>
                <a:spcPct val="106000"/>
              </a:lnSpc>
              <a:spcBef>
                <a:spcPts val="0"/>
              </a:spcBef>
              <a:spcAft>
                <a:spcPts val="0"/>
              </a:spcAft>
            </a:pPr>
            <a:r>
              <a:rPr sz="3600" b="1" i="0">
                <a:solidFill>
                  <a:srgbClr val="14181B"/>
                </a:solidFill>
                <a:latin typeface="Segoe UI"/>
              </a:rPr>
              <a:t>What the rule set produced</a:t>
            </a:r>
          </a:p>
        </p:txBody>
      </p:sp>
      <p:sp>
        <p:nvSpPr>
          <p:cNvPr id="6" name="Rectangle 5"/>
          <p:cNvSpPr/>
          <p:nvPr/>
        </p:nvSpPr>
        <p:spPr>
          <a:xfrm>
            <a:off x="658368" y="2066543"/>
            <a:ext cx="10874959" cy="1133856"/>
          </a:xfrm>
          <a:prstGeom prst="rect">
            <a:avLst/>
          </a:prstGeom>
          <a:solidFill>
            <a:srgbClr val="F8F9F7"/>
          </a:solidFill>
          <a:ln w="12700">
            <a:solidFill>
              <a:srgbClr val="C3CBC6"/>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7" name="TextBox 6"/>
          <p:cNvSpPr txBox="1"/>
          <p:nvPr/>
        </p:nvSpPr>
        <p:spPr>
          <a:xfrm>
            <a:off x="841247" y="2185415"/>
            <a:ext cx="2407843" cy="420624"/>
          </a:xfrm>
          <a:prstGeom prst="rect">
            <a:avLst/>
          </a:prstGeom>
          <a:noFill/>
        </p:spPr>
        <p:txBody>
          <a:bodyPr wrap="square" lIns="0" tIns="0" rIns="0" bIns="0" anchor="t">
            <a:spAutoFit/>
          </a:bodyPr>
          <a:lstStyle/>
          <a:p>
            <a:pPr algn="l">
              <a:lnSpc>
                <a:spcPct val="118000"/>
              </a:lnSpc>
              <a:spcBef>
                <a:spcPts val="0"/>
              </a:spcBef>
              <a:spcAft>
                <a:spcPts val="0"/>
              </a:spcAft>
            </a:pPr>
            <a:r>
              <a:rPr sz="3200" b="1" i="0">
                <a:solidFill>
                  <a:srgbClr val="14181B"/>
                </a:solidFill>
                <a:latin typeface="Segoe UI"/>
              </a:rPr>
              <a:t>3,019</a:t>
            </a:r>
          </a:p>
        </p:txBody>
      </p:sp>
      <p:sp>
        <p:nvSpPr>
          <p:cNvPr id="8" name="TextBox 7"/>
          <p:cNvSpPr txBox="1"/>
          <p:nvPr/>
        </p:nvSpPr>
        <p:spPr>
          <a:xfrm>
            <a:off x="841247" y="2633472"/>
            <a:ext cx="2444419" cy="292608"/>
          </a:xfrm>
          <a:prstGeom prst="rect">
            <a:avLst/>
          </a:prstGeom>
          <a:noFill/>
        </p:spPr>
        <p:txBody>
          <a:bodyPr wrap="square" lIns="0" tIns="0" rIns="0" bIns="0" anchor="t">
            <a:spAutoFit/>
          </a:bodyPr>
          <a:lstStyle/>
          <a:p>
            <a:pPr algn="l">
              <a:lnSpc>
                <a:spcPct val="118000"/>
              </a:lnSpc>
              <a:spcBef>
                <a:spcPts val="0"/>
              </a:spcBef>
              <a:spcAft>
                <a:spcPts val="0"/>
              </a:spcAft>
            </a:pPr>
            <a:r>
              <a:rPr sz="2100" b="0" i="0">
                <a:solidFill>
                  <a:srgbClr val="6B787D"/>
                </a:solidFill>
                <a:latin typeface="Consolas"/>
              </a:rPr>
              <a:t>TRAINING LABELS</a:t>
            </a:r>
          </a:p>
        </p:txBody>
      </p:sp>
      <p:sp>
        <p:nvSpPr>
          <p:cNvPr id="9" name="Rectangle 8"/>
          <p:cNvSpPr/>
          <p:nvPr/>
        </p:nvSpPr>
        <p:spPr>
          <a:xfrm>
            <a:off x="3377107" y="2157984"/>
            <a:ext cx="7315" cy="950976"/>
          </a:xfrm>
          <a:prstGeom prst="rect">
            <a:avLst/>
          </a:prstGeom>
          <a:solidFill>
            <a:srgbClr val="C3CBC6"/>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0" name="TextBox 9"/>
          <p:cNvSpPr txBox="1"/>
          <p:nvPr/>
        </p:nvSpPr>
        <p:spPr>
          <a:xfrm>
            <a:off x="3559987" y="2185415"/>
            <a:ext cx="2407843" cy="420624"/>
          </a:xfrm>
          <a:prstGeom prst="rect">
            <a:avLst/>
          </a:prstGeom>
          <a:noFill/>
        </p:spPr>
        <p:txBody>
          <a:bodyPr wrap="square" lIns="0" tIns="0" rIns="0" bIns="0" anchor="t">
            <a:spAutoFit/>
          </a:bodyPr>
          <a:lstStyle/>
          <a:p>
            <a:pPr algn="l">
              <a:lnSpc>
                <a:spcPct val="118000"/>
              </a:lnSpc>
              <a:spcBef>
                <a:spcPts val="0"/>
              </a:spcBef>
              <a:spcAft>
                <a:spcPts val="0"/>
              </a:spcAft>
            </a:pPr>
            <a:r>
              <a:rPr sz="3200" b="1" i="0">
                <a:solidFill>
                  <a:srgbClr val="14181B"/>
                </a:solidFill>
                <a:latin typeface="Segoe UI"/>
              </a:rPr>
              <a:t>284</a:t>
            </a:r>
          </a:p>
        </p:txBody>
      </p:sp>
      <p:sp>
        <p:nvSpPr>
          <p:cNvPr id="11" name="TextBox 10"/>
          <p:cNvSpPr txBox="1"/>
          <p:nvPr/>
        </p:nvSpPr>
        <p:spPr>
          <a:xfrm>
            <a:off x="3559987" y="2633472"/>
            <a:ext cx="2444419" cy="292608"/>
          </a:xfrm>
          <a:prstGeom prst="rect">
            <a:avLst/>
          </a:prstGeom>
          <a:noFill/>
        </p:spPr>
        <p:txBody>
          <a:bodyPr wrap="square" lIns="0" tIns="0" rIns="0" bIns="0" anchor="t">
            <a:spAutoFit/>
          </a:bodyPr>
          <a:lstStyle/>
          <a:p>
            <a:pPr algn="l">
              <a:lnSpc>
                <a:spcPct val="118000"/>
              </a:lnSpc>
              <a:spcBef>
                <a:spcPts val="0"/>
              </a:spcBef>
              <a:spcAft>
                <a:spcPts val="0"/>
              </a:spcAft>
            </a:pPr>
            <a:r>
              <a:rPr sz="2100" b="0" i="0">
                <a:solidFill>
                  <a:srgbClr val="6B787D"/>
                </a:solidFill>
                <a:latin typeface="Consolas"/>
              </a:rPr>
              <a:t>NEGATIVE 9.4%</a:t>
            </a:r>
          </a:p>
        </p:txBody>
      </p:sp>
      <p:sp>
        <p:nvSpPr>
          <p:cNvPr id="12" name="Rectangle 11"/>
          <p:cNvSpPr/>
          <p:nvPr/>
        </p:nvSpPr>
        <p:spPr>
          <a:xfrm>
            <a:off x="6095847" y="2157984"/>
            <a:ext cx="7315" cy="950976"/>
          </a:xfrm>
          <a:prstGeom prst="rect">
            <a:avLst/>
          </a:prstGeom>
          <a:solidFill>
            <a:srgbClr val="C3CBC6"/>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3" name="TextBox 12"/>
          <p:cNvSpPr txBox="1"/>
          <p:nvPr/>
        </p:nvSpPr>
        <p:spPr>
          <a:xfrm>
            <a:off x="6278727" y="2185415"/>
            <a:ext cx="2407843" cy="420624"/>
          </a:xfrm>
          <a:prstGeom prst="rect">
            <a:avLst/>
          </a:prstGeom>
          <a:noFill/>
        </p:spPr>
        <p:txBody>
          <a:bodyPr wrap="square" lIns="0" tIns="0" rIns="0" bIns="0" anchor="t">
            <a:spAutoFit/>
          </a:bodyPr>
          <a:lstStyle/>
          <a:p>
            <a:pPr algn="l">
              <a:lnSpc>
                <a:spcPct val="118000"/>
              </a:lnSpc>
              <a:spcBef>
                <a:spcPts val="0"/>
              </a:spcBef>
              <a:spcAft>
                <a:spcPts val="0"/>
              </a:spcAft>
            </a:pPr>
            <a:r>
              <a:rPr sz="3200" b="1" i="0">
                <a:solidFill>
                  <a:srgbClr val="14181B"/>
                </a:solidFill>
                <a:latin typeface="Segoe UI"/>
              </a:rPr>
              <a:t>2,583</a:t>
            </a:r>
          </a:p>
        </p:txBody>
      </p:sp>
      <p:sp>
        <p:nvSpPr>
          <p:cNvPr id="14" name="TextBox 13"/>
          <p:cNvSpPr txBox="1"/>
          <p:nvPr/>
        </p:nvSpPr>
        <p:spPr>
          <a:xfrm>
            <a:off x="6278727" y="2633472"/>
            <a:ext cx="2444419" cy="292608"/>
          </a:xfrm>
          <a:prstGeom prst="rect">
            <a:avLst/>
          </a:prstGeom>
          <a:noFill/>
        </p:spPr>
        <p:txBody>
          <a:bodyPr wrap="square" lIns="0" tIns="0" rIns="0" bIns="0" anchor="t">
            <a:spAutoFit/>
          </a:bodyPr>
          <a:lstStyle/>
          <a:p>
            <a:pPr algn="l">
              <a:lnSpc>
                <a:spcPct val="118000"/>
              </a:lnSpc>
              <a:spcBef>
                <a:spcPts val="0"/>
              </a:spcBef>
              <a:spcAft>
                <a:spcPts val="0"/>
              </a:spcAft>
            </a:pPr>
            <a:r>
              <a:rPr sz="2100" b="0" i="0">
                <a:solidFill>
                  <a:srgbClr val="6B787D"/>
                </a:solidFill>
                <a:latin typeface="Consolas"/>
              </a:rPr>
              <a:t>NON EVAL 85.6%</a:t>
            </a:r>
          </a:p>
        </p:txBody>
      </p:sp>
      <p:sp>
        <p:nvSpPr>
          <p:cNvPr id="15" name="Rectangle 14"/>
          <p:cNvSpPr/>
          <p:nvPr/>
        </p:nvSpPr>
        <p:spPr>
          <a:xfrm>
            <a:off x="8814587" y="2157984"/>
            <a:ext cx="7315" cy="950976"/>
          </a:xfrm>
          <a:prstGeom prst="rect">
            <a:avLst/>
          </a:prstGeom>
          <a:solidFill>
            <a:srgbClr val="C3CBC6"/>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6" name="TextBox 15"/>
          <p:cNvSpPr txBox="1"/>
          <p:nvPr/>
        </p:nvSpPr>
        <p:spPr>
          <a:xfrm>
            <a:off x="8997467" y="2185415"/>
            <a:ext cx="2407843" cy="420624"/>
          </a:xfrm>
          <a:prstGeom prst="rect">
            <a:avLst/>
          </a:prstGeom>
          <a:noFill/>
        </p:spPr>
        <p:txBody>
          <a:bodyPr wrap="square" lIns="0" tIns="0" rIns="0" bIns="0" anchor="t">
            <a:spAutoFit/>
          </a:bodyPr>
          <a:lstStyle/>
          <a:p>
            <a:pPr algn="l">
              <a:lnSpc>
                <a:spcPct val="118000"/>
              </a:lnSpc>
              <a:spcBef>
                <a:spcPts val="0"/>
              </a:spcBef>
              <a:spcAft>
                <a:spcPts val="0"/>
              </a:spcAft>
            </a:pPr>
            <a:r>
              <a:rPr sz="3200" b="1" i="0">
                <a:solidFill>
                  <a:srgbClr val="14181B"/>
                </a:solidFill>
                <a:latin typeface="Segoe UI"/>
              </a:rPr>
              <a:t>152</a:t>
            </a:r>
          </a:p>
        </p:txBody>
      </p:sp>
      <p:sp>
        <p:nvSpPr>
          <p:cNvPr id="17" name="TextBox 16"/>
          <p:cNvSpPr txBox="1"/>
          <p:nvPr/>
        </p:nvSpPr>
        <p:spPr>
          <a:xfrm>
            <a:off x="8997467" y="2633472"/>
            <a:ext cx="2444419" cy="292608"/>
          </a:xfrm>
          <a:prstGeom prst="rect">
            <a:avLst/>
          </a:prstGeom>
          <a:noFill/>
        </p:spPr>
        <p:txBody>
          <a:bodyPr wrap="square" lIns="0" tIns="0" rIns="0" bIns="0" anchor="t">
            <a:spAutoFit/>
          </a:bodyPr>
          <a:lstStyle/>
          <a:p>
            <a:pPr algn="l">
              <a:lnSpc>
                <a:spcPct val="118000"/>
              </a:lnSpc>
              <a:spcBef>
                <a:spcPts val="0"/>
              </a:spcBef>
              <a:spcAft>
                <a:spcPts val="0"/>
              </a:spcAft>
            </a:pPr>
            <a:r>
              <a:rPr sz="2100" b="0" i="0">
                <a:solidFill>
                  <a:srgbClr val="6B787D"/>
                </a:solidFill>
                <a:latin typeface="Consolas"/>
              </a:rPr>
              <a:t>POSITIVE 5.0%</a:t>
            </a:r>
          </a:p>
        </p:txBody>
      </p:sp>
      <p:sp>
        <p:nvSpPr>
          <p:cNvPr id="18" name="Rectangle 17"/>
          <p:cNvSpPr/>
          <p:nvPr/>
        </p:nvSpPr>
        <p:spPr>
          <a:xfrm>
            <a:off x="658368" y="3584448"/>
            <a:ext cx="10874959" cy="1225296"/>
          </a:xfrm>
          <a:prstGeom prst="rect">
            <a:avLst/>
          </a:prstGeom>
          <a:solidFill>
            <a:srgbClr val="F8F9F7"/>
          </a:solidFill>
          <a:ln w="12700">
            <a:solidFill>
              <a:srgbClr val="C3CBC6"/>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9" name="Rectangle 18"/>
          <p:cNvSpPr/>
          <p:nvPr/>
        </p:nvSpPr>
        <p:spPr>
          <a:xfrm>
            <a:off x="658368" y="3584448"/>
            <a:ext cx="50292" cy="1225296"/>
          </a:xfrm>
          <a:prstGeom prst="rect">
            <a:avLst/>
          </a:prstGeom>
          <a:solidFill>
            <a:srgbClr val="B5811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0" name="TextBox 19"/>
          <p:cNvSpPr txBox="1"/>
          <p:nvPr/>
        </p:nvSpPr>
        <p:spPr>
          <a:xfrm>
            <a:off x="932688" y="3767328"/>
            <a:ext cx="10372039" cy="859536"/>
          </a:xfrm>
          <a:prstGeom prst="rect">
            <a:avLst/>
          </a:prstGeom>
          <a:noFill/>
        </p:spPr>
        <p:txBody>
          <a:bodyPr wrap="square" lIns="0" tIns="0" rIns="0" bIns="0" anchor="t">
            <a:spAutoFit/>
          </a:bodyPr>
          <a:lstStyle/>
          <a:p>
            <a:pPr algn="l">
              <a:lnSpc>
                <a:spcPct val="120000"/>
              </a:lnSpc>
              <a:spcBef>
                <a:spcPts val="0"/>
              </a:spcBef>
              <a:spcAft>
                <a:spcPts val="0"/>
              </a:spcAft>
            </a:pPr>
            <a:r>
              <a:rPr sz="2200" b="0" i="0">
                <a:solidFill>
                  <a:srgbClr val="3E4A4F"/>
                </a:solidFill>
                <a:latin typeface="Segoe UI"/>
              </a:rPr>
              <a:t>Rows flagged as repetition loops, and rows under six words, are excluded from supervision rather than silently labelled neutral. That is 90 of 3,109 pairs.</a:t>
            </a:r>
          </a:p>
        </p:txBody>
      </p:sp>
      <p:sp>
        <p:nvSpPr>
          <p:cNvPr id="21" name="Rectangle 20"/>
          <p:cNvSpPr/>
          <p:nvPr/>
        </p:nvSpPr>
        <p:spPr>
          <a:xfrm>
            <a:off x="658368" y="4974336"/>
            <a:ext cx="10874959" cy="1225296"/>
          </a:xfrm>
          <a:prstGeom prst="rect">
            <a:avLst/>
          </a:prstGeom>
          <a:solidFill>
            <a:srgbClr val="F8F9F7"/>
          </a:solidFill>
          <a:ln w="12700">
            <a:solidFill>
              <a:srgbClr val="C3CBC6"/>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2" name="Rectangle 21"/>
          <p:cNvSpPr/>
          <p:nvPr/>
        </p:nvSpPr>
        <p:spPr>
          <a:xfrm>
            <a:off x="658368" y="4974336"/>
            <a:ext cx="50292" cy="1225296"/>
          </a:xfrm>
          <a:prstGeom prst="rect">
            <a:avLst/>
          </a:prstGeom>
          <a:solidFill>
            <a:srgbClr val="A6423C"/>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3" name="TextBox 22"/>
          <p:cNvSpPr txBox="1"/>
          <p:nvPr/>
        </p:nvSpPr>
        <p:spPr>
          <a:xfrm>
            <a:off x="932688" y="5157216"/>
            <a:ext cx="10372039" cy="859536"/>
          </a:xfrm>
          <a:prstGeom prst="rect">
            <a:avLst/>
          </a:prstGeom>
          <a:noFill/>
        </p:spPr>
        <p:txBody>
          <a:bodyPr wrap="square" lIns="0" tIns="0" rIns="0" bIns="0" anchor="t">
            <a:spAutoFit/>
          </a:bodyPr>
          <a:lstStyle/>
          <a:p>
            <a:pPr algn="l">
              <a:lnSpc>
                <a:spcPct val="120000"/>
              </a:lnSpc>
              <a:spcBef>
                <a:spcPts val="0"/>
              </a:spcBef>
              <a:spcAft>
                <a:spcPts val="0"/>
              </a:spcAft>
            </a:pPr>
            <a:r>
              <a:rPr sz="2200" b="0" i="0">
                <a:solidFill>
                  <a:srgbClr val="3E4A4F"/>
                </a:solidFill>
                <a:latin typeface="Segoe UI"/>
              </a:rPr>
              <a:t>Only 152 positive examples exist in the whole corpus. That thinness is why the positive class is the weakest in every result that follows.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ECEEEB"/>
        </a:solidFill>
        <a:effectLst/>
      </p:bgPr>
    </p:bg>
    <p:spTree>
      <p:nvGrpSpPr>
        <p:cNvPr id="1" name=""/>
        <p:cNvGrpSpPr/>
        <p:nvPr/>
      </p:nvGrpSpPr>
      <p:grpSpPr>
        <a:xfrm>
          <a:off x="0" y="0"/>
          <a:ext cx="0" cy="0"/>
          <a:chOff x="0" y="0"/>
          <a:chExt cx="0" cy="0"/>
        </a:xfrm>
      </p:grpSpPr>
      <p:sp>
        <p:nvSpPr>
          <p:cNvPr id="2" name="TextBox 1"/>
          <p:cNvSpPr txBox="1"/>
          <p:nvPr/>
        </p:nvSpPr>
        <p:spPr>
          <a:xfrm>
            <a:off x="10618927" y="6309359"/>
            <a:ext cx="914400" cy="274320"/>
          </a:xfrm>
          <a:prstGeom prst="rect">
            <a:avLst/>
          </a:prstGeom>
          <a:noFill/>
        </p:spPr>
        <p:txBody>
          <a:bodyPr wrap="square" lIns="0" tIns="0" rIns="0" bIns="0" anchor="t">
            <a:spAutoFit/>
          </a:bodyPr>
          <a:lstStyle/>
          <a:p>
            <a:pPr algn="r">
              <a:lnSpc>
                <a:spcPct val="118000"/>
              </a:lnSpc>
              <a:spcBef>
                <a:spcPts val="0"/>
              </a:spcBef>
              <a:spcAft>
                <a:spcPts val="0"/>
              </a:spcAft>
            </a:pPr>
            <a:r>
              <a:rPr sz="2100" b="0" i="0">
                <a:solidFill>
                  <a:srgbClr val="6B787D"/>
                </a:solidFill>
                <a:latin typeface="Consolas"/>
              </a:rPr>
              <a:t>20</a:t>
            </a:r>
          </a:p>
        </p:txBody>
      </p:sp>
      <p:sp>
        <p:nvSpPr>
          <p:cNvPr id="3" name="TextBox 2"/>
          <p:cNvSpPr txBox="1"/>
          <p:nvPr/>
        </p:nvSpPr>
        <p:spPr>
          <a:xfrm>
            <a:off x="658368" y="420624"/>
            <a:ext cx="10874959" cy="310896"/>
          </a:xfrm>
          <a:prstGeom prst="rect">
            <a:avLst/>
          </a:prstGeom>
          <a:noFill/>
        </p:spPr>
        <p:txBody>
          <a:bodyPr wrap="square" lIns="0" tIns="0" rIns="0" bIns="0" anchor="t">
            <a:spAutoFit/>
          </a:bodyPr>
          <a:lstStyle/>
          <a:p>
            <a:pPr algn="l">
              <a:lnSpc>
                <a:spcPct val="118000"/>
              </a:lnSpc>
              <a:spcBef>
                <a:spcPts val="0"/>
              </a:spcBef>
              <a:spcAft>
                <a:spcPts val="0"/>
              </a:spcAft>
            </a:pPr>
            <a:r>
              <a:rPr sz="2100" b="1" i="0">
                <a:solidFill>
                  <a:srgbClr val="2E8FA3"/>
                </a:solidFill>
                <a:latin typeface="Consolas"/>
              </a:rPr>
              <a:t>11 / SPLIT</a:t>
            </a:r>
          </a:p>
        </p:txBody>
      </p:sp>
      <p:sp>
        <p:nvSpPr>
          <p:cNvPr id="4" name="TextBox 3"/>
          <p:cNvSpPr txBox="1"/>
          <p:nvPr/>
        </p:nvSpPr>
        <p:spPr>
          <a:xfrm>
            <a:off x="658368" y="822960"/>
            <a:ext cx="10874959" cy="822960"/>
          </a:xfrm>
          <a:prstGeom prst="rect">
            <a:avLst/>
          </a:prstGeom>
          <a:noFill/>
        </p:spPr>
        <p:txBody>
          <a:bodyPr wrap="square" lIns="0" tIns="0" rIns="0" bIns="0" anchor="t">
            <a:spAutoFit/>
          </a:bodyPr>
          <a:lstStyle/>
          <a:p>
            <a:pPr algn="l">
              <a:lnSpc>
                <a:spcPct val="106000"/>
              </a:lnSpc>
              <a:spcBef>
                <a:spcPts val="0"/>
              </a:spcBef>
              <a:spcAft>
                <a:spcPts val="0"/>
              </a:spcAft>
            </a:pPr>
            <a:r>
              <a:rPr sz="3600" b="1" i="0">
                <a:solidFill>
                  <a:srgbClr val="14181B"/>
                </a:solidFill>
                <a:latin typeface="Segoe UI"/>
              </a:rPr>
              <a:t>Split by episode, never by row</a:t>
            </a:r>
          </a:p>
        </p:txBody>
      </p:sp>
      <p:sp>
        <p:nvSpPr>
          <p:cNvPr id="5" name="TextBox 4"/>
          <p:cNvSpPr txBox="1"/>
          <p:nvPr/>
        </p:nvSpPr>
        <p:spPr>
          <a:xfrm>
            <a:off x="658368" y="1664208"/>
            <a:ext cx="10874959" cy="914400"/>
          </a:xfrm>
          <a:prstGeom prst="rect">
            <a:avLst/>
          </a:prstGeom>
          <a:noFill/>
        </p:spPr>
        <p:txBody>
          <a:bodyPr wrap="square" lIns="0" tIns="0" rIns="0" bIns="0" anchor="t">
            <a:spAutoFit/>
          </a:bodyPr>
          <a:lstStyle/>
          <a:p>
            <a:pPr algn="l">
              <a:lnSpc>
                <a:spcPct val="124000"/>
              </a:lnSpc>
              <a:spcBef>
                <a:spcPts val="0"/>
              </a:spcBef>
              <a:spcAft>
                <a:spcPts val="0"/>
              </a:spcAft>
            </a:pPr>
            <a:r>
              <a:rPr sz="2400" b="0" i="0">
                <a:solidFill>
                  <a:srgbClr val="14181B"/>
                </a:solidFill>
                <a:latin typeface="Segoe UI"/>
              </a:rPr>
              <a:t>Two utterances from the same talk show share the panel, the topic, the host's phrasing and the same recognition error pattern. If rows from one episode land in both training and test, the model can recognise the episode instead of the sentiment.</a:t>
            </a:r>
          </a:p>
        </p:txBody>
      </p:sp>
      <p:sp>
        <p:nvSpPr>
          <p:cNvPr id="6" name="Rectangle 5"/>
          <p:cNvSpPr/>
          <p:nvPr/>
        </p:nvSpPr>
        <p:spPr>
          <a:xfrm>
            <a:off x="648624" y="3502151"/>
            <a:ext cx="10874959" cy="1463041"/>
          </a:xfrm>
          <a:prstGeom prst="rect">
            <a:avLst/>
          </a:prstGeom>
          <a:solidFill>
            <a:srgbClr val="F8F9F7"/>
          </a:solidFill>
          <a:ln w="12700">
            <a:solidFill>
              <a:srgbClr val="C3CBC6"/>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8" name="TextBox 7"/>
          <p:cNvSpPr txBox="1"/>
          <p:nvPr/>
        </p:nvSpPr>
        <p:spPr>
          <a:xfrm>
            <a:off x="922944" y="3685032"/>
            <a:ext cx="10372039" cy="822960"/>
          </a:xfrm>
          <a:prstGeom prst="rect">
            <a:avLst/>
          </a:prstGeom>
          <a:noFill/>
        </p:spPr>
        <p:txBody>
          <a:bodyPr wrap="square" lIns="0" tIns="0" rIns="0" bIns="0" anchor="t">
            <a:spAutoFit/>
          </a:bodyPr>
          <a:lstStyle/>
          <a:p>
            <a:pPr algn="l">
              <a:lnSpc>
                <a:spcPct val="118000"/>
              </a:lnSpc>
              <a:spcBef>
                <a:spcPts val="0"/>
              </a:spcBef>
              <a:spcAft>
                <a:spcPts val="600"/>
              </a:spcAft>
            </a:pPr>
            <a:r>
              <a:rPr sz="2300" b="1" i="0" dirty="0">
                <a:solidFill>
                  <a:srgbClr val="14181B"/>
                </a:solidFill>
                <a:latin typeface="Segoe UI"/>
              </a:rPr>
              <a:t>What a random row split would do</a:t>
            </a:r>
          </a:p>
          <a:p>
            <a:pPr algn="l">
              <a:lnSpc>
                <a:spcPct val="120000"/>
              </a:lnSpc>
              <a:spcBef>
                <a:spcPts val="0"/>
              </a:spcBef>
              <a:spcAft>
                <a:spcPts val="0"/>
              </a:spcAft>
            </a:pPr>
            <a:r>
              <a:rPr sz="2200" b="0" i="0" dirty="0">
                <a:solidFill>
                  <a:srgbClr val="3E4A4F"/>
                </a:solidFill>
                <a:latin typeface="Segoe UI"/>
              </a:rPr>
              <a:t>The reported score would rise, and none of that rise would survive contact with a new episode.</a:t>
            </a:r>
          </a:p>
        </p:txBody>
      </p:sp>
      <p:sp>
        <p:nvSpPr>
          <p:cNvPr id="9" name="Rectangle 8"/>
          <p:cNvSpPr/>
          <p:nvPr/>
        </p:nvSpPr>
        <p:spPr>
          <a:xfrm>
            <a:off x="166843" y="5042916"/>
            <a:ext cx="10874959" cy="1673352"/>
          </a:xfrm>
          <a:prstGeom prst="rect">
            <a:avLst/>
          </a:prstGeom>
          <a:solidFill>
            <a:srgbClr val="F8F9F7"/>
          </a:solidFill>
          <a:ln w="12700">
            <a:solidFill>
              <a:srgbClr val="C3CBC6"/>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1" name="TextBox 10"/>
          <p:cNvSpPr txBox="1"/>
          <p:nvPr/>
        </p:nvSpPr>
        <p:spPr>
          <a:xfrm>
            <a:off x="441163" y="5225796"/>
            <a:ext cx="10372039" cy="822960"/>
          </a:xfrm>
          <a:prstGeom prst="rect">
            <a:avLst/>
          </a:prstGeom>
          <a:noFill/>
        </p:spPr>
        <p:txBody>
          <a:bodyPr wrap="square" lIns="0" tIns="0" rIns="0" bIns="0" anchor="t">
            <a:spAutoFit/>
          </a:bodyPr>
          <a:lstStyle/>
          <a:p>
            <a:pPr algn="l">
              <a:lnSpc>
                <a:spcPct val="118000"/>
              </a:lnSpc>
              <a:spcBef>
                <a:spcPts val="0"/>
              </a:spcBef>
              <a:spcAft>
                <a:spcPts val="600"/>
              </a:spcAft>
            </a:pPr>
            <a:r>
              <a:rPr sz="2300" b="1" i="0" dirty="0">
                <a:solidFill>
                  <a:srgbClr val="14181B"/>
                </a:solidFill>
                <a:latin typeface="Segoe UI"/>
              </a:rPr>
              <a:t>What is done instead</a:t>
            </a:r>
          </a:p>
          <a:p>
            <a:pPr algn="l">
              <a:lnSpc>
                <a:spcPct val="120000"/>
              </a:lnSpc>
              <a:spcBef>
                <a:spcPts val="0"/>
              </a:spcBef>
              <a:spcAft>
                <a:spcPts val="0"/>
              </a:spcAft>
            </a:pPr>
            <a:r>
              <a:rPr sz="2200" b="0" i="0" dirty="0">
                <a:solidFill>
                  <a:srgbClr val="3E4A4F"/>
                </a:solidFill>
                <a:latin typeface="Segoe UI"/>
              </a:rPr>
              <a:t>All four test episodes are held out whole, and the split asserts that no episode appears in more than one partition.</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ECEEEB"/>
        </a:solidFill>
        <a:effectLst/>
      </p:bgPr>
    </p:bg>
    <p:spTree>
      <p:nvGrpSpPr>
        <p:cNvPr id="1" name=""/>
        <p:cNvGrpSpPr/>
        <p:nvPr/>
      </p:nvGrpSpPr>
      <p:grpSpPr>
        <a:xfrm>
          <a:off x="0" y="0"/>
          <a:ext cx="0" cy="0"/>
          <a:chOff x="0" y="0"/>
          <a:chExt cx="0" cy="0"/>
        </a:xfrm>
      </p:grpSpPr>
      <p:sp>
        <p:nvSpPr>
          <p:cNvPr id="2" name="TextBox 1"/>
          <p:cNvSpPr txBox="1"/>
          <p:nvPr/>
        </p:nvSpPr>
        <p:spPr>
          <a:xfrm>
            <a:off x="10618927" y="6309359"/>
            <a:ext cx="914400" cy="274320"/>
          </a:xfrm>
          <a:prstGeom prst="rect">
            <a:avLst/>
          </a:prstGeom>
          <a:noFill/>
        </p:spPr>
        <p:txBody>
          <a:bodyPr wrap="square" lIns="0" tIns="0" rIns="0" bIns="0" anchor="t">
            <a:spAutoFit/>
          </a:bodyPr>
          <a:lstStyle/>
          <a:p>
            <a:pPr algn="r">
              <a:lnSpc>
                <a:spcPct val="118000"/>
              </a:lnSpc>
              <a:spcBef>
                <a:spcPts val="0"/>
              </a:spcBef>
              <a:spcAft>
                <a:spcPts val="0"/>
              </a:spcAft>
            </a:pPr>
            <a:r>
              <a:rPr sz="2100" b="0" i="0">
                <a:solidFill>
                  <a:srgbClr val="6B787D"/>
                </a:solidFill>
                <a:latin typeface="Consolas"/>
              </a:rPr>
              <a:t>21</a:t>
            </a:r>
          </a:p>
        </p:txBody>
      </p:sp>
      <p:sp>
        <p:nvSpPr>
          <p:cNvPr id="3" name="TextBox 2"/>
          <p:cNvSpPr txBox="1"/>
          <p:nvPr/>
        </p:nvSpPr>
        <p:spPr>
          <a:xfrm>
            <a:off x="658368" y="420624"/>
            <a:ext cx="10874959" cy="310896"/>
          </a:xfrm>
          <a:prstGeom prst="rect">
            <a:avLst/>
          </a:prstGeom>
          <a:noFill/>
        </p:spPr>
        <p:txBody>
          <a:bodyPr wrap="square" lIns="0" tIns="0" rIns="0" bIns="0" anchor="t">
            <a:spAutoFit/>
          </a:bodyPr>
          <a:lstStyle/>
          <a:p>
            <a:pPr algn="l">
              <a:lnSpc>
                <a:spcPct val="118000"/>
              </a:lnSpc>
              <a:spcBef>
                <a:spcPts val="0"/>
              </a:spcBef>
              <a:spcAft>
                <a:spcPts val="0"/>
              </a:spcAft>
            </a:pPr>
            <a:r>
              <a:rPr sz="2100" b="1" i="0">
                <a:solidFill>
                  <a:srgbClr val="2E8FA3"/>
                </a:solidFill>
                <a:latin typeface="Consolas"/>
              </a:rPr>
              <a:t>11 / SPLIT</a:t>
            </a:r>
          </a:p>
        </p:txBody>
      </p:sp>
      <p:sp>
        <p:nvSpPr>
          <p:cNvPr id="4" name="TextBox 3"/>
          <p:cNvSpPr txBox="1"/>
          <p:nvPr/>
        </p:nvSpPr>
        <p:spPr>
          <a:xfrm>
            <a:off x="658368" y="822960"/>
            <a:ext cx="10874959" cy="822960"/>
          </a:xfrm>
          <a:prstGeom prst="rect">
            <a:avLst/>
          </a:prstGeom>
          <a:noFill/>
        </p:spPr>
        <p:txBody>
          <a:bodyPr wrap="square" lIns="0" tIns="0" rIns="0" bIns="0" anchor="t">
            <a:spAutoFit/>
          </a:bodyPr>
          <a:lstStyle/>
          <a:p>
            <a:pPr algn="l">
              <a:lnSpc>
                <a:spcPct val="106000"/>
              </a:lnSpc>
              <a:spcBef>
                <a:spcPts val="0"/>
              </a:spcBef>
              <a:spcAft>
                <a:spcPts val="0"/>
              </a:spcAft>
            </a:pPr>
            <a:r>
              <a:rPr sz="3600" b="1" i="0">
                <a:solidFill>
                  <a:srgbClr val="14181B"/>
                </a:solidFill>
                <a:latin typeface="Segoe UI"/>
              </a:rPr>
              <a:t>How the corpus divides</a:t>
            </a:r>
          </a:p>
        </p:txBody>
      </p:sp>
      <p:graphicFrame>
        <p:nvGraphicFramePr>
          <p:cNvPr id="5" name="Table 4"/>
          <p:cNvGraphicFramePr>
            <a:graphicFrameLocks noGrp="1"/>
          </p:cNvGraphicFramePr>
          <p:nvPr/>
        </p:nvGraphicFramePr>
        <p:xfrm>
          <a:off x="658368" y="1664208"/>
          <a:ext cx="10874955" cy="1901952"/>
        </p:xfrm>
        <a:graphic>
          <a:graphicData uri="http://schemas.openxmlformats.org/drawingml/2006/table">
            <a:tbl>
              <a:tblPr>
                <a:tableStyleId>{5C22544A-7EE6-4342-B048-85BDC9FD1C3A}</a:tableStyleId>
              </a:tblPr>
              <a:tblGrid>
                <a:gridCol w="2064865">
                  <a:extLst>
                    <a:ext uri="{9D8B030D-6E8A-4147-A177-3AD203B41FA5}">
                      <a16:colId xmlns:a16="http://schemas.microsoft.com/office/drawing/2014/main" val="20000"/>
                    </a:ext>
                  </a:extLst>
                </a:gridCol>
                <a:gridCol w="1514234">
                  <a:extLst>
                    <a:ext uri="{9D8B030D-6E8A-4147-A177-3AD203B41FA5}">
                      <a16:colId xmlns:a16="http://schemas.microsoft.com/office/drawing/2014/main" val="20001"/>
                    </a:ext>
                  </a:extLst>
                </a:gridCol>
                <a:gridCol w="1376577">
                  <a:extLst>
                    <a:ext uri="{9D8B030D-6E8A-4147-A177-3AD203B41FA5}">
                      <a16:colId xmlns:a16="http://schemas.microsoft.com/office/drawing/2014/main" val="20002"/>
                    </a:ext>
                  </a:extLst>
                </a:gridCol>
                <a:gridCol w="1376577">
                  <a:extLst>
                    <a:ext uri="{9D8B030D-6E8A-4147-A177-3AD203B41FA5}">
                      <a16:colId xmlns:a16="http://schemas.microsoft.com/office/drawing/2014/main" val="20003"/>
                    </a:ext>
                  </a:extLst>
                </a:gridCol>
                <a:gridCol w="1514234">
                  <a:extLst>
                    <a:ext uri="{9D8B030D-6E8A-4147-A177-3AD203B41FA5}">
                      <a16:colId xmlns:a16="http://schemas.microsoft.com/office/drawing/2014/main" val="20004"/>
                    </a:ext>
                  </a:extLst>
                </a:gridCol>
                <a:gridCol w="1514234">
                  <a:extLst>
                    <a:ext uri="{9D8B030D-6E8A-4147-A177-3AD203B41FA5}">
                      <a16:colId xmlns:a16="http://schemas.microsoft.com/office/drawing/2014/main" val="20005"/>
                    </a:ext>
                  </a:extLst>
                </a:gridCol>
                <a:gridCol w="1514234">
                  <a:extLst>
                    <a:ext uri="{9D8B030D-6E8A-4147-A177-3AD203B41FA5}">
                      <a16:colId xmlns:a16="http://schemas.microsoft.com/office/drawing/2014/main" val="20006"/>
                    </a:ext>
                  </a:extLst>
                </a:gridCol>
              </a:tblGrid>
              <a:tr h="475488">
                <a:tc>
                  <a:txBody>
                    <a:bodyPr/>
                    <a:lstStyle/>
                    <a:p>
                      <a:pPr algn="l"/>
                      <a:r>
                        <a:rPr sz="2100" b="1" i="0">
                          <a:solidFill>
                            <a:srgbClr val="6B787D"/>
                          </a:solidFill>
                          <a:latin typeface="Consolas"/>
                        </a:rPr>
                        <a:t>Split</a:t>
                      </a:r>
                    </a:p>
                  </a:txBody>
                  <a:tcPr marL="100584" marR="100584" marT="27432" marB="27432" anchor="ctr">
                    <a:solidFill>
                      <a:srgbClr val="E0E5E1"/>
                    </a:solidFill>
                  </a:tcPr>
                </a:tc>
                <a:tc>
                  <a:txBody>
                    <a:bodyPr/>
                    <a:lstStyle/>
                    <a:p>
                      <a:pPr algn="r"/>
                      <a:r>
                        <a:rPr sz="2100" b="1" i="0">
                          <a:solidFill>
                            <a:srgbClr val="6B787D"/>
                          </a:solidFill>
                          <a:latin typeface="Consolas"/>
                        </a:rPr>
                        <a:t>Episodes</a:t>
                      </a:r>
                    </a:p>
                  </a:txBody>
                  <a:tcPr marL="100584" marR="100584" marT="27432" marB="27432" anchor="ctr">
                    <a:solidFill>
                      <a:srgbClr val="E0E5E1"/>
                    </a:solidFill>
                  </a:tcPr>
                </a:tc>
                <a:tc>
                  <a:txBody>
                    <a:bodyPr/>
                    <a:lstStyle/>
                    <a:p>
                      <a:pPr algn="r"/>
                      <a:r>
                        <a:rPr sz="2100" b="1" i="0">
                          <a:solidFill>
                            <a:srgbClr val="6B787D"/>
                          </a:solidFill>
                          <a:latin typeface="Consolas"/>
                        </a:rPr>
                        <a:t>Pairs</a:t>
                      </a:r>
                    </a:p>
                  </a:txBody>
                  <a:tcPr marL="100584" marR="100584" marT="27432" marB="27432" anchor="ctr">
                    <a:solidFill>
                      <a:srgbClr val="E0E5E1"/>
                    </a:solidFill>
                  </a:tcPr>
                </a:tc>
                <a:tc>
                  <a:txBody>
                    <a:bodyPr/>
                    <a:lstStyle/>
                    <a:p>
                      <a:pPr algn="r"/>
                      <a:r>
                        <a:rPr sz="2100" b="1" i="0">
                          <a:solidFill>
                            <a:srgbClr val="6B787D"/>
                          </a:solidFill>
                          <a:latin typeface="Consolas"/>
                        </a:rPr>
                        <a:t>Human</a:t>
                      </a:r>
                    </a:p>
                  </a:txBody>
                  <a:tcPr marL="100584" marR="100584" marT="27432" marB="27432" anchor="ctr">
                    <a:solidFill>
                      <a:srgbClr val="E0E5E1"/>
                    </a:solidFill>
                  </a:tcPr>
                </a:tc>
                <a:tc>
                  <a:txBody>
                    <a:bodyPr/>
                    <a:lstStyle/>
                    <a:p>
                      <a:pPr algn="r"/>
                      <a:r>
                        <a:rPr sz="2100" b="1" i="0">
                          <a:solidFill>
                            <a:srgbClr val="6B787D"/>
                          </a:solidFill>
                          <a:latin typeface="Consolas"/>
                        </a:rPr>
                        <a:t>Negative</a:t>
                      </a:r>
                    </a:p>
                  </a:txBody>
                  <a:tcPr marL="100584" marR="100584" marT="27432" marB="27432" anchor="ctr">
                    <a:solidFill>
                      <a:srgbClr val="E0E5E1"/>
                    </a:solidFill>
                  </a:tcPr>
                </a:tc>
                <a:tc>
                  <a:txBody>
                    <a:bodyPr/>
                    <a:lstStyle/>
                    <a:p>
                      <a:pPr algn="r"/>
                      <a:r>
                        <a:rPr sz="2100" b="1" i="0">
                          <a:solidFill>
                            <a:srgbClr val="6B787D"/>
                          </a:solidFill>
                          <a:latin typeface="Consolas"/>
                        </a:rPr>
                        <a:t>Non eval</a:t>
                      </a:r>
                    </a:p>
                  </a:txBody>
                  <a:tcPr marL="100584" marR="100584" marT="27432" marB="27432" anchor="ctr">
                    <a:solidFill>
                      <a:srgbClr val="E0E5E1"/>
                    </a:solidFill>
                  </a:tcPr>
                </a:tc>
                <a:tc>
                  <a:txBody>
                    <a:bodyPr/>
                    <a:lstStyle/>
                    <a:p>
                      <a:pPr algn="r"/>
                      <a:r>
                        <a:rPr sz="2100" b="1" i="0">
                          <a:solidFill>
                            <a:srgbClr val="6B787D"/>
                          </a:solidFill>
                          <a:latin typeface="Consolas"/>
                        </a:rPr>
                        <a:t>Positive</a:t>
                      </a:r>
                    </a:p>
                  </a:txBody>
                  <a:tcPr marL="100584" marR="100584" marT="27432" marB="27432" anchor="ctr">
                    <a:solidFill>
                      <a:srgbClr val="E0E5E1"/>
                    </a:solidFill>
                  </a:tcPr>
                </a:tc>
                <a:extLst>
                  <a:ext uri="{0D108BD9-81ED-4DB2-BD59-A6C34878D82A}">
                    <a16:rowId xmlns:a16="http://schemas.microsoft.com/office/drawing/2014/main" val="10000"/>
                  </a:ext>
                </a:extLst>
              </a:tr>
              <a:tr h="475488">
                <a:tc>
                  <a:txBody>
                    <a:bodyPr/>
                    <a:lstStyle/>
                    <a:p>
                      <a:pPr algn="l"/>
                      <a:r>
                        <a:rPr sz="2100" b="0" i="0">
                          <a:solidFill>
                            <a:srgbClr val="14181B"/>
                          </a:solidFill>
                          <a:latin typeface="Segoe UI"/>
                        </a:rPr>
                        <a:t>Train</a:t>
                      </a:r>
                    </a:p>
                  </a:txBody>
                  <a:tcPr marL="100584" marR="100584" marT="27432" marB="27432" anchor="ctr">
                    <a:solidFill>
                      <a:srgbClr val="F8F9F7"/>
                    </a:solidFill>
                  </a:tcPr>
                </a:tc>
                <a:tc>
                  <a:txBody>
                    <a:bodyPr/>
                    <a:lstStyle/>
                    <a:p>
                      <a:pPr algn="r"/>
                      <a:r>
                        <a:rPr sz="2100" b="0" i="0">
                          <a:solidFill>
                            <a:srgbClr val="14181B"/>
                          </a:solidFill>
                          <a:latin typeface="Consolas"/>
                        </a:rPr>
                        <a:t>19</a:t>
                      </a:r>
                    </a:p>
                  </a:txBody>
                  <a:tcPr marL="100584" marR="100584" marT="27432" marB="27432" anchor="ctr">
                    <a:solidFill>
                      <a:srgbClr val="F8F9F7"/>
                    </a:solidFill>
                  </a:tcPr>
                </a:tc>
                <a:tc>
                  <a:txBody>
                    <a:bodyPr/>
                    <a:lstStyle/>
                    <a:p>
                      <a:pPr algn="r"/>
                      <a:r>
                        <a:rPr sz="2100" b="0" i="0">
                          <a:solidFill>
                            <a:srgbClr val="14181B"/>
                          </a:solidFill>
                          <a:latin typeface="Consolas"/>
                        </a:rPr>
                        <a:t>2,026</a:t>
                      </a:r>
                    </a:p>
                  </a:txBody>
                  <a:tcPr marL="100584" marR="100584" marT="27432" marB="27432" anchor="ctr">
                    <a:solidFill>
                      <a:srgbClr val="F8F9F7"/>
                    </a:solidFill>
                  </a:tcPr>
                </a:tc>
                <a:tc>
                  <a:txBody>
                    <a:bodyPr/>
                    <a:lstStyle/>
                    <a:p>
                      <a:pPr algn="r"/>
                      <a:r>
                        <a:rPr sz="2100" b="0" i="0">
                          <a:solidFill>
                            <a:srgbClr val="14181B"/>
                          </a:solidFill>
                          <a:latin typeface="Consolas"/>
                        </a:rPr>
                        <a:t>99</a:t>
                      </a:r>
                    </a:p>
                  </a:txBody>
                  <a:tcPr marL="100584" marR="100584" marT="27432" marB="27432" anchor="ctr">
                    <a:solidFill>
                      <a:srgbClr val="F8F9F7"/>
                    </a:solidFill>
                  </a:tcPr>
                </a:tc>
                <a:tc>
                  <a:txBody>
                    <a:bodyPr/>
                    <a:lstStyle/>
                    <a:p>
                      <a:pPr algn="r"/>
                      <a:r>
                        <a:rPr sz="2100" b="0" i="0">
                          <a:solidFill>
                            <a:srgbClr val="14181B"/>
                          </a:solidFill>
                          <a:latin typeface="Consolas"/>
                        </a:rPr>
                        <a:t>164</a:t>
                      </a:r>
                    </a:p>
                  </a:txBody>
                  <a:tcPr marL="100584" marR="100584" marT="27432" marB="27432" anchor="ctr">
                    <a:solidFill>
                      <a:srgbClr val="F8F9F7"/>
                    </a:solidFill>
                  </a:tcPr>
                </a:tc>
                <a:tc>
                  <a:txBody>
                    <a:bodyPr/>
                    <a:lstStyle/>
                    <a:p>
                      <a:pPr algn="r"/>
                      <a:r>
                        <a:rPr sz="2100" b="0" i="0">
                          <a:solidFill>
                            <a:srgbClr val="14181B"/>
                          </a:solidFill>
                          <a:latin typeface="Consolas"/>
                        </a:rPr>
                        <a:t>1,771</a:t>
                      </a:r>
                    </a:p>
                  </a:txBody>
                  <a:tcPr marL="100584" marR="100584" marT="27432" marB="27432" anchor="ctr">
                    <a:solidFill>
                      <a:srgbClr val="F8F9F7"/>
                    </a:solidFill>
                  </a:tcPr>
                </a:tc>
                <a:tc>
                  <a:txBody>
                    <a:bodyPr/>
                    <a:lstStyle/>
                    <a:p>
                      <a:pPr algn="r"/>
                      <a:r>
                        <a:rPr sz="2100" b="0" i="0">
                          <a:solidFill>
                            <a:srgbClr val="14181B"/>
                          </a:solidFill>
                          <a:latin typeface="Consolas"/>
                        </a:rPr>
                        <a:t>91</a:t>
                      </a:r>
                    </a:p>
                  </a:txBody>
                  <a:tcPr marL="100584" marR="100584" marT="27432" marB="27432" anchor="ctr">
                    <a:solidFill>
                      <a:srgbClr val="F8F9F7"/>
                    </a:solidFill>
                  </a:tcPr>
                </a:tc>
                <a:extLst>
                  <a:ext uri="{0D108BD9-81ED-4DB2-BD59-A6C34878D82A}">
                    <a16:rowId xmlns:a16="http://schemas.microsoft.com/office/drawing/2014/main" val="10001"/>
                  </a:ext>
                </a:extLst>
              </a:tr>
              <a:tr h="475488">
                <a:tc>
                  <a:txBody>
                    <a:bodyPr/>
                    <a:lstStyle/>
                    <a:p>
                      <a:pPr algn="l"/>
                      <a:r>
                        <a:rPr sz="2100" b="0" i="0">
                          <a:solidFill>
                            <a:srgbClr val="14181B"/>
                          </a:solidFill>
                          <a:latin typeface="Segoe UI"/>
                        </a:rPr>
                        <a:t>Validation</a:t>
                      </a:r>
                    </a:p>
                  </a:txBody>
                  <a:tcPr marL="100584" marR="100584" marT="27432" marB="27432" anchor="ctr">
                    <a:solidFill>
                      <a:srgbClr val="F8F9F7"/>
                    </a:solidFill>
                  </a:tcPr>
                </a:tc>
                <a:tc>
                  <a:txBody>
                    <a:bodyPr/>
                    <a:lstStyle/>
                    <a:p>
                      <a:pPr algn="r"/>
                      <a:r>
                        <a:rPr sz="2100" b="0" i="0">
                          <a:solidFill>
                            <a:srgbClr val="14181B"/>
                          </a:solidFill>
                          <a:latin typeface="Consolas"/>
                        </a:rPr>
                        <a:t>3</a:t>
                      </a:r>
                    </a:p>
                  </a:txBody>
                  <a:tcPr marL="100584" marR="100584" marT="27432" marB="27432" anchor="ctr">
                    <a:solidFill>
                      <a:srgbClr val="F8F9F7"/>
                    </a:solidFill>
                  </a:tcPr>
                </a:tc>
                <a:tc>
                  <a:txBody>
                    <a:bodyPr/>
                    <a:lstStyle/>
                    <a:p>
                      <a:pPr algn="r"/>
                      <a:r>
                        <a:rPr sz="2100" b="0" i="0">
                          <a:solidFill>
                            <a:srgbClr val="14181B"/>
                          </a:solidFill>
                          <a:latin typeface="Consolas"/>
                        </a:rPr>
                        <a:t>320</a:t>
                      </a:r>
                    </a:p>
                  </a:txBody>
                  <a:tcPr marL="100584" marR="100584" marT="27432" marB="27432" anchor="ctr">
                    <a:solidFill>
                      <a:srgbClr val="F8F9F7"/>
                    </a:solidFill>
                  </a:tcPr>
                </a:tc>
                <a:tc>
                  <a:txBody>
                    <a:bodyPr/>
                    <a:lstStyle/>
                    <a:p>
                      <a:pPr algn="r"/>
                      <a:r>
                        <a:rPr sz="2100" b="0" i="0">
                          <a:solidFill>
                            <a:srgbClr val="14181B"/>
                          </a:solidFill>
                          <a:latin typeface="Consolas"/>
                        </a:rPr>
                        <a:t>22</a:t>
                      </a:r>
                    </a:p>
                  </a:txBody>
                  <a:tcPr marL="100584" marR="100584" marT="27432" marB="27432" anchor="ctr">
                    <a:solidFill>
                      <a:srgbClr val="F8F9F7"/>
                    </a:solidFill>
                  </a:tcPr>
                </a:tc>
                <a:tc>
                  <a:txBody>
                    <a:bodyPr/>
                    <a:lstStyle/>
                    <a:p>
                      <a:pPr algn="r"/>
                      <a:r>
                        <a:rPr sz="2100" b="0" i="0">
                          <a:solidFill>
                            <a:srgbClr val="14181B"/>
                          </a:solidFill>
                          <a:latin typeface="Consolas"/>
                        </a:rPr>
                        <a:t>24</a:t>
                      </a:r>
                    </a:p>
                  </a:txBody>
                  <a:tcPr marL="100584" marR="100584" marT="27432" marB="27432" anchor="ctr">
                    <a:solidFill>
                      <a:srgbClr val="F8F9F7"/>
                    </a:solidFill>
                  </a:tcPr>
                </a:tc>
                <a:tc>
                  <a:txBody>
                    <a:bodyPr/>
                    <a:lstStyle/>
                    <a:p>
                      <a:pPr algn="r"/>
                      <a:r>
                        <a:rPr sz="2100" b="0" i="0">
                          <a:solidFill>
                            <a:srgbClr val="14181B"/>
                          </a:solidFill>
                          <a:latin typeface="Consolas"/>
                        </a:rPr>
                        <a:t>278</a:t>
                      </a:r>
                    </a:p>
                  </a:txBody>
                  <a:tcPr marL="100584" marR="100584" marT="27432" marB="27432" anchor="ctr">
                    <a:solidFill>
                      <a:srgbClr val="F8F9F7"/>
                    </a:solidFill>
                  </a:tcPr>
                </a:tc>
                <a:tc>
                  <a:txBody>
                    <a:bodyPr/>
                    <a:lstStyle/>
                    <a:p>
                      <a:pPr algn="r"/>
                      <a:r>
                        <a:rPr sz="2100" b="0" i="0">
                          <a:solidFill>
                            <a:srgbClr val="14181B"/>
                          </a:solidFill>
                          <a:latin typeface="Consolas"/>
                        </a:rPr>
                        <a:t>18</a:t>
                      </a:r>
                    </a:p>
                  </a:txBody>
                  <a:tcPr marL="100584" marR="100584" marT="27432" marB="27432" anchor="ctr">
                    <a:solidFill>
                      <a:srgbClr val="F8F9F7"/>
                    </a:solidFill>
                  </a:tcPr>
                </a:tc>
                <a:extLst>
                  <a:ext uri="{0D108BD9-81ED-4DB2-BD59-A6C34878D82A}">
                    <a16:rowId xmlns:a16="http://schemas.microsoft.com/office/drawing/2014/main" val="10002"/>
                  </a:ext>
                </a:extLst>
              </a:tr>
              <a:tr h="475488">
                <a:tc>
                  <a:txBody>
                    <a:bodyPr/>
                    <a:lstStyle/>
                    <a:p>
                      <a:pPr algn="l"/>
                      <a:r>
                        <a:rPr sz="2100" b="1" i="0">
                          <a:solidFill>
                            <a:srgbClr val="14181B"/>
                          </a:solidFill>
                          <a:latin typeface="Segoe UI"/>
                        </a:rPr>
                        <a:t>Test</a:t>
                      </a:r>
                    </a:p>
                  </a:txBody>
                  <a:tcPr marL="100584" marR="100584" marT="27432" marB="27432" anchor="ctr">
                    <a:solidFill>
                      <a:srgbClr val="E0E5E1"/>
                    </a:solidFill>
                  </a:tcPr>
                </a:tc>
                <a:tc>
                  <a:txBody>
                    <a:bodyPr/>
                    <a:lstStyle/>
                    <a:p>
                      <a:pPr algn="r"/>
                      <a:r>
                        <a:rPr sz="2100" b="1" i="0">
                          <a:solidFill>
                            <a:srgbClr val="14181B"/>
                          </a:solidFill>
                          <a:latin typeface="Consolas"/>
                        </a:rPr>
                        <a:t>4</a:t>
                      </a:r>
                    </a:p>
                  </a:txBody>
                  <a:tcPr marL="100584" marR="100584" marT="27432" marB="27432" anchor="ctr">
                    <a:solidFill>
                      <a:srgbClr val="E0E5E1"/>
                    </a:solidFill>
                  </a:tcPr>
                </a:tc>
                <a:tc>
                  <a:txBody>
                    <a:bodyPr/>
                    <a:lstStyle/>
                    <a:p>
                      <a:pPr algn="r"/>
                      <a:r>
                        <a:rPr sz="2100" b="1" i="0">
                          <a:solidFill>
                            <a:srgbClr val="14181B"/>
                          </a:solidFill>
                          <a:latin typeface="Consolas"/>
                        </a:rPr>
                        <a:t>673</a:t>
                      </a:r>
                    </a:p>
                  </a:txBody>
                  <a:tcPr marL="100584" marR="100584" marT="27432" marB="27432" anchor="ctr">
                    <a:solidFill>
                      <a:srgbClr val="E0E5E1"/>
                    </a:solidFill>
                  </a:tcPr>
                </a:tc>
                <a:tc>
                  <a:txBody>
                    <a:bodyPr/>
                    <a:lstStyle/>
                    <a:p>
                      <a:pPr algn="r"/>
                      <a:r>
                        <a:rPr sz="2100" b="1" i="0">
                          <a:solidFill>
                            <a:srgbClr val="14181B"/>
                          </a:solidFill>
                          <a:latin typeface="Consolas"/>
                        </a:rPr>
                        <a:t>59</a:t>
                      </a:r>
                    </a:p>
                  </a:txBody>
                  <a:tcPr marL="100584" marR="100584" marT="27432" marB="27432" anchor="ctr">
                    <a:solidFill>
                      <a:srgbClr val="E0E5E1"/>
                    </a:solidFill>
                  </a:tcPr>
                </a:tc>
                <a:tc>
                  <a:txBody>
                    <a:bodyPr/>
                    <a:lstStyle/>
                    <a:p>
                      <a:pPr algn="r"/>
                      <a:r>
                        <a:rPr sz="2100" b="1" i="0">
                          <a:solidFill>
                            <a:srgbClr val="14181B"/>
                          </a:solidFill>
                          <a:latin typeface="Consolas"/>
                        </a:rPr>
                        <a:t>96</a:t>
                      </a:r>
                    </a:p>
                  </a:txBody>
                  <a:tcPr marL="100584" marR="100584" marT="27432" marB="27432" anchor="ctr">
                    <a:solidFill>
                      <a:srgbClr val="E0E5E1"/>
                    </a:solidFill>
                  </a:tcPr>
                </a:tc>
                <a:tc>
                  <a:txBody>
                    <a:bodyPr/>
                    <a:lstStyle/>
                    <a:p>
                      <a:pPr algn="r"/>
                      <a:r>
                        <a:rPr sz="2100" b="1" i="0">
                          <a:solidFill>
                            <a:srgbClr val="14181B"/>
                          </a:solidFill>
                          <a:latin typeface="Consolas"/>
                        </a:rPr>
                        <a:t>534</a:t>
                      </a:r>
                    </a:p>
                  </a:txBody>
                  <a:tcPr marL="100584" marR="100584" marT="27432" marB="27432" anchor="ctr">
                    <a:solidFill>
                      <a:srgbClr val="E0E5E1"/>
                    </a:solidFill>
                  </a:tcPr>
                </a:tc>
                <a:tc>
                  <a:txBody>
                    <a:bodyPr/>
                    <a:lstStyle/>
                    <a:p>
                      <a:pPr algn="r"/>
                      <a:r>
                        <a:rPr sz="2100" b="1" i="0">
                          <a:solidFill>
                            <a:srgbClr val="14181B"/>
                          </a:solidFill>
                          <a:latin typeface="Consolas"/>
                        </a:rPr>
                        <a:t>43</a:t>
                      </a:r>
                    </a:p>
                  </a:txBody>
                  <a:tcPr marL="100584" marR="100584" marT="27432" marB="27432" anchor="ctr">
                    <a:solidFill>
                      <a:srgbClr val="E0E5E1"/>
                    </a:solidFill>
                  </a:tcPr>
                </a:tc>
                <a:extLst>
                  <a:ext uri="{0D108BD9-81ED-4DB2-BD59-A6C34878D82A}">
                    <a16:rowId xmlns:a16="http://schemas.microsoft.com/office/drawing/2014/main" val="10003"/>
                  </a:ext>
                </a:extLst>
              </a:tr>
            </a:tbl>
          </a:graphicData>
        </a:graphic>
      </p:graphicFrame>
      <p:sp>
        <p:nvSpPr>
          <p:cNvPr id="6" name="Rectangle 5"/>
          <p:cNvSpPr/>
          <p:nvPr/>
        </p:nvSpPr>
        <p:spPr>
          <a:xfrm>
            <a:off x="658368" y="3950208"/>
            <a:ext cx="10874959" cy="1901952"/>
          </a:xfrm>
          <a:prstGeom prst="rect">
            <a:avLst/>
          </a:prstGeom>
          <a:solidFill>
            <a:srgbClr val="F8F9F7"/>
          </a:solidFill>
          <a:ln w="12700">
            <a:solidFill>
              <a:srgbClr val="C3CBC6"/>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7" name="Rectangle 6"/>
          <p:cNvSpPr/>
          <p:nvPr/>
        </p:nvSpPr>
        <p:spPr>
          <a:xfrm>
            <a:off x="658368" y="3950208"/>
            <a:ext cx="50292" cy="1481328"/>
          </a:xfrm>
          <a:prstGeom prst="rect">
            <a:avLst/>
          </a:prstGeom>
          <a:solidFill>
            <a:srgbClr val="1D4E5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8" name="TextBox 7"/>
          <p:cNvSpPr txBox="1"/>
          <p:nvPr/>
        </p:nvSpPr>
        <p:spPr>
          <a:xfrm>
            <a:off x="932688" y="4133088"/>
            <a:ext cx="10372039" cy="1115568"/>
          </a:xfrm>
          <a:prstGeom prst="rect">
            <a:avLst/>
          </a:prstGeom>
          <a:noFill/>
        </p:spPr>
        <p:txBody>
          <a:bodyPr wrap="square" lIns="0" tIns="0" rIns="0" bIns="0" anchor="t">
            <a:spAutoFit/>
          </a:bodyPr>
          <a:lstStyle/>
          <a:p>
            <a:pPr algn="l">
              <a:lnSpc>
                <a:spcPct val="120000"/>
              </a:lnSpc>
              <a:spcBef>
                <a:spcPts val="0"/>
              </a:spcBef>
              <a:spcAft>
                <a:spcPts val="0"/>
              </a:spcAft>
            </a:pPr>
            <a:r>
              <a:rPr sz="2200" b="0" i="0">
                <a:solidFill>
                  <a:srgbClr val="3E4A4F"/>
                </a:solidFill>
                <a:latin typeface="Segoe UI"/>
              </a:rPr>
              <a:t>Validation is used only to pick the stopping epoch and is never fitted on. Because the human labelled slice inside validation is small, model selection uses the rule label agreement score, which is the honest consequence of having limited human labels.</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ECEEEB"/>
        </a:solidFill>
        <a:effectLst/>
      </p:bgPr>
    </p:bg>
    <p:spTree>
      <p:nvGrpSpPr>
        <p:cNvPr id="1" name=""/>
        <p:cNvGrpSpPr/>
        <p:nvPr/>
      </p:nvGrpSpPr>
      <p:grpSpPr>
        <a:xfrm>
          <a:off x="0" y="0"/>
          <a:ext cx="0" cy="0"/>
          <a:chOff x="0" y="0"/>
          <a:chExt cx="0" cy="0"/>
        </a:xfrm>
      </p:grpSpPr>
      <p:sp>
        <p:nvSpPr>
          <p:cNvPr id="2" name="TextBox 1"/>
          <p:cNvSpPr txBox="1"/>
          <p:nvPr/>
        </p:nvSpPr>
        <p:spPr>
          <a:xfrm>
            <a:off x="10618927" y="6309359"/>
            <a:ext cx="914400" cy="274320"/>
          </a:xfrm>
          <a:prstGeom prst="rect">
            <a:avLst/>
          </a:prstGeom>
          <a:noFill/>
        </p:spPr>
        <p:txBody>
          <a:bodyPr wrap="square" lIns="0" tIns="0" rIns="0" bIns="0" anchor="t">
            <a:spAutoFit/>
          </a:bodyPr>
          <a:lstStyle/>
          <a:p>
            <a:pPr algn="r">
              <a:lnSpc>
                <a:spcPct val="118000"/>
              </a:lnSpc>
              <a:spcBef>
                <a:spcPts val="0"/>
              </a:spcBef>
              <a:spcAft>
                <a:spcPts val="0"/>
              </a:spcAft>
            </a:pPr>
            <a:r>
              <a:rPr sz="2100" b="0" i="0">
                <a:solidFill>
                  <a:srgbClr val="6B787D"/>
                </a:solidFill>
                <a:latin typeface="Consolas"/>
              </a:rPr>
              <a:t>22</a:t>
            </a:r>
          </a:p>
        </p:txBody>
      </p:sp>
      <p:sp>
        <p:nvSpPr>
          <p:cNvPr id="3" name="TextBox 2"/>
          <p:cNvSpPr txBox="1"/>
          <p:nvPr/>
        </p:nvSpPr>
        <p:spPr>
          <a:xfrm>
            <a:off x="658368" y="420624"/>
            <a:ext cx="10874959" cy="310896"/>
          </a:xfrm>
          <a:prstGeom prst="rect">
            <a:avLst/>
          </a:prstGeom>
          <a:noFill/>
        </p:spPr>
        <p:txBody>
          <a:bodyPr wrap="square" lIns="0" tIns="0" rIns="0" bIns="0" anchor="t">
            <a:spAutoFit/>
          </a:bodyPr>
          <a:lstStyle/>
          <a:p>
            <a:pPr algn="l">
              <a:lnSpc>
                <a:spcPct val="118000"/>
              </a:lnSpc>
              <a:spcBef>
                <a:spcPts val="0"/>
              </a:spcBef>
              <a:spcAft>
                <a:spcPts val="0"/>
              </a:spcAft>
            </a:pPr>
            <a:r>
              <a:rPr sz="2100" b="1" i="0">
                <a:solidFill>
                  <a:srgbClr val="2E8FA3"/>
                </a:solidFill>
                <a:latin typeface="Consolas"/>
              </a:rPr>
              <a:t>12 / CODE</a:t>
            </a:r>
          </a:p>
        </p:txBody>
      </p:sp>
      <p:sp>
        <p:nvSpPr>
          <p:cNvPr id="4" name="TextBox 3"/>
          <p:cNvSpPr txBox="1"/>
          <p:nvPr/>
        </p:nvSpPr>
        <p:spPr>
          <a:xfrm>
            <a:off x="658368" y="822960"/>
            <a:ext cx="10874959" cy="822960"/>
          </a:xfrm>
          <a:prstGeom prst="rect">
            <a:avLst/>
          </a:prstGeom>
          <a:noFill/>
        </p:spPr>
        <p:txBody>
          <a:bodyPr wrap="square" lIns="0" tIns="0" rIns="0" bIns="0" anchor="t">
            <a:spAutoFit/>
          </a:bodyPr>
          <a:lstStyle/>
          <a:p>
            <a:pPr algn="l">
              <a:lnSpc>
                <a:spcPct val="106000"/>
              </a:lnSpc>
              <a:spcBef>
                <a:spcPts val="0"/>
              </a:spcBef>
              <a:spcAft>
                <a:spcPts val="0"/>
              </a:spcAft>
            </a:pPr>
            <a:r>
              <a:rPr sz="3600" b="1" i="0">
                <a:solidFill>
                  <a:srgbClr val="14181B"/>
                </a:solidFill>
                <a:latin typeface="Segoe UI"/>
              </a:rPr>
              <a:t>Preprocessing: detecting the transcript defects</a:t>
            </a:r>
          </a:p>
        </p:txBody>
      </p:sp>
      <p:sp>
        <p:nvSpPr>
          <p:cNvPr id="5" name="Rectangle 4"/>
          <p:cNvSpPr/>
          <p:nvPr/>
        </p:nvSpPr>
        <p:spPr>
          <a:xfrm>
            <a:off x="658368" y="1664208"/>
            <a:ext cx="10874959" cy="4573523"/>
          </a:xfrm>
          <a:prstGeom prst="rect">
            <a:avLst/>
          </a:prstGeom>
          <a:solidFill>
            <a:srgbClr val="1A2226"/>
          </a:solidFill>
          <a:ln w="12700">
            <a:solidFill>
              <a:srgbClr val="C3CBC6"/>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6" name="TextBox 5"/>
          <p:cNvSpPr txBox="1"/>
          <p:nvPr/>
        </p:nvSpPr>
        <p:spPr>
          <a:xfrm>
            <a:off x="841247" y="1810512"/>
            <a:ext cx="10564063" cy="4299204"/>
          </a:xfrm>
          <a:prstGeom prst="rect">
            <a:avLst/>
          </a:prstGeom>
          <a:noFill/>
        </p:spPr>
        <p:txBody>
          <a:bodyPr wrap="none" lIns="0" tIns="0" rIns="0" bIns="0">
            <a:spAutoFit/>
          </a:bodyPr>
          <a:lstStyle/>
          <a:p>
            <a:pPr>
              <a:lnSpc>
                <a:spcPct val="124000"/>
              </a:lnSpc>
              <a:spcAft>
                <a:spcPts val="0"/>
              </a:spcAft>
            </a:pPr>
            <a:r>
              <a:rPr sz="2100" b="0" i="0">
                <a:solidFill>
                  <a:srgbClr val="8FA8AA"/>
                </a:solidFill>
                <a:latin typeface="Consolas"/>
              </a:rPr>
              <a:t># A word may never begin with a dependent sign. When a</a:t>
            </a:r>
          </a:p>
          <a:p>
            <a:pPr>
              <a:lnSpc>
                <a:spcPct val="124000"/>
              </a:lnSpc>
              <a:spcAft>
                <a:spcPts val="0"/>
              </a:spcAft>
            </a:pPr>
            <a:r>
              <a:rPr sz="2100" b="0" i="0">
                <a:solidFill>
                  <a:srgbClr val="8FA8AA"/>
                </a:solidFill>
                <a:latin typeface="Consolas"/>
              </a:rPr>
              <a:t># segment does, the chunk stitcher ate a consonant.</a:t>
            </a:r>
          </a:p>
          <a:p>
            <a:pPr>
              <a:lnSpc>
                <a:spcPct val="124000"/>
              </a:lnSpc>
              <a:spcAft>
                <a:spcPts val="0"/>
              </a:spcAft>
            </a:pPr>
            <a:r>
              <a:rPr sz="2100" b="0" i="0">
                <a:solidFill>
                  <a:srgbClr val="DFE7E6"/>
                </a:solidFill>
                <a:latin typeface="Consolas"/>
              </a:rPr>
              <a:t>def leading_truncated(text):</a:t>
            </a:r>
          </a:p>
          <a:p>
            <a:pPr>
              <a:lnSpc>
                <a:spcPct val="124000"/>
              </a:lnSpc>
              <a:spcAft>
                <a:spcPts val="0"/>
              </a:spcAft>
            </a:pPr>
            <a:r>
              <a:rPr sz="2100" b="0" i="0">
                <a:solidFill>
                  <a:srgbClr val="DFE7E6"/>
                </a:solidFill>
                <a:latin typeface="Consolas"/>
              </a:rPr>
              <a:t>    s = text.lstrip()</a:t>
            </a:r>
          </a:p>
          <a:p>
            <a:pPr>
              <a:lnSpc>
                <a:spcPct val="124000"/>
              </a:lnSpc>
              <a:spcAft>
                <a:spcPts val="0"/>
              </a:spcAft>
            </a:pPr>
            <a:r>
              <a:rPr sz="2100" b="0" i="0">
                <a:solidFill>
                  <a:srgbClr val="DFE7E6"/>
                </a:solidFill>
                <a:latin typeface="Consolas"/>
              </a:rPr>
              <a:t>    return bool(s) and s[0] in COMBINING</a:t>
            </a:r>
          </a:p>
          <a:p>
            <a:pPr>
              <a:lnSpc>
                <a:spcPct val="124000"/>
              </a:lnSpc>
              <a:spcAft>
                <a:spcPts val="0"/>
              </a:spcAft>
            </a:pPr>
            <a:r>
              <a:rPr sz="2100" b="0" i="0">
                <a:solidFill>
                  <a:srgbClr val="8FA8AA"/>
                </a:solidFill>
                <a:latin typeface="Consolas"/>
              </a:rPr>
              <a:t># Longest run of one token, plus its lexical variety.</a:t>
            </a:r>
          </a:p>
          <a:p>
            <a:pPr>
              <a:lnSpc>
                <a:spcPct val="124000"/>
              </a:lnSpc>
              <a:spcAft>
                <a:spcPts val="0"/>
              </a:spcAft>
            </a:pPr>
            <a:r>
              <a:rPr sz="2100" b="0" i="0">
                <a:solidFill>
                  <a:srgbClr val="DFE7E6"/>
                </a:solidFill>
                <a:latin typeface="Consolas"/>
              </a:rPr>
              <a:t>def repetition_score(text):</a:t>
            </a:r>
          </a:p>
          <a:p>
            <a:pPr>
              <a:lnSpc>
                <a:spcPct val="124000"/>
              </a:lnSpc>
              <a:spcAft>
                <a:spcPts val="0"/>
              </a:spcAft>
            </a:pPr>
            <a:r>
              <a:rPr sz="2100" b="0" i="0">
                <a:solidFill>
                  <a:srgbClr val="DFE7E6"/>
                </a:solidFill>
                <a:latin typeface="Consolas"/>
              </a:rPr>
              <a:t>    t = text.split()</a:t>
            </a:r>
          </a:p>
          <a:p>
            <a:pPr>
              <a:lnSpc>
                <a:spcPct val="124000"/>
              </a:lnSpc>
              <a:spcAft>
                <a:spcPts val="0"/>
              </a:spcAft>
            </a:pPr>
            <a:r>
              <a:rPr sz="2100" b="0" i="0">
                <a:solidFill>
                  <a:srgbClr val="DFE7E6"/>
                </a:solidFill>
                <a:latin typeface="Consolas"/>
              </a:rPr>
              <a:t>    longest = run = 1</a:t>
            </a:r>
          </a:p>
          <a:p>
            <a:pPr>
              <a:lnSpc>
                <a:spcPct val="124000"/>
              </a:lnSpc>
              <a:spcAft>
                <a:spcPts val="0"/>
              </a:spcAft>
            </a:pPr>
            <a:r>
              <a:rPr sz="2100" b="0" i="0">
                <a:solidFill>
                  <a:srgbClr val="DFE7E6"/>
                </a:solidFill>
                <a:latin typeface="Consolas"/>
              </a:rPr>
              <a:t>    for i in range(1, len(t)):</a:t>
            </a:r>
          </a:p>
          <a:p>
            <a:pPr>
              <a:lnSpc>
                <a:spcPct val="124000"/>
              </a:lnSpc>
              <a:spcAft>
                <a:spcPts val="0"/>
              </a:spcAft>
            </a:pPr>
            <a:r>
              <a:rPr sz="2100" b="0" i="0">
                <a:solidFill>
                  <a:srgbClr val="DFE7E6"/>
                </a:solidFill>
                <a:latin typeface="Consolas"/>
              </a:rPr>
              <a:t>        run = run + 1 if t[i] == t[i-1] else 1</a:t>
            </a:r>
          </a:p>
          <a:p>
            <a:pPr>
              <a:lnSpc>
                <a:spcPct val="124000"/>
              </a:lnSpc>
              <a:spcAft>
                <a:spcPts val="0"/>
              </a:spcAft>
            </a:pPr>
            <a:r>
              <a:rPr sz="2100" b="0" i="0">
                <a:solidFill>
                  <a:srgbClr val="DFE7E6"/>
                </a:solidFill>
                <a:latin typeface="Consolas"/>
              </a:rPr>
              <a:t>        longest = max(longest, run)</a:t>
            </a:r>
          </a:p>
          <a:p>
            <a:pPr>
              <a:lnSpc>
                <a:spcPct val="124000"/>
              </a:lnSpc>
              <a:spcAft>
                <a:spcPts val="0"/>
              </a:spcAft>
            </a:pPr>
            <a:r>
              <a:rPr sz="2100" b="0" i="0">
                <a:solidFill>
                  <a:srgbClr val="DFE7E6"/>
                </a:solidFill>
                <a:latin typeface="Consolas"/>
              </a:rPr>
              <a:t>    return longest, len(set(t)) / len(t)</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ECEEEB"/>
        </a:solidFill>
        <a:effectLst/>
      </p:bgPr>
    </p:bg>
    <p:spTree>
      <p:nvGrpSpPr>
        <p:cNvPr id="1" name=""/>
        <p:cNvGrpSpPr/>
        <p:nvPr/>
      </p:nvGrpSpPr>
      <p:grpSpPr>
        <a:xfrm>
          <a:off x="0" y="0"/>
          <a:ext cx="0" cy="0"/>
          <a:chOff x="0" y="0"/>
          <a:chExt cx="0" cy="0"/>
        </a:xfrm>
      </p:grpSpPr>
      <p:sp>
        <p:nvSpPr>
          <p:cNvPr id="2" name="TextBox 1"/>
          <p:cNvSpPr txBox="1"/>
          <p:nvPr/>
        </p:nvSpPr>
        <p:spPr>
          <a:xfrm>
            <a:off x="10618927" y="6309359"/>
            <a:ext cx="914400" cy="274320"/>
          </a:xfrm>
          <a:prstGeom prst="rect">
            <a:avLst/>
          </a:prstGeom>
          <a:noFill/>
        </p:spPr>
        <p:txBody>
          <a:bodyPr wrap="square" lIns="0" tIns="0" rIns="0" bIns="0" anchor="t">
            <a:spAutoFit/>
          </a:bodyPr>
          <a:lstStyle/>
          <a:p>
            <a:pPr algn="r">
              <a:lnSpc>
                <a:spcPct val="118000"/>
              </a:lnSpc>
              <a:spcBef>
                <a:spcPts val="0"/>
              </a:spcBef>
              <a:spcAft>
                <a:spcPts val="0"/>
              </a:spcAft>
            </a:pPr>
            <a:r>
              <a:rPr sz="2100" b="0" i="0">
                <a:solidFill>
                  <a:srgbClr val="6B787D"/>
                </a:solidFill>
                <a:latin typeface="Consolas"/>
              </a:rPr>
              <a:t>23</a:t>
            </a:r>
          </a:p>
        </p:txBody>
      </p:sp>
      <p:sp>
        <p:nvSpPr>
          <p:cNvPr id="3" name="TextBox 2"/>
          <p:cNvSpPr txBox="1"/>
          <p:nvPr/>
        </p:nvSpPr>
        <p:spPr>
          <a:xfrm>
            <a:off x="658368" y="420624"/>
            <a:ext cx="10874959" cy="310896"/>
          </a:xfrm>
          <a:prstGeom prst="rect">
            <a:avLst/>
          </a:prstGeom>
          <a:noFill/>
        </p:spPr>
        <p:txBody>
          <a:bodyPr wrap="square" lIns="0" tIns="0" rIns="0" bIns="0" anchor="t">
            <a:spAutoFit/>
          </a:bodyPr>
          <a:lstStyle/>
          <a:p>
            <a:pPr algn="l">
              <a:lnSpc>
                <a:spcPct val="118000"/>
              </a:lnSpc>
              <a:spcBef>
                <a:spcPts val="0"/>
              </a:spcBef>
              <a:spcAft>
                <a:spcPts val="0"/>
              </a:spcAft>
            </a:pPr>
            <a:r>
              <a:rPr sz="2100" b="1" i="0">
                <a:solidFill>
                  <a:srgbClr val="2E8FA3"/>
                </a:solidFill>
                <a:latin typeface="Consolas"/>
              </a:rPr>
              <a:t>12 / CODE</a:t>
            </a:r>
          </a:p>
        </p:txBody>
      </p:sp>
      <p:sp>
        <p:nvSpPr>
          <p:cNvPr id="4" name="TextBox 3"/>
          <p:cNvSpPr txBox="1"/>
          <p:nvPr/>
        </p:nvSpPr>
        <p:spPr>
          <a:xfrm>
            <a:off x="658368" y="822960"/>
            <a:ext cx="10874959" cy="822960"/>
          </a:xfrm>
          <a:prstGeom prst="rect">
            <a:avLst/>
          </a:prstGeom>
          <a:noFill/>
        </p:spPr>
        <p:txBody>
          <a:bodyPr wrap="square" lIns="0" tIns="0" rIns="0" bIns="0" anchor="t">
            <a:spAutoFit/>
          </a:bodyPr>
          <a:lstStyle/>
          <a:p>
            <a:pPr algn="l">
              <a:lnSpc>
                <a:spcPct val="106000"/>
              </a:lnSpc>
              <a:spcBef>
                <a:spcPts val="0"/>
              </a:spcBef>
              <a:spcAft>
                <a:spcPts val="0"/>
              </a:spcAft>
            </a:pPr>
            <a:r>
              <a:rPr sz="3600" b="1" i="0">
                <a:solidFill>
                  <a:srgbClr val="14181B"/>
                </a:solidFill>
                <a:latin typeface="Segoe UI"/>
              </a:rPr>
              <a:t>Target aware polarity scoring</a:t>
            </a:r>
          </a:p>
        </p:txBody>
      </p:sp>
      <p:sp>
        <p:nvSpPr>
          <p:cNvPr id="5" name="Rectangle 4"/>
          <p:cNvSpPr/>
          <p:nvPr/>
        </p:nvSpPr>
        <p:spPr>
          <a:xfrm>
            <a:off x="658368" y="1664208"/>
            <a:ext cx="10874959" cy="4573523"/>
          </a:xfrm>
          <a:prstGeom prst="rect">
            <a:avLst/>
          </a:prstGeom>
          <a:solidFill>
            <a:srgbClr val="1A2226"/>
          </a:solidFill>
          <a:ln w="12700">
            <a:solidFill>
              <a:srgbClr val="C3CBC6"/>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6" name="TextBox 5"/>
          <p:cNvSpPr txBox="1"/>
          <p:nvPr/>
        </p:nvSpPr>
        <p:spPr>
          <a:xfrm>
            <a:off x="841247" y="1810512"/>
            <a:ext cx="10564063" cy="4299204"/>
          </a:xfrm>
          <a:prstGeom prst="rect">
            <a:avLst/>
          </a:prstGeom>
          <a:noFill/>
        </p:spPr>
        <p:txBody>
          <a:bodyPr wrap="none" lIns="0" tIns="0" rIns="0" bIns="0">
            <a:spAutoFit/>
          </a:bodyPr>
          <a:lstStyle/>
          <a:p>
            <a:pPr>
              <a:lnSpc>
                <a:spcPct val="124000"/>
              </a:lnSpc>
              <a:spcAft>
                <a:spcPts val="0"/>
              </a:spcAft>
            </a:pPr>
            <a:r>
              <a:rPr sz="2100" b="0" i="0">
                <a:solidFill>
                  <a:srgbClr val="DFE7E6"/>
                </a:solidFill>
                <a:latin typeface="Consolas"/>
              </a:rPr>
              <a:t>for i, token in enumerate(tokens):</a:t>
            </a:r>
          </a:p>
          <a:p>
            <a:pPr>
              <a:lnSpc>
                <a:spcPct val="124000"/>
              </a:lnSpc>
              <a:spcAft>
                <a:spcPts val="0"/>
              </a:spcAft>
            </a:pPr>
            <a:r>
              <a:rPr sz="2100" b="0" i="0">
                <a:solidFill>
                  <a:srgbClr val="DFE7E6"/>
                </a:solidFill>
                <a:latin typeface="Consolas"/>
              </a:rPr>
              <a:t>    distance = min(abs(i - t) for t in target_idx)</a:t>
            </a:r>
          </a:p>
          <a:p>
            <a:pPr>
              <a:lnSpc>
                <a:spcPct val="124000"/>
              </a:lnSpc>
              <a:spcAft>
                <a:spcPts val="0"/>
              </a:spcAft>
            </a:pPr>
            <a:r>
              <a:rPr sz="2100" b="0" i="0">
                <a:solidFill>
                  <a:srgbClr val="DFE7E6"/>
                </a:solidFill>
                <a:latin typeface="Consolas"/>
              </a:rPr>
              <a:t>    if distance &gt; WINDOW:</a:t>
            </a:r>
          </a:p>
          <a:p>
            <a:pPr>
              <a:lnSpc>
                <a:spcPct val="124000"/>
              </a:lnSpc>
              <a:spcAft>
                <a:spcPts val="0"/>
              </a:spcAft>
            </a:pPr>
            <a:r>
              <a:rPr sz="2100" b="0" i="0">
                <a:solidFill>
                  <a:srgbClr val="DFE7E6"/>
                </a:solidFill>
                <a:latin typeface="Consolas"/>
              </a:rPr>
              <a:t>        continue</a:t>
            </a:r>
          </a:p>
          <a:p>
            <a:pPr>
              <a:lnSpc>
                <a:spcPct val="124000"/>
              </a:lnSpc>
              <a:spcAft>
                <a:spcPts val="0"/>
              </a:spcAft>
            </a:pPr>
            <a:r>
              <a:rPr sz="2100" b="0" i="0">
                <a:solidFill>
                  <a:srgbClr val="DFE7E6"/>
                </a:solidFill>
                <a:latin typeface="Consolas"/>
              </a:rPr>
              <a:t>    polarity = cue["polarity"]</a:t>
            </a:r>
          </a:p>
          <a:p>
            <a:pPr>
              <a:lnSpc>
                <a:spcPct val="124000"/>
              </a:lnSpc>
              <a:spcAft>
                <a:spcPts val="0"/>
              </a:spcAft>
            </a:pPr>
            <a:r>
              <a:rPr sz="2100" b="0" i="0">
                <a:solidFill>
                  <a:srgbClr val="DFE7E6"/>
                </a:solidFill>
                <a:latin typeface="Consolas"/>
              </a:rPr>
              <a:t>    if cue["kind"] == "direction":</a:t>
            </a:r>
          </a:p>
          <a:p>
            <a:pPr>
              <a:lnSpc>
                <a:spcPct val="124000"/>
              </a:lnSpc>
              <a:spcAft>
                <a:spcPts val="0"/>
              </a:spcAft>
            </a:pPr>
            <a:r>
              <a:rPr sz="2100" b="0" i="0">
                <a:solidFill>
                  <a:srgbClr val="8FA8AA"/>
                </a:solidFill>
                <a:latin typeface="Consolas"/>
              </a:rPr>
              <a:t>        # A rise is only good or bad relative to</a:t>
            </a:r>
          </a:p>
          <a:p>
            <a:pPr>
              <a:lnSpc>
                <a:spcPct val="124000"/>
              </a:lnSpc>
              <a:spcAft>
                <a:spcPts val="0"/>
              </a:spcAft>
            </a:pPr>
            <a:r>
              <a:rPr sz="2100" b="0" i="0">
                <a:solidFill>
                  <a:srgbClr val="8FA8AA"/>
                </a:solidFill>
                <a:latin typeface="Consolas"/>
              </a:rPr>
              <a:t>        # what is rising.</a:t>
            </a:r>
          </a:p>
          <a:p>
            <a:pPr>
              <a:lnSpc>
                <a:spcPct val="124000"/>
              </a:lnSpc>
              <a:spcAft>
                <a:spcPts val="0"/>
              </a:spcAft>
            </a:pPr>
            <a:r>
              <a:rPr sz="2100" b="0" i="0">
                <a:solidFill>
                  <a:srgbClr val="DFE7E6"/>
                </a:solidFill>
                <a:latin typeface="Consolas"/>
              </a:rPr>
              <a:t>        if orientation == 0:</a:t>
            </a:r>
          </a:p>
          <a:p>
            <a:pPr>
              <a:lnSpc>
                <a:spcPct val="124000"/>
              </a:lnSpc>
              <a:spcAft>
                <a:spcPts val="0"/>
              </a:spcAft>
            </a:pPr>
            <a:r>
              <a:rPr sz="2100" b="0" i="0">
                <a:solidFill>
                  <a:srgbClr val="DFE7E6"/>
                </a:solidFill>
                <a:latin typeface="Consolas"/>
              </a:rPr>
              <a:t>            continue</a:t>
            </a:r>
          </a:p>
          <a:p>
            <a:pPr>
              <a:lnSpc>
                <a:spcPct val="124000"/>
              </a:lnSpc>
              <a:spcAft>
                <a:spcPts val="0"/>
              </a:spcAft>
            </a:pPr>
            <a:r>
              <a:rPr sz="2100" b="0" i="0">
                <a:solidFill>
                  <a:srgbClr val="DFE7E6"/>
                </a:solidFill>
                <a:latin typeface="Consolas"/>
              </a:rPr>
              <a:t>        polarity *= orientation</a:t>
            </a:r>
          </a:p>
          <a:p>
            <a:pPr>
              <a:lnSpc>
                <a:spcPct val="124000"/>
              </a:lnSpc>
              <a:spcAft>
                <a:spcPts val="0"/>
              </a:spcAft>
            </a:pPr>
            <a:r>
              <a:rPr sz="2100" b="0" i="0">
                <a:solidFill>
                  <a:srgbClr val="DFE7E6"/>
                </a:solidFill>
                <a:latin typeface="Consolas"/>
              </a:rPr>
              <a:t>    decay = 1.0 / (1.0 + distance / 4.0)</a:t>
            </a:r>
          </a:p>
          <a:p>
            <a:pPr>
              <a:lnSpc>
                <a:spcPct val="124000"/>
              </a:lnSpc>
              <a:spcAft>
                <a:spcPts val="0"/>
              </a:spcAft>
            </a:pPr>
            <a:r>
              <a:rPr sz="2100" b="0" i="0">
                <a:solidFill>
                  <a:srgbClr val="DFE7E6"/>
                </a:solidFill>
                <a:latin typeface="Consolas"/>
              </a:rPr>
              <a:t>    score += polarity * cue["weight"] * decay</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ECEEEB"/>
        </a:solidFill>
        <a:effectLst/>
      </p:bgPr>
    </p:bg>
    <p:spTree>
      <p:nvGrpSpPr>
        <p:cNvPr id="1" name=""/>
        <p:cNvGrpSpPr/>
        <p:nvPr/>
      </p:nvGrpSpPr>
      <p:grpSpPr>
        <a:xfrm>
          <a:off x="0" y="0"/>
          <a:ext cx="0" cy="0"/>
          <a:chOff x="0" y="0"/>
          <a:chExt cx="0" cy="0"/>
        </a:xfrm>
      </p:grpSpPr>
      <p:sp>
        <p:nvSpPr>
          <p:cNvPr id="2" name="TextBox 1"/>
          <p:cNvSpPr txBox="1"/>
          <p:nvPr/>
        </p:nvSpPr>
        <p:spPr>
          <a:xfrm>
            <a:off x="10618927" y="6309359"/>
            <a:ext cx="914400" cy="274320"/>
          </a:xfrm>
          <a:prstGeom prst="rect">
            <a:avLst/>
          </a:prstGeom>
          <a:noFill/>
        </p:spPr>
        <p:txBody>
          <a:bodyPr wrap="square" lIns="0" tIns="0" rIns="0" bIns="0" anchor="t">
            <a:spAutoFit/>
          </a:bodyPr>
          <a:lstStyle/>
          <a:p>
            <a:pPr algn="r">
              <a:lnSpc>
                <a:spcPct val="118000"/>
              </a:lnSpc>
              <a:spcBef>
                <a:spcPts val="0"/>
              </a:spcBef>
              <a:spcAft>
                <a:spcPts val="0"/>
              </a:spcAft>
            </a:pPr>
            <a:r>
              <a:rPr sz="2100" b="0" i="0">
                <a:solidFill>
                  <a:srgbClr val="6B787D"/>
                </a:solidFill>
                <a:latin typeface="Consolas"/>
              </a:rPr>
              <a:t>24</a:t>
            </a:r>
          </a:p>
        </p:txBody>
      </p:sp>
      <p:sp>
        <p:nvSpPr>
          <p:cNvPr id="3" name="TextBox 2"/>
          <p:cNvSpPr txBox="1"/>
          <p:nvPr/>
        </p:nvSpPr>
        <p:spPr>
          <a:xfrm>
            <a:off x="658368" y="420624"/>
            <a:ext cx="10874959" cy="310896"/>
          </a:xfrm>
          <a:prstGeom prst="rect">
            <a:avLst/>
          </a:prstGeom>
          <a:noFill/>
        </p:spPr>
        <p:txBody>
          <a:bodyPr wrap="square" lIns="0" tIns="0" rIns="0" bIns="0" anchor="t">
            <a:spAutoFit/>
          </a:bodyPr>
          <a:lstStyle/>
          <a:p>
            <a:pPr algn="l">
              <a:lnSpc>
                <a:spcPct val="118000"/>
              </a:lnSpc>
              <a:spcBef>
                <a:spcPts val="0"/>
              </a:spcBef>
              <a:spcAft>
                <a:spcPts val="0"/>
              </a:spcAft>
            </a:pPr>
            <a:r>
              <a:rPr sz="2100" b="1" i="0">
                <a:solidFill>
                  <a:srgbClr val="2E8FA3"/>
                </a:solidFill>
                <a:latin typeface="Consolas"/>
              </a:rPr>
              <a:t>12 / CODE</a:t>
            </a:r>
          </a:p>
        </p:txBody>
      </p:sp>
      <p:sp>
        <p:nvSpPr>
          <p:cNvPr id="4" name="TextBox 3"/>
          <p:cNvSpPr txBox="1"/>
          <p:nvPr/>
        </p:nvSpPr>
        <p:spPr>
          <a:xfrm>
            <a:off x="658368" y="822960"/>
            <a:ext cx="10874959" cy="822960"/>
          </a:xfrm>
          <a:prstGeom prst="rect">
            <a:avLst/>
          </a:prstGeom>
          <a:noFill/>
        </p:spPr>
        <p:txBody>
          <a:bodyPr wrap="square" lIns="0" tIns="0" rIns="0" bIns="0" anchor="t">
            <a:spAutoFit/>
          </a:bodyPr>
          <a:lstStyle/>
          <a:p>
            <a:pPr algn="l">
              <a:lnSpc>
                <a:spcPct val="106000"/>
              </a:lnSpc>
              <a:spcBef>
                <a:spcPts val="0"/>
              </a:spcBef>
              <a:spcAft>
                <a:spcPts val="0"/>
              </a:spcAft>
            </a:pPr>
            <a:r>
              <a:rPr sz="3600" b="1" i="0">
                <a:solidFill>
                  <a:srgbClr val="14181B"/>
                </a:solidFill>
                <a:latin typeface="Segoe UI"/>
              </a:rPr>
              <a:t>The split, with a leak check</a:t>
            </a:r>
          </a:p>
        </p:txBody>
      </p:sp>
      <p:sp>
        <p:nvSpPr>
          <p:cNvPr id="5" name="Rectangle 4"/>
          <p:cNvSpPr/>
          <p:nvPr/>
        </p:nvSpPr>
        <p:spPr>
          <a:xfrm>
            <a:off x="658368" y="1664208"/>
            <a:ext cx="10874959" cy="4573523"/>
          </a:xfrm>
          <a:prstGeom prst="rect">
            <a:avLst/>
          </a:prstGeom>
          <a:solidFill>
            <a:srgbClr val="1A2226"/>
          </a:solidFill>
          <a:ln w="12700">
            <a:solidFill>
              <a:srgbClr val="C3CBC6"/>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6" name="TextBox 5"/>
          <p:cNvSpPr txBox="1"/>
          <p:nvPr/>
        </p:nvSpPr>
        <p:spPr>
          <a:xfrm>
            <a:off x="841247" y="1810512"/>
            <a:ext cx="10564063" cy="4299204"/>
          </a:xfrm>
          <a:prstGeom prst="rect">
            <a:avLst/>
          </a:prstGeom>
          <a:noFill/>
        </p:spPr>
        <p:txBody>
          <a:bodyPr wrap="none" lIns="0" tIns="0" rIns="0" bIns="0">
            <a:spAutoFit/>
          </a:bodyPr>
          <a:lstStyle/>
          <a:p>
            <a:pPr>
              <a:lnSpc>
                <a:spcPct val="124000"/>
              </a:lnSpc>
              <a:spcAft>
                <a:spcPts val="0"/>
              </a:spcAft>
            </a:pPr>
            <a:r>
              <a:rPr sz="2100" b="0" i="0">
                <a:solidFill>
                  <a:srgbClr val="DFE7E6"/>
                </a:solidFill>
                <a:latin typeface="Consolas"/>
              </a:rPr>
              <a:t>for row in rows:</a:t>
            </a:r>
          </a:p>
          <a:p>
            <a:pPr>
              <a:lnSpc>
                <a:spcPct val="124000"/>
              </a:lnSpc>
              <a:spcAft>
                <a:spcPts val="0"/>
              </a:spcAft>
            </a:pPr>
            <a:r>
              <a:rPr sz="2100" b="0" i="0">
                <a:solidFill>
                  <a:srgbClr val="DFE7E6"/>
                </a:solidFill>
                <a:latin typeface="Consolas"/>
              </a:rPr>
              <a:t>    ep = row["global_episode"]</a:t>
            </a:r>
          </a:p>
          <a:p>
            <a:pPr>
              <a:lnSpc>
                <a:spcPct val="124000"/>
              </a:lnSpc>
              <a:spcAft>
                <a:spcPts val="0"/>
              </a:spcAft>
            </a:pPr>
            <a:r>
              <a:rPr sz="2100" b="0" i="0">
                <a:solidFill>
                  <a:srgbClr val="DFE7E6"/>
                </a:solidFill>
                <a:latin typeface="Consolas"/>
              </a:rPr>
              <a:t>    name = ("test"  if ep in TEST_EPISODES</a:t>
            </a:r>
          </a:p>
          <a:p>
            <a:pPr>
              <a:lnSpc>
                <a:spcPct val="124000"/>
              </a:lnSpc>
              <a:spcAft>
                <a:spcPts val="0"/>
              </a:spcAft>
            </a:pPr>
            <a:r>
              <a:rPr sz="2100" b="0" i="0">
                <a:solidFill>
                  <a:srgbClr val="DFE7E6"/>
                </a:solidFill>
                <a:latin typeface="Consolas"/>
              </a:rPr>
              <a:t>            else "val" if ep in VAL_EPISODES</a:t>
            </a:r>
          </a:p>
          <a:p>
            <a:pPr>
              <a:lnSpc>
                <a:spcPct val="124000"/>
              </a:lnSpc>
              <a:spcAft>
                <a:spcPts val="0"/>
              </a:spcAft>
            </a:pPr>
            <a:r>
              <a:rPr sz="2100" b="0" i="0">
                <a:solidFill>
                  <a:srgbClr val="DFE7E6"/>
                </a:solidFill>
                <a:latin typeface="Consolas"/>
              </a:rPr>
              <a:t>            else "train")</a:t>
            </a:r>
          </a:p>
          <a:p>
            <a:pPr>
              <a:lnSpc>
                <a:spcPct val="124000"/>
              </a:lnSpc>
              <a:spcAft>
                <a:spcPts val="0"/>
              </a:spcAft>
            </a:pPr>
            <a:r>
              <a:rPr sz="2100" b="0" i="0">
                <a:solidFill>
                  <a:srgbClr val="DFE7E6"/>
                </a:solidFill>
                <a:latin typeface="Consolas"/>
              </a:rPr>
              <a:t>    splits[name].append(row)</a:t>
            </a:r>
          </a:p>
          <a:p>
            <a:pPr>
              <a:lnSpc>
                <a:spcPct val="124000"/>
              </a:lnSpc>
              <a:spcAft>
                <a:spcPts val="0"/>
              </a:spcAft>
            </a:pPr>
            <a:r>
              <a:rPr sz="2100" b="0" i="0">
                <a:solidFill>
                  <a:srgbClr val="8FA8AA"/>
                </a:solidFill>
                <a:latin typeface="Consolas"/>
              </a:rPr>
              <a:t># A leak check is cheap and catches a bad edit to the</a:t>
            </a:r>
          </a:p>
          <a:p>
            <a:pPr>
              <a:lnSpc>
                <a:spcPct val="124000"/>
              </a:lnSpc>
              <a:spcAft>
                <a:spcPts val="0"/>
              </a:spcAft>
            </a:pPr>
            <a:r>
              <a:rPr sz="2100" b="0" i="0">
                <a:solidFill>
                  <a:srgbClr val="8FA8AA"/>
                </a:solidFill>
                <a:latin typeface="Consolas"/>
              </a:rPr>
              <a:t># episode lists before it can inflate a score.</a:t>
            </a:r>
          </a:p>
          <a:p>
            <a:pPr>
              <a:lnSpc>
                <a:spcPct val="124000"/>
              </a:lnSpc>
              <a:spcAft>
                <a:spcPts val="0"/>
              </a:spcAft>
            </a:pPr>
            <a:r>
              <a:rPr sz="2100" b="0" i="0">
                <a:solidFill>
                  <a:srgbClr val="DFE7E6"/>
                </a:solidFill>
                <a:latin typeface="Consolas"/>
              </a:rPr>
              <a:t>train_eps = {r["global_episode"] for r in splits["train"]}</a:t>
            </a:r>
          </a:p>
          <a:p>
            <a:pPr>
              <a:lnSpc>
                <a:spcPct val="124000"/>
              </a:lnSpc>
              <a:spcAft>
                <a:spcPts val="0"/>
              </a:spcAft>
            </a:pPr>
            <a:r>
              <a:rPr sz="2100" b="0" i="0">
                <a:solidFill>
                  <a:srgbClr val="DFE7E6"/>
                </a:solidFill>
                <a:latin typeface="Consolas"/>
              </a:rPr>
              <a:t>for name in ("val", "test"):</a:t>
            </a:r>
          </a:p>
          <a:p>
            <a:pPr>
              <a:lnSpc>
                <a:spcPct val="124000"/>
              </a:lnSpc>
              <a:spcAft>
                <a:spcPts val="0"/>
              </a:spcAft>
            </a:pPr>
            <a:r>
              <a:rPr sz="2100" b="0" i="0">
                <a:solidFill>
                  <a:srgbClr val="DFE7E6"/>
                </a:solidFill>
                <a:latin typeface="Consolas"/>
              </a:rPr>
              <a:t>    overlap = train_eps &amp; {r["global_episode"]</a:t>
            </a:r>
          </a:p>
          <a:p>
            <a:pPr>
              <a:lnSpc>
                <a:spcPct val="124000"/>
              </a:lnSpc>
              <a:spcAft>
                <a:spcPts val="0"/>
              </a:spcAft>
            </a:pPr>
            <a:r>
              <a:rPr sz="2100" b="0" i="0">
                <a:solidFill>
                  <a:srgbClr val="DFE7E6"/>
                </a:solidFill>
                <a:latin typeface="Consolas"/>
              </a:rPr>
              <a:t>                           for r in splits[name]}</a:t>
            </a:r>
          </a:p>
          <a:p>
            <a:pPr>
              <a:lnSpc>
                <a:spcPct val="124000"/>
              </a:lnSpc>
              <a:spcAft>
                <a:spcPts val="0"/>
              </a:spcAft>
            </a:pPr>
            <a:r>
              <a:rPr sz="2100" b="0" i="0">
                <a:solidFill>
                  <a:srgbClr val="DFE7E6"/>
                </a:solidFill>
                <a:latin typeface="Consolas"/>
              </a:rPr>
              <a:t>    assert not overlap, f"{name} shares episodes"</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ECEEEB"/>
        </a:solidFill>
        <a:effectLst/>
      </p:bgPr>
    </p:bg>
    <p:spTree>
      <p:nvGrpSpPr>
        <p:cNvPr id="1" name=""/>
        <p:cNvGrpSpPr/>
        <p:nvPr/>
      </p:nvGrpSpPr>
      <p:grpSpPr>
        <a:xfrm>
          <a:off x="0" y="0"/>
          <a:ext cx="0" cy="0"/>
          <a:chOff x="0" y="0"/>
          <a:chExt cx="0" cy="0"/>
        </a:xfrm>
      </p:grpSpPr>
      <p:sp>
        <p:nvSpPr>
          <p:cNvPr id="2" name="TextBox 1"/>
          <p:cNvSpPr txBox="1"/>
          <p:nvPr/>
        </p:nvSpPr>
        <p:spPr>
          <a:xfrm>
            <a:off x="10618927" y="6309359"/>
            <a:ext cx="914400" cy="274320"/>
          </a:xfrm>
          <a:prstGeom prst="rect">
            <a:avLst/>
          </a:prstGeom>
          <a:noFill/>
        </p:spPr>
        <p:txBody>
          <a:bodyPr wrap="square" lIns="0" tIns="0" rIns="0" bIns="0" anchor="t">
            <a:spAutoFit/>
          </a:bodyPr>
          <a:lstStyle/>
          <a:p>
            <a:pPr algn="r">
              <a:lnSpc>
                <a:spcPct val="118000"/>
              </a:lnSpc>
              <a:spcBef>
                <a:spcPts val="0"/>
              </a:spcBef>
              <a:spcAft>
                <a:spcPts val="0"/>
              </a:spcAft>
            </a:pPr>
            <a:r>
              <a:rPr sz="2100" b="0" i="0">
                <a:solidFill>
                  <a:srgbClr val="6B787D"/>
                </a:solidFill>
                <a:latin typeface="Consolas"/>
              </a:rPr>
              <a:t>25</a:t>
            </a:r>
          </a:p>
        </p:txBody>
      </p:sp>
      <p:sp>
        <p:nvSpPr>
          <p:cNvPr id="3" name="TextBox 2"/>
          <p:cNvSpPr txBox="1"/>
          <p:nvPr/>
        </p:nvSpPr>
        <p:spPr>
          <a:xfrm>
            <a:off x="658368" y="420624"/>
            <a:ext cx="10874959" cy="310896"/>
          </a:xfrm>
          <a:prstGeom prst="rect">
            <a:avLst/>
          </a:prstGeom>
          <a:noFill/>
        </p:spPr>
        <p:txBody>
          <a:bodyPr wrap="square" lIns="0" tIns="0" rIns="0" bIns="0" anchor="t">
            <a:spAutoFit/>
          </a:bodyPr>
          <a:lstStyle/>
          <a:p>
            <a:pPr algn="l">
              <a:lnSpc>
                <a:spcPct val="118000"/>
              </a:lnSpc>
              <a:spcBef>
                <a:spcPts val="0"/>
              </a:spcBef>
              <a:spcAft>
                <a:spcPts val="0"/>
              </a:spcAft>
            </a:pPr>
            <a:r>
              <a:rPr sz="2100" b="1" i="0">
                <a:solidFill>
                  <a:srgbClr val="2E8FA3"/>
                </a:solidFill>
                <a:latin typeface="Consolas"/>
              </a:rPr>
              <a:t>12 / CODE</a:t>
            </a:r>
          </a:p>
        </p:txBody>
      </p:sp>
      <p:sp>
        <p:nvSpPr>
          <p:cNvPr id="4" name="TextBox 3"/>
          <p:cNvSpPr txBox="1"/>
          <p:nvPr/>
        </p:nvSpPr>
        <p:spPr>
          <a:xfrm>
            <a:off x="658368" y="822960"/>
            <a:ext cx="10874959" cy="822960"/>
          </a:xfrm>
          <a:prstGeom prst="rect">
            <a:avLst/>
          </a:prstGeom>
          <a:noFill/>
        </p:spPr>
        <p:txBody>
          <a:bodyPr wrap="square" lIns="0" tIns="0" rIns="0" bIns="0" anchor="t">
            <a:spAutoFit/>
          </a:bodyPr>
          <a:lstStyle/>
          <a:p>
            <a:pPr algn="l">
              <a:lnSpc>
                <a:spcPct val="106000"/>
              </a:lnSpc>
              <a:spcBef>
                <a:spcPts val="0"/>
              </a:spcBef>
              <a:spcAft>
                <a:spcPts val="0"/>
              </a:spcAft>
            </a:pPr>
            <a:r>
              <a:rPr sz="3600" b="1" i="0">
                <a:solidFill>
                  <a:srgbClr val="14181B"/>
                </a:solidFill>
                <a:latin typeface="Segoe UI"/>
              </a:rPr>
              <a:t>Training, validation and test</a:t>
            </a:r>
          </a:p>
        </p:txBody>
      </p:sp>
      <p:sp>
        <p:nvSpPr>
          <p:cNvPr id="5" name="Rectangle 4"/>
          <p:cNvSpPr/>
          <p:nvPr/>
        </p:nvSpPr>
        <p:spPr>
          <a:xfrm>
            <a:off x="658368" y="1664208"/>
            <a:ext cx="10874959" cy="4573523"/>
          </a:xfrm>
          <a:prstGeom prst="rect">
            <a:avLst/>
          </a:prstGeom>
          <a:solidFill>
            <a:srgbClr val="1A2226"/>
          </a:solidFill>
          <a:ln w="12700">
            <a:solidFill>
              <a:srgbClr val="C3CBC6"/>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6" name="TextBox 5"/>
          <p:cNvSpPr txBox="1"/>
          <p:nvPr/>
        </p:nvSpPr>
        <p:spPr>
          <a:xfrm>
            <a:off x="841247" y="1810512"/>
            <a:ext cx="10564063" cy="4299204"/>
          </a:xfrm>
          <a:prstGeom prst="rect">
            <a:avLst/>
          </a:prstGeom>
          <a:noFill/>
        </p:spPr>
        <p:txBody>
          <a:bodyPr wrap="none" lIns="0" tIns="0" rIns="0" bIns="0">
            <a:spAutoFit/>
          </a:bodyPr>
          <a:lstStyle/>
          <a:p>
            <a:pPr>
              <a:lnSpc>
                <a:spcPct val="124000"/>
              </a:lnSpc>
              <a:spcAft>
                <a:spcPts val="0"/>
              </a:spcAft>
            </a:pPr>
            <a:r>
              <a:rPr sz="2100" b="0" i="0">
                <a:solidFill>
                  <a:srgbClr val="8FA8AA"/>
                </a:solidFill>
                <a:latin typeface="Consolas"/>
              </a:rPr>
              <a:t># Sentence pair is what makes the task target aware:</a:t>
            </a:r>
          </a:p>
          <a:p>
            <a:pPr>
              <a:lnSpc>
                <a:spcPct val="124000"/>
              </a:lnSpc>
              <a:spcAft>
                <a:spcPts val="0"/>
              </a:spcAft>
            </a:pPr>
            <a:r>
              <a:rPr sz="2100" b="0" i="0">
                <a:solidFill>
                  <a:srgbClr val="8FA8AA"/>
                </a:solidFill>
                <a:latin typeface="Consolas"/>
              </a:rPr>
              <a:t>#     [CLS] target [SEP] utterance [SEP]</a:t>
            </a:r>
          </a:p>
          <a:p>
            <a:pPr>
              <a:lnSpc>
                <a:spcPct val="124000"/>
              </a:lnSpc>
              <a:spcAft>
                <a:spcPts val="0"/>
              </a:spcAft>
            </a:pPr>
            <a:r>
              <a:rPr sz="2100" b="0" i="0">
                <a:solidFill>
                  <a:srgbClr val="DFE7E6"/>
                </a:solidFill>
                <a:latin typeface="Consolas"/>
              </a:rPr>
              <a:t>enc = tokenizer(target_text(row), row["text"],</a:t>
            </a:r>
          </a:p>
          <a:p>
            <a:pPr>
              <a:lnSpc>
                <a:spcPct val="124000"/>
              </a:lnSpc>
              <a:spcAft>
                <a:spcPts val="0"/>
              </a:spcAft>
            </a:pPr>
            <a:r>
              <a:rPr sz="2100" b="0" i="0">
                <a:solidFill>
                  <a:srgbClr val="DFE7E6"/>
                </a:solidFill>
                <a:latin typeface="Consolas"/>
              </a:rPr>
              <a:t>                truncation=True, max_length=128)</a:t>
            </a:r>
          </a:p>
          <a:p>
            <a:pPr>
              <a:lnSpc>
                <a:spcPct val="124000"/>
              </a:lnSpc>
              <a:spcAft>
                <a:spcPts val="0"/>
              </a:spcAft>
            </a:pPr>
            <a:r>
              <a:rPr sz="2100" b="0" i="0">
                <a:solidFill>
                  <a:srgbClr val="8FA8AA"/>
                </a:solidFill>
                <a:latin typeface="Consolas"/>
              </a:rPr>
              <a:t># 86% of rows are non evaluative. Unweighted, the model</a:t>
            </a:r>
          </a:p>
          <a:p>
            <a:pPr>
              <a:lnSpc>
                <a:spcPct val="124000"/>
              </a:lnSpc>
              <a:spcAft>
                <a:spcPts val="0"/>
              </a:spcAft>
            </a:pPr>
            <a:r>
              <a:rPr sz="2100" b="0" i="0">
                <a:solidFill>
                  <a:srgbClr val="8FA8AA"/>
                </a:solidFill>
                <a:latin typeface="Consolas"/>
              </a:rPr>
              <a:t># predicts that one class for everything.</a:t>
            </a:r>
          </a:p>
          <a:p>
            <a:pPr>
              <a:lnSpc>
                <a:spcPct val="124000"/>
              </a:lnSpc>
              <a:spcAft>
                <a:spcPts val="0"/>
              </a:spcAft>
            </a:pPr>
            <a:r>
              <a:rPr sz="2100" b="0" i="0">
                <a:solidFill>
                  <a:srgbClr val="DFE7E6"/>
                </a:solidFill>
                <a:latin typeface="Consolas"/>
              </a:rPr>
              <a:t>loss_fn = CrossEntropyLoss(weight=class_weights)</a:t>
            </a:r>
          </a:p>
          <a:p>
            <a:pPr>
              <a:lnSpc>
                <a:spcPct val="124000"/>
              </a:lnSpc>
              <a:spcAft>
                <a:spcPts val="0"/>
              </a:spcAft>
            </a:pPr>
            <a:r>
              <a:rPr sz="2100" b="0" i="0">
                <a:solidFill>
                  <a:srgbClr val="DFE7E6"/>
                </a:solidFill>
                <a:latin typeface="Consolas"/>
              </a:rPr>
              <a:t>for epoch in range(1, args.epochs + 1):</a:t>
            </a:r>
          </a:p>
          <a:p>
            <a:pPr>
              <a:lnSpc>
                <a:spcPct val="124000"/>
              </a:lnSpc>
              <a:spcAft>
                <a:spcPts val="0"/>
              </a:spcAft>
            </a:pPr>
            <a:r>
              <a:rPr sz="2100" b="0" i="0">
                <a:solidFill>
                  <a:srgbClr val="DFE7E6"/>
                </a:solidFill>
                <a:latin typeface="Consolas"/>
              </a:rPr>
              <a:t>    for batch in train_loader:</a:t>
            </a:r>
          </a:p>
          <a:p>
            <a:pPr>
              <a:lnSpc>
                <a:spcPct val="124000"/>
              </a:lnSpc>
              <a:spcAft>
                <a:spcPts val="0"/>
              </a:spcAft>
            </a:pPr>
            <a:r>
              <a:rPr sz="2100" b="0" i="0">
                <a:solidFill>
                  <a:srgbClr val="DFE7E6"/>
                </a:solidFill>
                <a:latin typeface="Consolas"/>
              </a:rPr>
              <a:t>        loss = loss_fn(model(**batch).logits, labels)</a:t>
            </a:r>
          </a:p>
          <a:p>
            <a:pPr>
              <a:lnSpc>
                <a:spcPct val="124000"/>
              </a:lnSpc>
              <a:spcAft>
                <a:spcPts val="0"/>
              </a:spcAft>
            </a:pPr>
            <a:r>
              <a:rPr sz="2100" b="0" i="0">
                <a:solidFill>
                  <a:srgbClr val="DFE7E6"/>
                </a:solidFill>
                <a:latin typeface="Consolas"/>
              </a:rPr>
              <a:t>        loss.backward(); optimizer.step()</a:t>
            </a:r>
          </a:p>
          <a:p>
            <a:pPr>
              <a:lnSpc>
                <a:spcPct val="124000"/>
              </a:lnSpc>
              <a:spcAft>
                <a:spcPts val="0"/>
              </a:spcAft>
            </a:pPr>
            <a:r>
              <a:rPr sz="2100" b="0" i="0">
                <a:solidFill>
                  <a:srgbClr val="DFE7E6"/>
                </a:solidFill>
                <a:latin typeface="Consolas"/>
              </a:rPr>
              <a:t>    if evaluate(model, val_rows) &gt; best:  # stopping epoch</a:t>
            </a:r>
          </a:p>
          <a:p>
            <a:pPr>
              <a:lnSpc>
                <a:spcPct val="124000"/>
              </a:lnSpc>
              <a:spcAft>
                <a:spcPts val="0"/>
              </a:spcAft>
            </a:pPr>
            <a:r>
              <a:rPr sz="2100" b="0" i="0">
                <a:solidFill>
                  <a:srgbClr val="DFE7E6"/>
                </a:solidFill>
                <a:latin typeface="Consolas"/>
              </a:rPr>
              <a:t>        best = evaluate(model, val_rows); save(model)</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ECEEEB"/>
        </a:solidFill>
        <a:effectLst/>
      </p:bgPr>
    </p:bg>
    <p:spTree>
      <p:nvGrpSpPr>
        <p:cNvPr id="1" name=""/>
        <p:cNvGrpSpPr/>
        <p:nvPr/>
      </p:nvGrpSpPr>
      <p:grpSpPr>
        <a:xfrm>
          <a:off x="0" y="0"/>
          <a:ext cx="0" cy="0"/>
          <a:chOff x="0" y="0"/>
          <a:chExt cx="0" cy="0"/>
        </a:xfrm>
      </p:grpSpPr>
      <p:sp>
        <p:nvSpPr>
          <p:cNvPr id="2" name="TextBox 1"/>
          <p:cNvSpPr txBox="1"/>
          <p:nvPr/>
        </p:nvSpPr>
        <p:spPr>
          <a:xfrm>
            <a:off x="10618927" y="6309359"/>
            <a:ext cx="914400" cy="274320"/>
          </a:xfrm>
          <a:prstGeom prst="rect">
            <a:avLst/>
          </a:prstGeom>
          <a:noFill/>
        </p:spPr>
        <p:txBody>
          <a:bodyPr wrap="square" lIns="0" tIns="0" rIns="0" bIns="0" anchor="t">
            <a:spAutoFit/>
          </a:bodyPr>
          <a:lstStyle/>
          <a:p>
            <a:pPr algn="r">
              <a:lnSpc>
                <a:spcPct val="118000"/>
              </a:lnSpc>
              <a:spcBef>
                <a:spcPts val="0"/>
              </a:spcBef>
              <a:spcAft>
                <a:spcPts val="0"/>
              </a:spcAft>
            </a:pPr>
            <a:r>
              <a:rPr sz="2100" b="0" i="0">
                <a:solidFill>
                  <a:srgbClr val="6B787D"/>
                </a:solidFill>
                <a:latin typeface="Consolas"/>
              </a:rPr>
              <a:t>26</a:t>
            </a:r>
          </a:p>
        </p:txBody>
      </p:sp>
      <p:sp>
        <p:nvSpPr>
          <p:cNvPr id="3" name="TextBox 2"/>
          <p:cNvSpPr txBox="1"/>
          <p:nvPr/>
        </p:nvSpPr>
        <p:spPr>
          <a:xfrm>
            <a:off x="658368" y="420624"/>
            <a:ext cx="10874959" cy="310896"/>
          </a:xfrm>
          <a:prstGeom prst="rect">
            <a:avLst/>
          </a:prstGeom>
          <a:noFill/>
        </p:spPr>
        <p:txBody>
          <a:bodyPr wrap="square" lIns="0" tIns="0" rIns="0" bIns="0" anchor="t">
            <a:spAutoFit/>
          </a:bodyPr>
          <a:lstStyle/>
          <a:p>
            <a:pPr algn="l">
              <a:lnSpc>
                <a:spcPct val="118000"/>
              </a:lnSpc>
              <a:spcBef>
                <a:spcPts val="0"/>
              </a:spcBef>
              <a:spcAft>
                <a:spcPts val="0"/>
              </a:spcAft>
            </a:pPr>
            <a:r>
              <a:rPr sz="2100" b="1" i="0">
                <a:solidFill>
                  <a:srgbClr val="2E8FA3"/>
                </a:solidFill>
                <a:latin typeface="Consolas"/>
              </a:rPr>
              <a:t>13 / METRICS</a:t>
            </a:r>
          </a:p>
        </p:txBody>
      </p:sp>
      <p:sp>
        <p:nvSpPr>
          <p:cNvPr id="4" name="TextBox 3"/>
          <p:cNvSpPr txBox="1"/>
          <p:nvPr/>
        </p:nvSpPr>
        <p:spPr>
          <a:xfrm>
            <a:off x="658368" y="822960"/>
            <a:ext cx="10874959" cy="822960"/>
          </a:xfrm>
          <a:prstGeom prst="rect">
            <a:avLst/>
          </a:prstGeom>
          <a:noFill/>
        </p:spPr>
        <p:txBody>
          <a:bodyPr wrap="square" lIns="0" tIns="0" rIns="0" bIns="0" anchor="t">
            <a:spAutoFit/>
          </a:bodyPr>
          <a:lstStyle/>
          <a:p>
            <a:pPr algn="l">
              <a:lnSpc>
                <a:spcPct val="106000"/>
              </a:lnSpc>
              <a:spcBef>
                <a:spcPts val="0"/>
              </a:spcBef>
              <a:spcAft>
                <a:spcPts val="0"/>
              </a:spcAft>
            </a:pPr>
            <a:r>
              <a:rPr sz="3600" b="1" i="0">
                <a:solidFill>
                  <a:srgbClr val="14181B"/>
                </a:solidFill>
                <a:latin typeface="Segoe UI"/>
              </a:rPr>
              <a:t>Why plain accuracy is not the headline</a:t>
            </a:r>
          </a:p>
        </p:txBody>
      </p:sp>
      <p:sp>
        <p:nvSpPr>
          <p:cNvPr id="5" name="TextBox 4"/>
          <p:cNvSpPr txBox="1"/>
          <p:nvPr/>
        </p:nvSpPr>
        <p:spPr>
          <a:xfrm>
            <a:off x="658368" y="1389888"/>
            <a:ext cx="10874959" cy="822960"/>
          </a:xfrm>
          <a:prstGeom prst="rect">
            <a:avLst/>
          </a:prstGeom>
          <a:noFill/>
        </p:spPr>
        <p:txBody>
          <a:bodyPr wrap="square" lIns="0" tIns="0" rIns="0" bIns="0" anchor="t">
            <a:spAutoFit/>
          </a:bodyPr>
          <a:lstStyle/>
          <a:p>
            <a:pPr algn="l">
              <a:lnSpc>
                <a:spcPct val="124000"/>
              </a:lnSpc>
              <a:spcBef>
                <a:spcPts val="0"/>
              </a:spcBef>
              <a:spcAft>
                <a:spcPts val="0"/>
              </a:spcAft>
            </a:pPr>
            <a:r>
              <a:rPr sz="2400" b="0" i="0">
                <a:solidFill>
                  <a:srgbClr val="3E4A4F"/>
                </a:solidFill>
                <a:latin typeface="Segoe UI"/>
              </a:rPr>
              <a:t>The class balance decides the metric. With 85.6 percent of rows in one class, the obvious metric is actively misleading.</a:t>
            </a:r>
          </a:p>
        </p:txBody>
      </p:sp>
      <p:sp>
        <p:nvSpPr>
          <p:cNvPr id="6" name="Rectangle 5"/>
          <p:cNvSpPr/>
          <p:nvPr/>
        </p:nvSpPr>
        <p:spPr>
          <a:xfrm>
            <a:off x="658368" y="2468879"/>
            <a:ext cx="10874959" cy="1426464"/>
          </a:xfrm>
          <a:prstGeom prst="rect">
            <a:avLst/>
          </a:prstGeom>
          <a:solidFill>
            <a:srgbClr val="F8F9F7"/>
          </a:solidFill>
          <a:ln w="12700">
            <a:solidFill>
              <a:srgbClr val="C3CBC6"/>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7" name="Rectangle 6"/>
          <p:cNvSpPr/>
          <p:nvPr/>
        </p:nvSpPr>
        <p:spPr>
          <a:xfrm>
            <a:off x="658368" y="2468879"/>
            <a:ext cx="50292" cy="1426464"/>
          </a:xfrm>
          <a:prstGeom prst="rect">
            <a:avLst/>
          </a:prstGeom>
          <a:solidFill>
            <a:srgbClr val="A6423C"/>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8" name="TextBox 7"/>
          <p:cNvSpPr txBox="1"/>
          <p:nvPr/>
        </p:nvSpPr>
        <p:spPr>
          <a:xfrm>
            <a:off x="932688" y="2651760"/>
            <a:ext cx="10372039" cy="1060704"/>
          </a:xfrm>
          <a:prstGeom prst="rect">
            <a:avLst/>
          </a:prstGeom>
          <a:noFill/>
        </p:spPr>
        <p:txBody>
          <a:bodyPr wrap="square" lIns="0" tIns="0" rIns="0" bIns="0" anchor="t">
            <a:spAutoFit/>
          </a:bodyPr>
          <a:lstStyle/>
          <a:p>
            <a:pPr algn="l">
              <a:lnSpc>
                <a:spcPct val="118000"/>
              </a:lnSpc>
              <a:spcBef>
                <a:spcPts val="0"/>
              </a:spcBef>
              <a:spcAft>
                <a:spcPts val="600"/>
              </a:spcAft>
            </a:pPr>
            <a:r>
              <a:rPr sz="2400" b="1" i="0">
                <a:solidFill>
                  <a:srgbClr val="14181B"/>
                </a:solidFill>
                <a:latin typeface="Segoe UI"/>
              </a:rPr>
              <a:t>Accuracy, rejected as a headline</a:t>
            </a:r>
          </a:p>
          <a:p>
            <a:pPr algn="l">
              <a:lnSpc>
                <a:spcPct val="120000"/>
              </a:lnSpc>
              <a:spcBef>
                <a:spcPts val="0"/>
              </a:spcBef>
              <a:spcAft>
                <a:spcPts val="0"/>
              </a:spcAft>
            </a:pPr>
            <a:r>
              <a:rPr sz="2200" b="0" i="0">
                <a:solidFill>
                  <a:srgbClr val="3E4A4F"/>
                </a:solidFill>
                <a:latin typeface="Segoe UI"/>
              </a:rPr>
              <a:t>A model that answers non evaluative every single time scores 85.6 percent on this corpus and has learned nothing at all.</a:t>
            </a:r>
          </a:p>
        </p:txBody>
      </p:sp>
      <p:sp>
        <p:nvSpPr>
          <p:cNvPr id="9" name="Rectangle 8"/>
          <p:cNvSpPr/>
          <p:nvPr/>
        </p:nvSpPr>
        <p:spPr>
          <a:xfrm>
            <a:off x="658368" y="4078224"/>
            <a:ext cx="10874959" cy="1575324"/>
          </a:xfrm>
          <a:prstGeom prst="rect">
            <a:avLst/>
          </a:prstGeom>
          <a:solidFill>
            <a:srgbClr val="F8F9F7"/>
          </a:solidFill>
          <a:ln w="12700">
            <a:solidFill>
              <a:srgbClr val="C3CBC6"/>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0" name="Rectangle 9"/>
          <p:cNvSpPr/>
          <p:nvPr/>
        </p:nvSpPr>
        <p:spPr>
          <a:xfrm>
            <a:off x="658368" y="4078224"/>
            <a:ext cx="50292" cy="1426464"/>
          </a:xfrm>
          <a:prstGeom prst="rect">
            <a:avLst/>
          </a:prstGeom>
          <a:solidFill>
            <a:srgbClr val="35735A"/>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1" name="TextBox 10"/>
          <p:cNvSpPr txBox="1"/>
          <p:nvPr/>
        </p:nvSpPr>
        <p:spPr>
          <a:xfrm>
            <a:off x="932688" y="4261104"/>
            <a:ext cx="10372039" cy="1060704"/>
          </a:xfrm>
          <a:prstGeom prst="rect">
            <a:avLst/>
          </a:prstGeom>
          <a:noFill/>
        </p:spPr>
        <p:txBody>
          <a:bodyPr wrap="square" lIns="0" tIns="0" rIns="0" bIns="0" anchor="t">
            <a:spAutoFit/>
          </a:bodyPr>
          <a:lstStyle/>
          <a:p>
            <a:pPr algn="l">
              <a:lnSpc>
                <a:spcPct val="118000"/>
              </a:lnSpc>
              <a:spcBef>
                <a:spcPts val="0"/>
              </a:spcBef>
              <a:spcAft>
                <a:spcPts val="600"/>
              </a:spcAft>
            </a:pPr>
            <a:r>
              <a:rPr sz="2400" b="1" i="0">
                <a:solidFill>
                  <a:srgbClr val="14181B"/>
                </a:solidFill>
                <a:latin typeface="Segoe UI"/>
              </a:rPr>
              <a:t>Macro F1, the headline</a:t>
            </a:r>
          </a:p>
          <a:p>
            <a:pPr algn="l">
              <a:lnSpc>
                <a:spcPct val="120000"/>
              </a:lnSpc>
              <a:spcBef>
                <a:spcPts val="0"/>
              </a:spcBef>
              <a:spcAft>
                <a:spcPts val="0"/>
              </a:spcAft>
            </a:pPr>
            <a:r>
              <a:rPr sz="2200" b="0" i="0">
                <a:solidFill>
                  <a:srgbClr val="3E4A4F"/>
                </a:solidFill>
                <a:latin typeface="Segoe UI"/>
              </a:rPr>
              <a:t>Averages F1 over the three classes with equal weight, so the 152 positive rows count as much as the 2,583 neutral ones. That same all neutral model scores 0.31 here.</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ECEEEB"/>
        </a:solidFill>
        <a:effectLst/>
      </p:bgPr>
    </p:bg>
    <p:spTree>
      <p:nvGrpSpPr>
        <p:cNvPr id="1" name=""/>
        <p:cNvGrpSpPr/>
        <p:nvPr/>
      </p:nvGrpSpPr>
      <p:grpSpPr>
        <a:xfrm>
          <a:off x="0" y="0"/>
          <a:ext cx="0" cy="0"/>
          <a:chOff x="0" y="0"/>
          <a:chExt cx="0" cy="0"/>
        </a:xfrm>
      </p:grpSpPr>
      <p:sp>
        <p:nvSpPr>
          <p:cNvPr id="2" name="TextBox 1"/>
          <p:cNvSpPr txBox="1"/>
          <p:nvPr/>
        </p:nvSpPr>
        <p:spPr>
          <a:xfrm>
            <a:off x="10618927" y="6309359"/>
            <a:ext cx="914400" cy="274320"/>
          </a:xfrm>
          <a:prstGeom prst="rect">
            <a:avLst/>
          </a:prstGeom>
          <a:noFill/>
        </p:spPr>
        <p:txBody>
          <a:bodyPr wrap="square" lIns="0" tIns="0" rIns="0" bIns="0" anchor="t">
            <a:spAutoFit/>
          </a:bodyPr>
          <a:lstStyle/>
          <a:p>
            <a:pPr algn="r">
              <a:lnSpc>
                <a:spcPct val="118000"/>
              </a:lnSpc>
              <a:spcBef>
                <a:spcPts val="0"/>
              </a:spcBef>
              <a:spcAft>
                <a:spcPts val="0"/>
              </a:spcAft>
            </a:pPr>
            <a:r>
              <a:rPr sz="2100" b="0" i="0">
                <a:solidFill>
                  <a:srgbClr val="6B787D"/>
                </a:solidFill>
                <a:latin typeface="Consolas"/>
              </a:rPr>
              <a:t>27</a:t>
            </a:r>
          </a:p>
        </p:txBody>
      </p:sp>
      <p:sp>
        <p:nvSpPr>
          <p:cNvPr id="3" name="TextBox 2"/>
          <p:cNvSpPr txBox="1"/>
          <p:nvPr/>
        </p:nvSpPr>
        <p:spPr>
          <a:xfrm>
            <a:off x="658368" y="420624"/>
            <a:ext cx="10874959" cy="310896"/>
          </a:xfrm>
          <a:prstGeom prst="rect">
            <a:avLst/>
          </a:prstGeom>
          <a:noFill/>
        </p:spPr>
        <p:txBody>
          <a:bodyPr wrap="square" lIns="0" tIns="0" rIns="0" bIns="0" anchor="t">
            <a:spAutoFit/>
          </a:bodyPr>
          <a:lstStyle/>
          <a:p>
            <a:pPr algn="l">
              <a:lnSpc>
                <a:spcPct val="118000"/>
              </a:lnSpc>
              <a:spcBef>
                <a:spcPts val="0"/>
              </a:spcBef>
              <a:spcAft>
                <a:spcPts val="0"/>
              </a:spcAft>
            </a:pPr>
            <a:r>
              <a:rPr sz="2100" b="1" i="0">
                <a:solidFill>
                  <a:srgbClr val="2E8FA3"/>
                </a:solidFill>
                <a:latin typeface="Consolas"/>
              </a:rPr>
              <a:t>13 / METRICS</a:t>
            </a:r>
          </a:p>
        </p:txBody>
      </p:sp>
      <p:sp>
        <p:nvSpPr>
          <p:cNvPr id="4" name="TextBox 3"/>
          <p:cNvSpPr txBox="1"/>
          <p:nvPr/>
        </p:nvSpPr>
        <p:spPr>
          <a:xfrm>
            <a:off x="658368" y="822960"/>
            <a:ext cx="10874959" cy="822960"/>
          </a:xfrm>
          <a:prstGeom prst="rect">
            <a:avLst/>
          </a:prstGeom>
          <a:noFill/>
        </p:spPr>
        <p:txBody>
          <a:bodyPr wrap="square" lIns="0" tIns="0" rIns="0" bIns="0" anchor="t">
            <a:spAutoFit/>
          </a:bodyPr>
          <a:lstStyle/>
          <a:p>
            <a:pPr algn="l">
              <a:lnSpc>
                <a:spcPct val="106000"/>
              </a:lnSpc>
              <a:spcBef>
                <a:spcPts val="0"/>
              </a:spcBef>
              <a:spcAft>
                <a:spcPts val="0"/>
              </a:spcAft>
            </a:pPr>
            <a:r>
              <a:rPr sz="3600" b="1" i="0">
                <a:solidFill>
                  <a:srgbClr val="14181B"/>
                </a:solidFill>
                <a:latin typeface="Segoe UI"/>
              </a:rPr>
              <a:t>The other three, and what each one catches</a:t>
            </a:r>
          </a:p>
        </p:txBody>
      </p:sp>
      <p:sp>
        <p:nvSpPr>
          <p:cNvPr id="5" name="TextBox 4"/>
          <p:cNvSpPr txBox="1"/>
          <p:nvPr/>
        </p:nvSpPr>
        <p:spPr>
          <a:xfrm>
            <a:off x="658368" y="1664208"/>
            <a:ext cx="10874959" cy="310896"/>
          </a:xfrm>
          <a:prstGeom prst="rect">
            <a:avLst/>
          </a:prstGeom>
          <a:noFill/>
        </p:spPr>
        <p:txBody>
          <a:bodyPr wrap="square" lIns="0" tIns="0" rIns="0" bIns="0" anchor="t">
            <a:spAutoFit/>
          </a:bodyPr>
          <a:lstStyle/>
          <a:p>
            <a:pPr algn="l">
              <a:lnSpc>
                <a:spcPct val="118000"/>
              </a:lnSpc>
              <a:spcBef>
                <a:spcPts val="0"/>
              </a:spcBef>
              <a:spcAft>
                <a:spcPts val="0"/>
              </a:spcAft>
            </a:pPr>
            <a:r>
              <a:rPr sz="2400" b="1" i="0">
                <a:solidFill>
                  <a:srgbClr val="1D4E5F"/>
                </a:solidFill>
                <a:latin typeface="Segoe UI"/>
              </a:rPr>
              <a:t>Per class precision and recall</a:t>
            </a:r>
          </a:p>
        </p:txBody>
      </p:sp>
      <p:sp>
        <p:nvSpPr>
          <p:cNvPr id="6" name="TextBox 5"/>
          <p:cNvSpPr txBox="1"/>
          <p:nvPr/>
        </p:nvSpPr>
        <p:spPr>
          <a:xfrm>
            <a:off x="658368" y="2029968"/>
            <a:ext cx="10874959" cy="548640"/>
          </a:xfrm>
          <a:prstGeom prst="rect">
            <a:avLst/>
          </a:prstGeom>
          <a:noFill/>
        </p:spPr>
        <p:txBody>
          <a:bodyPr wrap="square" lIns="0" tIns="0" rIns="0" bIns="0" anchor="t">
            <a:spAutoFit/>
          </a:bodyPr>
          <a:lstStyle/>
          <a:p>
            <a:pPr algn="l">
              <a:lnSpc>
                <a:spcPct val="120000"/>
              </a:lnSpc>
              <a:spcBef>
                <a:spcPts val="0"/>
              </a:spcBef>
              <a:spcAft>
                <a:spcPts val="0"/>
              </a:spcAft>
            </a:pPr>
            <a:r>
              <a:rPr sz="2200" b="0" i="0">
                <a:solidFill>
                  <a:srgbClr val="3E4A4F"/>
                </a:solidFill>
                <a:latin typeface="Segoe UI"/>
              </a:rPr>
              <a:t>Macro F1 hides which class is broken. Splitting it out revealed that positive precision is the real weakness, at 0.417.</a:t>
            </a:r>
          </a:p>
        </p:txBody>
      </p:sp>
      <p:sp>
        <p:nvSpPr>
          <p:cNvPr id="7" name="TextBox 6"/>
          <p:cNvSpPr txBox="1"/>
          <p:nvPr/>
        </p:nvSpPr>
        <p:spPr>
          <a:xfrm>
            <a:off x="658368" y="2798064"/>
            <a:ext cx="10874959" cy="310896"/>
          </a:xfrm>
          <a:prstGeom prst="rect">
            <a:avLst/>
          </a:prstGeom>
          <a:noFill/>
        </p:spPr>
        <p:txBody>
          <a:bodyPr wrap="square" lIns="0" tIns="0" rIns="0" bIns="0" anchor="t">
            <a:spAutoFit/>
          </a:bodyPr>
          <a:lstStyle/>
          <a:p>
            <a:pPr algn="l">
              <a:lnSpc>
                <a:spcPct val="118000"/>
              </a:lnSpc>
              <a:spcBef>
                <a:spcPts val="0"/>
              </a:spcBef>
              <a:spcAft>
                <a:spcPts val="0"/>
              </a:spcAft>
            </a:pPr>
            <a:r>
              <a:rPr sz="2400" b="1" i="0">
                <a:solidFill>
                  <a:srgbClr val="1D4E5F"/>
                </a:solidFill>
                <a:latin typeface="Segoe UI"/>
              </a:rPr>
              <a:t>Cohen kappa</a:t>
            </a:r>
          </a:p>
        </p:txBody>
      </p:sp>
      <p:sp>
        <p:nvSpPr>
          <p:cNvPr id="8" name="TextBox 7"/>
          <p:cNvSpPr txBox="1"/>
          <p:nvPr/>
        </p:nvSpPr>
        <p:spPr>
          <a:xfrm>
            <a:off x="658368" y="3163824"/>
            <a:ext cx="10874959" cy="548640"/>
          </a:xfrm>
          <a:prstGeom prst="rect">
            <a:avLst/>
          </a:prstGeom>
          <a:noFill/>
        </p:spPr>
        <p:txBody>
          <a:bodyPr wrap="square" lIns="0" tIns="0" rIns="0" bIns="0" anchor="t">
            <a:spAutoFit/>
          </a:bodyPr>
          <a:lstStyle/>
          <a:p>
            <a:pPr algn="l">
              <a:lnSpc>
                <a:spcPct val="120000"/>
              </a:lnSpc>
              <a:spcBef>
                <a:spcPts val="0"/>
              </a:spcBef>
              <a:spcAft>
                <a:spcPts val="0"/>
              </a:spcAft>
            </a:pPr>
            <a:r>
              <a:rPr sz="2200" b="0" i="0">
                <a:solidFill>
                  <a:srgbClr val="3E4A4F"/>
                </a:solidFill>
                <a:latin typeface="Segoe UI"/>
              </a:rPr>
              <a:t>Agreement corrected for chance. The rule set reaches 0.392, which is fair agreement. Raw agreement of 59.4 percent would sound far better than it is.</a:t>
            </a:r>
          </a:p>
        </p:txBody>
      </p:sp>
      <p:sp>
        <p:nvSpPr>
          <p:cNvPr id="9" name="TextBox 8"/>
          <p:cNvSpPr txBox="1"/>
          <p:nvPr/>
        </p:nvSpPr>
        <p:spPr>
          <a:xfrm>
            <a:off x="658368" y="3931920"/>
            <a:ext cx="10874959" cy="310896"/>
          </a:xfrm>
          <a:prstGeom prst="rect">
            <a:avLst/>
          </a:prstGeom>
          <a:noFill/>
        </p:spPr>
        <p:txBody>
          <a:bodyPr wrap="square" lIns="0" tIns="0" rIns="0" bIns="0" anchor="t">
            <a:spAutoFit/>
          </a:bodyPr>
          <a:lstStyle/>
          <a:p>
            <a:pPr algn="l">
              <a:lnSpc>
                <a:spcPct val="118000"/>
              </a:lnSpc>
              <a:spcBef>
                <a:spcPts val="0"/>
              </a:spcBef>
              <a:spcAft>
                <a:spcPts val="0"/>
              </a:spcAft>
            </a:pPr>
            <a:r>
              <a:rPr sz="2400" b="1" i="0">
                <a:solidFill>
                  <a:srgbClr val="1D4E5F"/>
                </a:solidFill>
                <a:latin typeface="Segoe UI"/>
              </a:rPr>
              <a:t>Confusion matrix</a:t>
            </a:r>
          </a:p>
        </p:txBody>
      </p:sp>
      <p:sp>
        <p:nvSpPr>
          <p:cNvPr id="10" name="TextBox 9"/>
          <p:cNvSpPr txBox="1"/>
          <p:nvPr/>
        </p:nvSpPr>
        <p:spPr>
          <a:xfrm>
            <a:off x="658368" y="4297680"/>
            <a:ext cx="10874959" cy="548640"/>
          </a:xfrm>
          <a:prstGeom prst="rect">
            <a:avLst/>
          </a:prstGeom>
          <a:noFill/>
        </p:spPr>
        <p:txBody>
          <a:bodyPr wrap="square" lIns="0" tIns="0" rIns="0" bIns="0" anchor="t">
            <a:spAutoFit/>
          </a:bodyPr>
          <a:lstStyle/>
          <a:p>
            <a:pPr algn="l">
              <a:lnSpc>
                <a:spcPct val="120000"/>
              </a:lnSpc>
              <a:spcBef>
                <a:spcPts val="0"/>
              </a:spcBef>
              <a:spcAft>
                <a:spcPts val="0"/>
              </a:spcAft>
            </a:pPr>
            <a:r>
              <a:rPr sz="2200" b="0" i="0">
                <a:solidFill>
                  <a:srgbClr val="3E4A4F"/>
                </a:solidFill>
                <a:latin typeface="Segoe UI"/>
              </a:rPr>
              <a:t>The only view that says which direction the errors run. A single F1 cannot tell a model that misses negatives apart from one that invents positives.</a:t>
            </a:r>
          </a:p>
        </p:txBody>
      </p:sp>
      <p:sp>
        <p:nvSpPr>
          <p:cNvPr id="11" name="TextBox 10"/>
          <p:cNvSpPr txBox="1"/>
          <p:nvPr/>
        </p:nvSpPr>
        <p:spPr>
          <a:xfrm>
            <a:off x="658368" y="5010912"/>
            <a:ext cx="10874959" cy="640080"/>
          </a:xfrm>
          <a:prstGeom prst="rect">
            <a:avLst/>
          </a:prstGeom>
          <a:noFill/>
        </p:spPr>
        <p:txBody>
          <a:bodyPr wrap="square" lIns="0" tIns="0" rIns="0" bIns="0" anchor="t">
            <a:spAutoFit/>
          </a:bodyPr>
          <a:lstStyle/>
          <a:p>
            <a:pPr algn="l">
              <a:lnSpc>
                <a:spcPct val="120000"/>
              </a:lnSpc>
              <a:spcBef>
                <a:spcPts val="0"/>
              </a:spcBef>
              <a:spcAft>
                <a:spcPts val="0"/>
              </a:spcAft>
            </a:pPr>
            <a:r>
              <a:rPr sz="2100" b="0" i="0">
                <a:solidFill>
                  <a:srgbClr val="3E4A4F"/>
                </a:solidFill>
                <a:latin typeface="Segoe UI"/>
              </a:rPr>
              <a:t>Deliberately not reported: word error rate, diarization error rate, and speaker attribution accuracy. Each needs a human made reference, and this project has none.</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ECEEEB"/>
        </a:solidFill>
        <a:effectLst/>
      </p:bgPr>
    </p:bg>
    <p:spTree>
      <p:nvGrpSpPr>
        <p:cNvPr id="1" name=""/>
        <p:cNvGrpSpPr/>
        <p:nvPr/>
      </p:nvGrpSpPr>
      <p:grpSpPr>
        <a:xfrm>
          <a:off x="0" y="0"/>
          <a:ext cx="0" cy="0"/>
          <a:chOff x="0" y="0"/>
          <a:chExt cx="0" cy="0"/>
        </a:xfrm>
      </p:grpSpPr>
      <p:sp>
        <p:nvSpPr>
          <p:cNvPr id="2" name="TextBox 1"/>
          <p:cNvSpPr txBox="1"/>
          <p:nvPr/>
        </p:nvSpPr>
        <p:spPr>
          <a:xfrm>
            <a:off x="10954512" y="6318504"/>
            <a:ext cx="914400" cy="274320"/>
          </a:xfrm>
          <a:prstGeom prst="rect">
            <a:avLst/>
          </a:prstGeom>
          <a:noFill/>
        </p:spPr>
        <p:txBody>
          <a:bodyPr wrap="square" lIns="0" tIns="0" rIns="0" bIns="0" anchor="t">
            <a:spAutoFit/>
          </a:bodyPr>
          <a:lstStyle/>
          <a:p>
            <a:pPr algn="r">
              <a:lnSpc>
                <a:spcPct val="118000"/>
              </a:lnSpc>
              <a:spcBef>
                <a:spcPts val="0"/>
              </a:spcBef>
              <a:spcAft>
                <a:spcPts val="0"/>
              </a:spcAft>
            </a:pPr>
            <a:r>
              <a:rPr sz="2100" b="0" i="0" dirty="0">
                <a:solidFill>
                  <a:srgbClr val="6B787D"/>
                </a:solidFill>
                <a:latin typeface="Consolas"/>
              </a:rPr>
              <a:t>28</a:t>
            </a:r>
          </a:p>
        </p:txBody>
      </p:sp>
      <p:sp>
        <p:nvSpPr>
          <p:cNvPr id="3" name="TextBox 2"/>
          <p:cNvSpPr txBox="1"/>
          <p:nvPr/>
        </p:nvSpPr>
        <p:spPr>
          <a:xfrm>
            <a:off x="658368" y="420624"/>
            <a:ext cx="10874959" cy="310896"/>
          </a:xfrm>
          <a:prstGeom prst="rect">
            <a:avLst/>
          </a:prstGeom>
          <a:noFill/>
        </p:spPr>
        <p:txBody>
          <a:bodyPr wrap="square" lIns="0" tIns="0" rIns="0" bIns="0" anchor="t">
            <a:spAutoFit/>
          </a:bodyPr>
          <a:lstStyle/>
          <a:p>
            <a:pPr algn="l">
              <a:lnSpc>
                <a:spcPct val="118000"/>
              </a:lnSpc>
              <a:spcBef>
                <a:spcPts val="0"/>
              </a:spcBef>
              <a:spcAft>
                <a:spcPts val="0"/>
              </a:spcAft>
            </a:pPr>
            <a:r>
              <a:rPr sz="2100" b="1" i="0">
                <a:solidFill>
                  <a:srgbClr val="2E8FA3"/>
                </a:solidFill>
                <a:latin typeface="Consolas"/>
              </a:rPr>
              <a:t>14 / RESULTS</a:t>
            </a:r>
          </a:p>
        </p:txBody>
      </p:sp>
      <p:sp>
        <p:nvSpPr>
          <p:cNvPr id="4" name="TextBox 3"/>
          <p:cNvSpPr txBox="1"/>
          <p:nvPr/>
        </p:nvSpPr>
        <p:spPr>
          <a:xfrm>
            <a:off x="658368" y="822960"/>
            <a:ext cx="10874959" cy="822960"/>
          </a:xfrm>
          <a:prstGeom prst="rect">
            <a:avLst/>
          </a:prstGeom>
          <a:noFill/>
        </p:spPr>
        <p:txBody>
          <a:bodyPr wrap="square" lIns="0" tIns="0" rIns="0" bIns="0" anchor="t">
            <a:spAutoFit/>
          </a:bodyPr>
          <a:lstStyle/>
          <a:p>
            <a:pPr algn="l">
              <a:lnSpc>
                <a:spcPct val="106000"/>
              </a:lnSpc>
              <a:spcBef>
                <a:spcPts val="0"/>
              </a:spcBef>
              <a:spcAft>
                <a:spcPts val="0"/>
              </a:spcAft>
            </a:pPr>
            <a:r>
              <a:rPr sz="3600" b="1" i="0">
                <a:solidFill>
                  <a:srgbClr val="14181B"/>
                </a:solidFill>
                <a:latin typeface="Segoe UI"/>
              </a:rPr>
              <a:t>Measured against 180 transcripts read by hand</a:t>
            </a:r>
          </a:p>
        </p:txBody>
      </p:sp>
      <p:sp>
        <p:nvSpPr>
          <p:cNvPr id="5" name="TextBox 4"/>
          <p:cNvSpPr txBox="1"/>
          <p:nvPr/>
        </p:nvSpPr>
        <p:spPr>
          <a:xfrm>
            <a:off x="658368" y="1389888"/>
            <a:ext cx="10874959" cy="822960"/>
          </a:xfrm>
          <a:prstGeom prst="rect">
            <a:avLst/>
          </a:prstGeom>
          <a:noFill/>
        </p:spPr>
        <p:txBody>
          <a:bodyPr wrap="square" lIns="0" tIns="0" rIns="0" bIns="0" anchor="t">
            <a:spAutoFit/>
          </a:bodyPr>
          <a:lstStyle/>
          <a:p>
            <a:pPr algn="l">
              <a:lnSpc>
                <a:spcPct val="124000"/>
              </a:lnSpc>
              <a:spcBef>
                <a:spcPts val="0"/>
              </a:spcBef>
              <a:spcAft>
                <a:spcPts val="0"/>
              </a:spcAft>
            </a:pPr>
            <a:r>
              <a:rPr sz="2400" b="0" i="0">
                <a:solidFill>
                  <a:srgbClr val="3E4A4F"/>
                </a:solidFill>
                <a:latin typeface="Segoe UI"/>
              </a:rPr>
              <a:t>A stratified sample of 180 target pairs was read in context and labelled by hand. 59 fall inside the held out test episodes.</a:t>
            </a:r>
          </a:p>
        </p:txBody>
      </p:sp>
      <p:sp>
        <p:nvSpPr>
          <p:cNvPr id="6" name="TextBox 5"/>
          <p:cNvSpPr txBox="1"/>
          <p:nvPr/>
        </p:nvSpPr>
        <p:spPr>
          <a:xfrm>
            <a:off x="658368" y="2468879"/>
            <a:ext cx="10874959" cy="310896"/>
          </a:xfrm>
          <a:prstGeom prst="rect">
            <a:avLst/>
          </a:prstGeom>
          <a:noFill/>
        </p:spPr>
        <p:txBody>
          <a:bodyPr wrap="square" lIns="0" tIns="0" rIns="0" bIns="0" anchor="t">
            <a:spAutoFit/>
          </a:bodyPr>
          <a:lstStyle/>
          <a:p>
            <a:pPr algn="l">
              <a:lnSpc>
                <a:spcPct val="118000"/>
              </a:lnSpc>
              <a:spcBef>
                <a:spcPts val="0"/>
              </a:spcBef>
              <a:spcAft>
                <a:spcPts val="0"/>
              </a:spcAft>
            </a:pPr>
            <a:r>
              <a:rPr sz="2100" b="1" i="0">
                <a:solidFill>
                  <a:srgbClr val="6B787D"/>
                </a:solidFill>
                <a:latin typeface="Consolas"/>
              </a:rPr>
              <a:t>MACRO F1 ON THE 59 HELD OUT PAIRS</a:t>
            </a:r>
          </a:p>
        </p:txBody>
      </p:sp>
      <p:sp>
        <p:nvSpPr>
          <p:cNvPr id="7" name="TextBox 6"/>
          <p:cNvSpPr txBox="1"/>
          <p:nvPr/>
        </p:nvSpPr>
        <p:spPr>
          <a:xfrm>
            <a:off x="658368" y="2944368"/>
            <a:ext cx="3931920" cy="365760"/>
          </a:xfrm>
          <a:prstGeom prst="rect">
            <a:avLst/>
          </a:prstGeom>
          <a:noFill/>
        </p:spPr>
        <p:txBody>
          <a:bodyPr wrap="square" lIns="0" tIns="0" rIns="0" bIns="0" anchor="t">
            <a:spAutoFit/>
          </a:bodyPr>
          <a:lstStyle/>
          <a:p>
            <a:pPr algn="l">
              <a:lnSpc>
                <a:spcPct val="118000"/>
              </a:lnSpc>
              <a:spcBef>
                <a:spcPts val="0"/>
              </a:spcBef>
              <a:spcAft>
                <a:spcPts val="0"/>
              </a:spcAft>
            </a:pPr>
            <a:r>
              <a:rPr sz="2200" b="0" i="0">
                <a:solidFill>
                  <a:srgbClr val="14181B"/>
                </a:solidFill>
                <a:latin typeface="Segoe UI"/>
              </a:rPr>
              <a:t>Always non evaluative</a:t>
            </a:r>
          </a:p>
        </p:txBody>
      </p:sp>
      <p:sp>
        <p:nvSpPr>
          <p:cNvPr id="8" name="Rectangle 7"/>
          <p:cNvSpPr/>
          <p:nvPr/>
        </p:nvSpPr>
        <p:spPr>
          <a:xfrm>
            <a:off x="4773168" y="2926079"/>
            <a:ext cx="5486400" cy="384048"/>
          </a:xfrm>
          <a:prstGeom prst="rect">
            <a:avLst/>
          </a:prstGeom>
          <a:solidFill>
            <a:srgbClr val="E0E5E1"/>
          </a:solidFill>
          <a:ln w="12700">
            <a:solidFill>
              <a:srgbClr val="C3CBC6"/>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 name="Rectangle 8"/>
          <p:cNvSpPr/>
          <p:nvPr/>
        </p:nvSpPr>
        <p:spPr>
          <a:xfrm>
            <a:off x="7516367" y="2926079"/>
            <a:ext cx="7315" cy="384048"/>
          </a:xfrm>
          <a:prstGeom prst="rect">
            <a:avLst/>
          </a:prstGeom>
          <a:solidFill>
            <a:srgbClr val="C3CBC6"/>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0" name="Rectangle 9"/>
          <p:cNvSpPr/>
          <p:nvPr/>
        </p:nvSpPr>
        <p:spPr>
          <a:xfrm>
            <a:off x="4773168" y="2926079"/>
            <a:ext cx="971092" cy="384048"/>
          </a:xfrm>
          <a:prstGeom prst="rect">
            <a:avLst/>
          </a:prstGeom>
          <a:solidFill>
            <a:srgbClr val="77827C"/>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1" name="TextBox 10"/>
          <p:cNvSpPr txBox="1"/>
          <p:nvPr/>
        </p:nvSpPr>
        <p:spPr>
          <a:xfrm>
            <a:off x="10405872" y="2944368"/>
            <a:ext cx="1188720" cy="365760"/>
          </a:xfrm>
          <a:prstGeom prst="rect">
            <a:avLst/>
          </a:prstGeom>
          <a:noFill/>
        </p:spPr>
        <p:txBody>
          <a:bodyPr wrap="square" lIns="0" tIns="0" rIns="0" bIns="0" anchor="t">
            <a:spAutoFit/>
          </a:bodyPr>
          <a:lstStyle/>
          <a:p>
            <a:pPr algn="l">
              <a:lnSpc>
                <a:spcPct val="118000"/>
              </a:lnSpc>
              <a:spcBef>
                <a:spcPts val="0"/>
              </a:spcBef>
              <a:spcAft>
                <a:spcPts val="0"/>
              </a:spcAft>
            </a:pPr>
            <a:r>
              <a:rPr sz="2200" b="0" i="0">
                <a:solidFill>
                  <a:srgbClr val="14181B"/>
                </a:solidFill>
                <a:latin typeface="Consolas"/>
              </a:rPr>
              <a:t>0.177</a:t>
            </a:r>
          </a:p>
        </p:txBody>
      </p:sp>
      <p:sp>
        <p:nvSpPr>
          <p:cNvPr id="12" name="TextBox 11"/>
          <p:cNvSpPr txBox="1"/>
          <p:nvPr/>
        </p:nvSpPr>
        <p:spPr>
          <a:xfrm>
            <a:off x="658368" y="3456432"/>
            <a:ext cx="3931920" cy="365760"/>
          </a:xfrm>
          <a:prstGeom prst="rect">
            <a:avLst/>
          </a:prstGeom>
          <a:noFill/>
        </p:spPr>
        <p:txBody>
          <a:bodyPr wrap="square" lIns="0" tIns="0" rIns="0" bIns="0" anchor="t">
            <a:spAutoFit/>
          </a:bodyPr>
          <a:lstStyle/>
          <a:p>
            <a:pPr algn="l">
              <a:lnSpc>
                <a:spcPct val="118000"/>
              </a:lnSpc>
              <a:spcBef>
                <a:spcPts val="0"/>
              </a:spcBef>
              <a:spcAft>
                <a:spcPts val="0"/>
              </a:spcAft>
            </a:pPr>
            <a:r>
              <a:rPr sz="2200" b="0" i="0">
                <a:solidFill>
                  <a:srgbClr val="14181B"/>
                </a:solidFill>
                <a:latin typeface="Segoe UI"/>
              </a:rPr>
              <a:t>Char n-gram baseline</a:t>
            </a:r>
          </a:p>
        </p:txBody>
      </p:sp>
      <p:sp>
        <p:nvSpPr>
          <p:cNvPr id="13" name="Rectangle 12"/>
          <p:cNvSpPr/>
          <p:nvPr/>
        </p:nvSpPr>
        <p:spPr>
          <a:xfrm>
            <a:off x="4773168" y="3438144"/>
            <a:ext cx="5486400" cy="384048"/>
          </a:xfrm>
          <a:prstGeom prst="rect">
            <a:avLst/>
          </a:prstGeom>
          <a:solidFill>
            <a:srgbClr val="E0E5E1"/>
          </a:solidFill>
          <a:ln w="12700">
            <a:solidFill>
              <a:srgbClr val="C3CBC6"/>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4" name="Rectangle 13"/>
          <p:cNvSpPr/>
          <p:nvPr/>
        </p:nvSpPr>
        <p:spPr>
          <a:xfrm>
            <a:off x="7516367" y="3438144"/>
            <a:ext cx="7315" cy="384048"/>
          </a:xfrm>
          <a:prstGeom prst="rect">
            <a:avLst/>
          </a:prstGeom>
          <a:solidFill>
            <a:srgbClr val="C3CBC6"/>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5" name="Rectangle 14"/>
          <p:cNvSpPr/>
          <p:nvPr/>
        </p:nvSpPr>
        <p:spPr>
          <a:xfrm>
            <a:off x="4773168" y="3438144"/>
            <a:ext cx="2556662" cy="384048"/>
          </a:xfrm>
          <a:prstGeom prst="rect">
            <a:avLst/>
          </a:prstGeom>
          <a:solidFill>
            <a:srgbClr val="2E8FA3"/>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6" name="TextBox 15"/>
          <p:cNvSpPr txBox="1"/>
          <p:nvPr/>
        </p:nvSpPr>
        <p:spPr>
          <a:xfrm>
            <a:off x="10405872" y="3456432"/>
            <a:ext cx="1188720" cy="365760"/>
          </a:xfrm>
          <a:prstGeom prst="rect">
            <a:avLst/>
          </a:prstGeom>
          <a:noFill/>
        </p:spPr>
        <p:txBody>
          <a:bodyPr wrap="square" lIns="0" tIns="0" rIns="0" bIns="0" anchor="t">
            <a:spAutoFit/>
          </a:bodyPr>
          <a:lstStyle/>
          <a:p>
            <a:pPr algn="l">
              <a:lnSpc>
                <a:spcPct val="118000"/>
              </a:lnSpc>
              <a:spcBef>
                <a:spcPts val="0"/>
              </a:spcBef>
              <a:spcAft>
                <a:spcPts val="0"/>
              </a:spcAft>
            </a:pPr>
            <a:r>
              <a:rPr sz="2200" b="0" i="0">
                <a:solidFill>
                  <a:srgbClr val="14181B"/>
                </a:solidFill>
                <a:latin typeface="Consolas"/>
              </a:rPr>
              <a:t>0.466</a:t>
            </a:r>
          </a:p>
        </p:txBody>
      </p:sp>
      <p:sp>
        <p:nvSpPr>
          <p:cNvPr id="17" name="TextBox 16"/>
          <p:cNvSpPr txBox="1"/>
          <p:nvPr/>
        </p:nvSpPr>
        <p:spPr>
          <a:xfrm>
            <a:off x="658368" y="3968496"/>
            <a:ext cx="3931920" cy="365760"/>
          </a:xfrm>
          <a:prstGeom prst="rect">
            <a:avLst/>
          </a:prstGeom>
          <a:noFill/>
        </p:spPr>
        <p:txBody>
          <a:bodyPr wrap="square" lIns="0" tIns="0" rIns="0" bIns="0" anchor="t">
            <a:spAutoFit/>
          </a:bodyPr>
          <a:lstStyle/>
          <a:p>
            <a:pPr algn="l">
              <a:lnSpc>
                <a:spcPct val="118000"/>
              </a:lnSpc>
              <a:spcBef>
                <a:spcPts val="0"/>
              </a:spcBef>
              <a:spcAft>
                <a:spcPts val="0"/>
              </a:spcAft>
            </a:pPr>
            <a:r>
              <a:rPr sz="2200" b="0" i="0">
                <a:solidFill>
                  <a:srgbClr val="14181B"/>
                </a:solidFill>
                <a:latin typeface="Segoe UI"/>
              </a:rPr>
              <a:t>Rule labeller</a:t>
            </a:r>
          </a:p>
        </p:txBody>
      </p:sp>
      <p:sp>
        <p:nvSpPr>
          <p:cNvPr id="18" name="Rectangle 17"/>
          <p:cNvSpPr/>
          <p:nvPr/>
        </p:nvSpPr>
        <p:spPr>
          <a:xfrm>
            <a:off x="4773168" y="3950208"/>
            <a:ext cx="5486400" cy="384048"/>
          </a:xfrm>
          <a:prstGeom prst="rect">
            <a:avLst/>
          </a:prstGeom>
          <a:solidFill>
            <a:srgbClr val="E0E5E1"/>
          </a:solidFill>
          <a:ln w="12700">
            <a:solidFill>
              <a:srgbClr val="C3CBC6"/>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9" name="Rectangle 18"/>
          <p:cNvSpPr/>
          <p:nvPr/>
        </p:nvSpPr>
        <p:spPr>
          <a:xfrm>
            <a:off x="7516367" y="3950208"/>
            <a:ext cx="7315" cy="384048"/>
          </a:xfrm>
          <a:prstGeom prst="rect">
            <a:avLst/>
          </a:prstGeom>
          <a:solidFill>
            <a:srgbClr val="C3CBC6"/>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0" name="Rectangle 19"/>
          <p:cNvSpPr/>
          <p:nvPr/>
        </p:nvSpPr>
        <p:spPr>
          <a:xfrm>
            <a:off x="4773168" y="3950208"/>
            <a:ext cx="3105302" cy="384048"/>
          </a:xfrm>
          <a:prstGeom prst="rect">
            <a:avLst/>
          </a:prstGeom>
          <a:solidFill>
            <a:srgbClr val="1D4E5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1" name="TextBox 20"/>
          <p:cNvSpPr txBox="1"/>
          <p:nvPr/>
        </p:nvSpPr>
        <p:spPr>
          <a:xfrm>
            <a:off x="10405872" y="3968496"/>
            <a:ext cx="1188720" cy="365760"/>
          </a:xfrm>
          <a:prstGeom prst="rect">
            <a:avLst/>
          </a:prstGeom>
          <a:noFill/>
        </p:spPr>
        <p:txBody>
          <a:bodyPr wrap="square" lIns="0" tIns="0" rIns="0" bIns="0" anchor="t">
            <a:spAutoFit/>
          </a:bodyPr>
          <a:lstStyle/>
          <a:p>
            <a:pPr algn="l">
              <a:lnSpc>
                <a:spcPct val="118000"/>
              </a:lnSpc>
              <a:spcBef>
                <a:spcPts val="0"/>
              </a:spcBef>
              <a:spcAft>
                <a:spcPts val="0"/>
              </a:spcAft>
            </a:pPr>
            <a:r>
              <a:rPr sz="2200" b="0" i="0">
                <a:solidFill>
                  <a:srgbClr val="14181B"/>
                </a:solidFill>
                <a:latin typeface="Consolas"/>
              </a:rPr>
              <a:t>0.566</a:t>
            </a:r>
          </a:p>
        </p:txBody>
      </p:sp>
      <p:sp>
        <p:nvSpPr>
          <p:cNvPr id="22" name="TextBox 21"/>
          <p:cNvSpPr txBox="1"/>
          <p:nvPr/>
        </p:nvSpPr>
        <p:spPr>
          <a:xfrm>
            <a:off x="658368" y="4480560"/>
            <a:ext cx="3931920" cy="365760"/>
          </a:xfrm>
          <a:prstGeom prst="rect">
            <a:avLst/>
          </a:prstGeom>
          <a:noFill/>
        </p:spPr>
        <p:txBody>
          <a:bodyPr wrap="square" lIns="0" tIns="0" rIns="0" bIns="0" anchor="t">
            <a:spAutoFit/>
          </a:bodyPr>
          <a:lstStyle/>
          <a:p>
            <a:pPr algn="l">
              <a:lnSpc>
                <a:spcPct val="118000"/>
              </a:lnSpc>
              <a:spcBef>
                <a:spcPts val="0"/>
              </a:spcBef>
              <a:spcAft>
                <a:spcPts val="0"/>
              </a:spcAft>
            </a:pPr>
            <a:r>
              <a:rPr sz="2200" b="0" i="0">
                <a:solidFill>
                  <a:srgbClr val="14181B"/>
                </a:solidFill>
                <a:latin typeface="Segoe UI"/>
              </a:rPr>
              <a:t>BanglaBERT pair model</a:t>
            </a:r>
          </a:p>
        </p:txBody>
      </p:sp>
      <p:sp>
        <p:nvSpPr>
          <p:cNvPr id="23" name="Rectangle 22"/>
          <p:cNvSpPr/>
          <p:nvPr/>
        </p:nvSpPr>
        <p:spPr>
          <a:xfrm>
            <a:off x="4773168" y="4462272"/>
            <a:ext cx="5486400" cy="384048"/>
          </a:xfrm>
          <a:prstGeom prst="rect">
            <a:avLst/>
          </a:prstGeom>
          <a:solidFill>
            <a:srgbClr val="E0E5E1"/>
          </a:solidFill>
          <a:ln w="12700">
            <a:solidFill>
              <a:srgbClr val="C3CBC6"/>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4" name="Rectangle 23"/>
          <p:cNvSpPr/>
          <p:nvPr/>
        </p:nvSpPr>
        <p:spPr>
          <a:xfrm>
            <a:off x="7516367" y="4462272"/>
            <a:ext cx="7315" cy="384048"/>
          </a:xfrm>
          <a:prstGeom prst="rect">
            <a:avLst/>
          </a:prstGeom>
          <a:solidFill>
            <a:srgbClr val="C3CBC6"/>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5" name="TextBox 24"/>
          <p:cNvSpPr txBox="1"/>
          <p:nvPr/>
        </p:nvSpPr>
        <p:spPr>
          <a:xfrm>
            <a:off x="10405872" y="4480560"/>
            <a:ext cx="1463040" cy="365760"/>
          </a:xfrm>
          <a:prstGeom prst="rect">
            <a:avLst/>
          </a:prstGeom>
          <a:noFill/>
        </p:spPr>
        <p:txBody>
          <a:bodyPr wrap="square" lIns="0" tIns="0" rIns="0" bIns="0" anchor="t">
            <a:spAutoFit/>
          </a:bodyPr>
          <a:lstStyle/>
          <a:p>
            <a:pPr algn="l">
              <a:lnSpc>
                <a:spcPct val="118000"/>
              </a:lnSpc>
              <a:spcBef>
                <a:spcPts val="0"/>
              </a:spcBef>
              <a:spcAft>
                <a:spcPts val="0"/>
              </a:spcAft>
            </a:pPr>
            <a:r>
              <a:rPr sz="2200" b="0" i="0">
                <a:solidFill>
                  <a:srgbClr val="6B787D"/>
                </a:solidFill>
                <a:latin typeface="Consolas"/>
              </a:rPr>
              <a:t>not run</a:t>
            </a:r>
          </a:p>
        </p:txBody>
      </p:sp>
      <p:sp>
        <p:nvSpPr>
          <p:cNvPr id="26" name="TextBox 25"/>
          <p:cNvSpPr txBox="1"/>
          <p:nvPr/>
        </p:nvSpPr>
        <p:spPr>
          <a:xfrm>
            <a:off x="4773168" y="4919472"/>
            <a:ext cx="5486400" cy="736612"/>
          </a:xfrm>
          <a:prstGeom prst="rect">
            <a:avLst/>
          </a:prstGeom>
          <a:noFill/>
        </p:spPr>
        <p:txBody>
          <a:bodyPr wrap="square" lIns="0" tIns="0" rIns="0" bIns="0" anchor="t">
            <a:spAutoFit/>
          </a:bodyPr>
          <a:lstStyle/>
          <a:p>
            <a:pPr algn="l">
              <a:lnSpc>
                <a:spcPct val="118000"/>
              </a:lnSpc>
              <a:spcBef>
                <a:spcPts val="0"/>
              </a:spcBef>
              <a:spcAft>
                <a:spcPts val="0"/>
              </a:spcAft>
            </a:pPr>
            <a:r>
              <a:rPr sz="2100" b="0" i="0" dirty="0">
                <a:solidFill>
                  <a:srgbClr val="6B787D"/>
                </a:solidFill>
                <a:latin typeface="Consolas"/>
              </a:rPr>
              <a:t>                                                                  1.0</a:t>
            </a:r>
          </a:p>
        </p:txBody>
      </p:sp>
      <p:sp>
        <p:nvSpPr>
          <p:cNvPr id="27" name="Rectangle 26"/>
          <p:cNvSpPr/>
          <p:nvPr/>
        </p:nvSpPr>
        <p:spPr>
          <a:xfrm>
            <a:off x="668201" y="5102351"/>
            <a:ext cx="10796212" cy="1755649"/>
          </a:xfrm>
          <a:prstGeom prst="rect">
            <a:avLst/>
          </a:prstGeom>
          <a:solidFill>
            <a:srgbClr val="F8F9F7"/>
          </a:solidFill>
          <a:ln w="12700">
            <a:solidFill>
              <a:srgbClr val="C3CBC6"/>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8" name="Rectangle 27"/>
          <p:cNvSpPr/>
          <p:nvPr/>
        </p:nvSpPr>
        <p:spPr>
          <a:xfrm>
            <a:off x="658368" y="5303520"/>
            <a:ext cx="50292" cy="1188720"/>
          </a:xfrm>
          <a:prstGeom prst="rect">
            <a:avLst/>
          </a:prstGeom>
          <a:solidFill>
            <a:srgbClr val="A6423C"/>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9" name="TextBox 28"/>
          <p:cNvSpPr txBox="1"/>
          <p:nvPr/>
        </p:nvSpPr>
        <p:spPr>
          <a:xfrm>
            <a:off x="930402" y="5230368"/>
            <a:ext cx="10372039" cy="822960"/>
          </a:xfrm>
          <a:prstGeom prst="rect">
            <a:avLst/>
          </a:prstGeom>
          <a:noFill/>
        </p:spPr>
        <p:txBody>
          <a:bodyPr wrap="square" lIns="0" tIns="0" rIns="0" bIns="0" anchor="t">
            <a:spAutoFit/>
          </a:bodyPr>
          <a:lstStyle/>
          <a:p>
            <a:pPr algn="l">
              <a:lnSpc>
                <a:spcPct val="118000"/>
              </a:lnSpc>
              <a:spcBef>
                <a:spcPts val="0"/>
              </a:spcBef>
              <a:spcAft>
                <a:spcPts val="600"/>
              </a:spcAft>
            </a:pPr>
            <a:r>
              <a:rPr sz="2400" b="1" i="0" dirty="0">
                <a:solidFill>
                  <a:srgbClr val="14181B"/>
                </a:solidFill>
                <a:latin typeface="Segoe UI"/>
              </a:rPr>
              <a:t>The result that matters</a:t>
            </a:r>
          </a:p>
          <a:p>
            <a:pPr algn="l">
              <a:lnSpc>
                <a:spcPct val="120000"/>
              </a:lnSpc>
              <a:spcBef>
                <a:spcPts val="0"/>
              </a:spcBef>
              <a:spcAft>
                <a:spcPts val="0"/>
              </a:spcAft>
            </a:pPr>
            <a:r>
              <a:rPr sz="2200" b="0" i="0" dirty="0">
                <a:solidFill>
                  <a:srgbClr val="3E4A4F"/>
                </a:solidFill>
                <a:latin typeface="Segoe UI"/>
              </a:rPr>
              <a:t>The trained model scores below the rule set that generated its training labels, 0.466 against 0.566. A student trained on noisy labels will not beat its teacher unless it can </a:t>
            </a:r>
            <a:r>
              <a:rPr sz="2200" b="0" i="0" dirty="0" err="1">
                <a:solidFill>
                  <a:srgbClr val="3E4A4F"/>
                </a:solidFill>
                <a:latin typeface="Segoe UI"/>
              </a:rPr>
              <a:t>generalise</a:t>
            </a:r>
            <a:r>
              <a:rPr sz="2200" b="0" i="0" dirty="0">
                <a:solidFill>
                  <a:srgbClr val="3E4A4F"/>
                </a:solidFill>
                <a:latin typeface="Segoe UI"/>
              </a:rPr>
              <a:t> past the teacher's mistakes.</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ECEEEB"/>
        </a:solidFill>
        <a:effectLst/>
      </p:bgPr>
    </p:bg>
    <p:spTree>
      <p:nvGrpSpPr>
        <p:cNvPr id="1" name=""/>
        <p:cNvGrpSpPr/>
        <p:nvPr/>
      </p:nvGrpSpPr>
      <p:grpSpPr>
        <a:xfrm>
          <a:off x="0" y="0"/>
          <a:ext cx="0" cy="0"/>
          <a:chOff x="0" y="0"/>
          <a:chExt cx="0" cy="0"/>
        </a:xfrm>
      </p:grpSpPr>
      <p:sp>
        <p:nvSpPr>
          <p:cNvPr id="2" name="TextBox 1"/>
          <p:cNvSpPr txBox="1"/>
          <p:nvPr/>
        </p:nvSpPr>
        <p:spPr>
          <a:xfrm>
            <a:off x="11188141" y="6345936"/>
            <a:ext cx="914400" cy="274320"/>
          </a:xfrm>
          <a:prstGeom prst="rect">
            <a:avLst/>
          </a:prstGeom>
          <a:noFill/>
        </p:spPr>
        <p:txBody>
          <a:bodyPr wrap="square" lIns="0" tIns="0" rIns="0" bIns="0" anchor="t">
            <a:spAutoFit/>
          </a:bodyPr>
          <a:lstStyle/>
          <a:p>
            <a:pPr algn="r">
              <a:lnSpc>
                <a:spcPct val="118000"/>
              </a:lnSpc>
              <a:spcBef>
                <a:spcPts val="0"/>
              </a:spcBef>
              <a:spcAft>
                <a:spcPts val="0"/>
              </a:spcAft>
            </a:pPr>
            <a:r>
              <a:rPr sz="2100" b="0" i="0" dirty="0">
                <a:solidFill>
                  <a:srgbClr val="6B787D"/>
                </a:solidFill>
                <a:latin typeface="Consolas"/>
              </a:rPr>
              <a:t>29</a:t>
            </a:r>
          </a:p>
        </p:txBody>
      </p:sp>
      <p:sp>
        <p:nvSpPr>
          <p:cNvPr id="3" name="TextBox 2"/>
          <p:cNvSpPr txBox="1"/>
          <p:nvPr/>
        </p:nvSpPr>
        <p:spPr>
          <a:xfrm>
            <a:off x="658368" y="420624"/>
            <a:ext cx="10874959" cy="310896"/>
          </a:xfrm>
          <a:prstGeom prst="rect">
            <a:avLst/>
          </a:prstGeom>
          <a:noFill/>
        </p:spPr>
        <p:txBody>
          <a:bodyPr wrap="square" lIns="0" tIns="0" rIns="0" bIns="0" anchor="t">
            <a:spAutoFit/>
          </a:bodyPr>
          <a:lstStyle/>
          <a:p>
            <a:pPr algn="l">
              <a:lnSpc>
                <a:spcPct val="118000"/>
              </a:lnSpc>
              <a:spcBef>
                <a:spcPts val="0"/>
              </a:spcBef>
              <a:spcAft>
                <a:spcPts val="0"/>
              </a:spcAft>
            </a:pPr>
            <a:r>
              <a:rPr sz="2100" b="1" i="0">
                <a:solidFill>
                  <a:srgbClr val="2E8FA3"/>
                </a:solidFill>
                <a:latin typeface="Consolas"/>
              </a:rPr>
              <a:t>14 / RESULTS</a:t>
            </a:r>
          </a:p>
        </p:txBody>
      </p:sp>
      <p:sp>
        <p:nvSpPr>
          <p:cNvPr id="4" name="TextBox 3"/>
          <p:cNvSpPr txBox="1"/>
          <p:nvPr/>
        </p:nvSpPr>
        <p:spPr>
          <a:xfrm>
            <a:off x="658368" y="822960"/>
            <a:ext cx="10874959" cy="822960"/>
          </a:xfrm>
          <a:prstGeom prst="rect">
            <a:avLst/>
          </a:prstGeom>
          <a:noFill/>
        </p:spPr>
        <p:txBody>
          <a:bodyPr wrap="square" lIns="0" tIns="0" rIns="0" bIns="0" anchor="t">
            <a:spAutoFit/>
          </a:bodyPr>
          <a:lstStyle/>
          <a:p>
            <a:pPr algn="l">
              <a:lnSpc>
                <a:spcPct val="106000"/>
              </a:lnSpc>
              <a:spcBef>
                <a:spcPts val="0"/>
              </a:spcBef>
              <a:spcAft>
                <a:spcPts val="0"/>
              </a:spcAft>
            </a:pPr>
            <a:r>
              <a:rPr sz="3600" b="1" i="0">
                <a:solidFill>
                  <a:srgbClr val="14181B"/>
                </a:solidFill>
                <a:latin typeface="Segoe UI"/>
              </a:rPr>
              <a:t>Rule labeller, per class, all 180 pairs</a:t>
            </a:r>
          </a:p>
        </p:txBody>
      </p:sp>
      <p:graphicFrame>
        <p:nvGraphicFramePr>
          <p:cNvPr id="5" name="Table 4"/>
          <p:cNvGraphicFramePr>
            <a:graphicFrameLocks noGrp="1"/>
          </p:cNvGraphicFramePr>
          <p:nvPr/>
        </p:nvGraphicFramePr>
        <p:xfrm>
          <a:off x="658368" y="1664208"/>
          <a:ext cx="10874957" cy="2560320"/>
        </p:xfrm>
        <a:graphic>
          <a:graphicData uri="http://schemas.openxmlformats.org/drawingml/2006/table">
            <a:tbl>
              <a:tblPr>
                <a:tableStyleId>{5C22544A-7EE6-4342-B048-85BDC9FD1C3A}</a:tableStyleId>
              </a:tblPr>
              <a:tblGrid>
                <a:gridCol w="2965897">
                  <a:extLst>
                    <a:ext uri="{9D8B030D-6E8A-4147-A177-3AD203B41FA5}">
                      <a16:colId xmlns:a16="http://schemas.microsoft.com/office/drawing/2014/main" val="20000"/>
                    </a:ext>
                  </a:extLst>
                </a:gridCol>
                <a:gridCol w="1977265">
                  <a:extLst>
                    <a:ext uri="{9D8B030D-6E8A-4147-A177-3AD203B41FA5}">
                      <a16:colId xmlns:a16="http://schemas.microsoft.com/office/drawing/2014/main" val="20001"/>
                    </a:ext>
                  </a:extLst>
                </a:gridCol>
                <a:gridCol w="1977265">
                  <a:extLst>
                    <a:ext uri="{9D8B030D-6E8A-4147-A177-3AD203B41FA5}">
                      <a16:colId xmlns:a16="http://schemas.microsoft.com/office/drawing/2014/main" val="20002"/>
                    </a:ext>
                  </a:extLst>
                </a:gridCol>
                <a:gridCol w="1977265">
                  <a:extLst>
                    <a:ext uri="{9D8B030D-6E8A-4147-A177-3AD203B41FA5}">
                      <a16:colId xmlns:a16="http://schemas.microsoft.com/office/drawing/2014/main" val="20003"/>
                    </a:ext>
                  </a:extLst>
                </a:gridCol>
                <a:gridCol w="1977265">
                  <a:extLst>
                    <a:ext uri="{9D8B030D-6E8A-4147-A177-3AD203B41FA5}">
                      <a16:colId xmlns:a16="http://schemas.microsoft.com/office/drawing/2014/main" val="20004"/>
                    </a:ext>
                  </a:extLst>
                </a:gridCol>
              </a:tblGrid>
              <a:tr h="512064">
                <a:tc>
                  <a:txBody>
                    <a:bodyPr/>
                    <a:lstStyle/>
                    <a:p>
                      <a:pPr algn="l"/>
                      <a:r>
                        <a:rPr sz="2100" b="1" i="0">
                          <a:solidFill>
                            <a:srgbClr val="6B787D"/>
                          </a:solidFill>
                          <a:latin typeface="Consolas"/>
                        </a:rPr>
                        <a:t>Class</a:t>
                      </a:r>
                    </a:p>
                  </a:txBody>
                  <a:tcPr marL="100584" marR="100584" marT="27432" marB="27432" anchor="ctr">
                    <a:solidFill>
                      <a:srgbClr val="E0E5E1"/>
                    </a:solidFill>
                  </a:tcPr>
                </a:tc>
                <a:tc>
                  <a:txBody>
                    <a:bodyPr/>
                    <a:lstStyle/>
                    <a:p>
                      <a:pPr algn="r"/>
                      <a:r>
                        <a:rPr sz="2100" b="1" i="0">
                          <a:solidFill>
                            <a:srgbClr val="6B787D"/>
                          </a:solidFill>
                          <a:latin typeface="Consolas"/>
                        </a:rPr>
                        <a:t>Precision</a:t>
                      </a:r>
                    </a:p>
                  </a:txBody>
                  <a:tcPr marL="100584" marR="100584" marT="27432" marB="27432" anchor="ctr">
                    <a:solidFill>
                      <a:srgbClr val="E0E5E1"/>
                    </a:solidFill>
                  </a:tcPr>
                </a:tc>
                <a:tc>
                  <a:txBody>
                    <a:bodyPr/>
                    <a:lstStyle/>
                    <a:p>
                      <a:pPr algn="r"/>
                      <a:r>
                        <a:rPr sz="2100" b="1" i="0">
                          <a:solidFill>
                            <a:srgbClr val="6B787D"/>
                          </a:solidFill>
                          <a:latin typeface="Consolas"/>
                        </a:rPr>
                        <a:t>Recall</a:t>
                      </a:r>
                    </a:p>
                  </a:txBody>
                  <a:tcPr marL="100584" marR="100584" marT="27432" marB="27432" anchor="ctr">
                    <a:solidFill>
                      <a:srgbClr val="E0E5E1"/>
                    </a:solidFill>
                  </a:tcPr>
                </a:tc>
                <a:tc>
                  <a:txBody>
                    <a:bodyPr/>
                    <a:lstStyle/>
                    <a:p>
                      <a:pPr algn="r"/>
                      <a:r>
                        <a:rPr sz="2100" b="1" i="0">
                          <a:solidFill>
                            <a:srgbClr val="6B787D"/>
                          </a:solidFill>
                          <a:latin typeface="Consolas"/>
                        </a:rPr>
                        <a:t>F1</a:t>
                      </a:r>
                    </a:p>
                  </a:txBody>
                  <a:tcPr marL="100584" marR="100584" marT="27432" marB="27432" anchor="ctr">
                    <a:solidFill>
                      <a:srgbClr val="E0E5E1"/>
                    </a:solidFill>
                  </a:tcPr>
                </a:tc>
                <a:tc>
                  <a:txBody>
                    <a:bodyPr/>
                    <a:lstStyle/>
                    <a:p>
                      <a:pPr algn="r"/>
                      <a:r>
                        <a:rPr sz="2100" b="1" i="0">
                          <a:solidFill>
                            <a:srgbClr val="6B787D"/>
                          </a:solidFill>
                          <a:latin typeface="Consolas"/>
                        </a:rPr>
                        <a:t>Support</a:t>
                      </a:r>
                    </a:p>
                  </a:txBody>
                  <a:tcPr marL="100584" marR="100584" marT="27432" marB="27432" anchor="ctr">
                    <a:solidFill>
                      <a:srgbClr val="E0E5E1"/>
                    </a:solidFill>
                  </a:tcPr>
                </a:tc>
                <a:extLst>
                  <a:ext uri="{0D108BD9-81ED-4DB2-BD59-A6C34878D82A}">
                    <a16:rowId xmlns:a16="http://schemas.microsoft.com/office/drawing/2014/main" val="10000"/>
                  </a:ext>
                </a:extLst>
              </a:tr>
              <a:tr h="512064">
                <a:tc>
                  <a:txBody>
                    <a:bodyPr/>
                    <a:lstStyle/>
                    <a:p>
                      <a:pPr algn="l"/>
                      <a:r>
                        <a:rPr sz="2100" b="0" i="0">
                          <a:solidFill>
                            <a:srgbClr val="14181B"/>
                          </a:solidFill>
                          <a:latin typeface="Segoe UI"/>
                        </a:rPr>
                        <a:t>negative</a:t>
                      </a:r>
                    </a:p>
                  </a:txBody>
                  <a:tcPr marL="100584" marR="100584" marT="27432" marB="27432" anchor="ctr">
                    <a:solidFill>
                      <a:srgbClr val="F8F9F7"/>
                    </a:solidFill>
                  </a:tcPr>
                </a:tc>
                <a:tc>
                  <a:txBody>
                    <a:bodyPr/>
                    <a:lstStyle/>
                    <a:p>
                      <a:pPr algn="r"/>
                      <a:r>
                        <a:rPr sz="2100" b="0" i="0">
                          <a:solidFill>
                            <a:srgbClr val="14181B"/>
                          </a:solidFill>
                          <a:latin typeface="Consolas"/>
                        </a:rPr>
                        <a:t>0.850</a:t>
                      </a:r>
                    </a:p>
                  </a:txBody>
                  <a:tcPr marL="100584" marR="100584" marT="27432" marB="27432" anchor="ctr">
                    <a:solidFill>
                      <a:srgbClr val="F8F9F7"/>
                    </a:solidFill>
                  </a:tcPr>
                </a:tc>
                <a:tc>
                  <a:txBody>
                    <a:bodyPr/>
                    <a:lstStyle/>
                    <a:p>
                      <a:pPr algn="r"/>
                      <a:r>
                        <a:rPr sz="2100" b="0" i="0">
                          <a:solidFill>
                            <a:srgbClr val="14181B"/>
                          </a:solidFill>
                          <a:latin typeface="Consolas"/>
                        </a:rPr>
                        <a:t>0.607</a:t>
                      </a:r>
                    </a:p>
                  </a:txBody>
                  <a:tcPr marL="100584" marR="100584" marT="27432" marB="27432" anchor="ctr">
                    <a:solidFill>
                      <a:srgbClr val="F8F9F7"/>
                    </a:solidFill>
                  </a:tcPr>
                </a:tc>
                <a:tc>
                  <a:txBody>
                    <a:bodyPr/>
                    <a:lstStyle/>
                    <a:p>
                      <a:pPr algn="r"/>
                      <a:r>
                        <a:rPr sz="2100" b="0" i="0">
                          <a:solidFill>
                            <a:srgbClr val="14181B"/>
                          </a:solidFill>
                          <a:latin typeface="Consolas"/>
                        </a:rPr>
                        <a:t>0.708</a:t>
                      </a:r>
                    </a:p>
                  </a:txBody>
                  <a:tcPr marL="100584" marR="100584" marT="27432" marB="27432" anchor="ctr">
                    <a:solidFill>
                      <a:srgbClr val="F8F9F7"/>
                    </a:solidFill>
                  </a:tcPr>
                </a:tc>
                <a:tc>
                  <a:txBody>
                    <a:bodyPr/>
                    <a:lstStyle/>
                    <a:p>
                      <a:pPr algn="r"/>
                      <a:r>
                        <a:rPr sz="2100" b="0" i="0">
                          <a:solidFill>
                            <a:srgbClr val="14181B"/>
                          </a:solidFill>
                          <a:latin typeface="Consolas"/>
                        </a:rPr>
                        <a:t>84</a:t>
                      </a:r>
                    </a:p>
                  </a:txBody>
                  <a:tcPr marL="100584" marR="100584" marT="27432" marB="27432" anchor="ctr">
                    <a:solidFill>
                      <a:srgbClr val="F8F9F7"/>
                    </a:solidFill>
                  </a:tcPr>
                </a:tc>
                <a:extLst>
                  <a:ext uri="{0D108BD9-81ED-4DB2-BD59-A6C34878D82A}">
                    <a16:rowId xmlns:a16="http://schemas.microsoft.com/office/drawing/2014/main" val="10001"/>
                  </a:ext>
                </a:extLst>
              </a:tr>
              <a:tr h="512064">
                <a:tc>
                  <a:txBody>
                    <a:bodyPr/>
                    <a:lstStyle/>
                    <a:p>
                      <a:pPr algn="l"/>
                      <a:r>
                        <a:rPr sz="2100" b="0" i="0">
                          <a:solidFill>
                            <a:srgbClr val="14181B"/>
                          </a:solidFill>
                          <a:latin typeface="Segoe UI"/>
                        </a:rPr>
                        <a:t>non evaluative</a:t>
                      </a:r>
                    </a:p>
                  </a:txBody>
                  <a:tcPr marL="100584" marR="100584" marT="27432" marB="27432" anchor="ctr">
                    <a:solidFill>
                      <a:srgbClr val="F8F9F7"/>
                    </a:solidFill>
                  </a:tcPr>
                </a:tc>
                <a:tc>
                  <a:txBody>
                    <a:bodyPr/>
                    <a:lstStyle/>
                    <a:p>
                      <a:pPr algn="r"/>
                      <a:r>
                        <a:rPr sz="2100" b="0" i="0">
                          <a:solidFill>
                            <a:srgbClr val="14181B"/>
                          </a:solidFill>
                          <a:latin typeface="Consolas"/>
                        </a:rPr>
                        <a:t>0.517</a:t>
                      </a:r>
                    </a:p>
                  </a:txBody>
                  <a:tcPr marL="100584" marR="100584" marT="27432" marB="27432" anchor="ctr">
                    <a:solidFill>
                      <a:srgbClr val="F8F9F7"/>
                    </a:solidFill>
                  </a:tcPr>
                </a:tc>
                <a:tc>
                  <a:txBody>
                    <a:bodyPr/>
                    <a:lstStyle/>
                    <a:p>
                      <a:pPr algn="r"/>
                      <a:r>
                        <a:rPr sz="2100" b="0" i="0">
                          <a:solidFill>
                            <a:srgbClr val="14181B"/>
                          </a:solidFill>
                          <a:latin typeface="Consolas"/>
                        </a:rPr>
                        <a:t>0.484</a:t>
                      </a:r>
                    </a:p>
                  </a:txBody>
                  <a:tcPr marL="100584" marR="100584" marT="27432" marB="27432" anchor="ctr">
                    <a:solidFill>
                      <a:srgbClr val="F8F9F7"/>
                    </a:solidFill>
                  </a:tcPr>
                </a:tc>
                <a:tc>
                  <a:txBody>
                    <a:bodyPr/>
                    <a:lstStyle/>
                    <a:p>
                      <a:pPr algn="r"/>
                      <a:r>
                        <a:rPr sz="2100" b="0" i="0">
                          <a:solidFill>
                            <a:srgbClr val="14181B"/>
                          </a:solidFill>
                          <a:latin typeface="Consolas"/>
                        </a:rPr>
                        <a:t>0.500</a:t>
                      </a:r>
                    </a:p>
                  </a:txBody>
                  <a:tcPr marL="100584" marR="100584" marT="27432" marB="27432" anchor="ctr">
                    <a:solidFill>
                      <a:srgbClr val="F8F9F7"/>
                    </a:solidFill>
                  </a:tcPr>
                </a:tc>
                <a:tc>
                  <a:txBody>
                    <a:bodyPr/>
                    <a:lstStyle/>
                    <a:p>
                      <a:pPr algn="r"/>
                      <a:r>
                        <a:rPr sz="2100" b="0" i="0">
                          <a:solidFill>
                            <a:srgbClr val="14181B"/>
                          </a:solidFill>
                          <a:latin typeface="Consolas"/>
                        </a:rPr>
                        <a:t>64</a:t>
                      </a:r>
                    </a:p>
                  </a:txBody>
                  <a:tcPr marL="100584" marR="100584" marT="27432" marB="27432" anchor="ctr">
                    <a:solidFill>
                      <a:srgbClr val="F8F9F7"/>
                    </a:solidFill>
                  </a:tcPr>
                </a:tc>
                <a:extLst>
                  <a:ext uri="{0D108BD9-81ED-4DB2-BD59-A6C34878D82A}">
                    <a16:rowId xmlns:a16="http://schemas.microsoft.com/office/drawing/2014/main" val="10002"/>
                  </a:ext>
                </a:extLst>
              </a:tr>
              <a:tr h="512064">
                <a:tc>
                  <a:txBody>
                    <a:bodyPr/>
                    <a:lstStyle/>
                    <a:p>
                      <a:pPr algn="l"/>
                      <a:r>
                        <a:rPr sz="2100" b="0" i="0">
                          <a:solidFill>
                            <a:srgbClr val="14181B"/>
                          </a:solidFill>
                          <a:latin typeface="Segoe UI"/>
                        </a:rPr>
                        <a:t>positive</a:t>
                      </a:r>
                    </a:p>
                  </a:txBody>
                  <a:tcPr marL="100584" marR="100584" marT="27432" marB="27432" anchor="ctr">
                    <a:solidFill>
                      <a:srgbClr val="F8F9F7"/>
                    </a:solidFill>
                  </a:tcPr>
                </a:tc>
                <a:tc>
                  <a:txBody>
                    <a:bodyPr/>
                    <a:lstStyle/>
                    <a:p>
                      <a:pPr algn="r"/>
                      <a:r>
                        <a:rPr sz="2100" b="0" i="0">
                          <a:solidFill>
                            <a:srgbClr val="14181B"/>
                          </a:solidFill>
                          <a:latin typeface="Consolas"/>
                        </a:rPr>
                        <a:t>0.417</a:t>
                      </a:r>
                    </a:p>
                  </a:txBody>
                  <a:tcPr marL="100584" marR="100584" marT="27432" marB="27432" anchor="ctr">
                    <a:solidFill>
                      <a:srgbClr val="F8F9F7"/>
                    </a:solidFill>
                  </a:tcPr>
                </a:tc>
                <a:tc>
                  <a:txBody>
                    <a:bodyPr/>
                    <a:lstStyle/>
                    <a:p>
                      <a:pPr algn="r"/>
                      <a:r>
                        <a:rPr sz="2100" b="0" i="0">
                          <a:solidFill>
                            <a:srgbClr val="14181B"/>
                          </a:solidFill>
                          <a:latin typeface="Consolas"/>
                        </a:rPr>
                        <a:t>0.781</a:t>
                      </a:r>
                    </a:p>
                  </a:txBody>
                  <a:tcPr marL="100584" marR="100584" marT="27432" marB="27432" anchor="ctr">
                    <a:solidFill>
                      <a:srgbClr val="F8F9F7"/>
                    </a:solidFill>
                  </a:tcPr>
                </a:tc>
                <a:tc>
                  <a:txBody>
                    <a:bodyPr/>
                    <a:lstStyle/>
                    <a:p>
                      <a:pPr algn="r"/>
                      <a:r>
                        <a:rPr sz="2100" b="0" i="0">
                          <a:solidFill>
                            <a:srgbClr val="14181B"/>
                          </a:solidFill>
                          <a:latin typeface="Consolas"/>
                        </a:rPr>
                        <a:t>0.543</a:t>
                      </a:r>
                    </a:p>
                  </a:txBody>
                  <a:tcPr marL="100584" marR="100584" marT="27432" marB="27432" anchor="ctr">
                    <a:solidFill>
                      <a:srgbClr val="F8F9F7"/>
                    </a:solidFill>
                  </a:tcPr>
                </a:tc>
                <a:tc>
                  <a:txBody>
                    <a:bodyPr/>
                    <a:lstStyle/>
                    <a:p>
                      <a:pPr algn="r"/>
                      <a:r>
                        <a:rPr sz="2100" b="0" i="0">
                          <a:solidFill>
                            <a:srgbClr val="14181B"/>
                          </a:solidFill>
                          <a:latin typeface="Consolas"/>
                        </a:rPr>
                        <a:t>32</a:t>
                      </a:r>
                    </a:p>
                  </a:txBody>
                  <a:tcPr marL="100584" marR="100584" marT="27432" marB="27432" anchor="ctr">
                    <a:solidFill>
                      <a:srgbClr val="F8F9F7"/>
                    </a:solidFill>
                  </a:tcPr>
                </a:tc>
                <a:extLst>
                  <a:ext uri="{0D108BD9-81ED-4DB2-BD59-A6C34878D82A}">
                    <a16:rowId xmlns:a16="http://schemas.microsoft.com/office/drawing/2014/main" val="10003"/>
                  </a:ext>
                </a:extLst>
              </a:tr>
              <a:tr h="512064">
                <a:tc>
                  <a:txBody>
                    <a:bodyPr/>
                    <a:lstStyle/>
                    <a:p>
                      <a:pPr algn="l"/>
                      <a:r>
                        <a:rPr sz="2100" b="1" i="0">
                          <a:solidFill>
                            <a:srgbClr val="14181B"/>
                          </a:solidFill>
                          <a:latin typeface="Segoe UI"/>
                        </a:rPr>
                        <a:t>macro average</a:t>
                      </a:r>
                    </a:p>
                  </a:txBody>
                  <a:tcPr marL="100584" marR="100584" marT="27432" marB="27432" anchor="ctr">
                    <a:solidFill>
                      <a:srgbClr val="E0E5E1"/>
                    </a:solidFill>
                  </a:tcPr>
                </a:tc>
                <a:tc>
                  <a:txBody>
                    <a:bodyPr/>
                    <a:lstStyle/>
                    <a:p>
                      <a:pPr algn="r"/>
                      <a:r>
                        <a:rPr sz="2100" b="1" i="0">
                          <a:solidFill>
                            <a:srgbClr val="14181B"/>
                          </a:solidFill>
                          <a:latin typeface="Consolas"/>
                        </a:rPr>
                        <a:t>0.594</a:t>
                      </a:r>
                    </a:p>
                  </a:txBody>
                  <a:tcPr marL="100584" marR="100584" marT="27432" marB="27432" anchor="ctr">
                    <a:solidFill>
                      <a:srgbClr val="E0E5E1"/>
                    </a:solidFill>
                  </a:tcPr>
                </a:tc>
                <a:tc>
                  <a:txBody>
                    <a:bodyPr/>
                    <a:lstStyle/>
                    <a:p>
                      <a:pPr algn="r"/>
                      <a:r>
                        <a:rPr sz="2100" b="1" i="0">
                          <a:solidFill>
                            <a:srgbClr val="14181B"/>
                          </a:solidFill>
                          <a:latin typeface="Consolas"/>
                        </a:rPr>
                        <a:t>0.624</a:t>
                      </a:r>
                    </a:p>
                  </a:txBody>
                  <a:tcPr marL="100584" marR="100584" marT="27432" marB="27432" anchor="ctr">
                    <a:solidFill>
                      <a:srgbClr val="E0E5E1"/>
                    </a:solidFill>
                  </a:tcPr>
                </a:tc>
                <a:tc>
                  <a:txBody>
                    <a:bodyPr/>
                    <a:lstStyle/>
                    <a:p>
                      <a:pPr algn="r"/>
                      <a:r>
                        <a:rPr sz="2100" b="1" i="0">
                          <a:solidFill>
                            <a:srgbClr val="14181B"/>
                          </a:solidFill>
                          <a:latin typeface="Consolas"/>
                        </a:rPr>
                        <a:t>0.584</a:t>
                      </a:r>
                    </a:p>
                  </a:txBody>
                  <a:tcPr marL="100584" marR="100584" marT="27432" marB="27432" anchor="ctr">
                    <a:solidFill>
                      <a:srgbClr val="E0E5E1"/>
                    </a:solidFill>
                  </a:tcPr>
                </a:tc>
                <a:tc>
                  <a:txBody>
                    <a:bodyPr/>
                    <a:lstStyle/>
                    <a:p>
                      <a:pPr algn="r"/>
                      <a:r>
                        <a:rPr sz="2100" b="1" i="0">
                          <a:solidFill>
                            <a:srgbClr val="14181B"/>
                          </a:solidFill>
                          <a:latin typeface="Consolas"/>
                        </a:rPr>
                        <a:t>180</a:t>
                      </a:r>
                    </a:p>
                  </a:txBody>
                  <a:tcPr marL="100584" marR="100584" marT="27432" marB="27432" anchor="ctr">
                    <a:solidFill>
                      <a:srgbClr val="E0E5E1"/>
                    </a:solidFill>
                  </a:tcPr>
                </a:tc>
                <a:extLst>
                  <a:ext uri="{0D108BD9-81ED-4DB2-BD59-A6C34878D82A}">
                    <a16:rowId xmlns:a16="http://schemas.microsoft.com/office/drawing/2014/main" val="10004"/>
                  </a:ext>
                </a:extLst>
              </a:tr>
            </a:tbl>
          </a:graphicData>
        </a:graphic>
      </p:graphicFrame>
      <p:sp>
        <p:nvSpPr>
          <p:cNvPr id="6" name="TextBox 5"/>
          <p:cNvSpPr txBox="1"/>
          <p:nvPr/>
        </p:nvSpPr>
        <p:spPr>
          <a:xfrm>
            <a:off x="658368" y="4498848"/>
            <a:ext cx="10874959" cy="365760"/>
          </a:xfrm>
          <a:prstGeom prst="rect">
            <a:avLst/>
          </a:prstGeom>
          <a:noFill/>
        </p:spPr>
        <p:txBody>
          <a:bodyPr wrap="square" lIns="0" tIns="0" rIns="0" bIns="0" anchor="t">
            <a:spAutoFit/>
          </a:bodyPr>
          <a:lstStyle/>
          <a:p>
            <a:pPr algn="l">
              <a:lnSpc>
                <a:spcPct val="118000"/>
              </a:lnSpc>
              <a:spcBef>
                <a:spcPts val="0"/>
              </a:spcBef>
              <a:spcAft>
                <a:spcPts val="0"/>
              </a:spcAft>
            </a:pPr>
            <a:r>
              <a:rPr sz="2200" b="0" i="0">
                <a:solidFill>
                  <a:srgbClr val="3E4A4F"/>
                </a:solidFill>
                <a:latin typeface="Consolas"/>
              </a:rPr>
              <a:t>Accuracy 0.594.    Cohen kappa 0.392.</a:t>
            </a:r>
          </a:p>
        </p:txBody>
      </p:sp>
      <p:sp>
        <p:nvSpPr>
          <p:cNvPr id="7" name="Rectangle 6"/>
          <p:cNvSpPr/>
          <p:nvPr/>
        </p:nvSpPr>
        <p:spPr>
          <a:xfrm>
            <a:off x="658368" y="5047488"/>
            <a:ext cx="10874959" cy="1572768"/>
          </a:xfrm>
          <a:prstGeom prst="rect">
            <a:avLst/>
          </a:prstGeom>
          <a:solidFill>
            <a:srgbClr val="F8F9F7"/>
          </a:solidFill>
          <a:ln w="12700">
            <a:solidFill>
              <a:srgbClr val="C3CBC6"/>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8" name="Rectangle 7"/>
          <p:cNvSpPr/>
          <p:nvPr/>
        </p:nvSpPr>
        <p:spPr>
          <a:xfrm>
            <a:off x="658368" y="5047488"/>
            <a:ext cx="50292" cy="1298448"/>
          </a:xfrm>
          <a:prstGeom prst="rect">
            <a:avLst/>
          </a:prstGeom>
          <a:solidFill>
            <a:srgbClr val="1D4E5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 name="TextBox 8"/>
          <p:cNvSpPr txBox="1"/>
          <p:nvPr/>
        </p:nvSpPr>
        <p:spPr>
          <a:xfrm>
            <a:off x="932688" y="5230368"/>
            <a:ext cx="10372039" cy="932688"/>
          </a:xfrm>
          <a:prstGeom prst="rect">
            <a:avLst/>
          </a:prstGeom>
          <a:noFill/>
        </p:spPr>
        <p:txBody>
          <a:bodyPr wrap="square" lIns="0" tIns="0" rIns="0" bIns="0" anchor="t">
            <a:spAutoFit/>
          </a:bodyPr>
          <a:lstStyle/>
          <a:p>
            <a:pPr algn="l">
              <a:lnSpc>
                <a:spcPct val="120000"/>
              </a:lnSpc>
              <a:spcBef>
                <a:spcPts val="0"/>
              </a:spcBef>
              <a:spcAft>
                <a:spcPts val="0"/>
              </a:spcAft>
            </a:pPr>
            <a:r>
              <a:rPr sz="2200" b="0" i="0" dirty="0">
                <a:solidFill>
                  <a:srgbClr val="3E4A4F"/>
                </a:solidFill>
                <a:latin typeface="Segoe UI"/>
              </a:rPr>
              <a:t>Negative precision is high at 0.850, so when the system says negative it is usually right. Positive precision at 0.417 is where the damage sits: it calls things positive that are not.</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ECEEEB"/>
        </a:solidFill>
        <a:effectLst/>
      </p:bgPr>
    </p:bg>
    <p:spTree>
      <p:nvGrpSpPr>
        <p:cNvPr id="1" name=""/>
        <p:cNvGrpSpPr/>
        <p:nvPr/>
      </p:nvGrpSpPr>
      <p:grpSpPr>
        <a:xfrm>
          <a:off x="0" y="0"/>
          <a:ext cx="0" cy="0"/>
          <a:chOff x="0" y="0"/>
          <a:chExt cx="0" cy="0"/>
        </a:xfrm>
      </p:grpSpPr>
      <p:sp>
        <p:nvSpPr>
          <p:cNvPr id="2" name="TextBox 1"/>
          <p:cNvSpPr txBox="1"/>
          <p:nvPr/>
        </p:nvSpPr>
        <p:spPr>
          <a:xfrm>
            <a:off x="10618927" y="6309359"/>
            <a:ext cx="914400" cy="274320"/>
          </a:xfrm>
          <a:prstGeom prst="rect">
            <a:avLst/>
          </a:prstGeom>
          <a:noFill/>
        </p:spPr>
        <p:txBody>
          <a:bodyPr wrap="square" lIns="0" tIns="0" rIns="0" bIns="0" anchor="t">
            <a:spAutoFit/>
          </a:bodyPr>
          <a:lstStyle/>
          <a:p>
            <a:pPr algn="r">
              <a:lnSpc>
                <a:spcPct val="118000"/>
              </a:lnSpc>
              <a:spcBef>
                <a:spcPts val="0"/>
              </a:spcBef>
              <a:spcAft>
                <a:spcPts val="0"/>
              </a:spcAft>
            </a:pPr>
            <a:r>
              <a:rPr sz="2100" b="0" i="0">
                <a:solidFill>
                  <a:srgbClr val="6B787D"/>
                </a:solidFill>
                <a:latin typeface="Consolas"/>
              </a:rPr>
              <a:t>30</a:t>
            </a:r>
          </a:p>
        </p:txBody>
      </p:sp>
      <p:sp>
        <p:nvSpPr>
          <p:cNvPr id="3" name="TextBox 2"/>
          <p:cNvSpPr txBox="1"/>
          <p:nvPr/>
        </p:nvSpPr>
        <p:spPr>
          <a:xfrm>
            <a:off x="658368" y="420624"/>
            <a:ext cx="10874959" cy="310896"/>
          </a:xfrm>
          <a:prstGeom prst="rect">
            <a:avLst/>
          </a:prstGeom>
          <a:noFill/>
        </p:spPr>
        <p:txBody>
          <a:bodyPr wrap="square" lIns="0" tIns="0" rIns="0" bIns="0" anchor="t">
            <a:spAutoFit/>
          </a:bodyPr>
          <a:lstStyle/>
          <a:p>
            <a:pPr algn="l">
              <a:lnSpc>
                <a:spcPct val="118000"/>
              </a:lnSpc>
              <a:spcBef>
                <a:spcPts val="0"/>
              </a:spcBef>
              <a:spcAft>
                <a:spcPts val="0"/>
              </a:spcAft>
            </a:pPr>
            <a:r>
              <a:rPr sz="2100" b="1" i="0">
                <a:solidFill>
                  <a:srgbClr val="2E8FA3"/>
                </a:solidFill>
                <a:latin typeface="Consolas"/>
              </a:rPr>
              <a:t>14 / RESULTS</a:t>
            </a:r>
          </a:p>
        </p:txBody>
      </p:sp>
      <p:sp>
        <p:nvSpPr>
          <p:cNvPr id="4" name="TextBox 3"/>
          <p:cNvSpPr txBox="1"/>
          <p:nvPr/>
        </p:nvSpPr>
        <p:spPr>
          <a:xfrm>
            <a:off x="658368" y="822960"/>
            <a:ext cx="10874959" cy="822960"/>
          </a:xfrm>
          <a:prstGeom prst="rect">
            <a:avLst/>
          </a:prstGeom>
          <a:noFill/>
        </p:spPr>
        <p:txBody>
          <a:bodyPr wrap="square" lIns="0" tIns="0" rIns="0" bIns="0" anchor="t">
            <a:spAutoFit/>
          </a:bodyPr>
          <a:lstStyle/>
          <a:p>
            <a:pPr algn="l">
              <a:lnSpc>
                <a:spcPct val="106000"/>
              </a:lnSpc>
              <a:spcBef>
                <a:spcPts val="0"/>
              </a:spcBef>
              <a:spcAft>
                <a:spcPts val="0"/>
              </a:spcAft>
            </a:pPr>
            <a:r>
              <a:rPr sz="3600" b="1" i="0">
                <a:solidFill>
                  <a:srgbClr val="14181B"/>
                </a:solidFill>
                <a:latin typeface="Segoe UI"/>
              </a:rPr>
              <a:t>Baseline confusion matrix on 59 held-out pairs</a:t>
            </a:r>
          </a:p>
        </p:txBody>
      </p:sp>
      <p:graphicFrame>
        <p:nvGraphicFramePr>
          <p:cNvPr id="5" name="Table 4"/>
          <p:cNvGraphicFramePr>
            <a:graphicFrameLocks noGrp="1"/>
          </p:cNvGraphicFramePr>
          <p:nvPr/>
        </p:nvGraphicFramePr>
        <p:xfrm>
          <a:off x="658368" y="1664208"/>
          <a:ext cx="7680958" cy="2395728"/>
        </p:xfrm>
        <a:graphic>
          <a:graphicData uri="http://schemas.openxmlformats.org/drawingml/2006/table">
            <a:tbl>
              <a:tblPr>
                <a:tableStyleId>{5C22544A-7EE6-4342-B048-85BDC9FD1C3A}</a:tableStyleId>
              </a:tblPr>
              <a:tblGrid>
                <a:gridCol w="2234461">
                  <a:extLst>
                    <a:ext uri="{9D8B030D-6E8A-4147-A177-3AD203B41FA5}">
                      <a16:colId xmlns:a16="http://schemas.microsoft.com/office/drawing/2014/main" val="20000"/>
                    </a:ext>
                  </a:extLst>
                </a:gridCol>
                <a:gridCol w="1815499">
                  <a:extLst>
                    <a:ext uri="{9D8B030D-6E8A-4147-A177-3AD203B41FA5}">
                      <a16:colId xmlns:a16="http://schemas.microsoft.com/office/drawing/2014/main" val="20001"/>
                    </a:ext>
                  </a:extLst>
                </a:gridCol>
                <a:gridCol w="1815499">
                  <a:extLst>
                    <a:ext uri="{9D8B030D-6E8A-4147-A177-3AD203B41FA5}">
                      <a16:colId xmlns:a16="http://schemas.microsoft.com/office/drawing/2014/main" val="20002"/>
                    </a:ext>
                  </a:extLst>
                </a:gridCol>
                <a:gridCol w="1815499">
                  <a:extLst>
                    <a:ext uri="{9D8B030D-6E8A-4147-A177-3AD203B41FA5}">
                      <a16:colId xmlns:a16="http://schemas.microsoft.com/office/drawing/2014/main" val="20003"/>
                    </a:ext>
                  </a:extLst>
                </a:gridCol>
              </a:tblGrid>
              <a:tr h="566928">
                <a:tc>
                  <a:txBody>
                    <a:bodyPr/>
                    <a:lstStyle/>
                    <a:p>
                      <a:pPr algn="l"/>
                      <a:endParaRPr/>
                    </a:p>
                  </a:txBody>
                  <a:tcPr marL="100584" marR="100584" marT="27432" marB="27432" anchor="ctr">
                    <a:solidFill>
                      <a:srgbClr val="E0E5E1"/>
                    </a:solidFill>
                  </a:tcPr>
                </a:tc>
                <a:tc>
                  <a:txBody>
                    <a:bodyPr/>
                    <a:lstStyle/>
                    <a:p>
                      <a:pPr algn="ctr"/>
                      <a:r>
                        <a:rPr sz="2100" b="1" i="0">
                          <a:solidFill>
                            <a:srgbClr val="6B787D"/>
                          </a:solidFill>
                          <a:latin typeface="Consolas"/>
                        </a:rPr>
                        <a:t>said negative</a:t>
                      </a:r>
                    </a:p>
                  </a:txBody>
                  <a:tcPr marL="100584" marR="100584" marT="27432" marB="27432" anchor="ctr">
                    <a:solidFill>
                      <a:srgbClr val="E0E5E1"/>
                    </a:solidFill>
                  </a:tcPr>
                </a:tc>
                <a:tc>
                  <a:txBody>
                    <a:bodyPr/>
                    <a:lstStyle/>
                    <a:p>
                      <a:pPr algn="ctr"/>
                      <a:r>
                        <a:rPr sz="2100" b="1" i="0">
                          <a:solidFill>
                            <a:srgbClr val="6B787D"/>
                          </a:solidFill>
                          <a:latin typeface="Consolas"/>
                        </a:rPr>
                        <a:t>said non eval</a:t>
                      </a:r>
                    </a:p>
                  </a:txBody>
                  <a:tcPr marL="100584" marR="100584" marT="27432" marB="27432" anchor="ctr">
                    <a:solidFill>
                      <a:srgbClr val="E0E5E1"/>
                    </a:solidFill>
                  </a:tcPr>
                </a:tc>
                <a:tc>
                  <a:txBody>
                    <a:bodyPr/>
                    <a:lstStyle/>
                    <a:p>
                      <a:pPr algn="ctr"/>
                      <a:r>
                        <a:rPr sz="2100" b="1" i="0">
                          <a:solidFill>
                            <a:srgbClr val="6B787D"/>
                          </a:solidFill>
                          <a:latin typeface="Consolas"/>
                        </a:rPr>
                        <a:t>said positive</a:t>
                      </a:r>
                    </a:p>
                  </a:txBody>
                  <a:tcPr marL="100584" marR="100584" marT="27432" marB="27432" anchor="ctr">
                    <a:solidFill>
                      <a:srgbClr val="E0E5E1"/>
                    </a:solidFill>
                  </a:tcPr>
                </a:tc>
                <a:extLst>
                  <a:ext uri="{0D108BD9-81ED-4DB2-BD59-A6C34878D82A}">
                    <a16:rowId xmlns:a16="http://schemas.microsoft.com/office/drawing/2014/main" val="10000"/>
                  </a:ext>
                </a:extLst>
              </a:tr>
              <a:tr h="566928">
                <a:tc>
                  <a:txBody>
                    <a:bodyPr/>
                    <a:lstStyle/>
                    <a:p>
                      <a:pPr algn="l"/>
                      <a:r>
                        <a:rPr sz="2100" b="0" i="0">
                          <a:solidFill>
                            <a:srgbClr val="14181B"/>
                          </a:solidFill>
                          <a:latin typeface="Segoe UI"/>
                        </a:rPr>
                        <a:t>is negative</a:t>
                      </a:r>
                    </a:p>
                  </a:txBody>
                  <a:tcPr marL="100584" marR="100584" marT="27432" marB="27432" anchor="ctr">
                    <a:solidFill>
                      <a:srgbClr val="F8F9F7"/>
                    </a:solidFill>
                  </a:tcPr>
                </a:tc>
                <a:tc>
                  <a:txBody>
                    <a:bodyPr/>
                    <a:lstStyle/>
                    <a:p>
                      <a:pPr algn="ctr"/>
                      <a:r>
                        <a:rPr sz="2100" b="0" i="0">
                          <a:solidFill>
                            <a:srgbClr val="14181B"/>
                          </a:solidFill>
                          <a:latin typeface="Segoe UI"/>
                        </a:rPr>
                        <a:t>10</a:t>
                      </a:r>
                    </a:p>
                  </a:txBody>
                  <a:tcPr marL="100584" marR="100584" marT="27432" marB="27432" anchor="ctr">
                    <a:solidFill>
                      <a:srgbClr val="F8F9F7"/>
                    </a:solidFill>
                  </a:tcPr>
                </a:tc>
                <a:tc>
                  <a:txBody>
                    <a:bodyPr/>
                    <a:lstStyle/>
                    <a:p>
                      <a:pPr algn="ctr"/>
                      <a:r>
                        <a:rPr sz="2100" b="0" i="0">
                          <a:solidFill>
                            <a:srgbClr val="14181B"/>
                          </a:solidFill>
                          <a:latin typeface="Segoe UI"/>
                        </a:rPr>
                        <a:t>21</a:t>
                      </a:r>
                    </a:p>
                  </a:txBody>
                  <a:tcPr marL="100584" marR="100584" marT="27432" marB="27432" anchor="ctr">
                    <a:solidFill>
                      <a:srgbClr val="F8F9F7"/>
                    </a:solidFill>
                  </a:tcPr>
                </a:tc>
                <a:tc>
                  <a:txBody>
                    <a:bodyPr/>
                    <a:lstStyle/>
                    <a:p>
                      <a:pPr algn="ctr"/>
                      <a:r>
                        <a:rPr sz="2100" b="0" i="0">
                          <a:solidFill>
                            <a:srgbClr val="14181B"/>
                          </a:solidFill>
                          <a:latin typeface="Segoe UI"/>
                        </a:rPr>
                        <a:t>2</a:t>
                      </a:r>
                    </a:p>
                  </a:txBody>
                  <a:tcPr marL="100584" marR="100584" marT="27432" marB="27432" anchor="ctr">
                    <a:solidFill>
                      <a:srgbClr val="F8F9F7"/>
                    </a:solidFill>
                  </a:tcPr>
                </a:tc>
                <a:extLst>
                  <a:ext uri="{0D108BD9-81ED-4DB2-BD59-A6C34878D82A}">
                    <a16:rowId xmlns:a16="http://schemas.microsoft.com/office/drawing/2014/main" val="10001"/>
                  </a:ext>
                </a:extLst>
              </a:tr>
              <a:tr h="566928">
                <a:tc>
                  <a:txBody>
                    <a:bodyPr/>
                    <a:lstStyle/>
                    <a:p>
                      <a:pPr algn="l"/>
                      <a:r>
                        <a:rPr sz="2100" b="0" i="0">
                          <a:solidFill>
                            <a:srgbClr val="14181B"/>
                          </a:solidFill>
                          <a:latin typeface="Segoe UI"/>
                        </a:rPr>
                        <a:t>is non evaluative</a:t>
                      </a:r>
                    </a:p>
                  </a:txBody>
                  <a:tcPr marL="100584" marR="100584" marT="27432" marB="27432" anchor="ctr">
                    <a:solidFill>
                      <a:srgbClr val="F8F9F7"/>
                    </a:solidFill>
                  </a:tcPr>
                </a:tc>
                <a:tc>
                  <a:txBody>
                    <a:bodyPr/>
                    <a:lstStyle/>
                    <a:p>
                      <a:pPr algn="ctr"/>
                      <a:r>
                        <a:rPr sz="2100" b="0" i="0">
                          <a:solidFill>
                            <a:srgbClr val="14181B"/>
                          </a:solidFill>
                          <a:latin typeface="Segoe UI"/>
                        </a:rPr>
                        <a:t>3</a:t>
                      </a:r>
                    </a:p>
                  </a:txBody>
                  <a:tcPr marL="100584" marR="100584" marT="27432" marB="27432" anchor="ctr">
                    <a:solidFill>
                      <a:srgbClr val="F8F9F7"/>
                    </a:solidFill>
                  </a:tcPr>
                </a:tc>
                <a:tc>
                  <a:txBody>
                    <a:bodyPr/>
                    <a:lstStyle/>
                    <a:p>
                      <a:pPr algn="ctr"/>
                      <a:r>
                        <a:rPr sz="2100" b="0" i="0">
                          <a:solidFill>
                            <a:srgbClr val="14181B"/>
                          </a:solidFill>
                          <a:latin typeface="Segoe UI"/>
                        </a:rPr>
                        <a:t>13</a:t>
                      </a:r>
                    </a:p>
                  </a:txBody>
                  <a:tcPr marL="100584" marR="100584" marT="27432" marB="27432" anchor="ctr">
                    <a:solidFill>
                      <a:srgbClr val="F8F9F7"/>
                    </a:solidFill>
                  </a:tcPr>
                </a:tc>
                <a:tc>
                  <a:txBody>
                    <a:bodyPr/>
                    <a:lstStyle/>
                    <a:p>
                      <a:pPr algn="ctr"/>
                      <a:r>
                        <a:rPr sz="2100" b="0" i="0">
                          <a:solidFill>
                            <a:srgbClr val="14181B"/>
                          </a:solidFill>
                          <a:latin typeface="Segoe UI"/>
                        </a:rPr>
                        <a:t>0</a:t>
                      </a:r>
                    </a:p>
                  </a:txBody>
                  <a:tcPr marL="100584" marR="100584" marT="27432" marB="27432" anchor="ctr">
                    <a:solidFill>
                      <a:srgbClr val="F8F9F7"/>
                    </a:solidFill>
                  </a:tcPr>
                </a:tc>
                <a:extLst>
                  <a:ext uri="{0D108BD9-81ED-4DB2-BD59-A6C34878D82A}">
                    <a16:rowId xmlns:a16="http://schemas.microsoft.com/office/drawing/2014/main" val="10002"/>
                  </a:ext>
                </a:extLst>
              </a:tr>
              <a:tr h="566928">
                <a:tc>
                  <a:txBody>
                    <a:bodyPr/>
                    <a:lstStyle/>
                    <a:p>
                      <a:pPr algn="l"/>
                      <a:r>
                        <a:rPr sz="2100" b="0" i="0">
                          <a:solidFill>
                            <a:srgbClr val="14181B"/>
                          </a:solidFill>
                          <a:latin typeface="Segoe UI"/>
                        </a:rPr>
                        <a:t>is positive</a:t>
                      </a:r>
                    </a:p>
                  </a:txBody>
                  <a:tcPr marL="100584" marR="100584" marT="27432" marB="27432" anchor="ctr">
                    <a:solidFill>
                      <a:srgbClr val="F8F9F7"/>
                    </a:solidFill>
                  </a:tcPr>
                </a:tc>
                <a:tc>
                  <a:txBody>
                    <a:bodyPr/>
                    <a:lstStyle/>
                    <a:p>
                      <a:pPr algn="ctr"/>
                      <a:r>
                        <a:rPr sz="2100" b="0" i="0">
                          <a:solidFill>
                            <a:srgbClr val="14181B"/>
                          </a:solidFill>
                          <a:latin typeface="Segoe UI"/>
                        </a:rPr>
                        <a:t>0</a:t>
                      </a:r>
                    </a:p>
                  </a:txBody>
                  <a:tcPr marL="100584" marR="100584" marT="27432" marB="27432" anchor="ctr">
                    <a:solidFill>
                      <a:srgbClr val="F8F9F7"/>
                    </a:solidFill>
                  </a:tcPr>
                </a:tc>
                <a:tc>
                  <a:txBody>
                    <a:bodyPr/>
                    <a:lstStyle/>
                    <a:p>
                      <a:pPr algn="ctr"/>
                      <a:r>
                        <a:rPr sz="2100" b="0" i="0">
                          <a:solidFill>
                            <a:srgbClr val="14181B"/>
                          </a:solidFill>
                          <a:latin typeface="Segoe UI"/>
                        </a:rPr>
                        <a:t>6</a:t>
                      </a:r>
                    </a:p>
                  </a:txBody>
                  <a:tcPr marL="100584" marR="100584" marT="27432" marB="27432" anchor="ctr">
                    <a:solidFill>
                      <a:srgbClr val="F8F9F7"/>
                    </a:solidFill>
                  </a:tcPr>
                </a:tc>
                <a:tc>
                  <a:txBody>
                    <a:bodyPr/>
                    <a:lstStyle/>
                    <a:p>
                      <a:pPr algn="ctr"/>
                      <a:r>
                        <a:rPr sz="2100" b="0" i="0">
                          <a:solidFill>
                            <a:srgbClr val="14181B"/>
                          </a:solidFill>
                          <a:latin typeface="Segoe UI"/>
                        </a:rPr>
                        <a:t>4</a:t>
                      </a:r>
                    </a:p>
                  </a:txBody>
                  <a:tcPr marL="100584" marR="100584" marT="27432" marB="27432" anchor="ctr">
                    <a:solidFill>
                      <a:srgbClr val="F8F9F7"/>
                    </a:solidFill>
                  </a:tcPr>
                </a:tc>
                <a:extLst>
                  <a:ext uri="{0D108BD9-81ED-4DB2-BD59-A6C34878D82A}">
                    <a16:rowId xmlns:a16="http://schemas.microsoft.com/office/drawing/2014/main" val="10003"/>
                  </a:ext>
                </a:extLst>
              </a:tr>
            </a:tbl>
          </a:graphicData>
        </a:graphic>
      </p:graphicFrame>
      <p:sp>
        <p:nvSpPr>
          <p:cNvPr id="6" name="Rectangle 5"/>
          <p:cNvSpPr/>
          <p:nvPr/>
        </p:nvSpPr>
        <p:spPr>
          <a:xfrm>
            <a:off x="8705088" y="1664207"/>
            <a:ext cx="2828239" cy="4645151"/>
          </a:xfrm>
          <a:prstGeom prst="rect">
            <a:avLst/>
          </a:prstGeom>
          <a:solidFill>
            <a:srgbClr val="F8F9F7"/>
          </a:solidFill>
          <a:ln w="12700">
            <a:solidFill>
              <a:srgbClr val="C3CBC6"/>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7" name="Rectangle 6"/>
          <p:cNvSpPr/>
          <p:nvPr/>
        </p:nvSpPr>
        <p:spPr>
          <a:xfrm>
            <a:off x="8705088" y="1664208"/>
            <a:ext cx="50292" cy="2267712"/>
          </a:xfrm>
          <a:prstGeom prst="rect">
            <a:avLst/>
          </a:prstGeom>
          <a:solidFill>
            <a:srgbClr val="A6423C"/>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8" name="TextBox 7"/>
          <p:cNvSpPr txBox="1"/>
          <p:nvPr/>
        </p:nvSpPr>
        <p:spPr>
          <a:xfrm>
            <a:off x="8979408" y="1847088"/>
            <a:ext cx="2325319" cy="1901952"/>
          </a:xfrm>
          <a:prstGeom prst="rect">
            <a:avLst/>
          </a:prstGeom>
          <a:noFill/>
        </p:spPr>
        <p:txBody>
          <a:bodyPr wrap="square" lIns="0" tIns="0" rIns="0" bIns="0" anchor="t">
            <a:spAutoFit/>
          </a:bodyPr>
          <a:lstStyle/>
          <a:p>
            <a:pPr algn="l">
              <a:lnSpc>
                <a:spcPct val="118000"/>
              </a:lnSpc>
              <a:spcBef>
                <a:spcPts val="0"/>
              </a:spcBef>
              <a:spcAft>
                <a:spcPts val="600"/>
              </a:spcAft>
            </a:pPr>
            <a:r>
              <a:rPr sz="2300" b="1" i="0">
                <a:solidFill>
                  <a:srgbClr val="14181B"/>
                </a:solidFill>
                <a:latin typeface="Segoe UI"/>
              </a:rPr>
              <a:t>Read the top right</a:t>
            </a:r>
          </a:p>
          <a:p>
            <a:pPr algn="l">
              <a:lnSpc>
                <a:spcPct val="120000"/>
              </a:lnSpc>
              <a:spcBef>
                <a:spcPts val="0"/>
              </a:spcBef>
              <a:spcAft>
                <a:spcPts val="0"/>
              </a:spcAft>
            </a:pPr>
            <a:r>
              <a:rPr sz="2100" b="0" i="0">
                <a:solidFill>
                  <a:srgbClr val="3E4A4F"/>
                </a:solidFill>
                <a:latin typeface="Segoe UI"/>
              </a:rPr>
              <a:t>The largest error is 21 human-negative pairs predicted as non-evaluative. The model is missing negative judgements rather than confidently finding them.</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ECEEEB"/>
        </a:solidFill>
        <a:effectLst/>
      </p:bgPr>
    </p:bg>
    <p:spTree>
      <p:nvGrpSpPr>
        <p:cNvPr id="1" name=""/>
        <p:cNvGrpSpPr/>
        <p:nvPr/>
      </p:nvGrpSpPr>
      <p:grpSpPr>
        <a:xfrm>
          <a:off x="0" y="0"/>
          <a:ext cx="0" cy="0"/>
          <a:chOff x="0" y="0"/>
          <a:chExt cx="0" cy="0"/>
        </a:xfrm>
      </p:grpSpPr>
      <p:sp>
        <p:nvSpPr>
          <p:cNvPr id="2" name="TextBox 1"/>
          <p:cNvSpPr txBox="1"/>
          <p:nvPr/>
        </p:nvSpPr>
        <p:spPr>
          <a:xfrm>
            <a:off x="10618927" y="6309359"/>
            <a:ext cx="914400" cy="355290"/>
          </a:xfrm>
          <a:prstGeom prst="rect">
            <a:avLst/>
          </a:prstGeom>
          <a:noFill/>
        </p:spPr>
        <p:txBody>
          <a:bodyPr wrap="square" lIns="0" tIns="0" rIns="0" bIns="0" anchor="t">
            <a:spAutoFit/>
          </a:bodyPr>
          <a:lstStyle/>
          <a:p>
            <a:pPr algn="r">
              <a:lnSpc>
                <a:spcPct val="118000"/>
              </a:lnSpc>
              <a:spcBef>
                <a:spcPts val="0"/>
              </a:spcBef>
              <a:spcAft>
                <a:spcPts val="0"/>
              </a:spcAft>
            </a:pPr>
            <a:r>
              <a:rPr sz="2100" b="0" i="0" dirty="0">
                <a:solidFill>
                  <a:srgbClr val="6B787D"/>
                </a:solidFill>
                <a:latin typeface="Consolas"/>
              </a:rPr>
              <a:t>3</a:t>
            </a:r>
            <a:r>
              <a:rPr lang="en-US" sz="2100" b="0" i="0" dirty="0">
                <a:solidFill>
                  <a:srgbClr val="6B787D"/>
                </a:solidFill>
                <a:latin typeface="Consolas"/>
              </a:rPr>
              <a:t>1</a:t>
            </a:r>
            <a:endParaRPr sz="2100" b="0" i="0" dirty="0">
              <a:solidFill>
                <a:srgbClr val="6B787D"/>
              </a:solidFill>
              <a:latin typeface="Consolas"/>
            </a:endParaRPr>
          </a:p>
        </p:txBody>
      </p:sp>
      <p:sp>
        <p:nvSpPr>
          <p:cNvPr id="3" name="TextBox 2"/>
          <p:cNvSpPr txBox="1"/>
          <p:nvPr/>
        </p:nvSpPr>
        <p:spPr>
          <a:xfrm>
            <a:off x="658368" y="420624"/>
            <a:ext cx="10874959" cy="355290"/>
          </a:xfrm>
          <a:prstGeom prst="rect">
            <a:avLst/>
          </a:prstGeom>
          <a:noFill/>
        </p:spPr>
        <p:txBody>
          <a:bodyPr wrap="square" lIns="0" tIns="0" rIns="0" bIns="0" anchor="t">
            <a:spAutoFit/>
          </a:bodyPr>
          <a:lstStyle/>
          <a:p>
            <a:pPr algn="l">
              <a:lnSpc>
                <a:spcPct val="118000"/>
              </a:lnSpc>
              <a:spcBef>
                <a:spcPts val="0"/>
              </a:spcBef>
              <a:spcAft>
                <a:spcPts val="0"/>
              </a:spcAft>
            </a:pPr>
            <a:r>
              <a:rPr sz="2100" b="1" i="0" dirty="0">
                <a:solidFill>
                  <a:srgbClr val="2E8FA3"/>
                </a:solidFill>
                <a:latin typeface="Consolas"/>
              </a:rPr>
              <a:t>1</a:t>
            </a:r>
            <a:r>
              <a:rPr lang="en-US" sz="2100" b="1" dirty="0">
                <a:solidFill>
                  <a:srgbClr val="2E8FA3"/>
                </a:solidFill>
                <a:latin typeface="Consolas"/>
              </a:rPr>
              <a:t>5</a:t>
            </a:r>
            <a:r>
              <a:rPr sz="2100" b="1" i="0" dirty="0">
                <a:solidFill>
                  <a:srgbClr val="2E8FA3"/>
                </a:solidFill>
                <a:latin typeface="Consolas"/>
              </a:rPr>
              <a:t> / VISUAL EVIDENCE</a:t>
            </a:r>
          </a:p>
        </p:txBody>
      </p:sp>
      <p:sp>
        <p:nvSpPr>
          <p:cNvPr id="4" name="TextBox 3"/>
          <p:cNvSpPr txBox="1"/>
          <p:nvPr/>
        </p:nvSpPr>
        <p:spPr>
          <a:xfrm>
            <a:off x="658368" y="822960"/>
            <a:ext cx="10874959" cy="822960"/>
          </a:xfrm>
          <a:prstGeom prst="rect">
            <a:avLst/>
          </a:prstGeom>
          <a:noFill/>
        </p:spPr>
        <p:txBody>
          <a:bodyPr wrap="square" lIns="0" tIns="0" rIns="0" bIns="0" anchor="t">
            <a:spAutoFit/>
          </a:bodyPr>
          <a:lstStyle/>
          <a:p>
            <a:pPr algn="l">
              <a:lnSpc>
                <a:spcPct val="106000"/>
              </a:lnSpc>
              <a:spcBef>
                <a:spcPts val="0"/>
              </a:spcBef>
              <a:spcAft>
                <a:spcPts val="0"/>
              </a:spcAft>
            </a:pPr>
            <a:r>
              <a:rPr sz="3600" b="1" i="0">
                <a:solidFill>
                  <a:srgbClr val="14181B"/>
                </a:solidFill>
                <a:latin typeface="Segoe UI"/>
              </a:rPr>
              <a:t>Learning curve for the trained baseline</a:t>
            </a:r>
          </a:p>
        </p:txBody>
      </p:sp>
      <p:sp>
        <p:nvSpPr>
          <p:cNvPr id="5" name="TextBox 4"/>
          <p:cNvSpPr txBox="1"/>
          <p:nvPr/>
        </p:nvSpPr>
        <p:spPr>
          <a:xfrm>
            <a:off x="658368" y="1389888"/>
            <a:ext cx="10874959" cy="822960"/>
          </a:xfrm>
          <a:prstGeom prst="rect">
            <a:avLst/>
          </a:prstGeom>
          <a:noFill/>
        </p:spPr>
        <p:txBody>
          <a:bodyPr wrap="square" lIns="0" tIns="0" rIns="0" bIns="0" anchor="t">
            <a:spAutoFit/>
          </a:bodyPr>
          <a:lstStyle/>
          <a:p>
            <a:pPr algn="l">
              <a:lnSpc>
                <a:spcPct val="124000"/>
              </a:lnSpc>
              <a:spcBef>
                <a:spcPts val="0"/>
              </a:spcBef>
              <a:spcAft>
                <a:spcPts val="0"/>
              </a:spcAft>
            </a:pPr>
            <a:r>
              <a:rPr sz="2400" b="0" i="0">
                <a:solidFill>
                  <a:srgbClr val="3E4A4F"/>
                </a:solidFill>
                <a:latin typeface="Segoe UI"/>
              </a:rPr>
              <a:t>The saved Logistic Regression run has no neural epoch-loss history. This reproducible curve shows how macro F1 changes as more silver-labelled training data is added.</a:t>
            </a:r>
          </a:p>
        </p:txBody>
      </p:sp>
      <p:pic>
        <p:nvPicPr>
          <p:cNvPr id="6" name="Picture 5" descr="baseline_learning_curve.png"/>
          <p:cNvPicPr>
            <a:picLocks noChangeAspect="1"/>
          </p:cNvPicPr>
          <p:nvPr/>
        </p:nvPicPr>
        <p:blipFill>
          <a:blip r:embed="rId2"/>
          <a:stretch>
            <a:fillRect/>
          </a:stretch>
        </p:blipFill>
        <p:spPr>
          <a:xfrm>
            <a:off x="3150704" y="2468879"/>
            <a:ext cx="8382623" cy="3561188"/>
          </a:xfrm>
          <a:prstGeom prst="rect">
            <a:avLst/>
          </a:prstGeom>
        </p:spPr>
      </p:pic>
      <p:sp>
        <p:nvSpPr>
          <p:cNvPr id="7" name="TextBox 6"/>
          <p:cNvSpPr txBox="1"/>
          <p:nvPr/>
        </p:nvSpPr>
        <p:spPr>
          <a:xfrm>
            <a:off x="658368" y="6144768"/>
            <a:ext cx="10874959" cy="274320"/>
          </a:xfrm>
          <a:prstGeom prst="rect">
            <a:avLst/>
          </a:prstGeom>
          <a:noFill/>
        </p:spPr>
        <p:txBody>
          <a:bodyPr wrap="square" lIns="0" tIns="0" rIns="0" bIns="0" anchor="t">
            <a:spAutoFit/>
          </a:bodyPr>
          <a:lstStyle/>
          <a:p>
            <a:pPr algn="l">
              <a:lnSpc>
                <a:spcPct val="118000"/>
              </a:lnSpc>
              <a:spcBef>
                <a:spcPts val="0"/>
              </a:spcBef>
              <a:spcAft>
                <a:spcPts val="0"/>
              </a:spcAft>
            </a:pPr>
            <a:r>
              <a:rPr sz="2100" b="0" i="0" dirty="0">
                <a:solidFill>
                  <a:srgbClr val="6B787D"/>
                </a:solidFill>
                <a:latin typeface="Consolas"/>
              </a:rPr>
              <a:t>Dashed line: final held-out human test macro F1 = 0.466. It is not used for model selection.</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ECEEEB"/>
        </a:solidFill>
        <a:effectLst/>
      </p:bgPr>
    </p:bg>
    <p:spTree>
      <p:nvGrpSpPr>
        <p:cNvPr id="1" name=""/>
        <p:cNvGrpSpPr/>
        <p:nvPr/>
      </p:nvGrpSpPr>
      <p:grpSpPr>
        <a:xfrm>
          <a:off x="0" y="0"/>
          <a:ext cx="0" cy="0"/>
          <a:chOff x="0" y="0"/>
          <a:chExt cx="0" cy="0"/>
        </a:xfrm>
      </p:grpSpPr>
      <p:sp>
        <p:nvSpPr>
          <p:cNvPr id="2" name="TextBox 1"/>
          <p:cNvSpPr txBox="1"/>
          <p:nvPr/>
        </p:nvSpPr>
        <p:spPr>
          <a:xfrm>
            <a:off x="10618927" y="6309359"/>
            <a:ext cx="914400" cy="355290"/>
          </a:xfrm>
          <a:prstGeom prst="rect">
            <a:avLst/>
          </a:prstGeom>
          <a:noFill/>
        </p:spPr>
        <p:txBody>
          <a:bodyPr wrap="square" lIns="0" tIns="0" rIns="0" bIns="0" anchor="t">
            <a:spAutoFit/>
          </a:bodyPr>
          <a:lstStyle/>
          <a:p>
            <a:pPr algn="r">
              <a:lnSpc>
                <a:spcPct val="118000"/>
              </a:lnSpc>
              <a:spcBef>
                <a:spcPts val="0"/>
              </a:spcBef>
              <a:spcAft>
                <a:spcPts val="0"/>
              </a:spcAft>
            </a:pPr>
            <a:r>
              <a:rPr sz="2100" b="0" i="0" dirty="0">
                <a:solidFill>
                  <a:srgbClr val="6B787D"/>
                </a:solidFill>
                <a:latin typeface="Consolas"/>
              </a:rPr>
              <a:t>3</a:t>
            </a:r>
            <a:r>
              <a:rPr lang="en-US" sz="2100" b="0" i="0" dirty="0">
                <a:solidFill>
                  <a:srgbClr val="6B787D"/>
                </a:solidFill>
                <a:latin typeface="Consolas"/>
              </a:rPr>
              <a:t>2</a:t>
            </a:r>
            <a:endParaRPr sz="2100" b="0" i="0" dirty="0">
              <a:solidFill>
                <a:srgbClr val="6B787D"/>
              </a:solidFill>
              <a:latin typeface="Consolas"/>
            </a:endParaRPr>
          </a:p>
        </p:txBody>
      </p:sp>
      <p:sp>
        <p:nvSpPr>
          <p:cNvPr id="3" name="TextBox 2"/>
          <p:cNvSpPr txBox="1"/>
          <p:nvPr/>
        </p:nvSpPr>
        <p:spPr>
          <a:xfrm>
            <a:off x="658368" y="420624"/>
            <a:ext cx="10874959" cy="355290"/>
          </a:xfrm>
          <a:prstGeom prst="rect">
            <a:avLst/>
          </a:prstGeom>
          <a:noFill/>
        </p:spPr>
        <p:txBody>
          <a:bodyPr wrap="square" lIns="0" tIns="0" rIns="0" bIns="0" anchor="t">
            <a:spAutoFit/>
          </a:bodyPr>
          <a:lstStyle/>
          <a:p>
            <a:pPr algn="l">
              <a:lnSpc>
                <a:spcPct val="118000"/>
              </a:lnSpc>
              <a:spcBef>
                <a:spcPts val="0"/>
              </a:spcBef>
              <a:spcAft>
                <a:spcPts val="0"/>
              </a:spcAft>
            </a:pPr>
            <a:r>
              <a:rPr sz="2100" b="1" i="0" dirty="0">
                <a:solidFill>
                  <a:srgbClr val="2E8FA3"/>
                </a:solidFill>
                <a:latin typeface="Consolas"/>
              </a:rPr>
              <a:t>1</a:t>
            </a:r>
            <a:r>
              <a:rPr lang="en-US" sz="2100" b="1" i="0" dirty="0">
                <a:solidFill>
                  <a:srgbClr val="2E8FA3"/>
                </a:solidFill>
                <a:latin typeface="Consolas"/>
              </a:rPr>
              <a:t>5</a:t>
            </a:r>
            <a:r>
              <a:rPr sz="2100" b="1" i="0" dirty="0">
                <a:solidFill>
                  <a:srgbClr val="2E8FA3"/>
                </a:solidFill>
                <a:latin typeface="Consolas"/>
              </a:rPr>
              <a:t> / VISUAL EVIDENCE</a:t>
            </a:r>
          </a:p>
        </p:txBody>
      </p:sp>
      <p:sp>
        <p:nvSpPr>
          <p:cNvPr id="4" name="TextBox 3"/>
          <p:cNvSpPr txBox="1"/>
          <p:nvPr/>
        </p:nvSpPr>
        <p:spPr>
          <a:xfrm>
            <a:off x="658368" y="822960"/>
            <a:ext cx="10874959" cy="822960"/>
          </a:xfrm>
          <a:prstGeom prst="rect">
            <a:avLst/>
          </a:prstGeom>
          <a:noFill/>
        </p:spPr>
        <p:txBody>
          <a:bodyPr wrap="square" lIns="0" tIns="0" rIns="0" bIns="0" anchor="t">
            <a:spAutoFit/>
          </a:bodyPr>
          <a:lstStyle/>
          <a:p>
            <a:pPr algn="l">
              <a:lnSpc>
                <a:spcPct val="106000"/>
              </a:lnSpc>
              <a:spcBef>
                <a:spcPts val="0"/>
              </a:spcBef>
              <a:spcAft>
                <a:spcPts val="0"/>
              </a:spcAft>
            </a:pPr>
            <a:r>
              <a:rPr sz="3600" b="1" i="0">
                <a:solidFill>
                  <a:srgbClr val="14181B"/>
                </a:solidFill>
                <a:latin typeface="Segoe UI"/>
              </a:rPr>
              <a:t>What the held-out score is made of</a:t>
            </a:r>
          </a:p>
        </p:txBody>
      </p:sp>
      <p:sp>
        <p:nvSpPr>
          <p:cNvPr id="5" name="TextBox 4"/>
          <p:cNvSpPr txBox="1"/>
          <p:nvPr/>
        </p:nvSpPr>
        <p:spPr>
          <a:xfrm>
            <a:off x="658368" y="1389888"/>
            <a:ext cx="10874959" cy="822960"/>
          </a:xfrm>
          <a:prstGeom prst="rect">
            <a:avLst/>
          </a:prstGeom>
          <a:noFill/>
        </p:spPr>
        <p:txBody>
          <a:bodyPr wrap="square" lIns="0" tIns="0" rIns="0" bIns="0" anchor="t">
            <a:spAutoFit/>
          </a:bodyPr>
          <a:lstStyle/>
          <a:p>
            <a:pPr algn="l">
              <a:lnSpc>
                <a:spcPct val="124000"/>
              </a:lnSpc>
              <a:spcBef>
                <a:spcPts val="0"/>
              </a:spcBef>
              <a:spcAft>
                <a:spcPts val="0"/>
              </a:spcAft>
            </a:pPr>
            <a:r>
              <a:rPr sz="2400" b="0" i="0">
                <a:solidFill>
                  <a:srgbClr val="3E4A4F"/>
                </a:solidFill>
                <a:latin typeface="Segoe UI"/>
              </a:rPr>
              <a:t>The baseline was evaluated on 59 human-reviewed target pairs from four unseen episodes.</a:t>
            </a:r>
          </a:p>
        </p:txBody>
      </p:sp>
      <p:pic>
        <p:nvPicPr>
          <p:cNvPr id="6" name="Picture 5" descr="baseline_class_metrics.png"/>
          <p:cNvPicPr>
            <a:picLocks noChangeAspect="1"/>
          </p:cNvPicPr>
          <p:nvPr/>
        </p:nvPicPr>
        <p:blipFill>
          <a:blip r:embed="rId2"/>
          <a:stretch>
            <a:fillRect/>
          </a:stretch>
        </p:blipFill>
        <p:spPr>
          <a:xfrm>
            <a:off x="2461129" y="1837653"/>
            <a:ext cx="9072198" cy="4444275"/>
          </a:xfrm>
          <a:prstGeom prst="rect">
            <a:avLst/>
          </a:prstGeom>
        </p:spPr>
      </p:pic>
      <p:sp>
        <p:nvSpPr>
          <p:cNvPr id="7" name="TextBox 6"/>
          <p:cNvSpPr txBox="1"/>
          <p:nvPr/>
        </p:nvSpPr>
        <p:spPr>
          <a:xfrm>
            <a:off x="658368" y="6144768"/>
            <a:ext cx="10874959" cy="274320"/>
          </a:xfrm>
          <a:prstGeom prst="rect">
            <a:avLst/>
          </a:prstGeom>
          <a:noFill/>
        </p:spPr>
        <p:txBody>
          <a:bodyPr wrap="square" lIns="0" tIns="0" rIns="0" bIns="0" anchor="t">
            <a:spAutoFit/>
          </a:bodyPr>
          <a:lstStyle/>
          <a:p>
            <a:pPr algn="l">
              <a:lnSpc>
                <a:spcPct val="118000"/>
              </a:lnSpc>
              <a:spcBef>
                <a:spcPts val="0"/>
              </a:spcBef>
              <a:spcAft>
                <a:spcPts val="0"/>
              </a:spcAft>
            </a:pPr>
            <a:r>
              <a:rPr sz="2100" b="0" i="0" dirty="0">
                <a:solidFill>
                  <a:srgbClr val="6B787D"/>
                </a:solidFill>
                <a:latin typeface="Consolas"/>
              </a:rPr>
              <a:t>Negative precision is strong, but negative recall is low; non-evaluative recall is high but imprecise.</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ECEEEB"/>
        </a:solidFill>
        <a:effectLst/>
      </p:bgPr>
    </p:bg>
    <p:spTree>
      <p:nvGrpSpPr>
        <p:cNvPr id="1" name=""/>
        <p:cNvGrpSpPr/>
        <p:nvPr/>
      </p:nvGrpSpPr>
      <p:grpSpPr>
        <a:xfrm>
          <a:off x="0" y="0"/>
          <a:ext cx="0" cy="0"/>
          <a:chOff x="0" y="0"/>
          <a:chExt cx="0" cy="0"/>
        </a:xfrm>
      </p:grpSpPr>
      <p:sp>
        <p:nvSpPr>
          <p:cNvPr id="2" name="TextBox 1"/>
          <p:cNvSpPr txBox="1"/>
          <p:nvPr/>
        </p:nvSpPr>
        <p:spPr>
          <a:xfrm>
            <a:off x="10963056" y="6419088"/>
            <a:ext cx="914400" cy="355290"/>
          </a:xfrm>
          <a:prstGeom prst="rect">
            <a:avLst/>
          </a:prstGeom>
          <a:noFill/>
        </p:spPr>
        <p:txBody>
          <a:bodyPr wrap="square" lIns="0" tIns="0" rIns="0" bIns="0" anchor="t">
            <a:spAutoFit/>
          </a:bodyPr>
          <a:lstStyle/>
          <a:p>
            <a:pPr algn="r">
              <a:lnSpc>
                <a:spcPct val="118000"/>
              </a:lnSpc>
              <a:spcBef>
                <a:spcPts val="0"/>
              </a:spcBef>
              <a:spcAft>
                <a:spcPts val="0"/>
              </a:spcAft>
            </a:pPr>
            <a:r>
              <a:rPr sz="2100" b="0" i="0" dirty="0">
                <a:solidFill>
                  <a:srgbClr val="6B787D"/>
                </a:solidFill>
                <a:latin typeface="Consolas"/>
              </a:rPr>
              <a:t>3</a:t>
            </a:r>
            <a:r>
              <a:rPr lang="en-US" sz="2100" b="0" i="0" dirty="0">
                <a:solidFill>
                  <a:srgbClr val="6B787D"/>
                </a:solidFill>
                <a:latin typeface="Consolas"/>
              </a:rPr>
              <a:t>3</a:t>
            </a:r>
            <a:endParaRPr sz="2100" b="0" i="0" dirty="0">
              <a:solidFill>
                <a:srgbClr val="6B787D"/>
              </a:solidFill>
              <a:latin typeface="Consolas"/>
            </a:endParaRPr>
          </a:p>
        </p:txBody>
      </p:sp>
      <p:sp>
        <p:nvSpPr>
          <p:cNvPr id="3" name="TextBox 2"/>
          <p:cNvSpPr txBox="1"/>
          <p:nvPr/>
        </p:nvSpPr>
        <p:spPr>
          <a:xfrm>
            <a:off x="658368" y="420624"/>
            <a:ext cx="10874959" cy="355290"/>
          </a:xfrm>
          <a:prstGeom prst="rect">
            <a:avLst/>
          </a:prstGeom>
          <a:noFill/>
        </p:spPr>
        <p:txBody>
          <a:bodyPr wrap="square" lIns="0" tIns="0" rIns="0" bIns="0" anchor="t">
            <a:spAutoFit/>
          </a:bodyPr>
          <a:lstStyle/>
          <a:p>
            <a:pPr algn="l">
              <a:lnSpc>
                <a:spcPct val="118000"/>
              </a:lnSpc>
              <a:spcBef>
                <a:spcPts val="0"/>
              </a:spcBef>
              <a:spcAft>
                <a:spcPts val="0"/>
              </a:spcAft>
            </a:pPr>
            <a:r>
              <a:rPr sz="2100" b="1" i="0" dirty="0">
                <a:solidFill>
                  <a:srgbClr val="2E8FA3"/>
                </a:solidFill>
                <a:latin typeface="Consolas"/>
              </a:rPr>
              <a:t>1</a:t>
            </a:r>
            <a:r>
              <a:rPr lang="en-US" sz="2100" b="1" i="0" dirty="0">
                <a:solidFill>
                  <a:srgbClr val="2E8FA3"/>
                </a:solidFill>
                <a:latin typeface="Consolas"/>
              </a:rPr>
              <a:t>5</a:t>
            </a:r>
            <a:r>
              <a:rPr sz="2100" b="1" i="0" dirty="0">
                <a:solidFill>
                  <a:srgbClr val="2E8FA3"/>
                </a:solidFill>
                <a:latin typeface="Consolas"/>
              </a:rPr>
              <a:t> / VISUAL EVIDENCE</a:t>
            </a:r>
          </a:p>
        </p:txBody>
      </p:sp>
      <p:sp>
        <p:nvSpPr>
          <p:cNvPr id="4" name="TextBox 3"/>
          <p:cNvSpPr txBox="1"/>
          <p:nvPr/>
        </p:nvSpPr>
        <p:spPr>
          <a:xfrm>
            <a:off x="658368" y="822960"/>
            <a:ext cx="10874959" cy="822960"/>
          </a:xfrm>
          <a:prstGeom prst="rect">
            <a:avLst/>
          </a:prstGeom>
          <a:noFill/>
        </p:spPr>
        <p:txBody>
          <a:bodyPr wrap="square" lIns="0" tIns="0" rIns="0" bIns="0" anchor="t">
            <a:spAutoFit/>
          </a:bodyPr>
          <a:lstStyle/>
          <a:p>
            <a:pPr algn="l">
              <a:lnSpc>
                <a:spcPct val="106000"/>
              </a:lnSpc>
              <a:spcBef>
                <a:spcPts val="0"/>
              </a:spcBef>
              <a:spcAft>
                <a:spcPts val="0"/>
              </a:spcAft>
            </a:pPr>
            <a:r>
              <a:rPr sz="3600" b="1" i="0">
                <a:solidFill>
                  <a:srgbClr val="14181B"/>
                </a:solidFill>
                <a:latin typeface="Segoe UI"/>
              </a:rPr>
              <a:t>Confusion matrix: two colour views</a:t>
            </a:r>
          </a:p>
        </p:txBody>
      </p:sp>
      <p:sp>
        <p:nvSpPr>
          <p:cNvPr id="5" name="TextBox 4"/>
          <p:cNvSpPr txBox="1"/>
          <p:nvPr/>
        </p:nvSpPr>
        <p:spPr>
          <a:xfrm>
            <a:off x="658368" y="1389888"/>
            <a:ext cx="10874959" cy="822960"/>
          </a:xfrm>
          <a:prstGeom prst="rect">
            <a:avLst/>
          </a:prstGeom>
          <a:noFill/>
        </p:spPr>
        <p:txBody>
          <a:bodyPr wrap="square" lIns="0" tIns="0" rIns="0" bIns="0" anchor="t">
            <a:spAutoFit/>
          </a:bodyPr>
          <a:lstStyle/>
          <a:p>
            <a:pPr algn="l">
              <a:lnSpc>
                <a:spcPct val="124000"/>
              </a:lnSpc>
              <a:spcBef>
                <a:spcPts val="0"/>
              </a:spcBef>
              <a:spcAft>
                <a:spcPts val="0"/>
              </a:spcAft>
            </a:pPr>
            <a:r>
              <a:rPr sz="2400" b="0" i="0">
                <a:solidFill>
                  <a:srgbClr val="3E4A4F"/>
                </a:solidFill>
                <a:latin typeface="Segoe UI"/>
              </a:rPr>
              <a:t>Rows are human labels and columns are baseline predictions. Counts and row-normalized recall show different characteristics of the same result.</a:t>
            </a:r>
          </a:p>
        </p:txBody>
      </p:sp>
      <p:pic>
        <p:nvPicPr>
          <p:cNvPr id="6" name="Picture 5" descr="baseline_confusion_variants.png"/>
          <p:cNvPicPr>
            <a:picLocks noChangeAspect="1"/>
          </p:cNvPicPr>
          <p:nvPr/>
        </p:nvPicPr>
        <p:blipFill>
          <a:blip r:embed="rId2"/>
          <a:stretch>
            <a:fillRect/>
          </a:stretch>
        </p:blipFill>
        <p:spPr>
          <a:xfrm>
            <a:off x="1769806" y="2364053"/>
            <a:ext cx="8475495" cy="3780715"/>
          </a:xfrm>
          <a:prstGeom prst="rect">
            <a:avLst/>
          </a:prstGeom>
        </p:spPr>
      </p:pic>
      <p:sp>
        <p:nvSpPr>
          <p:cNvPr id="7" name="TextBox 6"/>
          <p:cNvSpPr txBox="1"/>
          <p:nvPr/>
        </p:nvSpPr>
        <p:spPr>
          <a:xfrm>
            <a:off x="2359589" y="6017135"/>
            <a:ext cx="7295928" cy="736612"/>
          </a:xfrm>
          <a:prstGeom prst="rect">
            <a:avLst/>
          </a:prstGeom>
          <a:noFill/>
        </p:spPr>
        <p:txBody>
          <a:bodyPr wrap="square" lIns="0" tIns="0" rIns="0" bIns="0" anchor="t">
            <a:spAutoFit/>
          </a:bodyPr>
          <a:lstStyle/>
          <a:p>
            <a:pPr algn="ctr">
              <a:lnSpc>
                <a:spcPct val="118000"/>
              </a:lnSpc>
              <a:spcBef>
                <a:spcPts val="0"/>
              </a:spcBef>
              <a:spcAft>
                <a:spcPts val="0"/>
              </a:spcAft>
            </a:pPr>
            <a:r>
              <a:rPr sz="2100" b="0" i="0" dirty="0">
                <a:solidFill>
                  <a:srgbClr val="6B787D"/>
                </a:solidFill>
                <a:latin typeface="Consolas"/>
              </a:rPr>
              <a:t>The largest error is human negative predicted as non-evaluative: 21 of 59 test pairs.</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ECEEEB"/>
        </a:solidFill>
        <a:effectLst/>
      </p:bgPr>
    </p:bg>
    <p:spTree>
      <p:nvGrpSpPr>
        <p:cNvPr id="1" name=""/>
        <p:cNvGrpSpPr/>
        <p:nvPr/>
      </p:nvGrpSpPr>
      <p:grpSpPr>
        <a:xfrm>
          <a:off x="0" y="0"/>
          <a:ext cx="0" cy="0"/>
          <a:chOff x="0" y="0"/>
          <a:chExt cx="0" cy="0"/>
        </a:xfrm>
      </p:grpSpPr>
      <p:sp>
        <p:nvSpPr>
          <p:cNvPr id="2" name="TextBox 1"/>
          <p:cNvSpPr txBox="1"/>
          <p:nvPr/>
        </p:nvSpPr>
        <p:spPr>
          <a:xfrm>
            <a:off x="11076127" y="6433442"/>
            <a:ext cx="914400" cy="355290"/>
          </a:xfrm>
          <a:prstGeom prst="rect">
            <a:avLst/>
          </a:prstGeom>
          <a:noFill/>
        </p:spPr>
        <p:txBody>
          <a:bodyPr wrap="square" lIns="0" tIns="0" rIns="0" bIns="0" anchor="t">
            <a:spAutoFit/>
          </a:bodyPr>
          <a:lstStyle/>
          <a:p>
            <a:pPr algn="r">
              <a:lnSpc>
                <a:spcPct val="118000"/>
              </a:lnSpc>
              <a:spcBef>
                <a:spcPts val="0"/>
              </a:spcBef>
              <a:spcAft>
                <a:spcPts val="0"/>
              </a:spcAft>
            </a:pPr>
            <a:r>
              <a:rPr sz="2100" b="0" i="0" dirty="0">
                <a:solidFill>
                  <a:srgbClr val="6B787D"/>
                </a:solidFill>
                <a:latin typeface="Consolas"/>
              </a:rPr>
              <a:t>3</a:t>
            </a:r>
            <a:r>
              <a:rPr lang="en-US" sz="2100" b="0" i="0" dirty="0">
                <a:solidFill>
                  <a:srgbClr val="6B787D"/>
                </a:solidFill>
                <a:latin typeface="Consolas"/>
              </a:rPr>
              <a:t>4</a:t>
            </a:r>
            <a:endParaRPr sz="2100" b="0" i="0" dirty="0">
              <a:solidFill>
                <a:srgbClr val="6B787D"/>
              </a:solidFill>
              <a:latin typeface="Consolas"/>
            </a:endParaRPr>
          </a:p>
        </p:txBody>
      </p:sp>
      <p:sp>
        <p:nvSpPr>
          <p:cNvPr id="3" name="TextBox 2"/>
          <p:cNvSpPr txBox="1"/>
          <p:nvPr/>
        </p:nvSpPr>
        <p:spPr>
          <a:xfrm>
            <a:off x="658368" y="420624"/>
            <a:ext cx="10874959" cy="355290"/>
          </a:xfrm>
          <a:prstGeom prst="rect">
            <a:avLst/>
          </a:prstGeom>
          <a:noFill/>
        </p:spPr>
        <p:txBody>
          <a:bodyPr wrap="square" lIns="0" tIns="0" rIns="0" bIns="0" anchor="t">
            <a:spAutoFit/>
          </a:bodyPr>
          <a:lstStyle/>
          <a:p>
            <a:pPr algn="l">
              <a:lnSpc>
                <a:spcPct val="118000"/>
              </a:lnSpc>
              <a:spcBef>
                <a:spcPts val="0"/>
              </a:spcBef>
              <a:spcAft>
                <a:spcPts val="0"/>
              </a:spcAft>
            </a:pPr>
            <a:r>
              <a:rPr sz="2100" b="1" i="0" dirty="0">
                <a:solidFill>
                  <a:srgbClr val="2E8FA3"/>
                </a:solidFill>
                <a:latin typeface="Consolas"/>
              </a:rPr>
              <a:t>1</a:t>
            </a:r>
            <a:r>
              <a:rPr lang="en-US" sz="2100" b="1" i="0" dirty="0">
                <a:solidFill>
                  <a:srgbClr val="2E8FA3"/>
                </a:solidFill>
                <a:latin typeface="Consolas"/>
              </a:rPr>
              <a:t>6</a:t>
            </a:r>
            <a:r>
              <a:rPr sz="2100" b="1" i="0" dirty="0">
                <a:solidFill>
                  <a:srgbClr val="2E8FA3"/>
                </a:solidFill>
                <a:latin typeface="Consolas"/>
              </a:rPr>
              <a:t> / ERROR ANALYSIS</a:t>
            </a:r>
          </a:p>
        </p:txBody>
      </p:sp>
      <p:sp>
        <p:nvSpPr>
          <p:cNvPr id="4" name="TextBox 3"/>
          <p:cNvSpPr txBox="1"/>
          <p:nvPr/>
        </p:nvSpPr>
        <p:spPr>
          <a:xfrm>
            <a:off x="658368" y="822960"/>
            <a:ext cx="10874959" cy="822960"/>
          </a:xfrm>
          <a:prstGeom prst="rect">
            <a:avLst/>
          </a:prstGeom>
          <a:noFill/>
        </p:spPr>
        <p:txBody>
          <a:bodyPr wrap="square" lIns="0" tIns="0" rIns="0" bIns="0" anchor="t">
            <a:spAutoFit/>
          </a:bodyPr>
          <a:lstStyle/>
          <a:p>
            <a:pPr algn="l">
              <a:lnSpc>
                <a:spcPct val="106000"/>
              </a:lnSpc>
              <a:spcBef>
                <a:spcPts val="0"/>
              </a:spcBef>
              <a:spcAft>
                <a:spcPts val="0"/>
              </a:spcAft>
            </a:pPr>
            <a:r>
              <a:rPr sz="3600" b="1" i="0">
                <a:solidFill>
                  <a:srgbClr val="14181B"/>
                </a:solidFill>
                <a:latin typeface="Segoe UI"/>
              </a:rPr>
              <a:t>Where the errors actually are</a:t>
            </a:r>
          </a:p>
        </p:txBody>
      </p:sp>
      <p:graphicFrame>
        <p:nvGraphicFramePr>
          <p:cNvPr id="5" name="Table 4"/>
          <p:cNvGraphicFramePr>
            <a:graphicFrameLocks noGrp="1"/>
          </p:cNvGraphicFramePr>
          <p:nvPr/>
        </p:nvGraphicFramePr>
        <p:xfrm>
          <a:off x="658368" y="1664208"/>
          <a:ext cx="7315199" cy="2852928"/>
        </p:xfrm>
        <a:graphic>
          <a:graphicData uri="http://schemas.openxmlformats.org/drawingml/2006/table">
            <a:tbl>
              <a:tblPr>
                <a:tableStyleId>{5C22544A-7EE6-4342-B048-85BDC9FD1C3A}</a:tableStyleId>
              </a:tblPr>
              <a:tblGrid>
                <a:gridCol w="2813538">
                  <a:extLst>
                    <a:ext uri="{9D8B030D-6E8A-4147-A177-3AD203B41FA5}">
                      <a16:colId xmlns:a16="http://schemas.microsoft.com/office/drawing/2014/main" val="20000"/>
                    </a:ext>
                  </a:extLst>
                </a:gridCol>
                <a:gridCol w="2813538">
                  <a:extLst>
                    <a:ext uri="{9D8B030D-6E8A-4147-A177-3AD203B41FA5}">
                      <a16:colId xmlns:a16="http://schemas.microsoft.com/office/drawing/2014/main" val="20001"/>
                    </a:ext>
                  </a:extLst>
                </a:gridCol>
                <a:gridCol w="1688123">
                  <a:extLst>
                    <a:ext uri="{9D8B030D-6E8A-4147-A177-3AD203B41FA5}">
                      <a16:colId xmlns:a16="http://schemas.microsoft.com/office/drawing/2014/main" val="20002"/>
                    </a:ext>
                  </a:extLst>
                </a:gridCol>
              </a:tblGrid>
              <a:tr h="475488">
                <a:tc>
                  <a:txBody>
                    <a:bodyPr/>
                    <a:lstStyle/>
                    <a:p>
                      <a:pPr algn="l"/>
                      <a:r>
                        <a:rPr sz="2100" b="1" i="0">
                          <a:solidFill>
                            <a:srgbClr val="6B787D"/>
                          </a:solidFill>
                          <a:latin typeface="Consolas"/>
                        </a:rPr>
                        <a:t>Human said</a:t>
                      </a:r>
                    </a:p>
                  </a:txBody>
                  <a:tcPr marL="100584" marR="100584" marT="27432" marB="27432" anchor="ctr">
                    <a:solidFill>
                      <a:srgbClr val="E0E5E1"/>
                    </a:solidFill>
                  </a:tcPr>
                </a:tc>
                <a:tc>
                  <a:txBody>
                    <a:bodyPr/>
                    <a:lstStyle/>
                    <a:p>
                      <a:pPr algn="l"/>
                      <a:r>
                        <a:rPr sz="2100" b="1" i="0">
                          <a:solidFill>
                            <a:srgbClr val="6B787D"/>
                          </a:solidFill>
                          <a:latin typeface="Consolas"/>
                        </a:rPr>
                        <a:t>System said</a:t>
                      </a:r>
                    </a:p>
                  </a:txBody>
                  <a:tcPr marL="100584" marR="100584" marT="27432" marB="27432" anchor="ctr">
                    <a:solidFill>
                      <a:srgbClr val="E0E5E1"/>
                    </a:solidFill>
                  </a:tcPr>
                </a:tc>
                <a:tc>
                  <a:txBody>
                    <a:bodyPr/>
                    <a:lstStyle/>
                    <a:p>
                      <a:pPr algn="r"/>
                      <a:r>
                        <a:rPr sz="2100" b="1" i="0">
                          <a:solidFill>
                            <a:srgbClr val="6B787D"/>
                          </a:solidFill>
                          <a:latin typeface="Consolas"/>
                        </a:rPr>
                        <a:t>Count</a:t>
                      </a:r>
                    </a:p>
                  </a:txBody>
                  <a:tcPr marL="100584" marR="100584" marT="27432" marB="27432" anchor="ctr">
                    <a:solidFill>
                      <a:srgbClr val="E0E5E1"/>
                    </a:solidFill>
                  </a:tcPr>
                </a:tc>
                <a:extLst>
                  <a:ext uri="{0D108BD9-81ED-4DB2-BD59-A6C34878D82A}">
                    <a16:rowId xmlns:a16="http://schemas.microsoft.com/office/drawing/2014/main" val="10000"/>
                  </a:ext>
                </a:extLst>
              </a:tr>
              <a:tr h="475488">
                <a:tc>
                  <a:txBody>
                    <a:bodyPr/>
                    <a:lstStyle/>
                    <a:p>
                      <a:pPr algn="l"/>
                      <a:r>
                        <a:rPr sz="2100" b="0" i="0">
                          <a:solidFill>
                            <a:srgbClr val="14181B"/>
                          </a:solidFill>
                          <a:latin typeface="Segoe UI"/>
                        </a:rPr>
                        <a:t>non evaluative</a:t>
                      </a:r>
                    </a:p>
                  </a:txBody>
                  <a:tcPr marL="100584" marR="100584" marT="27432" marB="27432" anchor="ctr">
                    <a:solidFill>
                      <a:srgbClr val="F8F9F7"/>
                    </a:solidFill>
                  </a:tcPr>
                </a:tc>
                <a:tc>
                  <a:txBody>
                    <a:bodyPr/>
                    <a:lstStyle/>
                    <a:p>
                      <a:pPr algn="l"/>
                      <a:r>
                        <a:rPr sz="2100" b="0" i="0">
                          <a:solidFill>
                            <a:srgbClr val="14181B"/>
                          </a:solidFill>
                          <a:latin typeface="Segoe UI"/>
                        </a:rPr>
                        <a:t>positive</a:t>
                      </a:r>
                    </a:p>
                  </a:txBody>
                  <a:tcPr marL="100584" marR="100584" marT="27432" marB="27432" anchor="ctr">
                    <a:solidFill>
                      <a:srgbClr val="F8F9F7"/>
                    </a:solidFill>
                  </a:tcPr>
                </a:tc>
                <a:tc>
                  <a:txBody>
                    <a:bodyPr/>
                    <a:lstStyle/>
                    <a:p>
                      <a:pPr algn="r"/>
                      <a:r>
                        <a:rPr sz="2100" b="0" i="0">
                          <a:solidFill>
                            <a:srgbClr val="14181B"/>
                          </a:solidFill>
                          <a:latin typeface="Consolas"/>
                        </a:rPr>
                        <a:t>24</a:t>
                      </a:r>
                    </a:p>
                  </a:txBody>
                  <a:tcPr marL="100584" marR="100584" marT="27432" marB="27432" anchor="ctr">
                    <a:solidFill>
                      <a:srgbClr val="F8F9F7"/>
                    </a:solidFill>
                  </a:tcPr>
                </a:tc>
                <a:extLst>
                  <a:ext uri="{0D108BD9-81ED-4DB2-BD59-A6C34878D82A}">
                    <a16:rowId xmlns:a16="http://schemas.microsoft.com/office/drawing/2014/main" val="10001"/>
                  </a:ext>
                </a:extLst>
              </a:tr>
              <a:tr h="475488">
                <a:tc>
                  <a:txBody>
                    <a:bodyPr/>
                    <a:lstStyle/>
                    <a:p>
                      <a:pPr algn="l"/>
                      <a:r>
                        <a:rPr sz="2100" b="0" i="0">
                          <a:solidFill>
                            <a:srgbClr val="14181B"/>
                          </a:solidFill>
                          <a:latin typeface="Segoe UI"/>
                        </a:rPr>
                        <a:t>negative</a:t>
                      </a:r>
                    </a:p>
                  </a:txBody>
                  <a:tcPr marL="100584" marR="100584" marT="27432" marB="27432" anchor="ctr">
                    <a:solidFill>
                      <a:srgbClr val="F8F9F7"/>
                    </a:solidFill>
                  </a:tcPr>
                </a:tc>
                <a:tc>
                  <a:txBody>
                    <a:bodyPr/>
                    <a:lstStyle/>
                    <a:p>
                      <a:pPr algn="l"/>
                      <a:r>
                        <a:rPr sz="2100" b="0" i="0">
                          <a:solidFill>
                            <a:srgbClr val="14181B"/>
                          </a:solidFill>
                          <a:latin typeface="Segoe UI"/>
                        </a:rPr>
                        <a:t>non evaluative</a:t>
                      </a:r>
                    </a:p>
                  </a:txBody>
                  <a:tcPr marL="100584" marR="100584" marT="27432" marB="27432" anchor="ctr">
                    <a:solidFill>
                      <a:srgbClr val="F8F9F7"/>
                    </a:solidFill>
                  </a:tcPr>
                </a:tc>
                <a:tc>
                  <a:txBody>
                    <a:bodyPr/>
                    <a:lstStyle/>
                    <a:p>
                      <a:pPr algn="r"/>
                      <a:r>
                        <a:rPr sz="2100" b="0" i="0">
                          <a:solidFill>
                            <a:srgbClr val="14181B"/>
                          </a:solidFill>
                          <a:latin typeface="Consolas"/>
                        </a:rPr>
                        <a:t>22</a:t>
                      </a:r>
                    </a:p>
                  </a:txBody>
                  <a:tcPr marL="100584" marR="100584" marT="27432" marB="27432" anchor="ctr">
                    <a:solidFill>
                      <a:srgbClr val="F8F9F7"/>
                    </a:solidFill>
                  </a:tcPr>
                </a:tc>
                <a:extLst>
                  <a:ext uri="{0D108BD9-81ED-4DB2-BD59-A6C34878D82A}">
                    <a16:rowId xmlns:a16="http://schemas.microsoft.com/office/drawing/2014/main" val="10002"/>
                  </a:ext>
                </a:extLst>
              </a:tr>
              <a:tr h="475488">
                <a:tc>
                  <a:txBody>
                    <a:bodyPr/>
                    <a:lstStyle/>
                    <a:p>
                      <a:pPr algn="l"/>
                      <a:r>
                        <a:rPr sz="2100" b="0" i="0">
                          <a:solidFill>
                            <a:srgbClr val="14181B"/>
                          </a:solidFill>
                          <a:latin typeface="Segoe UI"/>
                        </a:rPr>
                        <a:t>negative</a:t>
                      </a:r>
                    </a:p>
                  </a:txBody>
                  <a:tcPr marL="100584" marR="100584" marT="27432" marB="27432" anchor="ctr">
                    <a:solidFill>
                      <a:srgbClr val="F8F9F7"/>
                    </a:solidFill>
                  </a:tcPr>
                </a:tc>
                <a:tc>
                  <a:txBody>
                    <a:bodyPr/>
                    <a:lstStyle/>
                    <a:p>
                      <a:pPr algn="l"/>
                      <a:r>
                        <a:rPr sz="2100" b="0" i="0">
                          <a:solidFill>
                            <a:srgbClr val="14181B"/>
                          </a:solidFill>
                          <a:latin typeface="Segoe UI"/>
                        </a:rPr>
                        <a:t>positive</a:t>
                      </a:r>
                    </a:p>
                  </a:txBody>
                  <a:tcPr marL="100584" marR="100584" marT="27432" marB="27432" anchor="ctr">
                    <a:solidFill>
                      <a:srgbClr val="F8F9F7"/>
                    </a:solidFill>
                  </a:tcPr>
                </a:tc>
                <a:tc>
                  <a:txBody>
                    <a:bodyPr/>
                    <a:lstStyle/>
                    <a:p>
                      <a:pPr algn="r"/>
                      <a:r>
                        <a:rPr sz="2100" b="0" i="0">
                          <a:solidFill>
                            <a:srgbClr val="14181B"/>
                          </a:solidFill>
                          <a:latin typeface="Consolas"/>
                        </a:rPr>
                        <a:t>11</a:t>
                      </a:r>
                    </a:p>
                  </a:txBody>
                  <a:tcPr marL="100584" marR="100584" marT="27432" marB="27432" anchor="ctr">
                    <a:solidFill>
                      <a:srgbClr val="F8F9F7"/>
                    </a:solidFill>
                  </a:tcPr>
                </a:tc>
                <a:extLst>
                  <a:ext uri="{0D108BD9-81ED-4DB2-BD59-A6C34878D82A}">
                    <a16:rowId xmlns:a16="http://schemas.microsoft.com/office/drawing/2014/main" val="10003"/>
                  </a:ext>
                </a:extLst>
              </a:tr>
              <a:tr h="475488">
                <a:tc>
                  <a:txBody>
                    <a:bodyPr/>
                    <a:lstStyle/>
                    <a:p>
                      <a:pPr algn="l"/>
                      <a:r>
                        <a:rPr sz="2100" b="0" i="0">
                          <a:solidFill>
                            <a:srgbClr val="14181B"/>
                          </a:solidFill>
                          <a:latin typeface="Segoe UI"/>
                        </a:rPr>
                        <a:t>non evaluative</a:t>
                      </a:r>
                    </a:p>
                  </a:txBody>
                  <a:tcPr marL="100584" marR="100584" marT="27432" marB="27432" anchor="ctr">
                    <a:solidFill>
                      <a:srgbClr val="F8F9F7"/>
                    </a:solidFill>
                  </a:tcPr>
                </a:tc>
                <a:tc>
                  <a:txBody>
                    <a:bodyPr/>
                    <a:lstStyle/>
                    <a:p>
                      <a:pPr algn="l"/>
                      <a:r>
                        <a:rPr sz="2100" b="0" i="0">
                          <a:solidFill>
                            <a:srgbClr val="14181B"/>
                          </a:solidFill>
                          <a:latin typeface="Segoe UI"/>
                        </a:rPr>
                        <a:t>negative</a:t>
                      </a:r>
                    </a:p>
                  </a:txBody>
                  <a:tcPr marL="100584" marR="100584" marT="27432" marB="27432" anchor="ctr">
                    <a:solidFill>
                      <a:srgbClr val="F8F9F7"/>
                    </a:solidFill>
                  </a:tcPr>
                </a:tc>
                <a:tc>
                  <a:txBody>
                    <a:bodyPr/>
                    <a:lstStyle/>
                    <a:p>
                      <a:pPr algn="r"/>
                      <a:r>
                        <a:rPr sz="2100" b="0" i="0">
                          <a:solidFill>
                            <a:srgbClr val="14181B"/>
                          </a:solidFill>
                          <a:latin typeface="Consolas"/>
                        </a:rPr>
                        <a:t>9</a:t>
                      </a:r>
                    </a:p>
                  </a:txBody>
                  <a:tcPr marL="100584" marR="100584" marT="27432" marB="27432" anchor="ctr">
                    <a:solidFill>
                      <a:srgbClr val="F8F9F7"/>
                    </a:solidFill>
                  </a:tcPr>
                </a:tc>
                <a:extLst>
                  <a:ext uri="{0D108BD9-81ED-4DB2-BD59-A6C34878D82A}">
                    <a16:rowId xmlns:a16="http://schemas.microsoft.com/office/drawing/2014/main" val="10004"/>
                  </a:ext>
                </a:extLst>
              </a:tr>
              <a:tr h="475488">
                <a:tc>
                  <a:txBody>
                    <a:bodyPr/>
                    <a:lstStyle/>
                    <a:p>
                      <a:pPr algn="l"/>
                      <a:r>
                        <a:rPr sz="2100" b="0" i="0">
                          <a:solidFill>
                            <a:srgbClr val="14181B"/>
                          </a:solidFill>
                          <a:latin typeface="Segoe UI"/>
                        </a:rPr>
                        <a:t>positive</a:t>
                      </a:r>
                    </a:p>
                  </a:txBody>
                  <a:tcPr marL="100584" marR="100584" marT="27432" marB="27432" anchor="ctr">
                    <a:solidFill>
                      <a:srgbClr val="F8F9F7"/>
                    </a:solidFill>
                  </a:tcPr>
                </a:tc>
                <a:tc>
                  <a:txBody>
                    <a:bodyPr/>
                    <a:lstStyle/>
                    <a:p>
                      <a:pPr algn="l"/>
                      <a:r>
                        <a:rPr sz="2100" b="0" i="0">
                          <a:solidFill>
                            <a:srgbClr val="14181B"/>
                          </a:solidFill>
                          <a:latin typeface="Segoe UI"/>
                        </a:rPr>
                        <a:t>non evaluative</a:t>
                      </a:r>
                    </a:p>
                  </a:txBody>
                  <a:tcPr marL="100584" marR="100584" marT="27432" marB="27432" anchor="ctr">
                    <a:solidFill>
                      <a:srgbClr val="F8F9F7"/>
                    </a:solidFill>
                  </a:tcPr>
                </a:tc>
                <a:tc>
                  <a:txBody>
                    <a:bodyPr/>
                    <a:lstStyle/>
                    <a:p>
                      <a:pPr algn="r"/>
                      <a:r>
                        <a:rPr sz="2100" b="0" i="0">
                          <a:solidFill>
                            <a:srgbClr val="14181B"/>
                          </a:solidFill>
                          <a:latin typeface="Consolas"/>
                        </a:rPr>
                        <a:t>7</a:t>
                      </a:r>
                    </a:p>
                  </a:txBody>
                  <a:tcPr marL="100584" marR="100584" marT="27432" marB="27432" anchor="ctr">
                    <a:solidFill>
                      <a:srgbClr val="F8F9F7"/>
                    </a:solidFill>
                  </a:tcPr>
                </a:tc>
                <a:extLst>
                  <a:ext uri="{0D108BD9-81ED-4DB2-BD59-A6C34878D82A}">
                    <a16:rowId xmlns:a16="http://schemas.microsoft.com/office/drawing/2014/main" val="10005"/>
                  </a:ext>
                </a:extLst>
              </a:tr>
            </a:tbl>
          </a:graphicData>
        </a:graphic>
      </p:graphicFrame>
      <p:sp>
        <p:nvSpPr>
          <p:cNvPr id="6" name="Rectangle 5"/>
          <p:cNvSpPr/>
          <p:nvPr/>
        </p:nvSpPr>
        <p:spPr>
          <a:xfrm>
            <a:off x="8339328" y="1609344"/>
            <a:ext cx="3193999" cy="4828032"/>
          </a:xfrm>
          <a:prstGeom prst="rect">
            <a:avLst/>
          </a:prstGeom>
          <a:solidFill>
            <a:srgbClr val="F8F9F7"/>
          </a:solidFill>
          <a:ln w="12700">
            <a:solidFill>
              <a:srgbClr val="C3CBC6"/>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7" name="Rectangle 6"/>
          <p:cNvSpPr/>
          <p:nvPr/>
        </p:nvSpPr>
        <p:spPr>
          <a:xfrm>
            <a:off x="8339328" y="1609344"/>
            <a:ext cx="50292" cy="2468880"/>
          </a:xfrm>
          <a:prstGeom prst="rect">
            <a:avLst/>
          </a:prstGeom>
          <a:solidFill>
            <a:srgbClr val="1D4E5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8" name="TextBox 7"/>
          <p:cNvSpPr txBox="1"/>
          <p:nvPr/>
        </p:nvSpPr>
        <p:spPr>
          <a:xfrm>
            <a:off x="8613648" y="1792224"/>
            <a:ext cx="2691079" cy="2103120"/>
          </a:xfrm>
          <a:prstGeom prst="rect">
            <a:avLst/>
          </a:prstGeom>
          <a:noFill/>
        </p:spPr>
        <p:txBody>
          <a:bodyPr wrap="square" lIns="0" tIns="0" rIns="0" bIns="0" anchor="t">
            <a:spAutoFit/>
          </a:bodyPr>
          <a:lstStyle/>
          <a:p>
            <a:pPr algn="l">
              <a:lnSpc>
                <a:spcPct val="118000"/>
              </a:lnSpc>
              <a:spcBef>
                <a:spcPts val="0"/>
              </a:spcBef>
              <a:spcAft>
                <a:spcPts val="600"/>
              </a:spcAft>
            </a:pPr>
            <a:r>
              <a:rPr sz="2300" b="1" i="0">
                <a:solidFill>
                  <a:srgbClr val="14181B"/>
                </a:solidFill>
                <a:latin typeface="Segoe UI"/>
              </a:rPr>
              <a:t>The structural cause</a:t>
            </a:r>
          </a:p>
          <a:p>
            <a:pPr algn="l">
              <a:lnSpc>
                <a:spcPct val="120000"/>
              </a:lnSpc>
              <a:spcBef>
                <a:spcPts val="0"/>
              </a:spcBef>
              <a:spcAft>
                <a:spcPts val="0"/>
              </a:spcAft>
            </a:pPr>
            <a:r>
              <a:rPr sz="2100" b="0" i="0">
                <a:solidFill>
                  <a:srgbClr val="3E4A4F"/>
                </a:solidFill>
                <a:latin typeface="Segoe UI"/>
              </a:rPr>
              <a:t>Class imbalance. 85.6 percent of rows are non evaluative and only 91 positive examples reach training. Far too few for a 110 million parameter model, and thin even for logistic regression.</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ECEEEB"/>
        </a:solidFill>
        <a:effectLst/>
      </p:bgPr>
    </p:bg>
    <p:spTree>
      <p:nvGrpSpPr>
        <p:cNvPr id="1" name=""/>
        <p:cNvGrpSpPr/>
        <p:nvPr/>
      </p:nvGrpSpPr>
      <p:grpSpPr>
        <a:xfrm>
          <a:off x="0" y="0"/>
          <a:ext cx="0" cy="0"/>
          <a:chOff x="0" y="0"/>
          <a:chExt cx="0" cy="0"/>
        </a:xfrm>
      </p:grpSpPr>
      <p:sp>
        <p:nvSpPr>
          <p:cNvPr id="2" name="TextBox 1"/>
          <p:cNvSpPr txBox="1"/>
          <p:nvPr/>
        </p:nvSpPr>
        <p:spPr>
          <a:xfrm>
            <a:off x="10618927" y="6309359"/>
            <a:ext cx="914400" cy="355290"/>
          </a:xfrm>
          <a:prstGeom prst="rect">
            <a:avLst/>
          </a:prstGeom>
          <a:noFill/>
        </p:spPr>
        <p:txBody>
          <a:bodyPr wrap="square" lIns="0" tIns="0" rIns="0" bIns="0" anchor="t">
            <a:spAutoFit/>
          </a:bodyPr>
          <a:lstStyle/>
          <a:p>
            <a:pPr algn="r">
              <a:lnSpc>
                <a:spcPct val="118000"/>
              </a:lnSpc>
              <a:spcBef>
                <a:spcPts val="0"/>
              </a:spcBef>
              <a:spcAft>
                <a:spcPts val="0"/>
              </a:spcAft>
            </a:pPr>
            <a:r>
              <a:rPr sz="2100" b="0" i="0" dirty="0">
                <a:solidFill>
                  <a:srgbClr val="6B787D"/>
                </a:solidFill>
                <a:latin typeface="Consolas"/>
              </a:rPr>
              <a:t>3</a:t>
            </a:r>
            <a:r>
              <a:rPr lang="en-US" sz="2100" b="0" i="0" dirty="0">
                <a:solidFill>
                  <a:srgbClr val="6B787D"/>
                </a:solidFill>
                <a:latin typeface="Consolas"/>
              </a:rPr>
              <a:t>5</a:t>
            </a:r>
            <a:endParaRPr sz="2100" b="0" i="0" dirty="0">
              <a:solidFill>
                <a:srgbClr val="6B787D"/>
              </a:solidFill>
              <a:latin typeface="Consolas"/>
            </a:endParaRPr>
          </a:p>
        </p:txBody>
      </p:sp>
      <p:sp>
        <p:nvSpPr>
          <p:cNvPr id="3" name="TextBox 2"/>
          <p:cNvSpPr txBox="1"/>
          <p:nvPr/>
        </p:nvSpPr>
        <p:spPr>
          <a:xfrm>
            <a:off x="658368" y="420624"/>
            <a:ext cx="10874959" cy="310896"/>
          </a:xfrm>
          <a:prstGeom prst="rect">
            <a:avLst/>
          </a:prstGeom>
          <a:noFill/>
        </p:spPr>
        <p:txBody>
          <a:bodyPr wrap="square" lIns="0" tIns="0" rIns="0" bIns="0" anchor="t">
            <a:spAutoFit/>
          </a:bodyPr>
          <a:lstStyle/>
          <a:p>
            <a:pPr algn="l">
              <a:lnSpc>
                <a:spcPct val="118000"/>
              </a:lnSpc>
              <a:spcBef>
                <a:spcPts val="0"/>
              </a:spcBef>
              <a:spcAft>
                <a:spcPts val="0"/>
              </a:spcAft>
            </a:pPr>
            <a:r>
              <a:rPr sz="2100" b="1" i="0">
                <a:solidFill>
                  <a:srgbClr val="2E8FA3"/>
                </a:solidFill>
                <a:latin typeface="Consolas"/>
              </a:rPr>
              <a:t>15 / ERROR ANALYSIS</a:t>
            </a:r>
          </a:p>
        </p:txBody>
      </p:sp>
      <p:sp>
        <p:nvSpPr>
          <p:cNvPr id="4" name="TextBox 3"/>
          <p:cNvSpPr txBox="1"/>
          <p:nvPr/>
        </p:nvSpPr>
        <p:spPr>
          <a:xfrm>
            <a:off x="658368" y="822960"/>
            <a:ext cx="10874959" cy="822960"/>
          </a:xfrm>
          <a:prstGeom prst="rect">
            <a:avLst/>
          </a:prstGeom>
          <a:noFill/>
        </p:spPr>
        <p:txBody>
          <a:bodyPr wrap="square" lIns="0" tIns="0" rIns="0" bIns="0" anchor="t">
            <a:spAutoFit/>
          </a:bodyPr>
          <a:lstStyle/>
          <a:p>
            <a:pPr algn="l">
              <a:lnSpc>
                <a:spcPct val="106000"/>
              </a:lnSpc>
              <a:spcBef>
                <a:spcPts val="0"/>
              </a:spcBef>
              <a:spcAft>
                <a:spcPts val="0"/>
              </a:spcAft>
            </a:pPr>
            <a:r>
              <a:rPr sz="3600" b="1" i="0">
                <a:solidFill>
                  <a:srgbClr val="14181B"/>
                </a:solidFill>
                <a:latin typeface="Segoe UI"/>
              </a:rPr>
              <a:t>Cause one: advice read as praise</a:t>
            </a:r>
          </a:p>
        </p:txBody>
      </p:sp>
      <p:sp>
        <p:nvSpPr>
          <p:cNvPr id="5" name="TextBox 4"/>
          <p:cNvSpPr txBox="1"/>
          <p:nvPr/>
        </p:nvSpPr>
        <p:spPr>
          <a:xfrm>
            <a:off x="658368" y="1389888"/>
            <a:ext cx="10874959" cy="822960"/>
          </a:xfrm>
          <a:prstGeom prst="rect">
            <a:avLst/>
          </a:prstGeom>
          <a:noFill/>
        </p:spPr>
        <p:txBody>
          <a:bodyPr wrap="square" lIns="0" tIns="0" rIns="0" bIns="0" anchor="t">
            <a:spAutoFit/>
          </a:bodyPr>
          <a:lstStyle/>
          <a:p>
            <a:pPr algn="l">
              <a:lnSpc>
                <a:spcPct val="124000"/>
              </a:lnSpc>
              <a:spcBef>
                <a:spcPts val="0"/>
              </a:spcBef>
              <a:spcAft>
                <a:spcPts val="0"/>
              </a:spcAft>
            </a:pPr>
            <a:r>
              <a:rPr sz="2400" b="0" i="0">
                <a:solidFill>
                  <a:srgbClr val="3E4A4F"/>
                </a:solidFill>
                <a:latin typeface="Segoe UI"/>
              </a:rPr>
              <a:t>24 errors, the largest single class. A speaker says what should happen, and the rule set counts the good word as a judgement about the present.</a:t>
            </a:r>
          </a:p>
        </p:txBody>
      </p:sp>
      <p:sp>
        <p:nvSpPr>
          <p:cNvPr id="6" name="Rectangle 5"/>
          <p:cNvSpPr/>
          <p:nvPr/>
        </p:nvSpPr>
        <p:spPr>
          <a:xfrm>
            <a:off x="658368" y="2468879"/>
            <a:ext cx="10874959" cy="1335024"/>
          </a:xfrm>
          <a:prstGeom prst="rect">
            <a:avLst/>
          </a:prstGeom>
          <a:solidFill>
            <a:srgbClr val="F8F9F7"/>
          </a:solidFill>
          <a:ln w="12700">
            <a:solidFill>
              <a:srgbClr val="C3CBC6"/>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7" name="Rectangle 6"/>
          <p:cNvSpPr/>
          <p:nvPr/>
        </p:nvSpPr>
        <p:spPr>
          <a:xfrm>
            <a:off x="658368" y="2468879"/>
            <a:ext cx="50292" cy="1335024"/>
          </a:xfrm>
          <a:prstGeom prst="rect">
            <a:avLst/>
          </a:prstGeom>
          <a:solidFill>
            <a:srgbClr val="A6423C"/>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8" name="TextBox 7"/>
          <p:cNvSpPr txBox="1"/>
          <p:nvPr/>
        </p:nvSpPr>
        <p:spPr>
          <a:xfrm>
            <a:off x="932687" y="2522859"/>
            <a:ext cx="10372039" cy="420624"/>
          </a:xfrm>
          <a:prstGeom prst="rect">
            <a:avLst/>
          </a:prstGeom>
          <a:noFill/>
        </p:spPr>
        <p:txBody>
          <a:bodyPr wrap="square" lIns="0" tIns="0" rIns="0" bIns="0" anchor="t">
            <a:spAutoFit/>
          </a:bodyPr>
          <a:lstStyle/>
          <a:p>
            <a:pPr algn="l">
              <a:lnSpc>
                <a:spcPct val="130000"/>
              </a:lnSpc>
              <a:spcBef>
                <a:spcPts val="0"/>
              </a:spcBef>
              <a:spcAft>
                <a:spcPts val="0"/>
              </a:spcAft>
            </a:pPr>
            <a:r>
              <a:rPr sz="3000" b="0" i="0" dirty="0" err="1">
                <a:solidFill>
                  <a:srgbClr val="14181B"/>
                </a:solidFill>
                <a:latin typeface="Nirmala UI"/>
              </a:rPr>
              <a:t>অর্থনীতি</a:t>
            </a:r>
            <a:r>
              <a:rPr sz="3000" b="0" i="0" dirty="0">
                <a:solidFill>
                  <a:srgbClr val="14181B"/>
                </a:solidFill>
                <a:latin typeface="Nirmala UI"/>
              </a:rPr>
              <a:t> </a:t>
            </a:r>
            <a:r>
              <a:rPr sz="3000" b="0" i="0" dirty="0" err="1">
                <a:solidFill>
                  <a:srgbClr val="14181B"/>
                </a:solidFill>
                <a:latin typeface="Nirmala UI"/>
              </a:rPr>
              <a:t>স্থিতিশীল</a:t>
            </a:r>
            <a:r>
              <a:rPr sz="3000" b="0" i="0" dirty="0">
                <a:solidFill>
                  <a:srgbClr val="14181B"/>
                </a:solidFill>
                <a:latin typeface="Nirmala UI"/>
              </a:rPr>
              <a:t> </a:t>
            </a:r>
            <a:r>
              <a:rPr sz="3000" b="0" i="0" dirty="0" err="1">
                <a:solidFill>
                  <a:srgbClr val="14181B"/>
                </a:solidFill>
                <a:latin typeface="Nirmala UI"/>
              </a:rPr>
              <a:t>করতে</a:t>
            </a:r>
            <a:r>
              <a:rPr sz="3000" b="0" i="0" dirty="0">
                <a:solidFill>
                  <a:srgbClr val="14181B"/>
                </a:solidFill>
                <a:latin typeface="Nirmala UI"/>
              </a:rPr>
              <a:t> </a:t>
            </a:r>
            <a:r>
              <a:rPr sz="3000" b="0" i="0" dirty="0" err="1">
                <a:solidFill>
                  <a:srgbClr val="14181B"/>
                </a:solidFill>
                <a:latin typeface="Nirmala UI"/>
              </a:rPr>
              <a:t>হবে</a:t>
            </a:r>
            <a:endParaRPr sz="3000" b="0" i="0" dirty="0">
              <a:solidFill>
                <a:srgbClr val="14181B"/>
              </a:solidFill>
              <a:latin typeface="Nirmala UI"/>
            </a:endParaRPr>
          </a:p>
        </p:txBody>
      </p:sp>
      <p:sp>
        <p:nvSpPr>
          <p:cNvPr id="9" name="TextBox 8"/>
          <p:cNvSpPr txBox="1"/>
          <p:nvPr/>
        </p:nvSpPr>
        <p:spPr>
          <a:xfrm>
            <a:off x="932688" y="3017520"/>
            <a:ext cx="10372039" cy="768096"/>
          </a:xfrm>
          <a:prstGeom prst="rect">
            <a:avLst/>
          </a:prstGeom>
          <a:noFill/>
        </p:spPr>
        <p:txBody>
          <a:bodyPr wrap="square" lIns="0" tIns="0" rIns="0" bIns="0" anchor="t">
            <a:spAutoFit/>
          </a:bodyPr>
          <a:lstStyle/>
          <a:p>
            <a:pPr algn="l">
              <a:lnSpc>
                <a:spcPct val="120000"/>
              </a:lnSpc>
              <a:spcBef>
                <a:spcPts val="0"/>
              </a:spcBef>
              <a:spcAft>
                <a:spcPts val="0"/>
              </a:spcAft>
            </a:pPr>
            <a:r>
              <a:rPr sz="2100" b="0" i="0">
                <a:solidFill>
                  <a:srgbClr val="3E4A4F"/>
                </a:solidFill>
                <a:latin typeface="Segoe UI"/>
              </a:rPr>
              <a:t>The economy must be stabilised. This is a demand, not a compliment. The system reads the word for stable and answers positive.</a:t>
            </a:r>
          </a:p>
        </p:txBody>
      </p:sp>
      <p:sp>
        <p:nvSpPr>
          <p:cNvPr id="10" name="Rectangle 9"/>
          <p:cNvSpPr/>
          <p:nvPr/>
        </p:nvSpPr>
        <p:spPr>
          <a:xfrm>
            <a:off x="658368" y="4133086"/>
            <a:ext cx="10874959" cy="2041571"/>
          </a:xfrm>
          <a:prstGeom prst="rect">
            <a:avLst/>
          </a:prstGeom>
          <a:solidFill>
            <a:srgbClr val="F8F9F7"/>
          </a:solidFill>
          <a:ln w="12700">
            <a:solidFill>
              <a:srgbClr val="C3CBC6"/>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1" name="Rectangle 10"/>
          <p:cNvSpPr/>
          <p:nvPr/>
        </p:nvSpPr>
        <p:spPr>
          <a:xfrm>
            <a:off x="658368" y="4133087"/>
            <a:ext cx="50292" cy="1389888"/>
          </a:xfrm>
          <a:prstGeom prst="rect">
            <a:avLst/>
          </a:prstGeom>
          <a:solidFill>
            <a:srgbClr val="35735A"/>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2" name="TextBox 11"/>
          <p:cNvSpPr txBox="1"/>
          <p:nvPr/>
        </p:nvSpPr>
        <p:spPr>
          <a:xfrm>
            <a:off x="932688" y="4315968"/>
            <a:ext cx="10372039" cy="1024128"/>
          </a:xfrm>
          <a:prstGeom prst="rect">
            <a:avLst/>
          </a:prstGeom>
          <a:noFill/>
        </p:spPr>
        <p:txBody>
          <a:bodyPr wrap="square" lIns="0" tIns="0" rIns="0" bIns="0" anchor="t">
            <a:spAutoFit/>
          </a:bodyPr>
          <a:lstStyle/>
          <a:p>
            <a:pPr algn="l">
              <a:lnSpc>
                <a:spcPct val="118000"/>
              </a:lnSpc>
              <a:spcBef>
                <a:spcPts val="0"/>
              </a:spcBef>
              <a:spcAft>
                <a:spcPts val="600"/>
              </a:spcAft>
            </a:pPr>
            <a:r>
              <a:rPr sz="2400" b="1" i="0" dirty="0">
                <a:solidFill>
                  <a:srgbClr val="14181B"/>
                </a:solidFill>
                <a:latin typeface="Segoe UI"/>
              </a:rPr>
              <a:t>The fix is short</a:t>
            </a:r>
          </a:p>
          <a:p>
            <a:pPr algn="l">
              <a:lnSpc>
                <a:spcPct val="120000"/>
              </a:lnSpc>
              <a:spcBef>
                <a:spcPts val="0"/>
              </a:spcBef>
              <a:spcAft>
                <a:spcPts val="0"/>
              </a:spcAft>
            </a:pPr>
            <a:r>
              <a:rPr sz="2200" b="0" i="0" dirty="0">
                <a:solidFill>
                  <a:srgbClr val="3E4A4F"/>
                </a:solidFill>
                <a:latin typeface="Segoe UI"/>
              </a:rPr>
              <a:t>Bangla marks obligation with a small closed set of endings, chiefly </a:t>
            </a:r>
            <a:r>
              <a:rPr sz="2200" b="0" i="0" dirty="0" err="1">
                <a:solidFill>
                  <a:srgbClr val="3E4A4F"/>
                </a:solidFill>
                <a:latin typeface="Nirmala UI"/>
              </a:rPr>
              <a:t>করতে</a:t>
            </a:r>
            <a:r>
              <a:rPr sz="2200" b="0" i="0" dirty="0">
                <a:solidFill>
                  <a:srgbClr val="3E4A4F"/>
                </a:solidFill>
                <a:latin typeface="Nirmala UI"/>
              </a:rPr>
              <a:t> </a:t>
            </a:r>
            <a:r>
              <a:rPr sz="2200" b="0" i="0" dirty="0" err="1">
                <a:solidFill>
                  <a:srgbClr val="3E4A4F"/>
                </a:solidFill>
                <a:latin typeface="Nirmala UI"/>
              </a:rPr>
              <a:t>হবে</a:t>
            </a:r>
            <a:r>
              <a:rPr sz="2200" b="0" i="0" dirty="0">
                <a:solidFill>
                  <a:srgbClr val="3E4A4F"/>
                </a:solidFill>
                <a:latin typeface="Segoe UI"/>
              </a:rPr>
              <a:t>, </a:t>
            </a:r>
            <a:r>
              <a:rPr sz="2200" b="0" i="0" dirty="0" err="1">
                <a:solidFill>
                  <a:srgbClr val="3E4A4F"/>
                </a:solidFill>
                <a:latin typeface="Nirmala UI"/>
              </a:rPr>
              <a:t>উচিত</a:t>
            </a:r>
            <a:r>
              <a:rPr sz="2200" b="0" i="0" dirty="0">
                <a:solidFill>
                  <a:srgbClr val="3E4A4F"/>
                </a:solidFill>
                <a:latin typeface="Segoe UI"/>
              </a:rPr>
              <a:t>, </a:t>
            </a:r>
            <a:r>
              <a:rPr sz="2200" b="0" i="0" dirty="0" err="1">
                <a:solidFill>
                  <a:srgbClr val="3E4A4F"/>
                </a:solidFill>
                <a:latin typeface="Nirmala UI"/>
              </a:rPr>
              <a:t>দরকার</a:t>
            </a:r>
            <a:r>
              <a:rPr sz="2200" b="0" i="0" dirty="0">
                <a:solidFill>
                  <a:srgbClr val="3E4A4F"/>
                </a:solidFill>
                <a:latin typeface="Nirmala UI"/>
              </a:rPr>
              <a:t> </a:t>
            </a:r>
            <a:r>
              <a:rPr sz="2200" b="0" i="0" dirty="0">
                <a:solidFill>
                  <a:srgbClr val="3E4A4F"/>
                </a:solidFill>
                <a:latin typeface="Segoe UI"/>
              </a:rPr>
              <a:t>and </a:t>
            </a:r>
            <a:r>
              <a:rPr sz="2200" b="0" i="0" dirty="0" err="1">
                <a:solidFill>
                  <a:srgbClr val="3E4A4F"/>
                </a:solidFill>
                <a:latin typeface="Nirmala UI"/>
              </a:rPr>
              <a:t>প্রয়োজন</a:t>
            </a:r>
            <a:r>
              <a:rPr sz="2200" b="0" i="0" dirty="0">
                <a:solidFill>
                  <a:srgbClr val="3E4A4F"/>
                </a:solidFill>
                <a:latin typeface="Segoe UI"/>
              </a:rPr>
              <a:t>. Detecting those and suppressing the polarity claim is a rule, not a research problem.</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ECEEEB"/>
        </a:solidFill>
        <a:effectLst/>
      </p:bgPr>
    </p:bg>
    <p:spTree>
      <p:nvGrpSpPr>
        <p:cNvPr id="1" name=""/>
        <p:cNvGrpSpPr/>
        <p:nvPr/>
      </p:nvGrpSpPr>
      <p:grpSpPr>
        <a:xfrm>
          <a:off x="0" y="0"/>
          <a:ext cx="0" cy="0"/>
          <a:chOff x="0" y="0"/>
          <a:chExt cx="0" cy="0"/>
        </a:xfrm>
      </p:grpSpPr>
      <p:sp>
        <p:nvSpPr>
          <p:cNvPr id="2" name="TextBox 1"/>
          <p:cNvSpPr txBox="1"/>
          <p:nvPr/>
        </p:nvSpPr>
        <p:spPr>
          <a:xfrm>
            <a:off x="10618927" y="6309359"/>
            <a:ext cx="914400" cy="355290"/>
          </a:xfrm>
          <a:prstGeom prst="rect">
            <a:avLst/>
          </a:prstGeom>
          <a:noFill/>
        </p:spPr>
        <p:txBody>
          <a:bodyPr wrap="square" lIns="0" tIns="0" rIns="0" bIns="0" anchor="t">
            <a:spAutoFit/>
          </a:bodyPr>
          <a:lstStyle/>
          <a:p>
            <a:pPr algn="r">
              <a:lnSpc>
                <a:spcPct val="118000"/>
              </a:lnSpc>
              <a:spcBef>
                <a:spcPts val="0"/>
              </a:spcBef>
              <a:spcAft>
                <a:spcPts val="0"/>
              </a:spcAft>
            </a:pPr>
            <a:r>
              <a:rPr sz="2100" b="0" i="0" dirty="0">
                <a:solidFill>
                  <a:srgbClr val="6B787D"/>
                </a:solidFill>
                <a:latin typeface="Consolas"/>
              </a:rPr>
              <a:t>3</a:t>
            </a:r>
            <a:r>
              <a:rPr lang="en-US" sz="2100" b="0" i="0" dirty="0">
                <a:solidFill>
                  <a:srgbClr val="6B787D"/>
                </a:solidFill>
                <a:latin typeface="Consolas"/>
              </a:rPr>
              <a:t>6</a:t>
            </a:r>
            <a:endParaRPr sz="2100" b="0" i="0" dirty="0">
              <a:solidFill>
                <a:srgbClr val="6B787D"/>
              </a:solidFill>
              <a:latin typeface="Consolas"/>
            </a:endParaRPr>
          </a:p>
        </p:txBody>
      </p:sp>
      <p:sp>
        <p:nvSpPr>
          <p:cNvPr id="3" name="TextBox 2"/>
          <p:cNvSpPr txBox="1"/>
          <p:nvPr/>
        </p:nvSpPr>
        <p:spPr>
          <a:xfrm>
            <a:off x="658368" y="420624"/>
            <a:ext cx="10874959" cy="310896"/>
          </a:xfrm>
          <a:prstGeom prst="rect">
            <a:avLst/>
          </a:prstGeom>
          <a:noFill/>
        </p:spPr>
        <p:txBody>
          <a:bodyPr wrap="square" lIns="0" tIns="0" rIns="0" bIns="0" anchor="t">
            <a:spAutoFit/>
          </a:bodyPr>
          <a:lstStyle/>
          <a:p>
            <a:pPr algn="l">
              <a:lnSpc>
                <a:spcPct val="118000"/>
              </a:lnSpc>
              <a:spcBef>
                <a:spcPts val="0"/>
              </a:spcBef>
              <a:spcAft>
                <a:spcPts val="0"/>
              </a:spcAft>
            </a:pPr>
            <a:r>
              <a:rPr sz="2100" b="1" i="0">
                <a:solidFill>
                  <a:srgbClr val="2E8FA3"/>
                </a:solidFill>
                <a:latin typeface="Consolas"/>
              </a:rPr>
              <a:t>15 / ERROR ANALYSIS</a:t>
            </a:r>
          </a:p>
        </p:txBody>
      </p:sp>
      <p:sp>
        <p:nvSpPr>
          <p:cNvPr id="4" name="TextBox 3"/>
          <p:cNvSpPr txBox="1"/>
          <p:nvPr/>
        </p:nvSpPr>
        <p:spPr>
          <a:xfrm>
            <a:off x="658368" y="822960"/>
            <a:ext cx="10874959" cy="822960"/>
          </a:xfrm>
          <a:prstGeom prst="rect">
            <a:avLst/>
          </a:prstGeom>
          <a:noFill/>
        </p:spPr>
        <p:txBody>
          <a:bodyPr wrap="square" lIns="0" tIns="0" rIns="0" bIns="0" anchor="t">
            <a:spAutoFit/>
          </a:bodyPr>
          <a:lstStyle/>
          <a:p>
            <a:pPr algn="l">
              <a:lnSpc>
                <a:spcPct val="106000"/>
              </a:lnSpc>
              <a:spcBef>
                <a:spcPts val="0"/>
              </a:spcBef>
              <a:spcAft>
                <a:spcPts val="0"/>
              </a:spcAft>
            </a:pPr>
            <a:r>
              <a:rPr sz="3600" b="1" i="0">
                <a:solidFill>
                  <a:srgbClr val="14181B"/>
                </a:solidFill>
                <a:latin typeface="Segoe UI"/>
              </a:rPr>
              <a:t>Cause two and cause three</a:t>
            </a:r>
          </a:p>
        </p:txBody>
      </p:sp>
      <p:sp>
        <p:nvSpPr>
          <p:cNvPr id="5" name="TextBox 4"/>
          <p:cNvSpPr txBox="1"/>
          <p:nvPr/>
        </p:nvSpPr>
        <p:spPr>
          <a:xfrm>
            <a:off x="658368" y="1664208"/>
            <a:ext cx="10874959" cy="365760"/>
          </a:xfrm>
          <a:prstGeom prst="rect">
            <a:avLst/>
          </a:prstGeom>
          <a:noFill/>
        </p:spPr>
        <p:txBody>
          <a:bodyPr wrap="square" lIns="0" tIns="0" rIns="0" bIns="0" anchor="t">
            <a:spAutoFit/>
          </a:bodyPr>
          <a:lstStyle/>
          <a:p>
            <a:pPr algn="l">
              <a:lnSpc>
                <a:spcPct val="118000"/>
              </a:lnSpc>
              <a:spcBef>
                <a:spcPts val="0"/>
              </a:spcBef>
              <a:spcAft>
                <a:spcPts val="0"/>
              </a:spcAft>
            </a:pPr>
            <a:r>
              <a:rPr sz="2300" b="1" i="0">
                <a:solidFill>
                  <a:srgbClr val="14181B"/>
                </a:solidFill>
                <a:latin typeface="Segoe UI"/>
              </a:rPr>
              <a:t>Negative meaning with no cue word. 22 errors.</a:t>
            </a:r>
          </a:p>
        </p:txBody>
      </p:sp>
      <p:sp>
        <p:nvSpPr>
          <p:cNvPr id="6" name="Rectangle 5"/>
          <p:cNvSpPr/>
          <p:nvPr/>
        </p:nvSpPr>
        <p:spPr>
          <a:xfrm>
            <a:off x="658368" y="2103119"/>
            <a:ext cx="10874959" cy="1371601"/>
          </a:xfrm>
          <a:prstGeom prst="rect">
            <a:avLst/>
          </a:prstGeom>
          <a:solidFill>
            <a:srgbClr val="F8F9F7"/>
          </a:solidFill>
          <a:ln w="12700">
            <a:solidFill>
              <a:srgbClr val="C3CBC6"/>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7" name="Rectangle 6"/>
          <p:cNvSpPr/>
          <p:nvPr/>
        </p:nvSpPr>
        <p:spPr>
          <a:xfrm>
            <a:off x="658368" y="2103120"/>
            <a:ext cx="50292" cy="1225296"/>
          </a:xfrm>
          <a:prstGeom prst="rect">
            <a:avLst/>
          </a:prstGeom>
          <a:solidFill>
            <a:srgbClr val="A6423C"/>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8" name="TextBox 7"/>
          <p:cNvSpPr txBox="1"/>
          <p:nvPr/>
        </p:nvSpPr>
        <p:spPr>
          <a:xfrm>
            <a:off x="932688" y="2249424"/>
            <a:ext cx="10372039" cy="420624"/>
          </a:xfrm>
          <a:prstGeom prst="rect">
            <a:avLst/>
          </a:prstGeom>
          <a:noFill/>
        </p:spPr>
        <p:txBody>
          <a:bodyPr wrap="square" lIns="0" tIns="0" rIns="0" bIns="0" anchor="t">
            <a:spAutoFit/>
          </a:bodyPr>
          <a:lstStyle/>
          <a:p>
            <a:pPr algn="l">
              <a:lnSpc>
                <a:spcPct val="130000"/>
              </a:lnSpc>
              <a:spcBef>
                <a:spcPts val="0"/>
              </a:spcBef>
              <a:spcAft>
                <a:spcPts val="0"/>
              </a:spcAft>
            </a:pPr>
            <a:r>
              <a:rPr sz="2700" b="0" i="0">
                <a:solidFill>
                  <a:srgbClr val="14181B"/>
                </a:solidFill>
                <a:latin typeface="Nirmala UI"/>
              </a:rPr>
              <a:t>বিনিয়োগ বাইশ পয়েন্ট চার পার্সেন্টে নেমে গেছে</a:t>
            </a:r>
          </a:p>
        </p:txBody>
      </p:sp>
      <p:sp>
        <p:nvSpPr>
          <p:cNvPr id="9" name="TextBox 8"/>
          <p:cNvSpPr txBox="1"/>
          <p:nvPr/>
        </p:nvSpPr>
        <p:spPr>
          <a:xfrm>
            <a:off x="932688" y="2651760"/>
            <a:ext cx="10372039" cy="739626"/>
          </a:xfrm>
          <a:prstGeom prst="rect">
            <a:avLst/>
          </a:prstGeom>
          <a:noFill/>
        </p:spPr>
        <p:txBody>
          <a:bodyPr wrap="square" lIns="0" tIns="0" rIns="0" bIns="0" anchor="t">
            <a:spAutoFit/>
          </a:bodyPr>
          <a:lstStyle/>
          <a:p>
            <a:pPr algn="l">
              <a:lnSpc>
                <a:spcPct val="120000"/>
              </a:lnSpc>
              <a:spcBef>
                <a:spcPts val="0"/>
              </a:spcBef>
              <a:spcAft>
                <a:spcPts val="0"/>
              </a:spcAft>
            </a:pPr>
            <a:r>
              <a:rPr sz="2100" b="0" i="0" dirty="0">
                <a:solidFill>
                  <a:srgbClr val="3E4A4F"/>
                </a:solidFill>
                <a:latin typeface="Segoe UI"/>
              </a:rPr>
              <a:t>Investment has come down to 22.4 percent. Clearly negative, and not one word of it is in the </a:t>
            </a:r>
            <a:r>
              <a:rPr lang="en-US" sz="2100" b="0" i="0" dirty="0">
                <a:solidFill>
                  <a:srgbClr val="3E4A4F"/>
                </a:solidFill>
                <a:latin typeface="Segoe UI"/>
              </a:rPr>
              <a:t>104-stem</a:t>
            </a:r>
            <a:r>
              <a:rPr sz="2100" b="0" i="0" dirty="0">
                <a:solidFill>
                  <a:srgbClr val="3E4A4F"/>
                </a:solidFill>
                <a:latin typeface="Segoe UI"/>
              </a:rPr>
              <a:t> cue list.</a:t>
            </a:r>
          </a:p>
        </p:txBody>
      </p:sp>
      <p:sp>
        <p:nvSpPr>
          <p:cNvPr id="10" name="TextBox 9"/>
          <p:cNvSpPr txBox="1"/>
          <p:nvPr/>
        </p:nvSpPr>
        <p:spPr>
          <a:xfrm>
            <a:off x="658368" y="3621024"/>
            <a:ext cx="10874959" cy="365760"/>
          </a:xfrm>
          <a:prstGeom prst="rect">
            <a:avLst/>
          </a:prstGeom>
          <a:noFill/>
        </p:spPr>
        <p:txBody>
          <a:bodyPr wrap="square" lIns="0" tIns="0" rIns="0" bIns="0" anchor="t">
            <a:spAutoFit/>
          </a:bodyPr>
          <a:lstStyle/>
          <a:p>
            <a:pPr algn="l">
              <a:lnSpc>
                <a:spcPct val="118000"/>
              </a:lnSpc>
              <a:spcBef>
                <a:spcPts val="0"/>
              </a:spcBef>
              <a:spcAft>
                <a:spcPts val="0"/>
              </a:spcAft>
            </a:pPr>
            <a:r>
              <a:rPr sz="2300" b="1" i="0">
                <a:solidFill>
                  <a:srgbClr val="14181B"/>
                </a:solidFill>
                <a:latin typeface="Segoe UI"/>
              </a:rPr>
              <a:t>Negation carried by a suffix.</a:t>
            </a:r>
          </a:p>
        </p:txBody>
      </p:sp>
      <p:sp>
        <p:nvSpPr>
          <p:cNvPr id="11" name="Rectangle 10"/>
          <p:cNvSpPr/>
          <p:nvPr/>
        </p:nvSpPr>
        <p:spPr>
          <a:xfrm>
            <a:off x="658368" y="4059935"/>
            <a:ext cx="10874959" cy="1465794"/>
          </a:xfrm>
          <a:prstGeom prst="rect">
            <a:avLst/>
          </a:prstGeom>
          <a:solidFill>
            <a:srgbClr val="F8F9F7"/>
          </a:solidFill>
          <a:ln w="12700">
            <a:solidFill>
              <a:srgbClr val="C3CBC6"/>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2" name="Rectangle 11"/>
          <p:cNvSpPr/>
          <p:nvPr/>
        </p:nvSpPr>
        <p:spPr>
          <a:xfrm>
            <a:off x="658368" y="4059935"/>
            <a:ext cx="50292" cy="1280160"/>
          </a:xfrm>
          <a:prstGeom prst="rect">
            <a:avLst/>
          </a:prstGeom>
          <a:solidFill>
            <a:srgbClr val="A6423C"/>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3" name="TextBox 12"/>
          <p:cNvSpPr txBox="1"/>
          <p:nvPr/>
        </p:nvSpPr>
        <p:spPr>
          <a:xfrm>
            <a:off x="932688" y="4206240"/>
            <a:ext cx="10372039" cy="420624"/>
          </a:xfrm>
          <a:prstGeom prst="rect">
            <a:avLst/>
          </a:prstGeom>
          <a:noFill/>
        </p:spPr>
        <p:txBody>
          <a:bodyPr wrap="square" lIns="0" tIns="0" rIns="0" bIns="0" anchor="t">
            <a:spAutoFit/>
          </a:bodyPr>
          <a:lstStyle/>
          <a:p>
            <a:pPr algn="l">
              <a:lnSpc>
                <a:spcPct val="130000"/>
              </a:lnSpc>
              <a:spcBef>
                <a:spcPts val="0"/>
              </a:spcBef>
              <a:spcAft>
                <a:spcPts val="0"/>
              </a:spcAft>
            </a:pPr>
            <a:r>
              <a:rPr sz="2700" b="0" i="0">
                <a:solidFill>
                  <a:srgbClr val="14181B"/>
                </a:solidFill>
                <a:latin typeface="Nirmala UI"/>
              </a:rPr>
              <a:t>বাজেট বাস্তবায়ন হয়নি</a:t>
            </a:r>
          </a:p>
        </p:txBody>
      </p:sp>
      <p:sp>
        <p:nvSpPr>
          <p:cNvPr id="14" name="TextBox 13"/>
          <p:cNvSpPr txBox="1"/>
          <p:nvPr/>
        </p:nvSpPr>
        <p:spPr>
          <a:xfrm>
            <a:off x="932688" y="4608576"/>
            <a:ext cx="10372039" cy="713231"/>
          </a:xfrm>
          <a:prstGeom prst="rect">
            <a:avLst/>
          </a:prstGeom>
          <a:noFill/>
        </p:spPr>
        <p:txBody>
          <a:bodyPr wrap="square" lIns="0" tIns="0" rIns="0" bIns="0" anchor="t">
            <a:spAutoFit/>
          </a:bodyPr>
          <a:lstStyle/>
          <a:p>
            <a:pPr algn="l">
              <a:lnSpc>
                <a:spcPct val="120000"/>
              </a:lnSpc>
              <a:spcBef>
                <a:spcPts val="0"/>
              </a:spcBef>
              <a:spcAft>
                <a:spcPts val="0"/>
              </a:spcAft>
            </a:pPr>
            <a:r>
              <a:rPr sz="2100" b="0" i="0">
                <a:solidFill>
                  <a:srgbClr val="3E4A4F"/>
                </a:solidFill>
                <a:latin typeface="Segoe UI"/>
              </a:rPr>
              <a:t>The budget was not implemented. Bangla negates the past tense by attaching </a:t>
            </a:r>
            <a:r>
              <a:rPr sz="2100" b="0" i="0">
                <a:solidFill>
                  <a:srgbClr val="3E4A4F"/>
                </a:solidFill>
                <a:latin typeface="Nirmala UI"/>
              </a:rPr>
              <a:t>নি </a:t>
            </a:r>
            <a:r>
              <a:rPr sz="2100" b="0" i="0">
                <a:solidFill>
                  <a:srgbClr val="3E4A4F"/>
                </a:solidFill>
                <a:latin typeface="Segoe UI"/>
              </a:rPr>
              <a:t>to the verb, so there is no separate particle for the window to find.</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ECEEEB"/>
        </a:solidFill>
        <a:effectLst/>
      </p:bgPr>
    </p:bg>
    <p:spTree>
      <p:nvGrpSpPr>
        <p:cNvPr id="1" name=""/>
        <p:cNvGrpSpPr/>
        <p:nvPr/>
      </p:nvGrpSpPr>
      <p:grpSpPr>
        <a:xfrm>
          <a:off x="0" y="0"/>
          <a:ext cx="0" cy="0"/>
          <a:chOff x="0" y="0"/>
          <a:chExt cx="0" cy="0"/>
        </a:xfrm>
      </p:grpSpPr>
      <p:sp>
        <p:nvSpPr>
          <p:cNvPr id="2" name="TextBox 1"/>
          <p:cNvSpPr txBox="1"/>
          <p:nvPr/>
        </p:nvSpPr>
        <p:spPr>
          <a:xfrm>
            <a:off x="11159701" y="6306408"/>
            <a:ext cx="914400" cy="355290"/>
          </a:xfrm>
          <a:prstGeom prst="rect">
            <a:avLst/>
          </a:prstGeom>
          <a:noFill/>
        </p:spPr>
        <p:txBody>
          <a:bodyPr wrap="square" lIns="0" tIns="0" rIns="0" bIns="0" anchor="t">
            <a:spAutoFit/>
          </a:bodyPr>
          <a:lstStyle/>
          <a:p>
            <a:pPr algn="r">
              <a:lnSpc>
                <a:spcPct val="118000"/>
              </a:lnSpc>
              <a:spcBef>
                <a:spcPts val="0"/>
              </a:spcBef>
              <a:spcAft>
                <a:spcPts val="0"/>
              </a:spcAft>
            </a:pPr>
            <a:r>
              <a:rPr sz="2100" b="0" i="0" dirty="0">
                <a:solidFill>
                  <a:srgbClr val="6B787D"/>
                </a:solidFill>
                <a:latin typeface="Consolas"/>
              </a:rPr>
              <a:t>3</a:t>
            </a:r>
            <a:r>
              <a:rPr lang="en-US" sz="2100" b="0" i="0" dirty="0">
                <a:solidFill>
                  <a:srgbClr val="6B787D"/>
                </a:solidFill>
                <a:latin typeface="Consolas"/>
              </a:rPr>
              <a:t>7</a:t>
            </a:r>
            <a:endParaRPr sz="2100" b="0" i="0" dirty="0">
              <a:solidFill>
                <a:srgbClr val="6B787D"/>
              </a:solidFill>
              <a:latin typeface="Consolas"/>
            </a:endParaRPr>
          </a:p>
        </p:txBody>
      </p:sp>
      <p:sp>
        <p:nvSpPr>
          <p:cNvPr id="3" name="TextBox 2"/>
          <p:cNvSpPr txBox="1"/>
          <p:nvPr/>
        </p:nvSpPr>
        <p:spPr>
          <a:xfrm>
            <a:off x="658368" y="420624"/>
            <a:ext cx="10874959" cy="310896"/>
          </a:xfrm>
          <a:prstGeom prst="rect">
            <a:avLst/>
          </a:prstGeom>
          <a:noFill/>
        </p:spPr>
        <p:txBody>
          <a:bodyPr wrap="square" lIns="0" tIns="0" rIns="0" bIns="0" anchor="t">
            <a:spAutoFit/>
          </a:bodyPr>
          <a:lstStyle/>
          <a:p>
            <a:pPr algn="l">
              <a:lnSpc>
                <a:spcPct val="118000"/>
              </a:lnSpc>
              <a:spcBef>
                <a:spcPts val="0"/>
              </a:spcBef>
              <a:spcAft>
                <a:spcPts val="0"/>
              </a:spcAft>
            </a:pPr>
            <a:r>
              <a:rPr sz="2100" b="1" i="0">
                <a:solidFill>
                  <a:srgbClr val="2E8FA3"/>
                </a:solidFill>
                <a:latin typeface="Consolas"/>
              </a:rPr>
              <a:t>15 / ERROR ANALYSIS</a:t>
            </a:r>
          </a:p>
        </p:txBody>
      </p:sp>
      <p:sp>
        <p:nvSpPr>
          <p:cNvPr id="4" name="TextBox 3"/>
          <p:cNvSpPr txBox="1"/>
          <p:nvPr/>
        </p:nvSpPr>
        <p:spPr>
          <a:xfrm>
            <a:off x="658368" y="822960"/>
            <a:ext cx="10874959" cy="822960"/>
          </a:xfrm>
          <a:prstGeom prst="rect">
            <a:avLst/>
          </a:prstGeom>
          <a:noFill/>
        </p:spPr>
        <p:txBody>
          <a:bodyPr wrap="square" lIns="0" tIns="0" rIns="0" bIns="0" anchor="t">
            <a:spAutoFit/>
          </a:bodyPr>
          <a:lstStyle/>
          <a:p>
            <a:pPr algn="l">
              <a:lnSpc>
                <a:spcPct val="106000"/>
              </a:lnSpc>
              <a:spcBef>
                <a:spcPts val="0"/>
              </a:spcBef>
              <a:spcAft>
                <a:spcPts val="0"/>
              </a:spcAft>
            </a:pPr>
            <a:r>
              <a:rPr sz="3600" b="1" i="0">
                <a:solidFill>
                  <a:srgbClr val="14181B"/>
                </a:solidFill>
                <a:latin typeface="Segoe UI"/>
              </a:rPr>
              <a:t>The obvious suspect, tested and ruled out</a:t>
            </a:r>
          </a:p>
        </p:txBody>
      </p:sp>
      <p:sp>
        <p:nvSpPr>
          <p:cNvPr id="5" name="TextBox 4"/>
          <p:cNvSpPr txBox="1"/>
          <p:nvPr/>
        </p:nvSpPr>
        <p:spPr>
          <a:xfrm>
            <a:off x="658368" y="1389888"/>
            <a:ext cx="10874959" cy="822960"/>
          </a:xfrm>
          <a:prstGeom prst="rect">
            <a:avLst/>
          </a:prstGeom>
          <a:noFill/>
        </p:spPr>
        <p:txBody>
          <a:bodyPr wrap="square" lIns="0" tIns="0" rIns="0" bIns="0" anchor="t">
            <a:spAutoFit/>
          </a:bodyPr>
          <a:lstStyle/>
          <a:p>
            <a:pPr algn="l">
              <a:lnSpc>
                <a:spcPct val="124000"/>
              </a:lnSpc>
              <a:spcBef>
                <a:spcPts val="0"/>
              </a:spcBef>
              <a:spcAft>
                <a:spcPts val="0"/>
              </a:spcAft>
            </a:pPr>
            <a:r>
              <a:rPr sz="2400" b="0" i="0">
                <a:solidFill>
                  <a:srgbClr val="3E4A4F"/>
                </a:solidFill>
                <a:latin typeface="Segoe UI"/>
              </a:rPr>
              <a:t>The natural assumption is that recognition noise flows downstream and breaks the sentiment. It was measured.</a:t>
            </a:r>
          </a:p>
        </p:txBody>
      </p:sp>
      <p:graphicFrame>
        <p:nvGraphicFramePr>
          <p:cNvPr id="6" name="Table 5"/>
          <p:cNvGraphicFramePr>
            <a:graphicFrameLocks noGrp="1"/>
          </p:cNvGraphicFramePr>
          <p:nvPr/>
        </p:nvGraphicFramePr>
        <p:xfrm>
          <a:off x="658368" y="2468879"/>
          <a:ext cx="7863839" cy="2871216"/>
        </p:xfrm>
        <a:graphic>
          <a:graphicData uri="http://schemas.openxmlformats.org/drawingml/2006/table">
            <a:tbl>
              <a:tblPr>
                <a:tableStyleId>{5C22544A-7EE6-4342-B048-85BDC9FD1C3A}</a:tableStyleId>
              </a:tblPr>
              <a:tblGrid>
                <a:gridCol w="4934174">
                  <a:extLst>
                    <a:ext uri="{9D8B030D-6E8A-4147-A177-3AD203B41FA5}">
                      <a16:colId xmlns:a16="http://schemas.microsoft.com/office/drawing/2014/main" val="20000"/>
                    </a:ext>
                  </a:extLst>
                </a:gridCol>
                <a:gridCol w="1233543">
                  <a:extLst>
                    <a:ext uri="{9D8B030D-6E8A-4147-A177-3AD203B41FA5}">
                      <a16:colId xmlns:a16="http://schemas.microsoft.com/office/drawing/2014/main" val="20001"/>
                    </a:ext>
                  </a:extLst>
                </a:gridCol>
                <a:gridCol w="1696122">
                  <a:extLst>
                    <a:ext uri="{9D8B030D-6E8A-4147-A177-3AD203B41FA5}">
                      <a16:colId xmlns:a16="http://schemas.microsoft.com/office/drawing/2014/main" val="20002"/>
                    </a:ext>
                  </a:extLst>
                </a:gridCol>
              </a:tblGrid>
              <a:tr h="493776">
                <a:tc>
                  <a:txBody>
                    <a:bodyPr/>
                    <a:lstStyle/>
                    <a:p>
                      <a:pPr algn="l"/>
                      <a:r>
                        <a:rPr sz="2100" b="1" i="0">
                          <a:solidFill>
                            <a:srgbClr val="6B787D"/>
                          </a:solidFill>
                          <a:latin typeface="Consolas"/>
                        </a:rPr>
                        <a:t>Stratum</a:t>
                      </a:r>
                    </a:p>
                  </a:txBody>
                  <a:tcPr marL="100584" marR="100584" marT="27432" marB="27432" anchor="ctr">
                    <a:solidFill>
                      <a:srgbClr val="E0E5E1"/>
                    </a:solidFill>
                  </a:tcPr>
                </a:tc>
                <a:tc>
                  <a:txBody>
                    <a:bodyPr/>
                    <a:lstStyle/>
                    <a:p>
                      <a:pPr algn="r"/>
                      <a:r>
                        <a:rPr sz="2100" b="1" i="0">
                          <a:solidFill>
                            <a:srgbClr val="6B787D"/>
                          </a:solidFill>
                          <a:latin typeface="Consolas"/>
                        </a:rPr>
                        <a:t>n</a:t>
                      </a:r>
                    </a:p>
                  </a:txBody>
                  <a:tcPr marL="100584" marR="100584" marT="27432" marB="27432" anchor="ctr">
                    <a:solidFill>
                      <a:srgbClr val="E0E5E1"/>
                    </a:solidFill>
                  </a:tcPr>
                </a:tc>
                <a:tc>
                  <a:txBody>
                    <a:bodyPr/>
                    <a:lstStyle/>
                    <a:p>
                      <a:pPr algn="r"/>
                      <a:r>
                        <a:rPr sz="2100" b="1" i="0">
                          <a:solidFill>
                            <a:srgbClr val="6B787D"/>
                          </a:solidFill>
                          <a:latin typeface="Consolas"/>
                        </a:rPr>
                        <a:t>Macro F1</a:t>
                      </a:r>
                    </a:p>
                  </a:txBody>
                  <a:tcPr marL="100584" marR="100584" marT="27432" marB="27432" anchor="ctr">
                    <a:solidFill>
                      <a:srgbClr val="E0E5E1"/>
                    </a:solidFill>
                  </a:tcPr>
                </a:tc>
                <a:extLst>
                  <a:ext uri="{0D108BD9-81ED-4DB2-BD59-A6C34878D82A}">
                    <a16:rowId xmlns:a16="http://schemas.microsoft.com/office/drawing/2014/main" val="10000"/>
                  </a:ext>
                </a:extLst>
              </a:tr>
              <a:tr h="493776">
                <a:tc>
                  <a:txBody>
                    <a:bodyPr/>
                    <a:lstStyle/>
                    <a:p>
                      <a:pPr algn="l"/>
                      <a:r>
                        <a:rPr sz="2100" b="0" i="0">
                          <a:solidFill>
                            <a:srgbClr val="14181B"/>
                          </a:solidFill>
                          <a:latin typeface="Segoe UI"/>
                        </a:rPr>
                        <a:t>Cleaner transcripts, confidence above median</a:t>
                      </a:r>
                    </a:p>
                  </a:txBody>
                  <a:tcPr marL="100584" marR="100584" marT="27432" marB="27432" anchor="ctr">
                    <a:solidFill>
                      <a:srgbClr val="F8F9F7"/>
                    </a:solidFill>
                  </a:tcPr>
                </a:tc>
                <a:tc>
                  <a:txBody>
                    <a:bodyPr/>
                    <a:lstStyle/>
                    <a:p>
                      <a:pPr algn="r"/>
                      <a:r>
                        <a:rPr sz="2100" b="0" i="0">
                          <a:solidFill>
                            <a:srgbClr val="14181B"/>
                          </a:solidFill>
                          <a:latin typeface="Consolas"/>
                        </a:rPr>
                        <a:t>90</a:t>
                      </a:r>
                    </a:p>
                  </a:txBody>
                  <a:tcPr marL="100584" marR="100584" marT="27432" marB="27432" anchor="ctr">
                    <a:solidFill>
                      <a:srgbClr val="F8F9F7"/>
                    </a:solidFill>
                  </a:tcPr>
                </a:tc>
                <a:tc>
                  <a:txBody>
                    <a:bodyPr/>
                    <a:lstStyle/>
                    <a:p>
                      <a:pPr algn="r"/>
                      <a:r>
                        <a:rPr sz="2100" b="0" i="0">
                          <a:solidFill>
                            <a:srgbClr val="14181B"/>
                          </a:solidFill>
                          <a:latin typeface="Consolas"/>
                        </a:rPr>
                        <a:t>0.550</a:t>
                      </a:r>
                    </a:p>
                  </a:txBody>
                  <a:tcPr marL="100584" marR="100584" marT="27432" marB="27432" anchor="ctr">
                    <a:solidFill>
                      <a:srgbClr val="F8F9F7"/>
                    </a:solidFill>
                  </a:tcPr>
                </a:tc>
                <a:extLst>
                  <a:ext uri="{0D108BD9-81ED-4DB2-BD59-A6C34878D82A}">
                    <a16:rowId xmlns:a16="http://schemas.microsoft.com/office/drawing/2014/main" val="10001"/>
                  </a:ext>
                </a:extLst>
              </a:tr>
              <a:tr h="493776">
                <a:tc>
                  <a:txBody>
                    <a:bodyPr/>
                    <a:lstStyle/>
                    <a:p>
                      <a:pPr algn="l"/>
                      <a:r>
                        <a:rPr sz="2100" b="0" i="0">
                          <a:solidFill>
                            <a:srgbClr val="14181B"/>
                          </a:solidFill>
                          <a:latin typeface="Segoe UI"/>
                        </a:rPr>
                        <a:t>Noisier transcripts, confidence below median</a:t>
                      </a:r>
                    </a:p>
                  </a:txBody>
                  <a:tcPr marL="100584" marR="100584" marT="27432" marB="27432" anchor="ctr">
                    <a:solidFill>
                      <a:srgbClr val="F8F9F7"/>
                    </a:solidFill>
                  </a:tcPr>
                </a:tc>
                <a:tc>
                  <a:txBody>
                    <a:bodyPr/>
                    <a:lstStyle/>
                    <a:p>
                      <a:pPr algn="r"/>
                      <a:r>
                        <a:rPr sz="2100" b="0" i="0">
                          <a:solidFill>
                            <a:srgbClr val="14181B"/>
                          </a:solidFill>
                          <a:latin typeface="Consolas"/>
                        </a:rPr>
                        <a:t>90</a:t>
                      </a:r>
                    </a:p>
                  </a:txBody>
                  <a:tcPr marL="100584" marR="100584" marT="27432" marB="27432" anchor="ctr">
                    <a:solidFill>
                      <a:srgbClr val="F8F9F7"/>
                    </a:solidFill>
                  </a:tcPr>
                </a:tc>
                <a:tc>
                  <a:txBody>
                    <a:bodyPr/>
                    <a:lstStyle/>
                    <a:p>
                      <a:pPr algn="r"/>
                      <a:r>
                        <a:rPr sz="2100" b="0" i="0">
                          <a:solidFill>
                            <a:srgbClr val="14181B"/>
                          </a:solidFill>
                          <a:latin typeface="Consolas"/>
                        </a:rPr>
                        <a:t>0.619</a:t>
                      </a:r>
                    </a:p>
                  </a:txBody>
                  <a:tcPr marL="100584" marR="100584" marT="27432" marB="27432" anchor="ctr">
                    <a:solidFill>
                      <a:srgbClr val="F8F9F7"/>
                    </a:solidFill>
                  </a:tcPr>
                </a:tc>
                <a:extLst>
                  <a:ext uri="{0D108BD9-81ED-4DB2-BD59-A6C34878D82A}">
                    <a16:rowId xmlns:a16="http://schemas.microsoft.com/office/drawing/2014/main" val="10002"/>
                  </a:ext>
                </a:extLst>
              </a:tr>
              <a:tr h="493776">
                <a:tc>
                  <a:txBody>
                    <a:bodyPr/>
                    <a:lstStyle/>
                    <a:p>
                      <a:pPr algn="l"/>
                      <a:r>
                        <a:rPr sz="2100" b="0" i="0">
                          <a:solidFill>
                            <a:srgbClr val="14181B"/>
                          </a:solidFill>
                          <a:latin typeface="Segoe UI"/>
                        </a:rPr>
                        <a:t>No leading truncation</a:t>
                      </a:r>
                    </a:p>
                  </a:txBody>
                  <a:tcPr marL="100584" marR="100584" marT="27432" marB="27432" anchor="ctr">
                    <a:solidFill>
                      <a:srgbClr val="F8F9F7"/>
                    </a:solidFill>
                  </a:tcPr>
                </a:tc>
                <a:tc>
                  <a:txBody>
                    <a:bodyPr/>
                    <a:lstStyle/>
                    <a:p>
                      <a:pPr algn="r"/>
                      <a:r>
                        <a:rPr sz="2100" b="0" i="0">
                          <a:solidFill>
                            <a:srgbClr val="14181B"/>
                          </a:solidFill>
                          <a:latin typeface="Consolas"/>
                        </a:rPr>
                        <a:t>161</a:t>
                      </a:r>
                    </a:p>
                  </a:txBody>
                  <a:tcPr marL="100584" marR="100584" marT="27432" marB="27432" anchor="ctr">
                    <a:solidFill>
                      <a:srgbClr val="F8F9F7"/>
                    </a:solidFill>
                  </a:tcPr>
                </a:tc>
                <a:tc>
                  <a:txBody>
                    <a:bodyPr/>
                    <a:lstStyle/>
                    <a:p>
                      <a:pPr algn="r"/>
                      <a:r>
                        <a:rPr sz="2100" b="0" i="0">
                          <a:solidFill>
                            <a:srgbClr val="14181B"/>
                          </a:solidFill>
                          <a:latin typeface="Consolas"/>
                        </a:rPr>
                        <a:t>0.584</a:t>
                      </a:r>
                    </a:p>
                  </a:txBody>
                  <a:tcPr marL="100584" marR="100584" marT="27432" marB="27432" anchor="ctr">
                    <a:solidFill>
                      <a:srgbClr val="F8F9F7"/>
                    </a:solidFill>
                  </a:tcPr>
                </a:tc>
                <a:extLst>
                  <a:ext uri="{0D108BD9-81ED-4DB2-BD59-A6C34878D82A}">
                    <a16:rowId xmlns:a16="http://schemas.microsoft.com/office/drawing/2014/main" val="10003"/>
                  </a:ext>
                </a:extLst>
              </a:tr>
              <a:tr h="493776">
                <a:tc>
                  <a:txBody>
                    <a:bodyPr/>
                    <a:lstStyle/>
                    <a:p>
                      <a:pPr algn="l"/>
                      <a:r>
                        <a:rPr sz="2100" b="0" i="0">
                          <a:solidFill>
                            <a:srgbClr val="14181B"/>
                          </a:solidFill>
                          <a:latin typeface="Segoe UI"/>
                        </a:rPr>
                        <a:t>Leading truncation present</a:t>
                      </a:r>
                    </a:p>
                  </a:txBody>
                  <a:tcPr marL="100584" marR="100584" marT="27432" marB="27432" anchor="ctr">
                    <a:solidFill>
                      <a:srgbClr val="F8F9F7"/>
                    </a:solidFill>
                  </a:tcPr>
                </a:tc>
                <a:tc>
                  <a:txBody>
                    <a:bodyPr/>
                    <a:lstStyle/>
                    <a:p>
                      <a:pPr algn="r"/>
                      <a:r>
                        <a:rPr sz="2100" b="0" i="0">
                          <a:solidFill>
                            <a:srgbClr val="14181B"/>
                          </a:solidFill>
                          <a:latin typeface="Consolas"/>
                        </a:rPr>
                        <a:t>19</a:t>
                      </a:r>
                    </a:p>
                  </a:txBody>
                  <a:tcPr marL="100584" marR="100584" marT="27432" marB="27432" anchor="ctr">
                    <a:solidFill>
                      <a:srgbClr val="F8F9F7"/>
                    </a:solidFill>
                  </a:tcPr>
                </a:tc>
                <a:tc>
                  <a:txBody>
                    <a:bodyPr/>
                    <a:lstStyle/>
                    <a:p>
                      <a:pPr algn="r"/>
                      <a:r>
                        <a:rPr sz="2100" b="0" i="0">
                          <a:solidFill>
                            <a:srgbClr val="14181B"/>
                          </a:solidFill>
                          <a:latin typeface="Consolas"/>
                        </a:rPr>
                        <a:t>0.562</a:t>
                      </a:r>
                    </a:p>
                  </a:txBody>
                  <a:tcPr marL="100584" marR="100584" marT="27432" marB="27432" anchor="ctr">
                    <a:solidFill>
                      <a:srgbClr val="F8F9F7"/>
                    </a:solidFill>
                  </a:tcPr>
                </a:tc>
                <a:extLst>
                  <a:ext uri="{0D108BD9-81ED-4DB2-BD59-A6C34878D82A}">
                    <a16:rowId xmlns:a16="http://schemas.microsoft.com/office/drawing/2014/main" val="10004"/>
                  </a:ext>
                </a:extLst>
              </a:tr>
            </a:tbl>
          </a:graphicData>
        </a:graphic>
      </p:graphicFrame>
      <p:sp>
        <p:nvSpPr>
          <p:cNvPr id="7" name="Rectangle 6"/>
          <p:cNvSpPr/>
          <p:nvPr/>
        </p:nvSpPr>
        <p:spPr>
          <a:xfrm>
            <a:off x="608715" y="5340095"/>
            <a:ext cx="10874959" cy="1463040"/>
          </a:xfrm>
          <a:prstGeom prst="rect">
            <a:avLst/>
          </a:prstGeom>
          <a:solidFill>
            <a:srgbClr val="F8F9F7"/>
          </a:solidFill>
          <a:ln w="12700">
            <a:solidFill>
              <a:srgbClr val="C3CBC6"/>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8" name="Rectangle 7"/>
          <p:cNvSpPr/>
          <p:nvPr/>
        </p:nvSpPr>
        <p:spPr>
          <a:xfrm>
            <a:off x="658368" y="5303520"/>
            <a:ext cx="50292" cy="1463040"/>
          </a:xfrm>
          <a:prstGeom prst="rect">
            <a:avLst/>
          </a:prstGeom>
          <a:solidFill>
            <a:srgbClr val="1D4E5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 name="TextBox 8"/>
          <p:cNvSpPr txBox="1"/>
          <p:nvPr/>
        </p:nvSpPr>
        <p:spPr>
          <a:xfrm>
            <a:off x="932688" y="5486400"/>
            <a:ext cx="10372039" cy="1097280"/>
          </a:xfrm>
          <a:prstGeom prst="rect">
            <a:avLst/>
          </a:prstGeom>
          <a:noFill/>
        </p:spPr>
        <p:txBody>
          <a:bodyPr wrap="square" lIns="0" tIns="0" rIns="0" bIns="0" anchor="t">
            <a:spAutoFit/>
          </a:bodyPr>
          <a:lstStyle/>
          <a:p>
            <a:pPr algn="l">
              <a:lnSpc>
                <a:spcPct val="120000"/>
              </a:lnSpc>
              <a:spcBef>
                <a:spcPts val="0"/>
              </a:spcBef>
              <a:spcAft>
                <a:spcPts val="0"/>
              </a:spcAft>
            </a:pPr>
            <a:r>
              <a:rPr sz="2200" b="0" i="0">
                <a:solidFill>
                  <a:srgbClr val="3E4A4F"/>
                </a:solidFill>
                <a:latin typeface="Segoe UI"/>
              </a:rPr>
              <a:t>The cleaner half scores no better than the noisier half. At 90 pairs a side that gap sits inside the noise, so the honest reading is that transcript quality does not separate sentiment accuracy here. The label rules, not the transcripts, are the bottleneck.</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14</TotalTime>
  <Words>3718</Words>
  <Application>Microsoft Office PowerPoint</Application>
  <PresentationFormat>Widescreen</PresentationFormat>
  <Paragraphs>611</Paragraphs>
  <Slides>37</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37</vt:i4>
      </vt:variant>
    </vt:vector>
  </HeadingPairs>
  <TitlesOfParts>
    <vt:vector size="43" baseType="lpstr">
      <vt:lpstr>Arial</vt:lpstr>
      <vt:lpstr>Calibri</vt:lpstr>
      <vt:lpstr>Consolas</vt:lpstr>
      <vt:lpstr>Nirmala UI</vt:lpstr>
      <vt:lpstr>Segoe UI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Tawhidul Hasan</cp:lastModifiedBy>
  <cp:revision>15</cp:revision>
  <dcterms:created xsi:type="dcterms:W3CDTF">2013-01-27T09:14:16Z</dcterms:created>
  <dcterms:modified xsi:type="dcterms:W3CDTF">2026-09-07T09:36:39Z</dcterms:modified>
  <cp:category/>
</cp:coreProperties>
</file>