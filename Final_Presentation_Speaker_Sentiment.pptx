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ku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502920"/>
            <a:ext cx="804428" cy="914400"/>
          </a:xfrm>
          <a:prstGeom prst="rect">
            <a:avLst/>
          </a:prstGeom>
        </p:spPr>
      </p:pic>
      <p:sp>
        <p:nvSpPr>
          <p:cNvPr id="4" name="flow-text"/>
          <p:cNvSpPr txBox="1"/>
          <p:nvPr/>
        </p:nvSpPr>
        <p:spPr>
          <a:xfrm>
            <a:off x="658368" y="566928"/>
            <a:ext cx="9326880" cy="577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6B787D"/>
                </a:solidFill>
                <a:latin typeface="Consolas"/>
              </a:rPr>
              <a:t>KHULNA UNIVERSITY OF ENGINEERING &amp; TECHNOLOGY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D4E5F"/>
                </a:solidFill>
                <a:latin typeface="Consolas"/>
              </a:rPr>
              <a:t>CSE 4112  /  MACHINE LEARNING LABORATORY  /  FINAL PRESENTATION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528571"/>
            <a:ext cx="10874959" cy="1214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4181B"/>
                </a:solidFill>
                <a:latin typeface="Segoe UI"/>
              </a:rPr>
              <a:t>A Speaker-Attributed Sentiment Dataset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4181B"/>
                </a:solidFill>
                <a:latin typeface="Segoe UI"/>
              </a:rPr>
              <a:t>for Bangla Financial Television Talk Shows</a:t>
            </a:r>
          </a:p>
        </p:txBody>
      </p:sp>
      <p:sp>
        <p:nvSpPr>
          <p:cNvPr id="6" name="flow-text"/>
          <p:cNvSpPr txBox="1"/>
          <p:nvPr/>
        </p:nvSpPr>
        <p:spPr>
          <a:xfrm>
            <a:off x="658368" y="2962757"/>
            <a:ext cx="10058400" cy="72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3E4A4F"/>
                </a:solidFill>
                <a:latin typeface="Segoe UI"/>
              </a:rPr>
              <a:t>Dataset Report v1.0. Forty-five talk-show episodes turned into speaker turns, each labelled for the stance its speaker takes on the economy.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114800"/>
            <a:ext cx="10874959" cy="27432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low-text"/>
          <p:cNvSpPr txBox="1"/>
          <p:nvPr/>
        </p:nvSpPr>
        <p:spPr>
          <a:xfrm>
            <a:off x="658368" y="4279392"/>
            <a:ext cx="10874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GROUP 1  /  STUDENTS</a:t>
            </a:r>
          </a:p>
        </p:txBody>
      </p:sp>
      <p:sp>
        <p:nvSpPr>
          <p:cNvPr id="9" name="flow-text"/>
          <p:cNvSpPr txBox="1"/>
          <p:nvPr/>
        </p:nvSpPr>
        <p:spPr>
          <a:xfrm>
            <a:off x="658368" y="4600448"/>
            <a:ext cx="10874959" cy="579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81B"/>
                </a:solidFill>
                <a:latin typeface="Segoe UI"/>
              </a:rPr>
              <a:t>Nafiz Ahmed (2107001)  ·  Tawhidul Hasan (2107004)  ·  Sarwad Hasan Siddiqui (2107006)  ·  Saif Ahmed Shejan (2107009)  ·  Maruf Shafiq (2107010)  ·  Dewan Salman Rahman Zisan (2107015)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658368" y="5413248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DIARIZATION</a:t>
            </a:r>
          </a:p>
        </p:txBody>
      </p:sp>
      <p:sp>
        <p:nvSpPr>
          <p:cNvPr id="11" name="flow-text"/>
          <p:cNvSpPr txBox="1"/>
          <p:nvPr/>
        </p:nvSpPr>
        <p:spPr>
          <a:xfrm>
            <a:off x="658368" y="5734304"/>
            <a:ext cx="2444419" cy="276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81B"/>
                </a:solidFill>
                <a:latin typeface="Segoe UI"/>
              </a:rPr>
              <a:t>pyannote community-1</a:t>
            </a:r>
          </a:p>
        </p:txBody>
      </p:sp>
      <p:sp>
        <p:nvSpPr>
          <p:cNvPr id="12" name="flow-text"/>
          <p:cNvSpPr txBox="1"/>
          <p:nvPr/>
        </p:nvSpPr>
        <p:spPr>
          <a:xfrm>
            <a:off x="3377107" y="5413248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SPEECH RECOGNITION</a:t>
            </a:r>
          </a:p>
        </p:txBody>
      </p:sp>
      <p:sp>
        <p:nvSpPr>
          <p:cNvPr id="13" name="flow-text"/>
          <p:cNvSpPr txBox="1"/>
          <p:nvPr/>
        </p:nvSpPr>
        <p:spPr>
          <a:xfrm>
            <a:off x="3377107" y="5734304"/>
            <a:ext cx="2444419" cy="276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81B"/>
                </a:solidFill>
                <a:latin typeface="Segoe UI"/>
              </a:rPr>
              <a:t>Whisper-medium, Bangla</a:t>
            </a:r>
          </a:p>
        </p:txBody>
      </p:sp>
      <p:sp>
        <p:nvSpPr>
          <p:cNvPr id="14" name="flow-text"/>
          <p:cNvSpPr txBox="1"/>
          <p:nvPr/>
        </p:nvSpPr>
        <p:spPr>
          <a:xfrm>
            <a:off x="6095847" y="5413248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LABELS  /  MODEL</a:t>
            </a:r>
          </a:p>
        </p:txBody>
      </p:sp>
      <p:sp>
        <p:nvSpPr>
          <p:cNvPr id="15" name="flow-text"/>
          <p:cNvSpPr txBox="1"/>
          <p:nvPr/>
        </p:nvSpPr>
        <p:spPr>
          <a:xfrm>
            <a:off x="6095847" y="5734304"/>
            <a:ext cx="2444419" cy="276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81B"/>
                </a:solidFill>
                <a:latin typeface="Segoe UI"/>
              </a:rPr>
              <a:t>LLM judge / BanglaBERT</a:t>
            </a:r>
          </a:p>
        </p:txBody>
      </p:sp>
      <p:sp>
        <p:nvSpPr>
          <p:cNvPr id="16" name="flow-text"/>
          <p:cNvSpPr txBox="1"/>
          <p:nvPr/>
        </p:nvSpPr>
        <p:spPr>
          <a:xfrm>
            <a:off x="8814587" y="5413248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DATASET</a:t>
            </a:r>
          </a:p>
        </p:txBody>
      </p:sp>
      <p:sp>
        <p:nvSpPr>
          <p:cNvPr id="17" name="flow-text"/>
          <p:cNvSpPr txBox="1"/>
          <p:nvPr/>
        </p:nvSpPr>
        <p:spPr>
          <a:xfrm>
            <a:off x="8814587" y="5734304"/>
            <a:ext cx="2444419" cy="276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81B"/>
                </a:solidFill>
                <a:latin typeface="Segoe UI"/>
              </a:rPr>
              <a:t>v1.0, 15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02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FIGURE 1(a) / PRACTICAL APPLICATION FRAMEWORK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How the data is used in practice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341628"/>
            <a:ext cx="10874959" cy="340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E4A4F"/>
                </a:solidFill>
                <a:latin typeface="Segoe UI"/>
              </a:rPr>
              <a:t>One label per episode averages disagreement away. This framework keeps speakers apart.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1955535" cy="1610029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813816" y="2084831"/>
            <a:ext cx="168121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QUESTION</a:t>
            </a:r>
          </a:p>
        </p:txBody>
      </p:sp>
      <p:sp>
        <p:nvSpPr>
          <p:cNvPr id="8" name="flow-text"/>
          <p:cNvSpPr txBox="1"/>
          <p:nvPr/>
        </p:nvSpPr>
        <p:spPr>
          <a:xfrm>
            <a:off x="813816" y="2450591"/>
            <a:ext cx="1662927" cy="878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Who in the panel is negative?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8223" y="1920239"/>
            <a:ext cx="1955535" cy="1610029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3043671" y="2084831"/>
            <a:ext cx="168121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INPUT</a:t>
            </a:r>
          </a:p>
        </p:txBody>
      </p:sp>
      <p:sp>
        <p:nvSpPr>
          <p:cNvPr id="11" name="flow-text"/>
          <p:cNvSpPr txBox="1"/>
          <p:nvPr/>
        </p:nvSpPr>
        <p:spPr>
          <a:xfrm>
            <a:off x="3043671" y="2450591"/>
            <a:ext cx="1662927" cy="878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45 episodes, 28.6 h, 3 channels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0479" y="263381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18079" y="1920239"/>
            <a:ext cx="1955535" cy="1610029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ow-text"/>
          <p:cNvSpPr txBox="1"/>
          <p:nvPr/>
        </p:nvSpPr>
        <p:spPr>
          <a:xfrm>
            <a:off x="5273527" y="2084831"/>
            <a:ext cx="168121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DATASET</a:t>
            </a:r>
          </a:p>
        </p:txBody>
      </p:sp>
      <p:sp>
        <p:nvSpPr>
          <p:cNvPr id="15" name="flow-text"/>
          <p:cNvSpPr txBox="1"/>
          <p:nvPr/>
        </p:nvSpPr>
        <p:spPr>
          <a:xfrm>
            <a:off x="5273527" y="2450591"/>
            <a:ext cx="1662927" cy="878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2,414 turns; 1,630 supervised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80335" y="263381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47935" y="1920239"/>
            <a:ext cx="1955535" cy="1610029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ow-text"/>
          <p:cNvSpPr txBox="1"/>
          <p:nvPr/>
        </p:nvSpPr>
        <p:spPr>
          <a:xfrm>
            <a:off x="7503383" y="2084831"/>
            <a:ext cx="168121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MODEL</a:t>
            </a:r>
          </a:p>
        </p:txBody>
      </p:sp>
      <p:sp>
        <p:nvSpPr>
          <p:cNvPr id="19" name="flow-text"/>
          <p:cNvSpPr txBox="1"/>
          <p:nvPr/>
        </p:nvSpPr>
        <p:spPr>
          <a:xfrm>
            <a:off x="7503383" y="2450591"/>
            <a:ext cx="1662927" cy="585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BanglaBERT + aggregation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0191" y="263381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77791" y="1920239"/>
            <a:ext cx="1955535" cy="1610029"/>
          </a:xfrm>
          <a:prstGeom prst="rect">
            <a:avLst/>
          </a:prstGeom>
          <a:solidFill>
            <a:srgbClr val="1D4E5F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low-text"/>
          <p:cNvSpPr txBox="1"/>
          <p:nvPr/>
        </p:nvSpPr>
        <p:spPr>
          <a:xfrm>
            <a:off x="9733239" y="2084831"/>
            <a:ext cx="168121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SIGNAL</a:t>
            </a:r>
          </a:p>
        </p:txBody>
      </p:sp>
      <p:sp>
        <p:nvSpPr>
          <p:cNvPr id="23" name="flow-text"/>
          <p:cNvSpPr txBox="1"/>
          <p:nvPr/>
        </p:nvSpPr>
        <p:spPr>
          <a:xfrm>
            <a:off x="9733239" y="2450591"/>
            <a:ext cx="1662927" cy="878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Speaker sentiment index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40047" y="263381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-text"/>
          <p:cNvSpPr txBox="1"/>
          <p:nvPr/>
        </p:nvSpPr>
        <p:spPr>
          <a:xfrm>
            <a:off x="658368" y="3804589"/>
            <a:ext cx="10874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INTENDED USERS AND PRACTICAL OUTCOME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62221"/>
            <a:ext cx="3472586" cy="1717426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162221"/>
            <a:ext cx="50292" cy="171742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low-text"/>
          <p:cNvSpPr txBox="1"/>
          <p:nvPr/>
        </p:nvSpPr>
        <p:spPr>
          <a:xfrm>
            <a:off x="932688" y="4326813"/>
            <a:ext cx="2978810" cy="103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Media analysts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Track whether expert sentiment is turning.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9554" y="4162221"/>
            <a:ext cx="3472586" cy="1717426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59554" y="4162221"/>
            <a:ext cx="50292" cy="1717426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low-text"/>
          <p:cNvSpPr txBox="1"/>
          <p:nvPr/>
        </p:nvSpPr>
        <p:spPr>
          <a:xfrm>
            <a:off x="4633874" y="4326813"/>
            <a:ext cx="2978810" cy="103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Policy monitors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See which sectors draw negative stance.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0740" y="4162221"/>
            <a:ext cx="3472586" cy="1717426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60740" y="4162221"/>
            <a:ext cx="50292" cy="1717426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low-text"/>
          <p:cNvSpPr txBox="1"/>
          <p:nvPr/>
        </p:nvSpPr>
        <p:spPr>
          <a:xfrm>
            <a:off x="8335060" y="4326813"/>
            <a:ext cx="2978810" cy="1388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Bangla NLP researchers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Study speaker-level sentiment in ASR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03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FIGURE 1(b) / TECHNICAL PIPELINE FRAMEWORK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Every stage, its model and its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low-text"/>
          <p:cNvSpPr txBox="1"/>
          <p:nvPr/>
        </p:nvSpPr>
        <p:spPr>
          <a:xfrm>
            <a:off x="804672" y="163423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1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804672" y="1926844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Acquire</a:t>
            </a:r>
          </a:p>
        </p:txBody>
      </p:sp>
      <p:sp>
        <p:nvSpPr>
          <p:cNvPr id="8" name="flow-text"/>
          <p:cNvSpPr txBox="1"/>
          <p:nvPr/>
        </p:nvSpPr>
        <p:spPr>
          <a:xfrm>
            <a:off x="804672" y="2276094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45 episodes, 28.6 h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2578862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804672" y="263372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ffmpeg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3119" y="1506220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ow-text"/>
          <p:cNvSpPr txBox="1"/>
          <p:nvPr/>
        </p:nvSpPr>
        <p:spPr>
          <a:xfrm>
            <a:off x="3619423" y="163423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2</a:t>
            </a:r>
          </a:p>
        </p:txBody>
      </p:sp>
      <p:sp>
        <p:nvSpPr>
          <p:cNvPr id="13" name="flow-text"/>
          <p:cNvSpPr txBox="1"/>
          <p:nvPr/>
        </p:nvSpPr>
        <p:spPr>
          <a:xfrm>
            <a:off x="3619423" y="1926844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Condition</a:t>
            </a:r>
          </a:p>
        </p:txBody>
      </p:sp>
      <p:sp>
        <p:nvSpPr>
          <p:cNvPr id="14" name="flow-text"/>
          <p:cNvSpPr txBox="1"/>
          <p:nvPr/>
        </p:nvSpPr>
        <p:spPr>
          <a:xfrm>
            <a:off x="3619423" y="2276094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16 kHz, VAD, dedup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9423" y="2578862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-text"/>
          <p:cNvSpPr txBox="1"/>
          <p:nvPr/>
        </p:nvSpPr>
        <p:spPr>
          <a:xfrm>
            <a:off x="3619423" y="263372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pyloudnorm, Demucs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43935" y="2308732"/>
            <a:ext cx="274320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87871" y="1506220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text"/>
          <p:cNvSpPr txBox="1"/>
          <p:nvPr/>
        </p:nvSpPr>
        <p:spPr>
          <a:xfrm>
            <a:off x="6434175" y="163423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3</a:t>
            </a:r>
          </a:p>
        </p:txBody>
      </p:sp>
      <p:sp>
        <p:nvSpPr>
          <p:cNvPr id="20" name="flow-text"/>
          <p:cNvSpPr txBox="1"/>
          <p:nvPr/>
        </p:nvSpPr>
        <p:spPr>
          <a:xfrm>
            <a:off x="6434175" y="1926844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Diarize + ASR</a:t>
            </a:r>
          </a:p>
        </p:txBody>
      </p:sp>
      <p:sp>
        <p:nvSpPr>
          <p:cNvPr id="21" name="flow-text"/>
          <p:cNvSpPr txBox="1"/>
          <p:nvPr/>
        </p:nvSpPr>
        <p:spPr>
          <a:xfrm>
            <a:off x="6434175" y="2276094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pyannote, Whisper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4175" y="2578862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low-text"/>
          <p:cNvSpPr txBox="1"/>
          <p:nvPr/>
        </p:nvSpPr>
        <p:spPr>
          <a:xfrm>
            <a:off x="6434175" y="263372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faster-whisper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58687" y="2308732"/>
            <a:ext cx="274320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02623" y="1506220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low-text"/>
          <p:cNvSpPr txBox="1"/>
          <p:nvPr/>
        </p:nvSpPr>
        <p:spPr>
          <a:xfrm>
            <a:off x="9248927" y="163423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4</a:t>
            </a:r>
          </a:p>
        </p:txBody>
      </p:sp>
      <p:sp>
        <p:nvSpPr>
          <p:cNvPr id="27" name="flow-text"/>
          <p:cNvSpPr txBox="1"/>
          <p:nvPr/>
        </p:nvSpPr>
        <p:spPr>
          <a:xfrm>
            <a:off x="9248927" y="1926844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Fuse</a:t>
            </a:r>
          </a:p>
        </p:txBody>
      </p:sp>
      <p:sp>
        <p:nvSpPr>
          <p:cNvPr id="28" name="flow-text"/>
          <p:cNvSpPr txBox="1"/>
          <p:nvPr/>
        </p:nvSpPr>
        <p:spPr>
          <a:xfrm>
            <a:off x="9248927" y="2276094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2,414 speaker turns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48927" y="2578862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low-text"/>
          <p:cNvSpPr txBox="1"/>
          <p:nvPr/>
        </p:nvSpPr>
        <p:spPr>
          <a:xfrm>
            <a:off x="9248927" y="2633726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Python, schema 2.0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773439" y="2308732"/>
            <a:ext cx="274320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295115" y="3294125"/>
            <a:ext cx="45720" cy="20574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50859" y="3454146"/>
            <a:ext cx="8489975" cy="4572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Down Arrow 33"/>
          <p:cNvSpPr/>
          <p:nvPr/>
        </p:nvSpPr>
        <p:spPr>
          <a:xfrm>
            <a:off x="1773135" y="3477006"/>
            <a:ext cx="201168" cy="182880"/>
          </a:xfrm>
          <a:prstGeom prst="down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3659885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low-text"/>
          <p:cNvSpPr txBox="1"/>
          <p:nvPr/>
        </p:nvSpPr>
        <p:spPr>
          <a:xfrm>
            <a:off x="804672" y="3787901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5</a:t>
            </a:r>
          </a:p>
        </p:txBody>
      </p:sp>
      <p:sp>
        <p:nvSpPr>
          <p:cNvPr id="37" name="flow-text"/>
          <p:cNvSpPr txBox="1"/>
          <p:nvPr/>
        </p:nvSpPr>
        <p:spPr>
          <a:xfrm>
            <a:off x="804672" y="4080509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Label</a:t>
            </a:r>
          </a:p>
        </p:txBody>
      </p:sp>
      <p:sp>
        <p:nvSpPr>
          <p:cNvPr id="38" name="flow-text"/>
          <p:cNvSpPr txBox="1"/>
          <p:nvPr/>
        </p:nvSpPr>
        <p:spPr>
          <a:xfrm>
            <a:off x="804672" y="4429759"/>
            <a:ext cx="2138095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LLM judge, human rubric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" y="4980431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low-text"/>
          <p:cNvSpPr txBox="1"/>
          <p:nvPr/>
        </p:nvSpPr>
        <p:spPr>
          <a:xfrm>
            <a:off x="804672" y="5035295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JSON schema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3119" y="3659885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low-text"/>
          <p:cNvSpPr txBox="1"/>
          <p:nvPr/>
        </p:nvSpPr>
        <p:spPr>
          <a:xfrm>
            <a:off x="3619423" y="3787901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6</a:t>
            </a:r>
          </a:p>
        </p:txBody>
      </p:sp>
      <p:sp>
        <p:nvSpPr>
          <p:cNvPr id="43" name="flow-text"/>
          <p:cNvSpPr txBox="1"/>
          <p:nvPr/>
        </p:nvSpPr>
        <p:spPr>
          <a:xfrm>
            <a:off x="3619423" y="4080509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Partition</a:t>
            </a:r>
          </a:p>
        </p:txBody>
      </p:sp>
      <p:sp>
        <p:nvSpPr>
          <p:cNvPr id="44" name="flow-text"/>
          <p:cNvSpPr txBox="1"/>
          <p:nvPr/>
        </p:nvSpPr>
        <p:spPr>
          <a:xfrm>
            <a:off x="3619423" y="4429759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1,009 / 297 / 324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9423" y="4732527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low-text"/>
          <p:cNvSpPr txBox="1"/>
          <p:nvPr/>
        </p:nvSpPr>
        <p:spPr>
          <a:xfrm>
            <a:off x="3619423" y="4787391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make_datasets.py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143935" y="4462398"/>
            <a:ext cx="274320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87871" y="3659885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flow-text"/>
          <p:cNvSpPr txBox="1"/>
          <p:nvPr/>
        </p:nvSpPr>
        <p:spPr>
          <a:xfrm>
            <a:off x="6434175" y="3787901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7</a:t>
            </a:r>
          </a:p>
        </p:txBody>
      </p:sp>
      <p:sp>
        <p:nvSpPr>
          <p:cNvPr id="50" name="flow-text"/>
          <p:cNvSpPr txBox="1"/>
          <p:nvPr/>
        </p:nvSpPr>
        <p:spPr>
          <a:xfrm>
            <a:off x="6434175" y="4080509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Model</a:t>
            </a:r>
          </a:p>
        </p:txBody>
      </p:sp>
      <p:sp>
        <p:nvSpPr>
          <p:cNvPr id="51" name="flow-text"/>
          <p:cNvSpPr txBox="1"/>
          <p:nvPr/>
        </p:nvSpPr>
        <p:spPr>
          <a:xfrm>
            <a:off x="6434175" y="4429759"/>
            <a:ext cx="2138095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BanglaBERT, aggregation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34175" y="4980431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low-text"/>
          <p:cNvSpPr txBox="1"/>
          <p:nvPr/>
        </p:nvSpPr>
        <p:spPr>
          <a:xfrm>
            <a:off x="6434175" y="5035295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PyTorch + HF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958687" y="4462398"/>
            <a:ext cx="274320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02623" y="3659885"/>
            <a:ext cx="2430703" cy="1787905"/>
          </a:xfrm>
          <a:prstGeom prst="rect">
            <a:avLst/>
          </a:prstGeom>
          <a:solidFill>
            <a:srgbClr val="F8F9F7"/>
          </a:solidFill>
          <a:ln w="1778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low-text"/>
          <p:cNvSpPr txBox="1"/>
          <p:nvPr/>
        </p:nvSpPr>
        <p:spPr>
          <a:xfrm>
            <a:off x="9248927" y="3787901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STAGE 8</a:t>
            </a:r>
          </a:p>
        </p:txBody>
      </p:sp>
      <p:sp>
        <p:nvSpPr>
          <p:cNvPr id="57" name="flow-text"/>
          <p:cNvSpPr txBox="1"/>
          <p:nvPr/>
        </p:nvSpPr>
        <p:spPr>
          <a:xfrm>
            <a:off x="9248927" y="4080509"/>
            <a:ext cx="2138095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Evaluate</a:t>
            </a:r>
          </a:p>
        </p:txBody>
      </p:sp>
      <p:sp>
        <p:nvSpPr>
          <p:cNvPr id="58" name="flow-text"/>
          <p:cNvSpPr txBox="1"/>
          <p:nvPr/>
        </p:nvSpPr>
        <p:spPr>
          <a:xfrm>
            <a:off x="9248927" y="4429759"/>
            <a:ext cx="2138095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F1 0.670; speaker 0.653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48927" y="4980431"/>
            <a:ext cx="2138095" cy="91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flow-text"/>
          <p:cNvSpPr txBox="1"/>
          <p:nvPr/>
        </p:nvSpPr>
        <p:spPr>
          <a:xfrm>
            <a:off x="9248927" y="5035295"/>
            <a:ext cx="213809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scikit-learn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773439" y="4462398"/>
            <a:ext cx="274320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flow-text"/>
          <p:cNvSpPr txBox="1"/>
          <p:nvPr/>
        </p:nvSpPr>
        <p:spPr>
          <a:xfrm>
            <a:off x="658368" y="5648959"/>
            <a:ext cx="10874959" cy="276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Stage I, signal to corpus (1-4); Stage II, supervision to evaluation (5-8). Framework in blue.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6184" y="6419088"/>
            <a:ext cx="914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6B787D"/>
                </a:solidFill>
                <a:latin typeface="Consolas"/>
              </a:rPr>
              <a:t>03a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365760"/>
            <a:ext cx="108722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E8FA3"/>
                </a:solidFill>
                <a:latin typeface="Consolas"/>
              </a:rPr>
              <a:t>LIVE DEMO / ONE CLIP THROUGH THE PIPELINE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13232"/>
            <a:ext cx="10872216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81B"/>
                </a:solidFill>
                <a:latin typeface="Segoe UI"/>
              </a:rPr>
              <a:t>Fourteen seconds, from sound to a speaker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2216" cy="1517904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low-text"/>
          <p:cNvSpPr txBox="1"/>
          <p:nvPr/>
        </p:nvSpPr>
        <p:spPr>
          <a:xfrm>
            <a:off x="804672" y="138074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87D"/>
                </a:solidFill>
                <a:latin typeface="Consolas"/>
              </a:rPr>
              <a:t>1 / AUDIO, AND WHO IS SPEAKING</a:t>
            </a:r>
          </a:p>
        </p:txBody>
      </p:sp>
      <p:pic>
        <p:nvPicPr>
          <p:cNvPr id="7" name="demo-audi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2688" y="1719072"/>
            <a:ext cx="658368" cy="658368"/>
          </a:xfrm>
          <a:prstGeom prst="rect">
            <a:avLst/>
          </a:prstGeom>
        </p:spPr>
      </p:pic>
      <p:sp>
        <p:nvSpPr>
          <p:cNvPr id="8" name="flow-text"/>
          <p:cNvSpPr txBox="1"/>
          <p:nvPr/>
        </p:nvSpPr>
        <p:spPr>
          <a:xfrm>
            <a:off x="731519" y="2432304"/>
            <a:ext cx="106070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8FA3"/>
                </a:solidFill>
                <a:latin typeface="Consolas"/>
              </a:rPr>
              <a:t>click to 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886696"/>
            <a:ext cx="61079" cy="140239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01635" y="1840430"/>
            <a:ext cx="61079" cy="232771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00151" y="1877696"/>
            <a:ext cx="61079" cy="158238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98667" y="1783079"/>
            <a:ext cx="61079" cy="347472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97182" y="1921686"/>
            <a:ext cx="61079" cy="70258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95698" y="1822882"/>
            <a:ext cx="61079" cy="267866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94214" y="1791419"/>
            <a:ext cx="61079" cy="330793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92730" y="1812146"/>
            <a:ext cx="61079" cy="289339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91245" y="1823404"/>
            <a:ext cx="61079" cy="266823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89761" y="1819842"/>
            <a:ext cx="61079" cy="273946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88277" y="1884055"/>
            <a:ext cx="61079" cy="145521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86792" y="1834505"/>
            <a:ext cx="61079" cy="244620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85308" y="1844547"/>
            <a:ext cx="61079" cy="224536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83824" y="1858967"/>
            <a:ext cx="61079" cy="195696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82340" y="1844495"/>
            <a:ext cx="61079" cy="224640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80855" y="1928531"/>
            <a:ext cx="61079" cy="56568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9371" y="1862737"/>
            <a:ext cx="61079" cy="188156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77887" y="1888294"/>
            <a:ext cx="61079" cy="137042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76402" y="1891178"/>
            <a:ext cx="61079" cy="13127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74918" y="1887703"/>
            <a:ext cx="61079" cy="13822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073434" y="1886122"/>
            <a:ext cx="61079" cy="14138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71950" y="1882491"/>
            <a:ext cx="61079" cy="14864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70465" y="1880841"/>
            <a:ext cx="61079" cy="15194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68981" y="1883864"/>
            <a:ext cx="61079" cy="14590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67497" y="1883881"/>
            <a:ext cx="61079" cy="14586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66012" y="1869600"/>
            <a:ext cx="61079" cy="17443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4528" y="1878773"/>
            <a:ext cx="61079" cy="15608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63044" y="1877262"/>
            <a:ext cx="61079" cy="159107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61560" y="1876046"/>
            <a:ext cx="61079" cy="16153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960075" y="1868627"/>
            <a:ext cx="61079" cy="17637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58591" y="1881223"/>
            <a:ext cx="61079" cy="151185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157107" y="1869878"/>
            <a:ext cx="61079" cy="17387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255622" y="1884541"/>
            <a:ext cx="61079" cy="14454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54138" y="1889945"/>
            <a:ext cx="61079" cy="13374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52654" y="1876289"/>
            <a:ext cx="61079" cy="16105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51170" y="1891265"/>
            <a:ext cx="61079" cy="13110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49685" y="1875976"/>
            <a:ext cx="61079" cy="16167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48201" y="1869635"/>
            <a:ext cx="61079" cy="17436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846717" y="1893263"/>
            <a:ext cx="61079" cy="127105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945232" y="1860896"/>
            <a:ext cx="61079" cy="19183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43748" y="1855701"/>
            <a:ext cx="61079" cy="20222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2264" y="1854971"/>
            <a:ext cx="61079" cy="20368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40780" y="1856466"/>
            <a:ext cx="61079" cy="20069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39295" y="1853130"/>
            <a:ext cx="61079" cy="20737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37811" y="1871390"/>
            <a:ext cx="61079" cy="17085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36327" y="1863936"/>
            <a:ext cx="61079" cy="18575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634842" y="1939963"/>
            <a:ext cx="61079" cy="3370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733358" y="1857056"/>
            <a:ext cx="61079" cy="19951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831874" y="1836833"/>
            <a:ext cx="61079" cy="23996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930390" y="1834679"/>
            <a:ext cx="61079" cy="244272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028905" y="1828755"/>
            <a:ext cx="61079" cy="25612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27421" y="1839248"/>
            <a:ext cx="61079" cy="23513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225937" y="1841403"/>
            <a:ext cx="61079" cy="230825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324452" y="1814335"/>
            <a:ext cx="61079" cy="28496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422968" y="1844825"/>
            <a:ext cx="61079" cy="22398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521484" y="1831743"/>
            <a:ext cx="61079" cy="250145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620000" y="1842706"/>
            <a:ext cx="61079" cy="22821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718515" y="1851062"/>
            <a:ext cx="61079" cy="21150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817031" y="1882804"/>
            <a:ext cx="61079" cy="14802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915547" y="1947672"/>
            <a:ext cx="61079" cy="1828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014062" y="1828199"/>
            <a:ext cx="61079" cy="25723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112578" y="1853842"/>
            <a:ext cx="61079" cy="20594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211094" y="1819269"/>
            <a:ext cx="61079" cy="27509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309610" y="1842706"/>
            <a:ext cx="61079" cy="22821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408125" y="1828268"/>
            <a:ext cx="61079" cy="25709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506641" y="1822014"/>
            <a:ext cx="61079" cy="26960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605157" y="1837546"/>
            <a:ext cx="61079" cy="23853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703672" y="1819929"/>
            <a:ext cx="61079" cy="27377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802188" y="1824046"/>
            <a:ext cx="61079" cy="26553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900704" y="1845207"/>
            <a:ext cx="61079" cy="22321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999220" y="1857525"/>
            <a:ext cx="61079" cy="19858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097735" y="1839005"/>
            <a:ext cx="61079" cy="23562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96251" y="1838866"/>
            <a:ext cx="61079" cy="23589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294767" y="1848943"/>
            <a:ext cx="61079" cy="215745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393282" y="1841924"/>
            <a:ext cx="61079" cy="22978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91798" y="1829675"/>
            <a:ext cx="61079" cy="25428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590314" y="1832785"/>
            <a:ext cx="61079" cy="24806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688830" y="1835530"/>
            <a:ext cx="61079" cy="24257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787345" y="1832177"/>
            <a:ext cx="61079" cy="24927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885861" y="1846927"/>
            <a:ext cx="61079" cy="21977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984377" y="1836330"/>
            <a:ext cx="61079" cy="24097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0082892" y="1872797"/>
            <a:ext cx="61079" cy="168037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181408" y="1920609"/>
            <a:ext cx="61079" cy="7241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0279924" y="1942656"/>
            <a:ext cx="61079" cy="2831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103120" y="2377439"/>
            <a:ext cx="1648597" cy="192024"/>
          </a:xfrm>
          <a:prstGeom prst="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770005" y="2377439"/>
            <a:ext cx="6608434" cy="19202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flow-text"/>
          <p:cNvSpPr txBox="1"/>
          <p:nvPr/>
        </p:nvSpPr>
        <p:spPr>
          <a:xfrm>
            <a:off x="2148839" y="2400299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speaker 0</a:t>
            </a:r>
          </a:p>
        </p:txBody>
      </p:sp>
      <p:sp>
        <p:nvSpPr>
          <p:cNvPr id="96" name="flow-text"/>
          <p:cNvSpPr txBox="1"/>
          <p:nvPr/>
        </p:nvSpPr>
        <p:spPr>
          <a:xfrm>
            <a:off x="3834013" y="2400299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speaker 3, from 2328.8 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62690" y="1609344"/>
            <a:ext cx="14630" cy="768095"/>
          </a:xfrm>
          <a:prstGeom prst="rect">
            <a:avLst/>
          </a:prstGeom>
          <a:solidFill>
            <a:srgbClr val="B57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flow-text"/>
          <p:cNvSpPr txBox="1"/>
          <p:nvPr/>
        </p:nvSpPr>
        <p:spPr>
          <a:xfrm>
            <a:off x="2103120" y="2587751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87D"/>
                </a:solidFill>
                <a:latin typeface="Consolas"/>
              </a:rPr>
              <a:t>2326.0 s</a:t>
            </a:r>
          </a:p>
        </p:txBody>
      </p:sp>
      <p:sp>
        <p:nvSpPr>
          <p:cNvPr id="99" name="flow-text"/>
          <p:cNvSpPr txBox="1"/>
          <p:nvPr/>
        </p:nvSpPr>
        <p:spPr>
          <a:xfrm>
            <a:off x="9281160" y="2587751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87D"/>
                </a:solidFill>
                <a:latin typeface="Consolas"/>
              </a:rPr>
              <a:t>2340.0 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8368" y="2926080"/>
            <a:ext cx="10872216" cy="914400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flow-text"/>
          <p:cNvSpPr txBox="1"/>
          <p:nvPr/>
        </p:nvSpPr>
        <p:spPr>
          <a:xfrm>
            <a:off x="804672" y="300837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87D"/>
                </a:solidFill>
                <a:latin typeface="Consolas"/>
              </a:rPr>
              <a:t>2 / WORDS, EACH WITH A TIMESTAMP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77824" y="3236976"/>
            <a:ext cx="841247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flow-text"/>
          <p:cNvSpPr txBox="1"/>
          <p:nvPr/>
        </p:nvSpPr>
        <p:spPr>
          <a:xfrm>
            <a:off x="877824" y="3273552"/>
            <a:ext cx="84124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একটু</a:t>
            </a:r>
          </a:p>
        </p:txBody>
      </p:sp>
      <p:sp>
        <p:nvSpPr>
          <p:cNvPr id="104" name="flow-text"/>
          <p:cNvSpPr txBox="1"/>
          <p:nvPr/>
        </p:nvSpPr>
        <p:spPr>
          <a:xfrm>
            <a:off x="877824" y="3502152"/>
            <a:ext cx="841247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2328.58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47088" y="3236976"/>
            <a:ext cx="1033271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flow-text"/>
          <p:cNvSpPr txBox="1"/>
          <p:nvPr/>
        </p:nvSpPr>
        <p:spPr>
          <a:xfrm>
            <a:off x="1847088" y="3273552"/>
            <a:ext cx="103327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খেয়াল</a:t>
            </a:r>
          </a:p>
        </p:txBody>
      </p:sp>
      <p:sp>
        <p:nvSpPr>
          <p:cNvPr id="107" name="flow-text"/>
          <p:cNvSpPr txBox="1"/>
          <p:nvPr/>
        </p:nvSpPr>
        <p:spPr>
          <a:xfrm>
            <a:off x="1847088" y="3502152"/>
            <a:ext cx="1033271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2329.34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08376" y="3236976"/>
            <a:ext cx="745236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flow-text"/>
          <p:cNvSpPr txBox="1"/>
          <p:nvPr/>
        </p:nvSpPr>
        <p:spPr>
          <a:xfrm>
            <a:off x="3008376" y="3273552"/>
            <a:ext cx="7452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করে</a:t>
            </a:r>
          </a:p>
        </p:txBody>
      </p:sp>
      <p:sp>
        <p:nvSpPr>
          <p:cNvPr id="110" name="flow-text"/>
          <p:cNvSpPr txBox="1"/>
          <p:nvPr/>
        </p:nvSpPr>
        <p:spPr>
          <a:xfrm>
            <a:off x="3008376" y="3502152"/>
            <a:ext cx="74523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2329.60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81628" y="3236976"/>
            <a:ext cx="841247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flow-text"/>
          <p:cNvSpPr txBox="1"/>
          <p:nvPr/>
        </p:nvSpPr>
        <p:spPr>
          <a:xfrm>
            <a:off x="3881628" y="3273552"/>
            <a:ext cx="84124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দেখি</a:t>
            </a:r>
          </a:p>
        </p:txBody>
      </p:sp>
      <p:sp>
        <p:nvSpPr>
          <p:cNvPr id="113" name="flow-text"/>
          <p:cNvSpPr txBox="1"/>
          <p:nvPr/>
        </p:nvSpPr>
        <p:spPr>
          <a:xfrm>
            <a:off x="3881628" y="3502152"/>
            <a:ext cx="841247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2329.76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850892" y="3236976"/>
            <a:ext cx="64922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flow-text"/>
          <p:cNvSpPr txBox="1"/>
          <p:nvPr/>
        </p:nvSpPr>
        <p:spPr>
          <a:xfrm>
            <a:off x="4850892" y="3273552"/>
            <a:ext cx="64922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যে</a:t>
            </a:r>
          </a:p>
        </p:txBody>
      </p:sp>
      <p:sp>
        <p:nvSpPr>
          <p:cNvPr id="116" name="flow-text"/>
          <p:cNvSpPr txBox="1"/>
          <p:nvPr/>
        </p:nvSpPr>
        <p:spPr>
          <a:xfrm>
            <a:off x="4850892" y="3502152"/>
            <a:ext cx="64922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2330.06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28131" y="3236976"/>
            <a:ext cx="841247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flow-text"/>
          <p:cNvSpPr txBox="1"/>
          <p:nvPr/>
        </p:nvSpPr>
        <p:spPr>
          <a:xfrm>
            <a:off x="5628131" y="3273552"/>
            <a:ext cx="84124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আমরা</a:t>
            </a:r>
          </a:p>
        </p:txBody>
      </p:sp>
      <p:sp>
        <p:nvSpPr>
          <p:cNvPr id="119" name="flow-text"/>
          <p:cNvSpPr txBox="1"/>
          <p:nvPr/>
        </p:nvSpPr>
        <p:spPr>
          <a:xfrm>
            <a:off x="5628131" y="3502152"/>
            <a:ext cx="841247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2330.28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597396" y="3236976"/>
            <a:ext cx="937259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flow-text"/>
          <p:cNvSpPr txBox="1"/>
          <p:nvPr/>
        </p:nvSpPr>
        <p:spPr>
          <a:xfrm>
            <a:off x="6597396" y="3273552"/>
            <a:ext cx="9372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এখানে</a:t>
            </a:r>
          </a:p>
        </p:txBody>
      </p:sp>
      <p:sp>
        <p:nvSpPr>
          <p:cNvPr id="122" name="flow-text"/>
          <p:cNvSpPr txBox="1"/>
          <p:nvPr/>
        </p:nvSpPr>
        <p:spPr>
          <a:xfrm>
            <a:off x="6597396" y="3502152"/>
            <a:ext cx="93725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2330.56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62671" y="3236976"/>
            <a:ext cx="112928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flow-text"/>
          <p:cNvSpPr txBox="1"/>
          <p:nvPr/>
        </p:nvSpPr>
        <p:spPr>
          <a:xfrm>
            <a:off x="7662671" y="3273552"/>
            <a:ext cx="112928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4181B"/>
                </a:solidFill>
                <a:latin typeface="Nirmala UI"/>
              </a:rPr>
              <a:t>অনেকবার</a:t>
            </a:r>
          </a:p>
        </p:txBody>
      </p:sp>
      <p:sp>
        <p:nvSpPr>
          <p:cNvPr id="125" name="flow-text"/>
          <p:cNvSpPr txBox="1"/>
          <p:nvPr/>
        </p:nvSpPr>
        <p:spPr>
          <a:xfrm>
            <a:off x="7662671" y="3502152"/>
            <a:ext cx="112928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87D"/>
                </a:solidFill>
                <a:latin typeface="Consolas"/>
              </a:rPr>
              <a:t>2330.86</a:t>
            </a:r>
          </a:p>
        </p:txBody>
      </p:sp>
      <p:sp>
        <p:nvSpPr>
          <p:cNvPr id="126" name="flow-text"/>
          <p:cNvSpPr txBox="1"/>
          <p:nvPr/>
        </p:nvSpPr>
        <p:spPr>
          <a:xfrm>
            <a:off x="8956547" y="334670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87D"/>
                </a:solidFill>
                <a:latin typeface="Segoe UI"/>
              </a:rPr>
              <a:t>… 33 in all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8368" y="3950208"/>
            <a:ext cx="10872216" cy="969264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flow-text"/>
          <p:cNvSpPr txBox="1"/>
          <p:nvPr/>
        </p:nvSpPr>
        <p:spPr>
          <a:xfrm>
            <a:off x="804672" y="403250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87D"/>
                </a:solidFill>
                <a:latin typeface="Consolas"/>
              </a:rPr>
              <a:t>3 / ONE SPEAKER TURN, AND WHAT IT EXPRESSES</a:t>
            </a:r>
          </a:p>
        </p:txBody>
      </p:sp>
      <p:sp>
        <p:nvSpPr>
          <p:cNvPr id="129" name="flow-text"/>
          <p:cNvSpPr txBox="1"/>
          <p:nvPr/>
        </p:nvSpPr>
        <p:spPr>
          <a:xfrm>
            <a:off x="877824" y="4315968"/>
            <a:ext cx="77724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4181B"/>
                </a:solidFill>
                <a:latin typeface="Nirmala UI"/>
              </a:rPr>
              <a:t>… সেই লক্ষ্যে যেটা আমরা দেখি সেরকম কিন্তু </a:t>
            </a:r>
            <a:r>
              <a:rPr sz="1700" b="1">
                <a:solidFill>
                  <a:srgbClr val="14181B"/>
                </a:solidFill>
                <a:latin typeface="Nirmala UI"/>
              </a:rPr>
              <a:t>বড় কোন পরিবর্তন হয়নি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732520" y="4315968"/>
            <a:ext cx="1225296" cy="384048"/>
          </a:xfrm>
          <a:prstGeom prst="round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flow-text"/>
          <p:cNvSpPr txBox="1"/>
          <p:nvPr/>
        </p:nvSpPr>
        <p:spPr>
          <a:xfrm>
            <a:off x="8732520" y="4407408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negative</a:t>
            </a:r>
          </a:p>
        </p:txBody>
      </p:sp>
      <p:sp>
        <p:nvSpPr>
          <p:cNvPr id="132" name="flow-text"/>
          <p:cNvSpPr txBox="1"/>
          <p:nvPr/>
        </p:nvSpPr>
        <p:spPr>
          <a:xfrm>
            <a:off x="10076688" y="439826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87D"/>
                </a:solidFill>
                <a:latin typeface="Segoe UI"/>
              </a:rPr>
              <a:t>one of his eight turns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" y="5047488"/>
            <a:ext cx="10872216" cy="1207008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flow-text"/>
          <p:cNvSpPr txBox="1"/>
          <p:nvPr/>
        </p:nvSpPr>
        <p:spPr>
          <a:xfrm>
            <a:off x="804672" y="5129783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87D"/>
                </a:solidFill>
                <a:latin typeface="Consolas"/>
              </a:rPr>
              <a:t>4 / THE SPEAKER, ACROSS THE WHOLE EPISODE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77824" y="5468112"/>
            <a:ext cx="1225296" cy="457200"/>
          </a:xfrm>
          <a:prstGeom prst="roundRect">
            <a:avLst/>
          </a:prstGeom>
          <a:solidFill>
            <a:srgbClr val="B57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flow-text"/>
          <p:cNvSpPr txBox="1"/>
          <p:nvPr/>
        </p:nvSpPr>
        <p:spPr>
          <a:xfrm>
            <a:off x="877824" y="5596127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mixed</a:t>
            </a:r>
          </a:p>
        </p:txBody>
      </p:sp>
      <p:sp>
        <p:nvSpPr>
          <p:cNvPr id="137" name="flow-text"/>
          <p:cNvSpPr txBox="1"/>
          <p:nvPr/>
        </p:nvSpPr>
        <p:spPr>
          <a:xfrm>
            <a:off x="2322576" y="5376672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87D"/>
                </a:solidFill>
                <a:latin typeface="Consolas"/>
              </a:rPr>
              <a:t>his eight turns, in order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322576" y="5577840"/>
            <a:ext cx="246888" cy="292608"/>
          </a:xfrm>
          <a:prstGeom prst="roundRect">
            <a:avLst/>
          </a:prstGeom>
          <a:solidFill>
            <a:srgbClr val="3C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2624328" y="5577840"/>
            <a:ext cx="246888" cy="292608"/>
          </a:xfrm>
          <a:prstGeom prst="roundRect">
            <a:avLst/>
          </a:prstGeom>
          <a:solidFill>
            <a:srgbClr val="3C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2926080" y="5577840"/>
            <a:ext cx="246888" cy="292608"/>
          </a:xfrm>
          <a:prstGeom prst="round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3227832" y="5577840"/>
            <a:ext cx="246888" cy="292608"/>
          </a:xfrm>
          <a:prstGeom prst="round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3529584" y="5577840"/>
            <a:ext cx="246888" cy="292608"/>
          </a:xfrm>
          <a:prstGeom prst="round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3831336" y="5577840"/>
            <a:ext cx="246888" cy="292608"/>
          </a:xfrm>
          <a:prstGeom prst="round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4133088" y="5577840"/>
            <a:ext cx="246888" cy="292608"/>
          </a:xfrm>
          <a:prstGeom prst="roundRect">
            <a:avLst/>
          </a:prstGeom>
          <a:solidFill>
            <a:srgbClr val="3C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4434840" y="5577840"/>
            <a:ext cx="246888" cy="292608"/>
          </a:xfrm>
          <a:prstGeom prst="roundRect">
            <a:avLst/>
          </a:prstGeom>
          <a:solidFill>
            <a:srgbClr val="6B7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flow-text"/>
          <p:cNvSpPr txBox="1"/>
          <p:nvPr/>
        </p:nvSpPr>
        <p:spPr>
          <a:xfrm>
            <a:off x="2322576" y="592531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E4A4F"/>
                </a:solidFill>
                <a:latin typeface="Segoe UI"/>
              </a:rPr>
              <a:t>3 positive   3 neutral   2 negative</a:t>
            </a:r>
          </a:p>
        </p:txBody>
      </p:sp>
      <p:sp>
        <p:nvSpPr>
          <p:cNvPr id="147" name="flow-text"/>
          <p:cNvSpPr txBox="1"/>
          <p:nvPr/>
        </p:nvSpPr>
        <p:spPr>
          <a:xfrm>
            <a:off x="5669280" y="5376672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87D"/>
                </a:solidFill>
                <a:latin typeface="Consolas"/>
              </a:rPr>
              <a:t>stance across the episode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669280" y="5724144"/>
            <a:ext cx="3566160" cy="45720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661964" y="5678424"/>
            <a:ext cx="14630" cy="137160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flow-text"/>
          <p:cNvSpPr txBox="1"/>
          <p:nvPr/>
        </p:nvSpPr>
        <p:spPr>
          <a:xfrm>
            <a:off x="5440680" y="586130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87D"/>
                </a:solidFill>
                <a:latin typeface="Consolas"/>
              </a:rPr>
              <a:t>−1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445044" y="5678424"/>
            <a:ext cx="14630" cy="137160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flow-text"/>
          <p:cNvSpPr txBox="1"/>
          <p:nvPr/>
        </p:nvSpPr>
        <p:spPr>
          <a:xfrm>
            <a:off x="7223760" y="586130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87D"/>
                </a:solidFill>
                <a:latin typeface="Consolas"/>
              </a:rPr>
              <a:t>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228124" y="5678424"/>
            <a:ext cx="14630" cy="137160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flow-text"/>
          <p:cNvSpPr txBox="1"/>
          <p:nvPr/>
        </p:nvSpPr>
        <p:spPr>
          <a:xfrm>
            <a:off x="9006840" y="586130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87D"/>
                </a:solidFill>
                <a:latin typeface="Consolas"/>
              </a:rPr>
              <a:t>+1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669529" y="5614416"/>
            <a:ext cx="100584" cy="265176"/>
          </a:xfrm>
          <a:prstGeom prst="roundRect">
            <a:avLst/>
          </a:prstGeom>
          <a:solidFill>
            <a:srgbClr val="B57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flow-text"/>
          <p:cNvSpPr txBox="1"/>
          <p:nvPr/>
        </p:nvSpPr>
        <p:spPr>
          <a:xfrm>
            <a:off x="7829549" y="56327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701F"/>
                </a:solidFill>
                <a:latin typeface="Consolas"/>
              </a:rPr>
              <a:t>+0.15</a:t>
            </a:r>
          </a:p>
        </p:txBody>
      </p:sp>
      <p:sp>
        <p:nvSpPr>
          <p:cNvPr id="157" name="flow-text"/>
          <p:cNvSpPr txBox="1"/>
          <p:nvPr/>
        </p:nvSpPr>
        <p:spPr>
          <a:xfrm>
            <a:off x="9528048" y="5504688"/>
            <a:ext cx="1874519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87D"/>
                </a:solidFill>
                <a:latin typeface="Segoe UI"/>
              </a:rPr>
              <a:t>one turn says negative, the speaker overall does not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04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FRAMEWORKS / MODELS AND LIBRARIES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Which model and framework does what</a:t>
            </a:r>
          </a:p>
        </p:txBody>
      </p:sp>
      <p:graphicFrame>
        <p:nvGraphicFramePr>
          <p:cNvPr id="5" name="flow-table|4.252"/>
          <p:cNvGraphicFramePr>
            <a:graphicFrameLocks noGrp="1"/>
          </p:cNvGraphicFramePr>
          <p:nvPr/>
        </p:nvGraphicFramePr>
        <p:xfrm>
          <a:off x="658368" y="1506220"/>
          <a:ext cx="10874957" cy="3888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6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Stage</a:t>
                      </a:r>
                    </a:p>
                  </a:txBody>
                  <a:tcPr marL="109728" marR="109728" marT="32004" marB="3200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Model / method</a:t>
                      </a:r>
                    </a:p>
                  </a:txBody>
                  <a:tcPr marL="109728" marR="109728" marT="32004" marB="3200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Framework / library</a:t>
                      </a:r>
                    </a:p>
                  </a:txBody>
                  <a:tcPr marL="109728" marR="109728" marT="32004" marB="3200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Produces</a:t>
                      </a:r>
                    </a:p>
                  </a:txBody>
                  <a:tcPr marL="109728" marR="109728" marT="32004" marB="3200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Audio hygiene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Loudness norm; music separation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ffmpeg, pyloudnorm, Demucs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16 kHz mono WAV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3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Diarization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pyannote community-1, wespeaker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pyannote.audio, PyTorch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who spoke when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ASR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Whisper-medium, Bangla fine-tune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faster-whisper, CTranslate2 4.6.1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words + timings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Fusion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Midpoint, then max-overlap rule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Python, schema 2.0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speaker turns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Labelling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Claude Opus 5 as judge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fixed rubric, JSON schema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turn, speaker labels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TF-IDF word 1-2 + LogReg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scikit-learn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reference score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Main model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BanglaBERT, ELECTRA 110M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PyTorch 2.11, HF transformers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turn labels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Aggregation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top_k, hard_vote, weighted votes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Python, NumPy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speaker verdict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Analysis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Metrics, tables, figures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pandas, matplotlib, seaborn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results, plots</a:t>
                      </a:r>
                    </a:p>
                  </a:txBody>
                  <a:tcPr marL="109728" marR="109728" marT="32004" marB="3200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flow-text"/>
          <p:cNvSpPr txBox="1"/>
          <p:nvPr/>
        </p:nvSpPr>
        <p:spPr>
          <a:xfrm>
            <a:off x="658368" y="5540756"/>
            <a:ext cx="10874959" cy="260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Runtime: Google Colab, CUDA GPU, float16 ASR. Seeds 17 pipeline, 13 split, 42 modelling. Retrieval demo: Gradio.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05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03 / DATASET SPECIFICATIONS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The dataset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10874959" cy="91440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low-text"/>
          <p:cNvSpPr txBox="1"/>
          <p:nvPr/>
        </p:nvSpPr>
        <p:spPr>
          <a:xfrm>
            <a:off x="841247" y="1615948"/>
            <a:ext cx="1900671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45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841247" y="2054860"/>
            <a:ext cx="1918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EPISODES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3359" y="1615948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3016239" y="1615948"/>
            <a:ext cx="1900671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28.6 h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3016239" y="2054860"/>
            <a:ext cx="1918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AUDIO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8351" y="1615948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ow-text"/>
          <p:cNvSpPr txBox="1"/>
          <p:nvPr/>
        </p:nvSpPr>
        <p:spPr>
          <a:xfrm>
            <a:off x="5191231" y="1615948"/>
            <a:ext cx="1900671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2,414</a:t>
            </a:r>
          </a:p>
        </p:txBody>
      </p:sp>
      <p:sp>
        <p:nvSpPr>
          <p:cNvPr id="13" name="flow-text"/>
          <p:cNvSpPr txBox="1"/>
          <p:nvPr/>
        </p:nvSpPr>
        <p:spPr>
          <a:xfrm>
            <a:off x="5191231" y="2054860"/>
            <a:ext cx="1918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SPEAKER TURNS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83343" y="1615948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-text"/>
          <p:cNvSpPr txBox="1"/>
          <p:nvPr/>
        </p:nvSpPr>
        <p:spPr>
          <a:xfrm>
            <a:off x="7366223" y="1615948"/>
            <a:ext cx="1900671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219K</a:t>
            </a:r>
          </a:p>
        </p:txBody>
      </p:sp>
      <p:sp>
        <p:nvSpPr>
          <p:cNvPr id="16" name="flow-text"/>
          <p:cNvSpPr txBox="1"/>
          <p:nvPr/>
        </p:nvSpPr>
        <p:spPr>
          <a:xfrm>
            <a:off x="7366223" y="2054860"/>
            <a:ext cx="1918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58335" y="1615948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ow-text"/>
          <p:cNvSpPr txBox="1"/>
          <p:nvPr/>
        </p:nvSpPr>
        <p:spPr>
          <a:xfrm>
            <a:off x="9541215" y="1615948"/>
            <a:ext cx="1900671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1,630</a:t>
            </a:r>
          </a:p>
        </p:txBody>
      </p:sp>
      <p:sp>
        <p:nvSpPr>
          <p:cNvPr id="19" name="flow-text"/>
          <p:cNvSpPr txBox="1"/>
          <p:nvPr/>
        </p:nvSpPr>
        <p:spPr>
          <a:xfrm>
            <a:off x="9541215" y="2054860"/>
            <a:ext cx="1918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SUPERVISED TURNS</a:t>
            </a:r>
          </a:p>
        </p:txBody>
      </p:sp>
      <p:graphicFrame>
        <p:nvGraphicFramePr>
          <p:cNvPr id="20" name="flow-table|3.804"/>
          <p:cNvGraphicFramePr>
            <a:graphicFrameLocks noGrp="1"/>
          </p:cNvGraphicFramePr>
          <p:nvPr/>
        </p:nvGraphicFramePr>
        <p:xfrm>
          <a:off x="658368" y="2658363"/>
          <a:ext cx="10874958" cy="3478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Item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Specification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Unit of observation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Speaker turn (2,414); secondary unit is the speaker-episode (212)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Data types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Processed WAV, ASR transcripts, diarization, word-speaker fusion, turns, labels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File formats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WAV 16 kHz mono, JSON, RTTM, JSONL, CSV, Jupyter notebook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Turn labels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negative / neutral / positive; illegible is excluded from supervision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Speaker labels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negative / mixed / neutral / positive, plus stance_score in [-1, 1]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ATN Bangla, RTV, Desh TV, GTV, Kaler Kantho, Star News, Dhaka Stream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06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04 / VALUE OF THE DATA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Why this corpus is worth reusing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3472586" cy="2076752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06220"/>
            <a:ext cx="50292" cy="2076752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932688" y="1707388"/>
            <a:ext cx="2978810" cy="1674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Sentiment per speaker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Host, economist and industry voice keep separate labels instead of one averaged episode score.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9554" y="1506220"/>
            <a:ext cx="3472586" cy="2076752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9554" y="1506220"/>
            <a:ext cx="50292" cy="2076752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4633874" y="1707388"/>
            <a:ext cx="2978810" cy="1674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Spoken Bangla finance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Bangla sentiment sets are written social-media text; this is broadcast speech after ASR.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0740" y="1506220"/>
            <a:ext cx="3472586" cy="2076752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0740" y="1506220"/>
            <a:ext cx="50292" cy="2076752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335060" y="1707388"/>
            <a:ext cx="2978810" cy="1362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Several ML tasks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Turn sentiment, speaker stance, host vs guest role, and robustness to noisy ASR.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11572"/>
            <a:ext cx="3472586" cy="2076752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3811572"/>
            <a:ext cx="50292" cy="2076752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-text"/>
          <p:cNvSpPr txBox="1"/>
          <p:nvPr/>
        </p:nvSpPr>
        <p:spPr>
          <a:xfrm>
            <a:off x="932688" y="4012740"/>
            <a:ext cx="2978810" cy="1674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Every artefact kept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RTTM, per-word ASR probabilities, fusion alignments, judge rationales with quotes.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9554" y="3811572"/>
            <a:ext cx="3472586" cy="2076752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59554" y="3811572"/>
            <a:ext cx="50292" cy="2076752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text"/>
          <p:cNvSpPr txBox="1"/>
          <p:nvPr/>
        </p:nvSpPr>
        <p:spPr>
          <a:xfrm>
            <a:off x="4633874" y="4012740"/>
            <a:ext cx="2978810" cy="1674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Extensible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Retained audio suits acoustic models; a 52-target lexicon enables speaker x target sentiment.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0740" y="3811572"/>
            <a:ext cx="3472586" cy="2076752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60740" y="3811572"/>
            <a:ext cx="50292" cy="2076752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low-text"/>
          <p:cNvSpPr txBox="1"/>
          <p:nvPr/>
        </p:nvSpPr>
        <p:spPr>
          <a:xfrm>
            <a:off x="8335060" y="4012740"/>
            <a:ext cx="2978810" cy="1674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Defects documented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Leakage risks and unmeasured metrics are published, so it doubles as a teaching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07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05 / BACKGROUND AND MOTIVATION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Expert opinion on the economy, locked in audio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341628"/>
            <a:ext cx="10874959" cy="340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E4A4F"/>
                </a:solidFill>
                <a:latin typeface="Segoe UI"/>
              </a:rPr>
              <a:t>Banking stress, reserves and inflation are debated nightly, in unindexed Bangla audio.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5300319" cy="1782211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920239"/>
            <a:ext cx="50292" cy="1782211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low-text"/>
          <p:cNvSpPr txBox="1"/>
          <p:nvPr/>
        </p:nvSpPr>
        <p:spPr>
          <a:xfrm>
            <a:off x="932688" y="2121408"/>
            <a:ext cx="4806543" cy="1379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181B"/>
                </a:solidFill>
                <a:latin typeface="Segoe UI"/>
              </a:rPr>
              <a:t>Gap one: the genre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BLP, BLUB, BAN-ABSA and BABSA are written social-media or review text, not broadcast speech.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920239"/>
            <a:ext cx="5300319" cy="1782211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3007" y="1920239"/>
            <a:ext cx="50292" cy="1782211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-text"/>
          <p:cNvSpPr txBox="1"/>
          <p:nvPr/>
        </p:nvSpPr>
        <p:spPr>
          <a:xfrm>
            <a:off x="6507327" y="2121408"/>
            <a:ext cx="4806543" cy="1379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181B"/>
                </a:solidFill>
                <a:latin typeface="Segoe UI"/>
              </a:rPr>
              <a:t>Gap two: the unit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Corpora label utterances or documents; analysts need "this economist is negative on banking".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40195"/>
            <a:ext cx="10874959" cy="1980763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940195"/>
            <a:ext cx="50292" cy="1980763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ow-text"/>
          <p:cNvSpPr txBox="1"/>
          <p:nvPr/>
        </p:nvSpPr>
        <p:spPr>
          <a:xfrm>
            <a:off x="932688" y="4123075"/>
            <a:ext cx="10381183" cy="1615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181B"/>
                </a:solidFill>
                <a:latin typeface="Segoe UI"/>
              </a:rPr>
              <a:t>Attribution comes before sentiment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Panels overlap and interrupt, so who spoke is recovered from audio before any sentiment.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181B"/>
                </a:solidFill>
                <a:latin typeface="Segoe UI"/>
              </a:rPr>
              <a:t>Zero human sentiment labels existed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An LLM judge became the supervision source, with its limits reported, not hidden.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08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06 / DATA ACQUISITION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Six collectors, forty-five episodes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3106826" cy="86868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low-text"/>
          <p:cNvSpPr txBox="1"/>
          <p:nvPr/>
        </p:nvSpPr>
        <p:spPr>
          <a:xfrm>
            <a:off x="877824" y="1597660"/>
            <a:ext cx="2741066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56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877824" y="2045716"/>
            <a:ext cx="2741066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REGISTRY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2434" y="1506220"/>
            <a:ext cx="3106826" cy="86868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4761890" y="1597660"/>
            <a:ext cx="2741066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46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4761890" y="2045716"/>
            <a:ext cx="2741066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PROCESSED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93210" y="1849120"/>
            <a:ext cx="52120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26500" y="1506220"/>
            <a:ext cx="3106826" cy="868680"/>
          </a:xfrm>
          <a:prstGeom prst="rect">
            <a:avLst/>
          </a:prstGeom>
          <a:solidFill>
            <a:srgbClr val="1D4E5F"/>
          </a:solidFill>
          <a:ln w="1270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645956" y="1597660"/>
            <a:ext cx="2741066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14" name="flow-text"/>
          <p:cNvSpPr txBox="1"/>
          <p:nvPr/>
        </p:nvSpPr>
        <p:spPr>
          <a:xfrm>
            <a:off x="8645956" y="2045716"/>
            <a:ext cx="2741066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0E5E1"/>
                </a:solidFill>
                <a:latin typeface="Consolas"/>
              </a:rPr>
              <a:t>UNIQUE EPISODES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77276" y="1849120"/>
            <a:ext cx="52120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-text"/>
          <p:cNvSpPr txBox="1"/>
          <p:nvPr/>
        </p:nvSpPr>
        <p:spPr>
          <a:xfrm>
            <a:off x="658368" y="2667508"/>
            <a:ext cx="557784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INCLUSION AND COVERAGE</a:t>
            </a:r>
          </a:p>
        </p:txBody>
      </p:sp>
      <p:sp>
        <p:nvSpPr>
          <p:cNvPr id="17" name="flow-text"/>
          <p:cNvSpPr txBox="1"/>
          <p:nvPr/>
        </p:nvSpPr>
        <p:spPr>
          <a:xfrm>
            <a:off x="658368" y="3043428"/>
            <a:ext cx="5577840" cy="186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•	Multi-speaker panel or interview format</a:t>
            </a:r>
          </a:p>
          <a:p>
            <a:pPr marL="274320" indent="-27432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•	Predominantly economic topic, intelligible audio</a:t>
            </a:r>
          </a:p>
          <a:p>
            <a:pPr marL="274320" indent="-27432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•	4 to 14 episodes per roll; 28.6 h in total</a:t>
            </a:r>
          </a:p>
          <a:p>
            <a:pPr marL="274320" indent="-27432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•	Channels: ATN Bangla, RTV Business and others</a:t>
            </a:r>
          </a:p>
          <a:p>
            <a:pPr marL="274320" indent="-27432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•	Pipeline runs August-September 2026, seed 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7" y="2667508"/>
            <a:ext cx="4977079" cy="169451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56247" y="2667508"/>
            <a:ext cx="50292" cy="1694515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low-text"/>
          <p:cNvSpPr txBox="1"/>
          <p:nvPr/>
        </p:nvSpPr>
        <p:spPr>
          <a:xfrm>
            <a:off x="6830567" y="2868676"/>
            <a:ext cx="4483303" cy="1292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Removed: duplicate episode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2107010::ep006 matched 2107004::ep006 by transcript hash and was dropped before splitting.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6247" y="4563191"/>
            <a:ext cx="4977079" cy="169451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56247" y="4563191"/>
            <a:ext cx="50292" cy="1694515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low-text"/>
          <p:cNvSpPr txBox="1"/>
          <p:nvPr/>
        </p:nvSpPr>
        <p:spPr>
          <a:xfrm>
            <a:off x="6830567" y="4764359"/>
            <a:ext cx="4483303" cy="1292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Flagged: two off-genre episodes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A law-and-order interview (2107015::ep002) and a spliced news bulletin, labelled illegible throughout.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09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06 / INSTRUMENTS AND VERSIONS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Every stage pinned to a model revision</a:t>
            </a:r>
          </a:p>
        </p:txBody>
      </p:sp>
      <p:graphicFrame>
        <p:nvGraphicFramePr>
          <p:cNvPr id="5" name="flow-table|4.776"/>
          <p:cNvGraphicFramePr>
            <a:graphicFrameLocks noGrp="1"/>
          </p:cNvGraphicFramePr>
          <p:nvPr/>
        </p:nvGraphicFramePr>
        <p:xfrm>
          <a:off x="658368" y="1506220"/>
          <a:ext cx="10874958" cy="4366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8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Stage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Component and revision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Key settings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Audio hygiene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Resample to 16 kHz mono WAV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loudness and clipping report per episode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Diarization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pyannote community-1 @3533c8cf, wespeaker resnet34-LM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min cluster 20, min segment 0.75 s, min airtime 9 s, stitch gap 2.0 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0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ASR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bengaliAI Whisper-medium @da605cc1, CTranslate2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beam 5, repetition penalty 0.8, 28 s chunks, per-word probabilities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Fusion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Schema 2.0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midpoint then max overlap; first speaker wins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Labelling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Claude Opus 5 judge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fixed rubric, structured JSON output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0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Modelling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csebuetnlp/banglabert @9ce791f3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900" b="0" i="0">
                          <a:solidFill>
                            <a:srgbClr val="14181B"/>
                          </a:solidFill>
                          <a:latin typeface="Segoe UI"/>
                        </a:rPr>
                        <a:t>PyTorch 2.11, transformers, hand-written loop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10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06 / ANNOTATION PROTOCOL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One judge call per speaker, one rubric for panels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506220"/>
            <a:ext cx="38404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</a:t>
            </a:r>
          </a:p>
        </p:txBody>
      </p:sp>
      <p:sp>
        <p:nvSpPr>
          <p:cNvPr id="6" name="flow-text"/>
          <p:cNvSpPr txBox="1"/>
          <p:nvPr/>
        </p:nvSpPr>
        <p:spPr>
          <a:xfrm>
            <a:off x="1042415" y="1506220"/>
            <a:ext cx="6016752" cy="585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E4A4F"/>
                </a:solidFill>
                <a:latin typeface="Segoe UI"/>
              </a:rPr>
              <a:t>Stance, not emotion:</a:t>
            </a:r>
            <a:r>
              <a:rPr sz="1800" b="0" i="0">
                <a:solidFill>
                  <a:srgbClr val="3E4A4F"/>
                </a:solidFill>
                <a:latin typeface="Segoe UI"/>
              </a:rPr>
              <a:t> a calm account of a bank collapse is negative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658368" y="2238197"/>
            <a:ext cx="38404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2</a:t>
            </a:r>
          </a:p>
        </p:txBody>
      </p:sp>
      <p:sp>
        <p:nvSpPr>
          <p:cNvPr id="8" name="flow-text"/>
          <p:cNvSpPr txBox="1"/>
          <p:nvPr/>
        </p:nvSpPr>
        <p:spPr>
          <a:xfrm>
            <a:off x="1042415" y="2238197"/>
            <a:ext cx="6016752" cy="585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E4A4F"/>
                </a:solidFill>
                <a:latin typeface="Segoe UI"/>
              </a:rPr>
              <a:t>Direction is not polarity:</a:t>
            </a:r>
            <a:r>
              <a:rPr sz="1800" b="0" i="0">
                <a:solidFill>
                  <a:srgbClr val="3E4A4F"/>
                </a:solidFill>
                <a:latin typeface="Segoe UI"/>
              </a:rPr>
              <a:t> "increased" is good for reserves, bad for inflation</a:t>
            </a:r>
          </a:p>
        </p:txBody>
      </p:sp>
      <p:sp>
        <p:nvSpPr>
          <p:cNvPr id="9" name="flow-text"/>
          <p:cNvSpPr txBox="1"/>
          <p:nvPr/>
        </p:nvSpPr>
        <p:spPr>
          <a:xfrm>
            <a:off x="658368" y="2970174"/>
            <a:ext cx="38404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3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1042415" y="2970174"/>
            <a:ext cx="6016752" cy="585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E4A4F"/>
                </a:solidFill>
                <a:latin typeface="Segoe UI"/>
              </a:rPr>
              <a:t>A pointed question is neutral:</a:t>
            </a:r>
            <a:r>
              <a:rPr sz="1800" b="0" i="0">
                <a:solidFill>
                  <a:srgbClr val="3E4A4F"/>
                </a:solidFill>
                <a:latin typeface="Segoe UI"/>
              </a:rPr>
              <a:t> hosts elicit, they do not assert</a:t>
            </a:r>
          </a:p>
        </p:txBody>
      </p:sp>
      <p:sp>
        <p:nvSpPr>
          <p:cNvPr id="11" name="flow-text"/>
          <p:cNvSpPr txBox="1"/>
          <p:nvPr/>
        </p:nvSpPr>
        <p:spPr>
          <a:xfrm>
            <a:off x="658368" y="3702151"/>
            <a:ext cx="38404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4</a:t>
            </a:r>
          </a:p>
        </p:txBody>
      </p:sp>
      <p:sp>
        <p:nvSpPr>
          <p:cNvPr id="12" name="flow-text"/>
          <p:cNvSpPr txBox="1"/>
          <p:nvPr/>
        </p:nvSpPr>
        <p:spPr>
          <a:xfrm>
            <a:off x="1042415" y="3702151"/>
            <a:ext cx="6016752" cy="585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E4A4F"/>
                </a:solidFill>
                <a:latin typeface="Segoe UI"/>
              </a:rPr>
              <a:t>Advice is neutral:</a:t>
            </a:r>
            <a:r>
              <a:rPr sz="1800" b="0" i="0">
                <a:solidFill>
                  <a:srgbClr val="3E4A4F"/>
                </a:solidFill>
                <a:latin typeface="Segoe UI"/>
              </a:rPr>
              <a:t> a recommendation is neutral, a complaint negative</a:t>
            </a:r>
          </a:p>
        </p:txBody>
      </p:sp>
      <p:sp>
        <p:nvSpPr>
          <p:cNvPr id="13" name="flow-text"/>
          <p:cNvSpPr txBox="1"/>
          <p:nvPr/>
        </p:nvSpPr>
        <p:spPr>
          <a:xfrm>
            <a:off x="658368" y="4434128"/>
            <a:ext cx="38404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5</a:t>
            </a:r>
          </a:p>
        </p:txBody>
      </p:sp>
      <p:sp>
        <p:nvSpPr>
          <p:cNvPr id="14" name="flow-text"/>
          <p:cNvSpPr txBox="1"/>
          <p:nvPr/>
        </p:nvSpPr>
        <p:spPr>
          <a:xfrm>
            <a:off x="1042415" y="4434128"/>
            <a:ext cx="6016752" cy="292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E4A4F"/>
                </a:solidFill>
                <a:latin typeface="Segoe UI"/>
              </a:rPr>
              <a:t>Reported speech:</a:t>
            </a:r>
            <a:r>
              <a:rPr sz="1800" b="0" i="0">
                <a:solidFill>
                  <a:srgbClr val="3E4A4F"/>
                </a:solidFill>
                <a:latin typeface="Segoe UI"/>
              </a:rPr>
              <a:t> is not the speaker's own stance</a:t>
            </a:r>
          </a:p>
        </p:txBody>
      </p:sp>
      <p:sp>
        <p:nvSpPr>
          <p:cNvPr id="15" name="flow-text"/>
          <p:cNvSpPr txBox="1"/>
          <p:nvPr/>
        </p:nvSpPr>
        <p:spPr>
          <a:xfrm>
            <a:off x="658368" y="4873269"/>
            <a:ext cx="38404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6</a:t>
            </a:r>
          </a:p>
        </p:txBody>
      </p:sp>
      <p:sp>
        <p:nvSpPr>
          <p:cNvPr id="16" name="flow-text"/>
          <p:cNvSpPr txBox="1"/>
          <p:nvPr/>
        </p:nvSpPr>
        <p:spPr>
          <a:xfrm>
            <a:off x="1042415" y="4873269"/>
            <a:ext cx="6016752" cy="585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E4A4F"/>
                </a:solidFill>
                <a:latin typeface="Segoe UI"/>
              </a:rPr>
              <a:t>illegible is a label:</a:t>
            </a:r>
            <a:r>
              <a:rPr sz="1800" b="0" i="0">
                <a:solidFill>
                  <a:srgbClr val="3E4A4F"/>
                </a:solidFill>
                <a:latin typeface="Segoe UI"/>
              </a:rPr>
              <a:t> ASR-destroyed turns are dropped, not guessed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9208" y="1506220"/>
            <a:ext cx="4154119" cy="169451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79208" y="1506220"/>
            <a:ext cx="50292" cy="1694515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text"/>
          <p:cNvSpPr txBox="1"/>
          <p:nvPr/>
        </p:nvSpPr>
        <p:spPr>
          <a:xfrm>
            <a:off x="7653528" y="1707388"/>
            <a:ext cx="3660343" cy="1292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Coherent, auditable labels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Verdict and turn labels come back in one call, each with an evidence quote: 58% verbatim, 42% close paraphrase.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9208" y="3401903"/>
            <a:ext cx="4154119" cy="1694515"/>
          </a:xfrm>
          <a:prstGeom prst="rect">
            <a:avLst/>
          </a:prstGeom>
          <a:solidFill>
            <a:srgbClr val="F5EAD2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79208" y="3401903"/>
            <a:ext cx="50292" cy="1694515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low-text"/>
          <p:cNvSpPr txBox="1"/>
          <p:nvPr/>
        </p:nvSpPr>
        <p:spPr>
          <a:xfrm>
            <a:off x="7653528" y="3603071"/>
            <a:ext cx="3660343" cy="1292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Single judging pass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pass_agreement is 1.0 by construction. Three-pass judging and a 180-turn human check come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11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06 / HUMAN REVIEW AND CORRECTION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Machine-labelled, but not machine-accepted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06220"/>
            <a:ext cx="50292" cy="1585257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932688" y="1661667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Rubric written by people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The six genre rules came from reading transcripts, not from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0410" y="1506220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0410" y="1506220"/>
            <a:ext cx="50292" cy="1585257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4624730" y="1661667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Diarization audited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Roll 2107009 re-run with pyannote: ep001 went from 263 fragments to 47 turns.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2452" y="1506220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2452" y="1506220"/>
            <a:ext cx="50292" cy="1585257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316772" y="1661667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Units screened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212 speaker units, 62 rejected before judging, 150 judged, 147 valid.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292645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3292645"/>
            <a:ext cx="50292" cy="1585257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-text"/>
          <p:cNvSpPr txBox="1"/>
          <p:nvPr/>
        </p:nvSpPr>
        <p:spPr>
          <a:xfrm>
            <a:off x="932688" y="3448093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Stale labels discarded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After the rebuild 53 judgements carried over, 97 re-judged, 19 dropped.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0410" y="3292645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50410" y="3292645"/>
            <a:ext cx="50292" cy="1585257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text"/>
          <p:cNvSpPr txBox="1"/>
          <p:nvPr/>
        </p:nvSpPr>
        <p:spPr>
          <a:xfrm>
            <a:off x="4624730" y="3448093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Illegible excluded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181 of 1,811 turn labels are illegible and left out of supervision.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2452" y="3292645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2452" y="3292645"/>
            <a:ext cx="50292" cy="1585257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low-text"/>
          <p:cNvSpPr txBox="1"/>
          <p:nvPr/>
        </p:nvSpPr>
        <p:spPr>
          <a:xfrm>
            <a:off x="8316772" y="3448093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Evidence audited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All 715 quotes checked: 58% verbatim spans, 42% close paraphrases.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115646"/>
            <a:ext cx="10874959" cy="995245"/>
          </a:xfrm>
          <a:prstGeom prst="rect">
            <a:avLst/>
          </a:prstGeom>
          <a:solidFill>
            <a:srgbClr val="F5EAD2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5115646"/>
            <a:ext cx="50292" cy="995245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-text"/>
          <p:cNvSpPr txBox="1"/>
          <p:nvPr/>
        </p:nvSpPr>
        <p:spPr>
          <a:xfrm>
            <a:off x="932688" y="5271094"/>
            <a:ext cx="10381183" cy="68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What review did not include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No human re-labelled individual turns: all 42 annotation drafts still read human_verified: false.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12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07 / DATA RECORDS AND PROVENANCE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Raw audio is never overwritten</a:t>
            </a:r>
          </a:p>
        </p:txBody>
      </p:sp>
      <p:graphicFrame>
        <p:nvGraphicFramePr>
          <p:cNvPr id="5" name="flow-table|3.840"/>
          <p:cNvGraphicFramePr>
            <a:graphicFrameLocks noGrp="1"/>
          </p:cNvGraphicFramePr>
          <p:nvPr/>
        </p:nvGraphicFramePr>
        <p:xfrm>
          <a:off x="658368" y="1506220"/>
          <a:ext cx="10874958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8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3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Folder / file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Contents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6B787D"/>
                          </a:solidFill>
                          <a:latin typeface="Consolas"/>
                        </a:rPr>
                        <a:t>Kind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&lt;roll&gt;/*.mp3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Source broadcast audio, not redistributed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Raw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results/raw/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registry.csv, episode metadata, SHA-256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Metadata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results/processed/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16 kHz mono WAV, hygiene report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Processed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results/diarization/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RTTM speaker segments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Processed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results/asr/, fused/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Word timings; word-to-speaker alignment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Processed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speaker_sentiment/data/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turns, speakers, judgements, splits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ML-ready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artifacts/, models/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Run config, file checksums, model hashes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Metadata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291836"/>
            <a:ext cx="10874959" cy="653008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5291836"/>
            <a:ext cx="50292" cy="653008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low-text"/>
          <p:cNvSpPr txBox="1"/>
          <p:nvPr/>
        </p:nvSpPr>
        <p:spPr>
          <a:xfrm>
            <a:off x="932688" y="5456427"/>
            <a:ext cx="10381183" cy="32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E4A4F"/>
                </a:solidFill>
                <a:latin typeface="Segoe UI"/>
              </a:rPr>
              <a:t>Stable IDs: </a:t>
            </a:r>
            <a:r>
              <a:rPr sz="1900" b="1" i="0">
                <a:solidFill>
                  <a:srgbClr val="3E4A4F"/>
                </a:solidFill>
                <a:latin typeface="Segoe UI"/>
              </a:rPr>
              <a:t>roll::episode::turnNNNN</a:t>
            </a:r>
            <a:r>
              <a:rPr sz="1900" b="0" i="0">
                <a:solidFill>
                  <a:srgbClr val="3E4A4F"/>
                </a:solidFill>
                <a:latin typeface="Segoe UI"/>
              </a:rPr>
              <a:t>. Every split groups on </a:t>
            </a:r>
            <a:r>
              <a:rPr sz="1900" b="1" i="0">
                <a:solidFill>
                  <a:srgbClr val="3E4A4F"/>
                </a:solidFill>
                <a:latin typeface="Segoe UI"/>
              </a:rPr>
              <a:t>global_episode</a:t>
            </a:r>
            <a:r>
              <a:rPr sz="1900" b="0" i="0">
                <a:solidFill>
                  <a:srgbClr val="3E4A4F"/>
                </a:solidFill>
                <a:latin typeface="Segoe UI"/>
              </a:rPr>
              <a:t> = roll::episode.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13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07 / DATA DICTIONARY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What one row of turns.jsonl holds</a:t>
            </a:r>
          </a:p>
        </p:txBody>
      </p:sp>
      <p:graphicFrame>
        <p:nvGraphicFramePr>
          <p:cNvPr id="5" name="flow-table|5.177"/>
          <p:cNvGraphicFramePr>
            <a:graphicFrameLocks noGrp="1"/>
          </p:cNvGraphicFramePr>
          <p:nvPr/>
        </p:nvGraphicFramePr>
        <p:xfrm>
          <a:off x="658368" y="1506220"/>
          <a:ext cx="10874958" cy="47335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8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4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8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4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Variable</a:t>
                      </a:r>
                    </a:p>
                  </a:txBody>
                  <a:tcPr marL="109728" marR="109728" marT="36576" marB="36576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 marL="109728" marR="109728" marT="36576" marB="36576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Values / missing rule</a:t>
                      </a:r>
                    </a:p>
                  </a:txBody>
                  <a:tcPr marL="109728" marR="109728" marT="36576" marB="36576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turn_id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Unique turn identifier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roll::ep::turnNNNN, never null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global_episode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Grouping key used for splitting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roll::epNNN, never null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speaker_id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Episode-local diarization cluster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int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-1 = unassigned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start_sec, end_sec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Turn boundaries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float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seconds, &gt;= 0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Normalised Bangla transcript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"" if empty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asr_confidence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Mean word log-probability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float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&lt;= 0, null if no words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diarization_trusted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False for fallback episodes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bool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true / false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role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Inferred conversational role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host, guest, minor, unassigned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65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label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Judge turn label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neg / neu / pos; illegible dropped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judge_confidence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Judge's confidence in the label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float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0 to 1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Consolas"/>
                        </a:rPr>
                        <a:t>evidence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Verbatim supporting quote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substring of text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14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07 / DATASET COMPOSITION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Guests carry the evaluation, hosts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10874959" cy="86868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low-text"/>
          <p:cNvSpPr txBox="1"/>
          <p:nvPr/>
        </p:nvSpPr>
        <p:spPr>
          <a:xfrm>
            <a:off x="841247" y="1615948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212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841247" y="2009140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SPEAKER UNITS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07" y="1615948"/>
            <a:ext cx="7315" cy="64922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3559987" y="1615948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150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3559987" y="2009140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JUDGED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5948"/>
            <a:ext cx="7315" cy="64922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ow-text"/>
          <p:cNvSpPr txBox="1"/>
          <p:nvPr/>
        </p:nvSpPr>
        <p:spPr>
          <a:xfrm>
            <a:off x="6278727" y="1615948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1,811</a:t>
            </a:r>
          </a:p>
        </p:txBody>
      </p:sp>
      <p:sp>
        <p:nvSpPr>
          <p:cNvPr id="13" name="flow-text"/>
          <p:cNvSpPr txBox="1"/>
          <p:nvPr/>
        </p:nvSpPr>
        <p:spPr>
          <a:xfrm>
            <a:off x="6278727" y="2009140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TURN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14587" y="1615948"/>
            <a:ext cx="7315" cy="64922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-text"/>
          <p:cNvSpPr txBox="1"/>
          <p:nvPr/>
        </p:nvSpPr>
        <p:spPr>
          <a:xfrm>
            <a:off x="8997467" y="1615948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181</a:t>
            </a:r>
          </a:p>
        </p:txBody>
      </p:sp>
      <p:sp>
        <p:nvSpPr>
          <p:cNvPr id="16" name="flow-text"/>
          <p:cNvSpPr txBox="1"/>
          <p:nvPr/>
        </p:nvSpPr>
        <p:spPr>
          <a:xfrm>
            <a:off x="8997467" y="2009140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ILLEGIBLE, 10.0%</a:t>
            </a:r>
          </a:p>
        </p:txBody>
      </p:sp>
      <p:sp>
        <p:nvSpPr>
          <p:cNvPr id="17" name="flow-text"/>
          <p:cNvSpPr txBox="1"/>
          <p:nvPr/>
        </p:nvSpPr>
        <p:spPr>
          <a:xfrm>
            <a:off x="658368" y="2649220"/>
            <a:ext cx="672084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TURN LABELS BY ROLE, 1,630 SUPERVISED TURNS</a:t>
            </a:r>
          </a:p>
        </p:txBody>
      </p:sp>
      <p:sp>
        <p:nvSpPr>
          <p:cNvPr id="18" name="flow-text"/>
          <p:cNvSpPr txBox="1"/>
          <p:nvPr/>
        </p:nvSpPr>
        <p:spPr>
          <a:xfrm>
            <a:off x="658368" y="3153156"/>
            <a:ext cx="11887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Guest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7088" y="3080004"/>
            <a:ext cx="2994778" cy="420624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low-text"/>
          <p:cNvSpPr txBox="1"/>
          <p:nvPr/>
        </p:nvSpPr>
        <p:spPr>
          <a:xfrm>
            <a:off x="1847088" y="3162299"/>
            <a:ext cx="2994778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602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1866" y="3080004"/>
            <a:ext cx="955145" cy="420624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low-text"/>
          <p:cNvSpPr txBox="1"/>
          <p:nvPr/>
        </p:nvSpPr>
        <p:spPr>
          <a:xfrm>
            <a:off x="4841866" y="3162299"/>
            <a:ext cx="955145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192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97011" y="3080004"/>
            <a:ext cx="850676" cy="420624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low-text"/>
          <p:cNvSpPr txBox="1"/>
          <p:nvPr/>
        </p:nvSpPr>
        <p:spPr>
          <a:xfrm>
            <a:off x="5797011" y="3162299"/>
            <a:ext cx="850676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171</a:t>
            </a:r>
          </a:p>
        </p:txBody>
      </p:sp>
      <p:sp>
        <p:nvSpPr>
          <p:cNvPr id="25" name="flow-text"/>
          <p:cNvSpPr txBox="1"/>
          <p:nvPr/>
        </p:nvSpPr>
        <p:spPr>
          <a:xfrm>
            <a:off x="6757416" y="3162299"/>
            <a:ext cx="7315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Consolas"/>
              </a:rPr>
              <a:t>965</a:t>
            </a:r>
          </a:p>
        </p:txBody>
      </p:sp>
      <p:sp>
        <p:nvSpPr>
          <p:cNvPr id="26" name="flow-text"/>
          <p:cNvSpPr txBox="1"/>
          <p:nvPr/>
        </p:nvSpPr>
        <p:spPr>
          <a:xfrm>
            <a:off x="658368" y="3720084"/>
            <a:ext cx="11887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Host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47088" y="3646932"/>
            <a:ext cx="1323274" cy="420624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low-text"/>
          <p:cNvSpPr txBox="1"/>
          <p:nvPr/>
        </p:nvSpPr>
        <p:spPr>
          <a:xfrm>
            <a:off x="1847088" y="3729228"/>
            <a:ext cx="1323274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266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70362" y="3646932"/>
            <a:ext cx="1860543" cy="420624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low-text"/>
          <p:cNvSpPr txBox="1"/>
          <p:nvPr/>
        </p:nvSpPr>
        <p:spPr>
          <a:xfrm>
            <a:off x="3170362" y="3729228"/>
            <a:ext cx="1860543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374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0905" y="3646932"/>
            <a:ext cx="114418" cy="420624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low-text"/>
          <p:cNvSpPr txBox="1"/>
          <p:nvPr/>
        </p:nvSpPr>
        <p:spPr>
          <a:xfrm>
            <a:off x="5255052" y="3729228"/>
            <a:ext cx="7315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Consolas"/>
              </a:rPr>
              <a:t>663</a:t>
            </a:r>
          </a:p>
        </p:txBody>
      </p:sp>
      <p:sp>
        <p:nvSpPr>
          <p:cNvPr id="33" name="flow-text"/>
          <p:cNvSpPr txBox="1"/>
          <p:nvPr/>
        </p:nvSpPr>
        <p:spPr>
          <a:xfrm>
            <a:off x="658368" y="4287012"/>
            <a:ext cx="11887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81B"/>
                </a:solidFill>
                <a:latin typeface="Segoe UI"/>
              </a:rPr>
              <a:t>Minor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47088" y="4213860"/>
            <a:ext cx="18288" cy="420624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low-text"/>
          <p:cNvSpPr txBox="1"/>
          <p:nvPr/>
        </p:nvSpPr>
        <p:spPr>
          <a:xfrm>
            <a:off x="1966765" y="4296156"/>
            <a:ext cx="7315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Consola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47088" y="4872228"/>
            <a:ext cx="182880" cy="182880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low-text"/>
          <p:cNvSpPr txBox="1"/>
          <p:nvPr/>
        </p:nvSpPr>
        <p:spPr>
          <a:xfrm>
            <a:off x="2103120" y="4826508"/>
            <a:ext cx="155448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negative 53.4%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872228"/>
            <a:ext cx="182880" cy="182880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low-text"/>
          <p:cNvSpPr txBox="1"/>
          <p:nvPr/>
        </p:nvSpPr>
        <p:spPr>
          <a:xfrm>
            <a:off x="3840480" y="4826508"/>
            <a:ext cx="155448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neutral 34.7%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21808" y="4872228"/>
            <a:ext cx="182880" cy="182880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low-text"/>
          <p:cNvSpPr txBox="1"/>
          <p:nvPr/>
        </p:nvSpPr>
        <p:spPr>
          <a:xfrm>
            <a:off x="5577840" y="4826508"/>
            <a:ext cx="155448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positive 11.9%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9248" y="2649220"/>
            <a:ext cx="3834079" cy="169451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99248" y="2649220"/>
            <a:ext cx="50292" cy="1694515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low-text"/>
          <p:cNvSpPr txBox="1"/>
          <p:nvPr/>
        </p:nvSpPr>
        <p:spPr>
          <a:xfrm>
            <a:off x="7973568" y="2850388"/>
            <a:ext cx="3340303" cy="1292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Roles separate cleanly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Hosts: mean 39 words, mostly neutral. Guests: mean 146 words, carry the stance.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9248" y="4544903"/>
            <a:ext cx="3834079" cy="139950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699248" y="4544903"/>
            <a:ext cx="50292" cy="1399509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flow-text"/>
          <p:cNvSpPr txBox="1"/>
          <p:nvPr/>
        </p:nvSpPr>
        <p:spPr>
          <a:xfrm>
            <a:off x="7973568" y="4746071"/>
            <a:ext cx="3340303" cy="997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Speaker verdicts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negative 110, neutral 18, positive 11, mixed 8; 147 valid units.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15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08 / PREPROCESSING AND CURATION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Rebuilding speaker turns from decode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3106826" cy="841248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low-text"/>
          <p:cNvSpPr txBox="1"/>
          <p:nvPr/>
        </p:nvSpPr>
        <p:spPr>
          <a:xfrm>
            <a:off x="877824" y="1597660"/>
            <a:ext cx="2741066" cy="43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B"/>
                </a:solidFill>
                <a:latin typeface="Segoe UI"/>
              </a:rPr>
              <a:t>5,395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877824" y="2018284"/>
            <a:ext cx="2741066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28 S ASR 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2434" y="1506220"/>
            <a:ext cx="3106826" cy="841248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4761890" y="1597660"/>
            <a:ext cx="2741066" cy="43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B"/>
                </a:solidFill>
                <a:latin typeface="Segoe UI"/>
              </a:rPr>
              <a:t>merge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4761890" y="2018284"/>
            <a:ext cx="2741066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SAME SPEAKER, IN ORDER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93210" y="1835403"/>
            <a:ext cx="52120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26500" y="1506220"/>
            <a:ext cx="3106826" cy="841248"/>
          </a:xfrm>
          <a:prstGeom prst="rect">
            <a:avLst/>
          </a:prstGeom>
          <a:solidFill>
            <a:srgbClr val="1D4E5F"/>
          </a:solidFill>
          <a:ln w="1270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645956" y="1597660"/>
            <a:ext cx="2741066" cy="43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2,414</a:t>
            </a:r>
          </a:p>
        </p:txBody>
      </p:sp>
      <p:sp>
        <p:nvSpPr>
          <p:cNvPr id="14" name="flow-text"/>
          <p:cNvSpPr txBox="1"/>
          <p:nvPr/>
        </p:nvSpPr>
        <p:spPr>
          <a:xfrm>
            <a:off x="8645956" y="2018284"/>
            <a:ext cx="2741066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0E5E1"/>
                </a:solidFill>
                <a:latin typeface="Consolas"/>
              </a:rPr>
              <a:t>SPEAKER TURNS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77276" y="1835403"/>
            <a:ext cx="52120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-text"/>
          <p:cNvSpPr txBox="1"/>
          <p:nvPr/>
        </p:nvSpPr>
        <p:spPr>
          <a:xfrm>
            <a:off x="658368" y="2457196"/>
            <a:ext cx="10874959" cy="276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Many of the 5,395 windows last 27.2 to 28.0 s, and every window boundary cuts a word.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98355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898355"/>
            <a:ext cx="50292" cy="1585257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text"/>
          <p:cNvSpPr txBox="1"/>
          <p:nvPr/>
        </p:nvSpPr>
        <p:spPr>
          <a:xfrm>
            <a:off x="932688" y="3053803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Cleaning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Duplicate removed by hash; repetition loops and too-short turns flagged.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0410" y="2898355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50410" y="2898355"/>
            <a:ext cx="50292" cy="1585257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low-text"/>
          <p:cNvSpPr txBox="1"/>
          <p:nvPr/>
        </p:nvSpPr>
        <p:spPr>
          <a:xfrm>
            <a:off x="4624730" y="3053803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Missing data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Unattributed words keep speaker_id -1, role unassigned. Never imputed.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2452" y="2898355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2452" y="2898355"/>
            <a:ext cx="50292" cy="1585257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-text"/>
          <p:cNvSpPr txBox="1"/>
          <p:nvPr/>
        </p:nvSpPr>
        <p:spPr>
          <a:xfrm>
            <a:off x="8316772" y="3053803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Noise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181 illegible turns stay in turns.jsonl but leave labels and splits.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684781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684781"/>
            <a:ext cx="50292" cy="1585257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low-text"/>
          <p:cNvSpPr txBox="1"/>
          <p:nvPr/>
        </p:nvSpPr>
        <p:spPr>
          <a:xfrm>
            <a:off x="932688" y="4840229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Normalisation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NFC + csebuetnlp normalizer; max_len 256 truncates about 10% of turns.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0410" y="4684781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50410" y="4684781"/>
            <a:ext cx="50292" cy="1585257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low-text"/>
          <p:cNvSpPr txBox="1"/>
          <p:nvPr/>
        </p:nvSpPr>
        <p:spPr>
          <a:xfrm>
            <a:off x="4624730" y="4840229"/>
            <a:ext cx="2997098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No augmentation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No synthetic or oversampled turns; class weights handle imbalance.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2452" y="4684781"/>
            <a:ext cx="3490874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2452" y="4684781"/>
            <a:ext cx="50292" cy="1585257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low-text"/>
          <p:cNvSpPr txBox="1"/>
          <p:nvPr/>
        </p:nvSpPr>
        <p:spPr>
          <a:xfrm>
            <a:off x="8316772" y="4840229"/>
            <a:ext cx="2997098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De-identification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Speakers are episode-local indices, never linked to names.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16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08 / LEAKAGE CONTROL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Split by episode, never by row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506220"/>
            <a:ext cx="10874959" cy="694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4181B"/>
                </a:solidFill>
                <a:latin typeface="Segoe UI"/>
              </a:rPr>
              <a:t>Turns from one talk show share the panel, topic, presenter phrasing and ASR error signature. A row split would let the model recognise the episode, not the 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456383"/>
            <a:ext cx="5300319" cy="174657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456383"/>
            <a:ext cx="50292" cy="1746575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low-text"/>
          <p:cNvSpPr txBox="1"/>
          <p:nvPr/>
        </p:nvSpPr>
        <p:spPr>
          <a:xfrm>
            <a:off x="932688" y="2657551"/>
            <a:ext cx="4806543" cy="1344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What is done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global_episode is the grouping key; make_datasets.py asserts disjointness, and the duplicate was removed before splitting.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456383"/>
            <a:ext cx="5300319" cy="174657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3007" y="2456383"/>
            <a:ext cx="50292" cy="1746575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-text"/>
          <p:cNvSpPr txBox="1"/>
          <p:nvPr/>
        </p:nvSpPr>
        <p:spPr>
          <a:xfrm>
            <a:off x="6507327" y="2657551"/>
            <a:ext cx="4806543" cy="1344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Known residual risk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A4F"/>
                </a:solidFill>
                <a:latin typeface="Segoe UI"/>
              </a:rPr>
              <a:t>A majority of episodes have a placeholder or empty programme title, so train and test share "business talk". Accepted knowingly.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458990"/>
            <a:ext cx="10874959" cy="1469847"/>
          </a:xfrm>
          <a:prstGeom prst="rect">
            <a:avLst/>
          </a:prstGeom>
          <a:solidFill>
            <a:srgbClr val="1A2226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96112" y="4614438"/>
            <a:ext cx="10509199" cy="1158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FE7E6"/>
                </a:solidFill>
                <a:latin typeface="Consolas"/>
              </a:rPr>
              <a:t>train_eps = {r["global_episode"] for r in splits["train"]}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FE7E6"/>
                </a:solidFill>
                <a:latin typeface="Consolas"/>
              </a:rPr>
              <a:t>for name in ("val", "test"):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FE7E6"/>
                </a:solidFill>
                <a:latin typeface="Consolas"/>
              </a:rPr>
              <a:t>    overlap = train_eps &amp; {r["global_episode"] for r in splits[name]}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FE7E6"/>
                </a:solidFill>
                <a:latin typeface="Consolas"/>
              </a:rPr>
              <a:t>    assert not overlap, f"{name} shares episodes with train"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17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09 / TECHNICAL VALIDATION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What was checked, and what could not be</a:t>
            </a:r>
          </a:p>
        </p:txBody>
      </p:sp>
      <p:graphicFrame>
        <p:nvGraphicFramePr>
          <p:cNvPr id="5" name="flow-table|4.848"/>
          <p:cNvGraphicFramePr>
            <a:graphicFrameLocks noGrp="1"/>
          </p:cNvGraphicFramePr>
          <p:nvPr/>
        </p:nvGraphicFramePr>
        <p:xfrm>
          <a:off x="658368" y="1506220"/>
          <a:ext cx="6812279" cy="44328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Dimension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Evidence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Completeness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56 rows to 46 processed to 45 unique; every episode has all artefacts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Consistency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Schema 2.0 validation; counts recomputed and cross-checked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Integrity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SHA-256 per source and output file; transcript-hash dedup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Measurement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Fixed decoding and diarization settings across all episodes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Reproducibility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Seeds 17, 13 and 42; test inference 47 s on CPU, predictions identical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Bias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Positive is 11.9% of turns; 110 of 147 verdicts negative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90688" y="1506220"/>
            <a:ext cx="3742639" cy="896112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7973567" y="1615948"/>
            <a:ext cx="1596999" cy="43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B"/>
                </a:solidFill>
                <a:latin typeface="Segoe UI"/>
              </a:rPr>
              <a:t>85.0%</a:t>
            </a:r>
          </a:p>
        </p:txBody>
      </p:sp>
      <p:sp>
        <p:nvSpPr>
          <p:cNvPr id="8" name="flow-text"/>
          <p:cNvSpPr txBox="1"/>
          <p:nvPr/>
        </p:nvSpPr>
        <p:spPr>
          <a:xfrm>
            <a:off x="7973567" y="2036572"/>
            <a:ext cx="161528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EXACT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62007" y="1615948"/>
            <a:ext cx="7315" cy="676656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9844887" y="1615948"/>
            <a:ext cx="1596999" cy="43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B"/>
                </a:solidFill>
                <a:latin typeface="Segoe UI"/>
              </a:rPr>
              <a:t>87.1%</a:t>
            </a:r>
          </a:p>
        </p:txBody>
      </p:sp>
      <p:sp>
        <p:nvSpPr>
          <p:cNvPr id="11" name="flow-text"/>
          <p:cNvSpPr txBox="1"/>
          <p:nvPr/>
        </p:nvSpPr>
        <p:spPr>
          <a:xfrm>
            <a:off x="9844887" y="2036572"/>
            <a:ext cx="161528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DIRECTION</a:t>
            </a:r>
          </a:p>
        </p:txBody>
      </p:sp>
      <p:sp>
        <p:nvSpPr>
          <p:cNvPr id="12" name="flow-text"/>
          <p:cNvSpPr txBox="1"/>
          <p:nvPr/>
        </p:nvSpPr>
        <p:spPr>
          <a:xfrm>
            <a:off x="7790688" y="2512060"/>
            <a:ext cx="3742639" cy="1137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Speaker verdicts rebuilt bottom-up from their own turn labels match the judge's holistic verdict; up from 78.7% / 83.6% in build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0688" y="3869395"/>
            <a:ext cx="3742639" cy="1989521"/>
          </a:xfrm>
          <a:prstGeom prst="rect">
            <a:avLst/>
          </a:prstGeom>
          <a:solidFill>
            <a:srgbClr val="F5EAD2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90688" y="3869395"/>
            <a:ext cx="50292" cy="1989521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-text"/>
          <p:cNvSpPr txBox="1"/>
          <p:nvPr/>
        </p:nvSpPr>
        <p:spPr>
          <a:xfrm>
            <a:off x="8065008" y="4070563"/>
            <a:ext cx="3248863" cy="158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Gates still open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WER, DER and annotation kappa are SKIPPED: no gold transcript, gold RTTM or second annotator exists.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18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09 / COMPARISON WITH EXISTING DATASETS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Where this dataset sits</a:t>
            </a:r>
          </a:p>
        </p:txBody>
      </p:sp>
      <p:graphicFrame>
        <p:nvGraphicFramePr>
          <p:cNvPr id="5" name="flow-table|3.119"/>
          <p:cNvGraphicFramePr>
            <a:graphicFrameLocks noGrp="1"/>
          </p:cNvGraphicFramePr>
          <p:nvPr/>
        </p:nvGraphicFramePr>
        <p:xfrm>
          <a:off x="658368" y="1506220"/>
          <a:ext cx="10874957" cy="28524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8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7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Dataset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Domain / modality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Language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Unit labelled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BLUB / BanglaBERT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Mixed written text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Bangla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Sentence / document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BLP-2023 Task 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Social media, written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Bangla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BAN-ABSA / BABSA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News and reviews, written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Bangla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Aspect-sentence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MELD / IEMOCAP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TV / acted dialogue, multimodal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English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Utterance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Earnings-call corpora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Financial speech, transcribed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English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Document / speaker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14181B"/>
                          </a:solidFill>
                          <a:latin typeface="Segoe UI"/>
                        </a:rPr>
                        <a:t>This dataset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14181B"/>
                          </a:solidFill>
                          <a:latin typeface="Segoe UI"/>
                        </a:rPr>
                        <a:t>TV talk show, audio + ASR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14181B"/>
                          </a:solidFill>
                          <a:latin typeface="Segoe UI"/>
                        </a:rPr>
                        <a:t>Bangla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1" i="0">
                          <a:solidFill>
                            <a:srgbClr val="14181B"/>
                          </a:solidFill>
                          <a:latin typeface="Segoe UI"/>
                        </a:rPr>
                        <a:t>Speaker turn + speaker-episode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4614671"/>
            <a:ext cx="3472586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4614671"/>
            <a:ext cx="50292" cy="1585257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low-text"/>
          <p:cNvSpPr txBox="1"/>
          <p:nvPr/>
        </p:nvSpPr>
        <p:spPr>
          <a:xfrm>
            <a:off x="932688" y="4770119"/>
            <a:ext cx="2978810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Dual-level labels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One call gives both levels; 85.0% bottom-up agreement.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9554" y="4614671"/>
            <a:ext cx="3472586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9554" y="4614671"/>
            <a:ext cx="50292" cy="1585257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-text"/>
          <p:cNvSpPr txBox="1"/>
          <p:nvPr/>
        </p:nvSpPr>
        <p:spPr>
          <a:xfrm>
            <a:off x="4633874" y="4770119"/>
            <a:ext cx="2978810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Speaker-episode unit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Ships speakers with a continuous stance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0740" y="4614671"/>
            <a:ext cx="3472586" cy="15852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60740" y="4614671"/>
            <a:ext cx="50292" cy="1585257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ow-text"/>
          <p:cNvSpPr txBox="1"/>
          <p:nvPr/>
        </p:nvSpPr>
        <p:spPr>
          <a:xfrm>
            <a:off x="8335060" y="4770119"/>
            <a:ext cx="2978810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First of its kind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First Bangla speaker-attributed finance speech set we found.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19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MACHINE LEARNING USE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Task, split and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5989320" cy="180941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06220"/>
            <a:ext cx="50292" cy="180941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932688" y="1689100"/>
            <a:ext cx="5495544" cy="1443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Primary task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(role, turn text) to negative / neutral / positive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Secondary task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Aggregate turns into a speaker verdict and stance</a:t>
            </a:r>
          </a:p>
        </p:txBody>
      </p:sp>
      <p:sp>
        <p:nvSpPr>
          <p:cNvPr id="8" name="flow-text"/>
          <p:cNvSpPr txBox="1"/>
          <p:nvPr/>
        </p:nvSpPr>
        <p:spPr>
          <a:xfrm>
            <a:off x="658368" y="3553383"/>
            <a:ext cx="59893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EPISODE-DISJOINT SPLIT, SEED 13</a:t>
            </a:r>
          </a:p>
        </p:txBody>
      </p:sp>
      <p:graphicFrame>
        <p:nvGraphicFramePr>
          <p:cNvPr id="9" name="flow-table|1.775"/>
          <p:cNvGraphicFramePr>
            <a:graphicFrameLocks noGrp="1"/>
          </p:cNvGraphicFramePr>
          <p:nvPr/>
        </p:nvGraphicFramePr>
        <p:xfrm>
          <a:off x="658368" y="3911015"/>
          <a:ext cx="5989318" cy="1623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0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Episodes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Turns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Neg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Neu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Pos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1,009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114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297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324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108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flow-text"/>
          <p:cNvSpPr txBox="1"/>
          <p:nvPr/>
        </p:nvSpPr>
        <p:spPr>
          <a:xfrm>
            <a:off x="658368" y="5644057"/>
            <a:ext cx="5989320" cy="260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Speaker units: 94 train, 23 validation, 30 test.</a:t>
            </a:r>
          </a:p>
        </p:txBody>
      </p:sp>
      <p:sp>
        <p:nvSpPr>
          <p:cNvPr id="11" name="flow-text"/>
          <p:cNvSpPr txBox="1"/>
          <p:nvPr/>
        </p:nvSpPr>
        <p:spPr>
          <a:xfrm>
            <a:off x="6967727" y="1506220"/>
            <a:ext cx="456559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MODELS COMPARED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67727" y="1863851"/>
            <a:ext cx="4565599" cy="13263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67727" y="1863851"/>
            <a:ext cx="50292" cy="1326357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ow-text"/>
          <p:cNvSpPr txBox="1"/>
          <p:nvPr/>
        </p:nvSpPr>
        <p:spPr>
          <a:xfrm>
            <a:off x="7242047" y="2028444"/>
            <a:ext cx="4071823" cy="997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Majority class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Predicts the most frequent training class. The floor.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7727" y="3354801"/>
            <a:ext cx="4565599" cy="13263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67727" y="3354801"/>
            <a:ext cx="50292" cy="1326357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low-text"/>
          <p:cNvSpPr txBox="1"/>
          <p:nvPr/>
        </p:nvSpPr>
        <p:spPr>
          <a:xfrm>
            <a:off x="7242047" y="3519393"/>
            <a:ext cx="4071823" cy="997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TF-IDF + logistic regression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Word 1-2 grams, C = 2, balanced weights; val 0.578. scikit-learn.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7727" y="4845751"/>
            <a:ext cx="4565599" cy="132635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67727" y="4845751"/>
            <a:ext cx="50292" cy="1326357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low-text"/>
          <p:cNvSpPr txBox="1"/>
          <p:nvPr/>
        </p:nvSpPr>
        <p:spPr>
          <a:xfrm>
            <a:off x="7242047" y="5010343"/>
            <a:ext cx="4071823" cy="997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BanglaBERT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ELECTRA, 110M, in PyTorch + transformers. Main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20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MODEL ARCHITECTURE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From a speaker turn to a speaker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1955535" cy="1471188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low-text"/>
          <p:cNvSpPr txBox="1"/>
          <p:nvPr/>
        </p:nvSpPr>
        <p:spPr>
          <a:xfrm>
            <a:off x="804672" y="1634236"/>
            <a:ext cx="166292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INPUT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804672" y="1963420"/>
            <a:ext cx="1662927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Role + turn</a:t>
            </a:r>
          </a:p>
        </p:txBody>
      </p:sp>
      <p:sp>
        <p:nvSpPr>
          <p:cNvPr id="8" name="flow-text"/>
          <p:cNvSpPr txBox="1"/>
          <p:nvPr/>
        </p:nvSpPr>
        <p:spPr>
          <a:xfrm>
            <a:off x="804672" y="2297176"/>
            <a:ext cx="1662927" cy="25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sentence pair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8223" y="1506220"/>
            <a:ext cx="1955535" cy="1471188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3034527" y="1634236"/>
            <a:ext cx="166292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TOKENIZE</a:t>
            </a:r>
          </a:p>
        </p:txBody>
      </p:sp>
      <p:sp>
        <p:nvSpPr>
          <p:cNvPr id="11" name="flow-text"/>
          <p:cNvSpPr txBox="1"/>
          <p:nvPr/>
        </p:nvSpPr>
        <p:spPr>
          <a:xfrm>
            <a:off x="3034527" y="1963420"/>
            <a:ext cx="1662927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WordPiece</a:t>
            </a:r>
          </a:p>
        </p:txBody>
      </p:sp>
      <p:sp>
        <p:nvSpPr>
          <p:cNvPr id="12" name="flow-text"/>
          <p:cNvSpPr txBox="1"/>
          <p:nvPr/>
        </p:nvSpPr>
        <p:spPr>
          <a:xfrm>
            <a:off x="3034527" y="2297176"/>
            <a:ext cx="1662927" cy="515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normalized; max_len 256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0479" y="215037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18079" y="1506220"/>
            <a:ext cx="1955535" cy="1471188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-text"/>
          <p:cNvSpPr txBox="1"/>
          <p:nvPr/>
        </p:nvSpPr>
        <p:spPr>
          <a:xfrm>
            <a:off x="5264383" y="1634236"/>
            <a:ext cx="166292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ENCODER</a:t>
            </a:r>
          </a:p>
        </p:txBody>
      </p:sp>
      <p:sp>
        <p:nvSpPr>
          <p:cNvPr id="16" name="flow-text"/>
          <p:cNvSpPr txBox="1"/>
          <p:nvPr/>
        </p:nvSpPr>
        <p:spPr>
          <a:xfrm>
            <a:off x="5264383" y="1963420"/>
            <a:ext cx="1662927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BanglaBERT</a:t>
            </a:r>
          </a:p>
        </p:txBody>
      </p:sp>
      <p:sp>
        <p:nvSpPr>
          <p:cNvPr id="17" name="flow-text"/>
          <p:cNvSpPr txBox="1"/>
          <p:nvPr/>
        </p:nvSpPr>
        <p:spPr>
          <a:xfrm>
            <a:off x="5264383" y="2297176"/>
            <a:ext cx="1662927" cy="25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ELECTRA, 110M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80335" y="215037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47935" y="1506220"/>
            <a:ext cx="1955535" cy="1471188"/>
          </a:xfrm>
          <a:prstGeom prst="rect">
            <a:avLst/>
          </a:prstGeom>
          <a:solidFill>
            <a:srgbClr val="F8F9F7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low-text"/>
          <p:cNvSpPr txBox="1"/>
          <p:nvPr/>
        </p:nvSpPr>
        <p:spPr>
          <a:xfrm>
            <a:off x="7494239" y="1634236"/>
            <a:ext cx="166292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HEAD</a:t>
            </a:r>
          </a:p>
        </p:txBody>
      </p:sp>
      <p:sp>
        <p:nvSpPr>
          <p:cNvPr id="21" name="flow-text"/>
          <p:cNvSpPr txBox="1"/>
          <p:nvPr/>
        </p:nvSpPr>
        <p:spPr>
          <a:xfrm>
            <a:off x="7494239" y="1963420"/>
            <a:ext cx="1662927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[CLS] + linear</a:t>
            </a:r>
          </a:p>
        </p:txBody>
      </p:sp>
      <p:sp>
        <p:nvSpPr>
          <p:cNvPr id="22" name="flow-text"/>
          <p:cNvSpPr txBox="1"/>
          <p:nvPr/>
        </p:nvSpPr>
        <p:spPr>
          <a:xfrm>
            <a:off x="7494239" y="2297176"/>
            <a:ext cx="1662927" cy="25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3 logits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10191" y="215037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77791" y="1506220"/>
            <a:ext cx="1955535" cy="1471188"/>
          </a:xfrm>
          <a:prstGeom prst="rect">
            <a:avLst/>
          </a:prstGeom>
          <a:solidFill>
            <a:srgbClr val="1D4E5F"/>
          </a:solidFill>
          <a:ln w="17780">
            <a:solidFill>
              <a:srgbClr val="1D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-text"/>
          <p:cNvSpPr txBox="1"/>
          <p:nvPr/>
        </p:nvSpPr>
        <p:spPr>
          <a:xfrm>
            <a:off x="9724095" y="1634236"/>
            <a:ext cx="166292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TURN LABEL</a:t>
            </a:r>
          </a:p>
        </p:txBody>
      </p:sp>
      <p:sp>
        <p:nvSpPr>
          <p:cNvPr id="26" name="flow-text"/>
          <p:cNvSpPr txBox="1"/>
          <p:nvPr/>
        </p:nvSpPr>
        <p:spPr>
          <a:xfrm>
            <a:off x="9724095" y="1963420"/>
            <a:ext cx="1662927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Softmax</a:t>
            </a:r>
          </a:p>
        </p:txBody>
      </p:sp>
      <p:sp>
        <p:nvSpPr>
          <p:cNvPr id="27" name="flow-text"/>
          <p:cNvSpPr txBox="1"/>
          <p:nvPr/>
        </p:nvSpPr>
        <p:spPr>
          <a:xfrm>
            <a:off x="9724095" y="2297176"/>
            <a:ext cx="1662927" cy="25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0E5E1"/>
                </a:solidFill>
                <a:latin typeface="Segoe UI"/>
              </a:rPr>
              <a:t>neg / neu / pos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40047" y="2150374"/>
            <a:ext cx="201167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532699" y="2977408"/>
            <a:ext cx="45720" cy="20574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13275" y="3137428"/>
            <a:ext cx="8965143" cy="45720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wn Arrow 30"/>
          <p:cNvSpPr/>
          <p:nvPr/>
        </p:nvSpPr>
        <p:spPr>
          <a:xfrm>
            <a:off x="1535551" y="3160288"/>
            <a:ext cx="201168" cy="182880"/>
          </a:xfrm>
          <a:prstGeom prst="down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3343168"/>
            <a:ext cx="3381146" cy="1213368"/>
          </a:xfrm>
          <a:prstGeom prst="rect">
            <a:avLst/>
          </a:prstGeom>
          <a:solidFill>
            <a:srgbClr val="F8F9F7"/>
          </a:solidFill>
          <a:ln w="1778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low-text"/>
          <p:cNvSpPr txBox="1"/>
          <p:nvPr/>
        </p:nvSpPr>
        <p:spPr>
          <a:xfrm>
            <a:off x="804672" y="3471184"/>
            <a:ext cx="3088538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COLLECT</a:t>
            </a:r>
          </a:p>
        </p:txBody>
      </p:sp>
      <p:sp>
        <p:nvSpPr>
          <p:cNvPr id="34" name="flow-text"/>
          <p:cNvSpPr txBox="1"/>
          <p:nvPr/>
        </p:nvSpPr>
        <p:spPr>
          <a:xfrm>
            <a:off x="804672" y="3800368"/>
            <a:ext cx="308853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Turn predictions</a:t>
            </a:r>
          </a:p>
        </p:txBody>
      </p:sp>
      <p:sp>
        <p:nvSpPr>
          <p:cNvPr id="35" name="flow-text"/>
          <p:cNvSpPr txBox="1"/>
          <p:nvPr/>
        </p:nvSpPr>
        <p:spPr>
          <a:xfrm>
            <a:off x="804672" y="4134124"/>
            <a:ext cx="3088538" cy="25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all turns of one speaker-episode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5274" y="3343168"/>
            <a:ext cx="3381146" cy="1213368"/>
          </a:xfrm>
          <a:prstGeom prst="rect">
            <a:avLst/>
          </a:prstGeom>
          <a:solidFill>
            <a:srgbClr val="F8F9F7"/>
          </a:solidFill>
          <a:ln w="1778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low-text"/>
          <p:cNvSpPr txBox="1"/>
          <p:nvPr/>
        </p:nvSpPr>
        <p:spPr>
          <a:xfrm>
            <a:off x="4551578" y="3471184"/>
            <a:ext cx="3088538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FA3"/>
                </a:solidFill>
                <a:latin typeface="Consolas"/>
              </a:rPr>
              <a:t>AGGREGATE</a:t>
            </a:r>
          </a:p>
        </p:txBody>
      </p:sp>
      <p:sp>
        <p:nvSpPr>
          <p:cNvPr id="38" name="flow-text"/>
          <p:cNvSpPr txBox="1"/>
          <p:nvPr/>
        </p:nvSpPr>
        <p:spPr>
          <a:xfrm>
            <a:off x="4551578" y="3800368"/>
            <a:ext cx="308853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Aggregation rule</a:t>
            </a:r>
          </a:p>
        </p:txBody>
      </p:sp>
      <p:sp>
        <p:nvSpPr>
          <p:cNvPr id="39" name="flow-text"/>
          <p:cNvSpPr txBox="1"/>
          <p:nvPr/>
        </p:nvSpPr>
        <p:spPr>
          <a:xfrm>
            <a:off x="4551578" y="4134124"/>
            <a:ext cx="3088538" cy="25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top_k, hard_vote, weighted votes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076090" y="3858412"/>
            <a:ext cx="292608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52180" y="3343168"/>
            <a:ext cx="3381146" cy="1213368"/>
          </a:xfrm>
          <a:prstGeom prst="rect">
            <a:avLst/>
          </a:prstGeom>
          <a:solidFill>
            <a:srgbClr val="1D4E5F"/>
          </a:solidFill>
          <a:ln w="1778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low-text"/>
          <p:cNvSpPr txBox="1"/>
          <p:nvPr/>
        </p:nvSpPr>
        <p:spPr>
          <a:xfrm>
            <a:off x="8298484" y="3471184"/>
            <a:ext cx="3088538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SPEAKER VERDICT</a:t>
            </a:r>
          </a:p>
        </p:txBody>
      </p:sp>
      <p:sp>
        <p:nvSpPr>
          <p:cNvPr id="43" name="flow-text"/>
          <p:cNvSpPr txBox="1"/>
          <p:nvPr/>
        </p:nvSpPr>
        <p:spPr>
          <a:xfrm>
            <a:off x="8298484" y="3809795"/>
            <a:ext cx="3088538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Verdict + stance</a:t>
            </a:r>
          </a:p>
        </p:txBody>
      </p:sp>
      <p:sp>
        <p:nvSpPr>
          <p:cNvPr id="44" name="flow-text"/>
          <p:cNvSpPr txBox="1"/>
          <p:nvPr/>
        </p:nvSpPr>
        <p:spPr>
          <a:xfrm>
            <a:off x="8298484" y="4134124"/>
            <a:ext cx="3088538" cy="25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0E5E1"/>
                </a:solidFill>
                <a:latin typeface="Segoe UI"/>
              </a:rPr>
              <a:t>4 classes; stance in [-1, 1]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822996" y="3858412"/>
            <a:ext cx="292608" cy="182880"/>
          </a:xfrm>
          <a:prstGeom prst="rightArrow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" y="4794280"/>
            <a:ext cx="5300319" cy="123538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4794280"/>
            <a:ext cx="50292" cy="1235387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low-text"/>
          <p:cNvSpPr txBox="1"/>
          <p:nvPr/>
        </p:nvSpPr>
        <p:spPr>
          <a:xfrm>
            <a:off x="932688" y="4922296"/>
            <a:ext cx="4806543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Framework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PyTorch 2.11 + Hugging Face transformers; csebuetnlp normalizer; custom loop.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3007" y="4794280"/>
            <a:ext cx="5300319" cy="123538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33007" y="4794280"/>
            <a:ext cx="50292" cy="1235387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low-text"/>
          <p:cNvSpPr txBox="1"/>
          <p:nvPr/>
        </p:nvSpPr>
        <p:spPr>
          <a:xfrm>
            <a:off x="6507327" y="4922296"/>
            <a:ext cx="4806543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Why the role goes 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A host's pointed question is neutral, so the same words can take a different label.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21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TRAINING SETUP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How BanglaBERT was trained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506220"/>
            <a:ext cx="59893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CONFIGURATION</a:t>
            </a:r>
          </a:p>
        </p:txBody>
      </p:sp>
      <p:graphicFrame>
        <p:nvGraphicFramePr>
          <p:cNvPr id="6" name="flow-table|4.264"/>
          <p:cNvGraphicFramePr>
            <a:graphicFrameLocks noGrp="1"/>
          </p:cNvGraphicFramePr>
          <p:nvPr/>
        </p:nvGraphicFramePr>
        <p:xfrm>
          <a:off x="658368" y="1863851"/>
          <a:ext cx="5989319" cy="3898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Setting</a:t>
                      </a:r>
                    </a:p>
                  </a:txBody>
                  <a:tcPr marL="109728" marR="109728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 marL="109728" marR="109728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Backbone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BanglaBERT, max_len 256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Epochs / batch size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6 / 16 (384 steps)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Optimizer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AdamW, weight decay 0.01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Learning rate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2e-5 encoder, 1e-4 head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Schedule / warmup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linear, 10% warmup (38 steps)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Gradient clipping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max-norm 1.0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Loss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weighted CE, label smoothing 0.1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Sample weights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judge confidence x pass agreement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4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Seed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42 (split 13, pipeline 17)</a:t>
                      </a:r>
                    </a:p>
                  </a:txBody>
                  <a:tcPr marL="109728" marR="10972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flow-text"/>
          <p:cNvSpPr txBox="1"/>
          <p:nvPr/>
        </p:nvSpPr>
        <p:spPr>
          <a:xfrm>
            <a:off x="6967727" y="1506220"/>
            <a:ext cx="456559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RUN</a:t>
            </a:r>
          </a:p>
        </p:txBody>
      </p:sp>
      <p:graphicFrame>
        <p:nvGraphicFramePr>
          <p:cNvPr id="8" name="flow-table|3.944"/>
          <p:cNvGraphicFramePr>
            <a:graphicFrameLocks noGrp="1"/>
          </p:cNvGraphicFramePr>
          <p:nvPr/>
        </p:nvGraphicFramePr>
        <p:xfrm>
          <a:off x="6967727" y="1863851"/>
          <a:ext cx="4565598" cy="36060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6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Item</a:t>
                      </a:r>
                    </a:p>
                  </a:txBody>
                  <a:tcPr marL="109728" marR="109728" marT="36576" marB="36576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 marL="109728" marR="109728" marT="36576" marB="36576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Framework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PyTorch 2.11 + HF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Mixed precision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torch.amp on CUDA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5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Hardware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NVIDIA Tesla T4, Colab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Training turns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1,009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Training time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not logged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Test inference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47 s on CPU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Best epoch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4 of 6, restored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Selected on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00" b="0" i="0">
                          <a:solidFill>
                            <a:srgbClr val="14181B"/>
                          </a:solidFill>
                          <a:latin typeface="Segoe UI"/>
                        </a:rPr>
                        <a:t>val macro-F1 0.704</a:t>
                      </a:r>
                    </a:p>
                  </a:txBody>
                  <a:tcPr marL="109728" marR="109728" marT="36576" marB="36576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22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LOSS AND METRICS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Key formulas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859536" y="1506220"/>
            <a:ext cx="224028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METRIC</a:t>
            </a:r>
          </a:p>
        </p:txBody>
      </p:sp>
      <p:sp>
        <p:nvSpPr>
          <p:cNvPr id="6" name="flow-text"/>
          <p:cNvSpPr txBox="1"/>
          <p:nvPr/>
        </p:nvSpPr>
        <p:spPr>
          <a:xfrm>
            <a:off x="3374136" y="1506220"/>
            <a:ext cx="46177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FORMULA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8266175" y="1506220"/>
            <a:ext cx="319399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71979"/>
            <a:ext cx="10874959" cy="530352"/>
          </a:xfrm>
          <a:prstGeom prst="rect">
            <a:avLst/>
          </a:prstGeom>
          <a:solidFill>
            <a:srgbClr val="F8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859536" y="1871979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Weighted CE loss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3374136" y="1871979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L = −(1/N) Σᵢ sᵢ · α(yᵢ) · log p(yᵢ | xᵢ)</a:t>
            </a:r>
          </a:p>
        </p:txBody>
      </p:sp>
      <p:sp>
        <p:nvSpPr>
          <p:cNvPr id="11" name="flow-text"/>
          <p:cNvSpPr txBox="1"/>
          <p:nvPr/>
        </p:nvSpPr>
        <p:spPr>
          <a:xfrm>
            <a:off x="8266175" y="1871979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α: class weight; sᵢ: sample weight; label smoothing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02332"/>
            <a:ext cx="10874959" cy="530352"/>
          </a:xfrm>
          <a:prstGeom prst="rect">
            <a:avLst/>
          </a:prstGeom>
          <a:solidFill>
            <a:srgbClr val="E0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59536" y="2402332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Softmax</a:t>
            </a:r>
          </a:p>
        </p:txBody>
      </p:sp>
      <p:sp>
        <p:nvSpPr>
          <p:cNvPr id="14" name="flow-text"/>
          <p:cNvSpPr txBox="1"/>
          <p:nvPr/>
        </p:nvSpPr>
        <p:spPr>
          <a:xfrm>
            <a:off x="3374136" y="2402332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p(c | x) = exp(z(c)) / Σₖ exp(z(k))</a:t>
            </a:r>
          </a:p>
        </p:txBody>
      </p:sp>
      <p:sp>
        <p:nvSpPr>
          <p:cNvPr id="15" name="flow-text"/>
          <p:cNvSpPr txBox="1"/>
          <p:nvPr/>
        </p:nvSpPr>
        <p:spPr>
          <a:xfrm>
            <a:off x="8266175" y="2402332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z: logits from the [CLS] head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32684"/>
            <a:ext cx="10874959" cy="530352"/>
          </a:xfrm>
          <a:prstGeom prst="rect">
            <a:avLst/>
          </a:prstGeom>
          <a:solidFill>
            <a:srgbClr val="F8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low-text"/>
          <p:cNvSpPr txBox="1"/>
          <p:nvPr/>
        </p:nvSpPr>
        <p:spPr>
          <a:xfrm>
            <a:off x="859536" y="2932684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Precision</a:t>
            </a:r>
          </a:p>
        </p:txBody>
      </p:sp>
      <p:sp>
        <p:nvSpPr>
          <p:cNvPr id="18" name="flow-text"/>
          <p:cNvSpPr txBox="1"/>
          <p:nvPr/>
        </p:nvSpPr>
        <p:spPr>
          <a:xfrm>
            <a:off x="3374136" y="2932684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P(c) = TP(c) / (TP(c) + FP(c))</a:t>
            </a:r>
          </a:p>
        </p:txBody>
      </p:sp>
      <p:sp>
        <p:nvSpPr>
          <p:cNvPr id="19" name="flow-text"/>
          <p:cNvSpPr txBox="1"/>
          <p:nvPr/>
        </p:nvSpPr>
        <p:spPr>
          <a:xfrm>
            <a:off x="8266175" y="2932684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of turns predicted c, share 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63036"/>
            <a:ext cx="10874959" cy="530352"/>
          </a:xfrm>
          <a:prstGeom prst="rect">
            <a:avLst/>
          </a:prstGeom>
          <a:solidFill>
            <a:srgbClr val="E0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low-text"/>
          <p:cNvSpPr txBox="1"/>
          <p:nvPr/>
        </p:nvSpPr>
        <p:spPr>
          <a:xfrm>
            <a:off x="859536" y="3463036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Recall</a:t>
            </a:r>
          </a:p>
        </p:txBody>
      </p:sp>
      <p:sp>
        <p:nvSpPr>
          <p:cNvPr id="22" name="flow-text"/>
          <p:cNvSpPr txBox="1"/>
          <p:nvPr/>
        </p:nvSpPr>
        <p:spPr>
          <a:xfrm>
            <a:off x="3374136" y="3463036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R(c) = TP(c) / (TP(c) + FN(c))</a:t>
            </a:r>
          </a:p>
        </p:txBody>
      </p:sp>
      <p:sp>
        <p:nvSpPr>
          <p:cNvPr id="23" name="flow-text"/>
          <p:cNvSpPr txBox="1"/>
          <p:nvPr/>
        </p:nvSpPr>
        <p:spPr>
          <a:xfrm>
            <a:off x="8266175" y="3463036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of turns judged c, share found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993387"/>
            <a:ext cx="10874959" cy="530352"/>
          </a:xfrm>
          <a:prstGeom prst="rect">
            <a:avLst/>
          </a:prstGeom>
          <a:solidFill>
            <a:srgbClr val="F8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-text"/>
          <p:cNvSpPr txBox="1"/>
          <p:nvPr/>
        </p:nvSpPr>
        <p:spPr>
          <a:xfrm>
            <a:off x="859536" y="3993387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F1</a:t>
            </a:r>
          </a:p>
        </p:txBody>
      </p:sp>
      <p:sp>
        <p:nvSpPr>
          <p:cNvPr id="26" name="flow-text"/>
          <p:cNvSpPr txBox="1"/>
          <p:nvPr/>
        </p:nvSpPr>
        <p:spPr>
          <a:xfrm>
            <a:off x="3374136" y="3993387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F1(c) = 2 · P(c) · R(c) / (P(c) + R(c))</a:t>
            </a:r>
          </a:p>
        </p:txBody>
      </p:sp>
      <p:sp>
        <p:nvSpPr>
          <p:cNvPr id="27" name="flow-text"/>
          <p:cNvSpPr txBox="1"/>
          <p:nvPr/>
        </p:nvSpPr>
        <p:spPr>
          <a:xfrm>
            <a:off x="8266175" y="3993387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balance of precision and recall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23740"/>
            <a:ext cx="10874959" cy="530352"/>
          </a:xfrm>
          <a:prstGeom prst="rect">
            <a:avLst/>
          </a:prstGeom>
          <a:solidFill>
            <a:srgbClr val="E0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low-text"/>
          <p:cNvSpPr txBox="1"/>
          <p:nvPr/>
        </p:nvSpPr>
        <p:spPr>
          <a:xfrm>
            <a:off x="859536" y="452374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Macro-F1</a:t>
            </a:r>
          </a:p>
        </p:txBody>
      </p:sp>
      <p:sp>
        <p:nvSpPr>
          <p:cNvPr id="30" name="flow-text"/>
          <p:cNvSpPr txBox="1"/>
          <p:nvPr/>
        </p:nvSpPr>
        <p:spPr>
          <a:xfrm>
            <a:off x="3374136" y="4523740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[F1(neg) + F1(neu) + F1(pos)] / 3</a:t>
            </a:r>
          </a:p>
        </p:txBody>
      </p:sp>
      <p:sp>
        <p:nvSpPr>
          <p:cNvPr id="31" name="flow-text"/>
          <p:cNvSpPr txBox="1"/>
          <p:nvPr/>
        </p:nvSpPr>
        <p:spPr>
          <a:xfrm>
            <a:off x="8266175" y="4523740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classes weigh equally; headline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054092"/>
            <a:ext cx="10874959" cy="530352"/>
          </a:xfrm>
          <a:prstGeom prst="rect">
            <a:avLst/>
          </a:prstGeom>
          <a:solidFill>
            <a:srgbClr val="F8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low-text"/>
          <p:cNvSpPr txBox="1"/>
          <p:nvPr/>
        </p:nvSpPr>
        <p:spPr>
          <a:xfrm>
            <a:off x="859536" y="5054092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Stance correlation</a:t>
            </a:r>
          </a:p>
        </p:txBody>
      </p:sp>
      <p:sp>
        <p:nvSpPr>
          <p:cNvPr id="34" name="flow-text"/>
          <p:cNvSpPr txBox="1"/>
          <p:nvPr/>
        </p:nvSpPr>
        <p:spPr>
          <a:xfrm>
            <a:off x="3374136" y="5054092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r = cov(ŝ, s) / (σ(ŝ) · σ(s))</a:t>
            </a:r>
          </a:p>
        </p:txBody>
      </p:sp>
      <p:sp>
        <p:nvSpPr>
          <p:cNvPr id="35" name="flow-text"/>
          <p:cNvSpPr txBox="1"/>
          <p:nvPr/>
        </p:nvSpPr>
        <p:spPr>
          <a:xfrm>
            <a:off x="8266175" y="5054092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predicted vs judged stance 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584444"/>
            <a:ext cx="10874959" cy="530352"/>
          </a:xfrm>
          <a:prstGeom prst="rect">
            <a:avLst/>
          </a:prstGeom>
          <a:solidFill>
            <a:srgbClr val="E0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low-text"/>
          <p:cNvSpPr txBox="1"/>
          <p:nvPr/>
        </p:nvSpPr>
        <p:spPr>
          <a:xfrm>
            <a:off x="859536" y="5584444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B"/>
                </a:solidFill>
                <a:latin typeface="Segoe UI"/>
              </a:rPr>
              <a:t>Exact accuracy</a:t>
            </a:r>
          </a:p>
        </p:txBody>
      </p:sp>
      <p:sp>
        <p:nvSpPr>
          <p:cNvPr id="38" name="flow-text"/>
          <p:cNvSpPr txBox="1"/>
          <p:nvPr/>
        </p:nvSpPr>
        <p:spPr>
          <a:xfrm>
            <a:off x="3374136" y="5584444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4E5F"/>
                </a:solidFill>
                <a:latin typeface="Cambria Math"/>
              </a:rPr>
              <a:t>(1/U) Σᵤ 1[v̂ᵤ = vᵤ]</a:t>
            </a:r>
          </a:p>
        </p:txBody>
      </p:sp>
      <p:sp>
        <p:nvSpPr>
          <p:cNvPr id="39" name="flow-text"/>
          <p:cNvSpPr txBox="1"/>
          <p:nvPr/>
        </p:nvSpPr>
        <p:spPr>
          <a:xfrm>
            <a:off x="8266175" y="5584444"/>
            <a:ext cx="319399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speaker verdicts matched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1871979"/>
            <a:ext cx="50292" cy="424281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23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TRAINING CURVES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How the run behaved, epoch by epoch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341628"/>
            <a:ext cx="10874959" cy="340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E4A4F"/>
                </a:solidFill>
                <a:latin typeface="Segoe UI"/>
              </a:rPr>
              <a:t>Validation peaks at epoch 4 and then slips while training loss keeps falling: mild overfitting.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10874959" cy="3126069"/>
          </a:xfrm>
          <a:prstGeom prst="rect">
            <a:avLst/>
          </a:prstGeom>
          <a:solidFill>
            <a:srgbClr val="FFFFFF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anglabert_training_cur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47" y="2029967"/>
            <a:ext cx="8001000" cy="29066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229189"/>
            <a:ext cx="10874959" cy="91440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841247" y="5338917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4</a:t>
            </a:r>
          </a:p>
        </p:txBody>
      </p:sp>
      <p:sp>
        <p:nvSpPr>
          <p:cNvPr id="10" name="flow-text"/>
          <p:cNvSpPr txBox="1"/>
          <p:nvPr/>
        </p:nvSpPr>
        <p:spPr>
          <a:xfrm>
            <a:off x="841247" y="5777829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BEST EPOCH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7107" y="5338917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ow-text"/>
          <p:cNvSpPr txBox="1"/>
          <p:nvPr/>
        </p:nvSpPr>
        <p:spPr>
          <a:xfrm>
            <a:off x="3559987" y="5338917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0.704</a:t>
            </a:r>
          </a:p>
        </p:txBody>
      </p:sp>
      <p:sp>
        <p:nvSpPr>
          <p:cNvPr id="13" name="flow-text"/>
          <p:cNvSpPr txBox="1"/>
          <p:nvPr/>
        </p:nvSpPr>
        <p:spPr>
          <a:xfrm>
            <a:off x="3559987" y="5777829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BEST VAL MACRO-F1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5338917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-text"/>
          <p:cNvSpPr txBox="1"/>
          <p:nvPr/>
        </p:nvSpPr>
        <p:spPr>
          <a:xfrm>
            <a:off x="6278727" y="5338917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0.747</a:t>
            </a:r>
          </a:p>
        </p:txBody>
      </p:sp>
      <p:sp>
        <p:nvSpPr>
          <p:cNvPr id="16" name="flow-text"/>
          <p:cNvSpPr txBox="1"/>
          <p:nvPr/>
        </p:nvSpPr>
        <p:spPr>
          <a:xfrm>
            <a:off x="6278727" y="5777829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BEST VAL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4587" y="5338917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ow-text"/>
          <p:cNvSpPr txBox="1"/>
          <p:nvPr/>
        </p:nvSpPr>
        <p:spPr>
          <a:xfrm>
            <a:off x="8997467" y="5338917"/>
            <a:ext cx="244441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0.317</a:t>
            </a:r>
          </a:p>
        </p:txBody>
      </p:sp>
      <p:sp>
        <p:nvSpPr>
          <p:cNvPr id="19" name="flow-text"/>
          <p:cNvSpPr txBox="1"/>
          <p:nvPr/>
        </p:nvSpPr>
        <p:spPr>
          <a:xfrm>
            <a:off x="8997467" y="5777829"/>
            <a:ext cx="246270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FINAL TRAIN LOSS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24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RESULTS, TURN LEVEL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Well above the floor on unseen episodes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341628"/>
            <a:ext cx="10874959" cy="340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E4A4F"/>
                </a:solidFill>
                <a:latin typeface="Segoe UI"/>
              </a:rPr>
              <a:t>Macro-F1 is the headline: positive, the class an index needs most, is only 38 of 324 test turns.</a:t>
            </a:r>
          </a:p>
        </p:txBody>
      </p:sp>
      <p:sp>
        <p:nvSpPr>
          <p:cNvPr id="6" name="flow-text"/>
          <p:cNvSpPr txBox="1"/>
          <p:nvPr/>
        </p:nvSpPr>
        <p:spPr>
          <a:xfrm>
            <a:off x="658368" y="1920239"/>
            <a:ext cx="1087495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TEST MACRO-F1, 324 TURNS FROM 9 HELD-OUT EPISODES</a:t>
            </a:r>
          </a:p>
        </p:txBody>
      </p:sp>
      <p:sp>
        <p:nvSpPr>
          <p:cNvPr id="7" name="flow-text"/>
          <p:cNvSpPr txBox="1"/>
          <p:nvPr/>
        </p:nvSpPr>
        <p:spPr>
          <a:xfrm>
            <a:off x="658368" y="2424175"/>
            <a:ext cx="3566160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Segoe UI"/>
              </a:rPr>
              <a:t>Majority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2369311"/>
            <a:ext cx="6035040" cy="402336"/>
          </a:xfrm>
          <a:prstGeom prst="rect">
            <a:avLst/>
          </a:prstGeom>
          <a:solidFill>
            <a:srgbClr val="E0E5E1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42048" y="2369311"/>
            <a:ext cx="7315" cy="402336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24528" y="2369311"/>
            <a:ext cx="1424269" cy="402336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-text"/>
          <p:cNvSpPr txBox="1"/>
          <p:nvPr/>
        </p:nvSpPr>
        <p:spPr>
          <a:xfrm>
            <a:off x="10405872" y="2424175"/>
            <a:ext cx="1005840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Consolas"/>
              </a:rPr>
              <a:t>0.236</a:t>
            </a:r>
          </a:p>
        </p:txBody>
      </p:sp>
      <p:sp>
        <p:nvSpPr>
          <p:cNvPr id="12" name="flow-text"/>
          <p:cNvSpPr txBox="1"/>
          <p:nvPr/>
        </p:nvSpPr>
        <p:spPr>
          <a:xfrm>
            <a:off x="658368" y="2936239"/>
            <a:ext cx="3566160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Segoe UI"/>
              </a:rPr>
              <a:t>TF-IDF + LogReg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2881375"/>
            <a:ext cx="6035040" cy="402336"/>
          </a:xfrm>
          <a:prstGeom prst="rect">
            <a:avLst/>
          </a:prstGeom>
          <a:solidFill>
            <a:srgbClr val="E0E5E1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42048" y="2881375"/>
            <a:ext cx="7315" cy="402336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24528" y="2881375"/>
            <a:ext cx="3192536" cy="402336"/>
          </a:xfrm>
          <a:prstGeom prst="rect">
            <a:avLst/>
          </a:prstGeom>
          <a:solidFill>
            <a:srgbClr val="2E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-text"/>
          <p:cNvSpPr txBox="1"/>
          <p:nvPr/>
        </p:nvSpPr>
        <p:spPr>
          <a:xfrm>
            <a:off x="10405872" y="2936239"/>
            <a:ext cx="1005840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Consolas"/>
              </a:rPr>
              <a:t>0.529</a:t>
            </a:r>
          </a:p>
        </p:txBody>
      </p:sp>
      <p:sp>
        <p:nvSpPr>
          <p:cNvPr id="17" name="flow-text"/>
          <p:cNvSpPr txBox="1"/>
          <p:nvPr/>
        </p:nvSpPr>
        <p:spPr>
          <a:xfrm>
            <a:off x="658368" y="3448304"/>
            <a:ext cx="3566160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Segoe UI"/>
              </a:rPr>
              <a:t>BanglaBERT (role_turn)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3393439"/>
            <a:ext cx="6035040" cy="402336"/>
          </a:xfrm>
          <a:prstGeom prst="rect">
            <a:avLst/>
          </a:prstGeom>
          <a:solidFill>
            <a:srgbClr val="E0E5E1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42048" y="3393439"/>
            <a:ext cx="7315" cy="402336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24528" y="3393439"/>
            <a:ext cx="4043476" cy="402336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low-text"/>
          <p:cNvSpPr txBox="1"/>
          <p:nvPr/>
        </p:nvSpPr>
        <p:spPr>
          <a:xfrm>
            <a:off x="10405872" y="3448304"/>
            <a:ext cx="1005840" cy="29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Consolas"/>
              </a:rPr>
              <a:t>0.670</a:t>
            </a:r>
          </a:p>
        </p:txBody>
      </p:sp>
      <p:sp>
        <p:nvSpPr>
          <p:cNvPr id="22" name="flow-text"/>
          <p:cNvSpPr txBox="1"/>
          <p:nvPr/>
        </p:nvSpPr>
        <p:spPr>
          <a:xfrm>
            <a:off x="4224528" y="3887216"/>
            <a:ext cx="726948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Accuracy / kappa: BanglaBERT 0.701 / 0.496, TF-IDF 0.623 / 0.339.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Positive-class F1: BanglaBERT 0.581, TF-IDF 0.269.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609592"/>
            <a:ext cx="10874959" cy="1413588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609592"/>
            <a:ext cx="50292" cy="1413588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-text"/>
          <p:cNvSpPr txBox="1"/>
          <p:nvPr/>
        </p:nvSpPr>
        <p:spPr>
          <a:xfrm>
            <a:off x="932688" y="4774184"/>
            <a:ext cx="10381183" cy="1084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Read it as agreement with the judge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E4A4F"/>
                </a:solidFill>
                <a:latin typeface="Segoe UI"/>
              </a:rPr>
              <a:t>Scores are measured against LLM labels, not human truth: the model matches the judge on 70% of held-out turns.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25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RESULTS, PER CLASS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Which classes the model gets right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506220"/>
            <a:ext cx="59893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PER-CLASS SCORES, 324 TEST TURNS</a:t>
            </a:r>
          </a:p>
        </p:txBody>
      </p:sp>
      <p:graphicFrame>
        <p:nvGraphicFramePr>
          <p:cNvPr id="6" name="flow-table|2.785"/>
          <p:cNvGraphicFramePr>
            <a:graphicFrameLocks noGrp="1"/>
          </p:cNvGraphicFramePr>
          <p:nvPr/>
        </p:nvGraphicFramePr>
        <p:xfrm>
          <a:off x="658368" y="1863851"/>
          <a:ext cx="5989317" cy="2546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6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Class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Support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negative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0.790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0.697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0.740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neutral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0.655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0.722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0.687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108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positive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0.521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0.658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0.581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Segoe UI"/>
                        </a:rPr>
                        <a:t>macro avg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Segoe UI"/>
                        </a:rPr>
                        <a:t>0.655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Segoe UI"/>
                        </a:rPr>
                        <a:t>0.692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Segoe UI"/>
                        </a:rPr>
                        <a:t>0.670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Segoe UI"/>
                        </a:rPr>
                        <a:t>324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0.701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324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629911"/>
            <a:ext cx="5989320" cy="151118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4629911"/>
            <a:ext cx="50292" cy="1511185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932688" y="4767072"/>
            <a:ext cx="5495544" cy="123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81B"/>
                </a:solidFill>
                <a:latin typeface="Segoe UI"/>
              </a:rPr>
              <a:t>Reading the matrix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Largest error: 37 negative turns called neutral, 29 of them from hosts. Positive is weakest, with precision 0.52.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506220"/>
            <a:ext cx="4565599" cy="40999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anglabert_test_confusion_matr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5" y="1615948"/>
            <a:ext cx="4346142" cy="388048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26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RESULTS, SPEAKER LEVEL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Speaker level: the selected rule holds up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506220"/>
            <a:ext cx="690372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30 TEST SPEAKER UNITS, FIVE AGGREGATION RULES</a:t>
            </a:r>
          </a:p>
        </p:txBody>
      </p:sp>
      <p:graphicFrame>
        <p:nvGraphicFramePr>
          <p:cNvPr id="6" name="flow-table|3.720"/>
          <p:cNvGraphicFramePr>
            <a:graphicFrameLocks noGrp="1"/>
          </p:cNvGraphicFramePr>
          <p:nvPr/>
        </p:nvGraphicFramePr>
        <p:xfrm>
          <a:off x="658368" y="1882139"/>
          <a:ext cx="6903717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2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Rule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Exact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Direction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Stance r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Macro-F1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Consolas"/>
                        </a:rPr>
                        <a:t>hard_vote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Consolas"/>
                        </a:rPr>
                        <a:t>0.451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1" i="0">
                          <a:solidFill>
                            <a:srgbClr val="14181B"/>
                          </a:solidFill>
                          <a:latin typeface="Consolas"/>
                        </a:rPr>
                        <a:t>0.567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top_k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0.800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0.800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0.628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0.667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dur_weighted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0.767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0.800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0.567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0.480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word_weighted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0.767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0.800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0.569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0.480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unweighted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0.633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0.667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0.691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Consolas"/>
                        </a:rPr>
                        <a:t>0.447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82127" y="1506220"/>
            <a:ext cx="3651199" cy="91440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low-text"/>
          <p:cNvSpPr txBox="1"/>
          <p:nvPr/>
        </p:nvSpPr>
        <p:spPr>
          <a:xfrm>
            <a:off x="8065007" y="1615948"/>
            <a:ext cx="1551279" cy="43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B"/>
                </a:solidFill>
                <a:latin typeface="Segoe UI"/>
              </a:rPr>
              <a:t>0.653</a:t>
            </a:r>
          </a:p>
        </p:txBody>
      </p:sp>
      <p:sp>
        <p:nvSpPr>
          <p:cNvPr id="9" name="flow-text"/>
          <p:cNvSpPr txBox="1"/>
          <p:nvPr/>
        </p:nvSpPr>
        <p:spPr>
          <a:xfrm>
            <a:off x="8065007" y="2054860"/>
            <a:ext cx="156956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HIERARCHICAL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07727" y="1615948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-text"/>
          <p:cNvSpPr txBox="1"/>
          <p:nvPr/>
        </p:nvSpPr>
        <p:spPr>
          <a:xfrm>
            <a:off x="9890607" y="1615948"/>
            <a:ext cx="1551279" cy="43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B"/>
                </a:solidFill>
                <a:latin typeface="Segoe UI"/>
              </a:rPr>
              <a:t>0.867</a:t>
            </a:r>
          </a:p>
        </p:txBody>
      </p:sp>
      <p:sp>
        <p:nvSpPr>
          <p:cNvPr id="12" name="flow-text"/>
          <p:cNvSpPr txBox="1"/>
          <p:nvPr/>
        </p:nvSpPr>
        <p:spPr>
          <a:xfrm>
            <a:off x="9890607" y="2054860"/>
            <a:ext cx="156956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HARD_VOTE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2640076"/>
            <a:ext cx="3651199" cy="156696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82127" y="2640076"/>
            <a:ext cx="50292" cy="1566969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-text"/>
          <p:cNvSpPr txBox="1"/>
          <p:nvPr/>
        </p:nvSpPr>
        <p:spPr>
          <a:xfrm>
            <a:off x="8156448" y="2786380"/>
            <a:ext cx="3157423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Chosen before testing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hard_vote won on 117 train + val units (0.752); 26 of 30 test verdicts match.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7" y="4389925"/>
            <a:ext cx="3651199" cy="1271963"/>
          </a:xfrm>
          <a:prstGeom prst="rect">
            <a:avLst/>
          </a:prstGeom>
          <a:solidFill>
            <a:srgbClr val="F5EAD2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2127" y="4389925"/>
            <a:ext cx="50292" cy="1271963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ow-text"/>
          <p:cNvSpPr txBox="1"/>
          <p:nvPr/>
        </p:nvSpPr>
        <p:spPr>
          <a:xfrm>
            <a:off x="8156448" y="4536229"/>
            <a:ext cx="3157423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A sanity check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30 units is small: one unit moves macro-F1 by about 0.03.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27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RESULTS, HIERARCHICAL SPEAKER MODEL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The speaker-level figure the report quotes</a:t>
            </a:r>
          </a:p>
        </p:txBody>
      </p:sp>
      <p:sp>
        <p:nvSpPr>
          <p:cNvPr id="5" name="flow-text"/>
          <p:cNvSpPr txBox="1"/>
          <p:nvPr/>
        </p:nvSpPr>
        <p:spPr>
          <a:xfrm>
            <a:off x="658368" y="1506220"/>
            <a:ext cx="658368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ATTENTION POOLING, 5-FOLD GROUPKFOLD, 147 UNITS</a:t>
            </a:r>
          </a:p>
        </p:txBody>
      </p:sp>
      <p:graphicFrame>
        <p:nvGraphicFramePr>
          <p:cNvPr id="6" name="flow-table|2.500"/>
          <p:cNvGraphicFramePr>
            <a:graphicFrameLocks noGrp="1"/>
          </p:cNvGraphicFramePr>
          <p:nvPr/>
        </p:nvGraphicFramePr>
        <p:xfrm>
          <a:off x="658368" y="1863851"/>
          <a:ext cx="658367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0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Class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Units</a:t>
                      </a:r>
                    </a:p>
                  </a:txBody>
                  <a:tcPr marL="109728" marR="109728" marT="54864" marB="54864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negative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0.882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0.682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0.769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110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neutral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0.519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0.778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0.622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positive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0.455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0.625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mixed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0.067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0.250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0.105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b="0" i="0">
                          <a:solidFill>
                            <a:srgbClr val="14181B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9728" marR="109728" marT="54864" marB="54864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62088" y="1506220"/>
            <a:ext cx="3971239" cy="91440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low-text"/>
          <p:cNvSpPr txBox="1"/>
          <p:nvPr/>
        </p:nvSpPr>
        <p:spPr>
          <a:xfrm>
            <a:off x="7744967" y="1615948"/>
            <a:ext cx="171129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0.653</a:t>
            </a:r>
          </a:p>
        </p:txBody>
      </p:sp>
      <p:sp>
        <p:nvSpPr>
          <p:cNvPr id="9" name="flow-text"/>
          <p:cNvSpPr txBox="1"/>
          <p:nvPr/>
        </p:nvSpPr>
        <p:spPr>
          <a:xfrm>
            <a:off x="7744967" y="2054860"/>
            <a:ext cx="172958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47707" y="1615948"/>
            <a:ext cx="7315" cy="694944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-text"/>
          <p:cNvSpPr txBox="1"/>
          <p:nvPr/>
        </p:nvSpPr>
        <p:spPr>
          <a:xfrm>
            <a:off x="9730587" y="1615948"/>
            <a:ext cx="1711299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B"/>
                </a:solidFill>
                <a:latin typeface="Segoe UI"/>
              </a:rPr>
              <a:t>0.530</a:t>
            </a:r>
          </a:p>
        </p:txBody>
      </p:sp>
      <p:sp>
        <p:nvSpPr>
          <p:cNvPr id="12" name="flow-text"/>
          <p:cNvSpPr txBox="1"/>
          <p:nvPr/>
        </p:nvSpPr>
        <p:spPr>
          <a:xfrm>
            <a:off x="9730587" y="2054860"/>
            <a:ext cx="1729587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MACRO-F1</a:t>
            </a:r>
          </a:p>
        </p:txBody>
      </p:sp>
      <p:sp>
        <p:nvSpPr>
          <p:cNvPr id="13" name="flow-text"/>
          <p:cNvSpPr txBox="1"/>
          <p:nvPr/>
        </p:nvSpPr>
        <p:spPr>
          <a:xfrm>
            <a:off x="7562088" y="2548636"/>
            <a:ext cx="3971239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Folds range 0.500 to 0.828.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2088" y="2997708"/>
            <a:ext cx="3971239" cy="1271963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62088" y="2997708"/>
            <a:ext cx="50292" cy="1271963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-text"/>
          <p:cNvSpPr txBox="1"/>
          <p:nvPr/>
        </p:nvSpPr>
        <p:spPr>
          <a:xfrm>
            <a:off x="7836408" y="3144012"/>
            <a:ext cx="3477463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Every unit tested once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Each speaker is test data once; the 30-unit split is only a sanity 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05884"/>
            <a:ext cx="6583680" cy="1271963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405884"/>
            <a:ext cx="50292" cy="1271963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text"/>
          <p:cNvSpPr txBox="1"/>
          <p:nvPr/>
        </p:nvSpPr>
        <p:spPr>
          <a:xfrm>
            <a:off x="932688" y="4552188"/>
            <a:ext cx="6089904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Mixed is not learnable yet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Only 8 mixed units in the whole corpus give F1 0.105; treat it as unsupported.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28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PREDICTION EXAMPLES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Seeing it work: real test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10874959" cy="94487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06220"/>
            <a:ext cx="50292" cy="944879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932688" y="1506220"/>
            <a:ext cx="7324344" cy="944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4181B"/>
                </a:solidFill>
                <a:latin typeface="Nirmala UI"/>
              </a:rPr>
              <a:t>সরকার সমস্যাগুলা খুব ইমিডিট সমাধান করবে বলে আমার বিশ্বাস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I believe the government will solve these problems very quickly.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76488" y="1634236"/>
            <a:ext cx="7315" cy="688847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-text"/>
          <p:cNvSpPr txBox="1"/>
          <p:nvPr/>
        </p:nvSpPr>
        <p:spPr>
          <a:xfrm>
            <a:off x="8732520" y="1506220"/>
            <a:ext cx="2599639" cy="944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735A"/>
                </a:solidFill>
                <a:latin typeface="Consolas"/>
              </a:rPr>
              <a:t>CORRECT  /  GUEST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Consolas"/>
              </a:rPr>
              <a:t>JUDGE  positive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1B"/>
                </a:solidFill>
                <a:latin typeface="Consolas"/>
              </a:rPr>
              <a:t>MODEL  positive  0.95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551684"/>
            <a:ext cx="10874959" cy="107254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551684"/>
            <a:ext cx="50292" cy="1072540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ow-text"/>
          <p:cNvSpPr txBox="1"/>
          <p:nvPr/>
        </p:nvSpPr>
        <p:spPr>
          <a:xfrm>
            <a:off x="932688" y="2551684"/>
            <a:ext cx="7324344" cy="1072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4181B"/>
                </a:solidFill>
                <a:latin typeface="Nirmala UI"/>
              </a:rPr>
              <a:t>গ্যাস বিদ্যুত ছিল না </a:t>
            </a:r>
            <a:r>
              <a:rPr sz="1800" b="0" i="0">
                <a:solidFill>
                  <a:srgbClr val="14181B"/>
                </a:solidFill>
                <a:latin typeface="Segoe UI"/>
              </a:rPr>
              <a:t>... </a:t>
            </a:r>
            <a:r>
              <a:rPr sz="1800" b="0" i="0">
                <a:solidFill>
                  <a:srgbClr val="14181B"/>
                </a:solidFill>
                <a:latin typeface="Nirmala UI"/>
              </a:rPr>
              <a:t>অনেক কলকারখানা আসলে বন্ধ হয়ে গেছে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There was no gas or electricity, so many factories have actually shut down.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6488" y="2679700"/>
            <a:ext cx="7315" cy="816508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ow-text"/>
          <p:cNvSpPr txBox="1"/>
          <p:nvPr/>
        </p:nvSpPr>
        <p:spPr>
          <a:xfrm>
            <a:off x="8732520" y="2551684"/>
            <a:ext cx="2599639" cy="1072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735A"/>
                </a:solidFill>
                <a:latin typeface="Consolas"/>
              </a:rPr>
              <a:t>CORRECT  /  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Consolas"/>
              </a:rPr>
              <a:t>JUDGE  negative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1B"/>
                </a:solidFill>
                <a:latin typeface="Consolas"/>
              </a:rPr>
              <a:t>MODEL  negative  0.79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24808"/>
            <a:ext cx="10874959" cy="1072540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3724808"/>
            <a:ext cx="50292" cy="1072540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low-text"/>
          <p:cNvSpPr txBox="1"/>
          <p:nvPr/>
        </p:nvSpPr>
        <p:spPr>
          <a:xfrm>
            <a:off x="932688" y="3724808"/>
            <a:ext cx="7324344" cy="1072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4181B"/>
                </a:solidFill>
                <a:latin typeface="Nirmala UI"/>
              </a:rPr>
              <a:t>এই বাজেট এবং মুদ্রানীতি মানুষের জীবনযাত্রার ব্যয় কমাতে সক্ষম হবে কি না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Will this budget and monetary policy lower people's cost of living? (a question)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76488" y="3852824"/>
            <a:ext cx="7315" cy="816508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-text"/>
          <p:cNvSpPr txBox="1"/>
          <p:nvPr/>
        </p:nvSpPr>
        <p:spPr>
          <a:xfrm>
            <a:off x="8732520" y="3724808"/>
            <a:ext cx="2599639" cy="1072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735A"/>
                </a:solidFill>
                <a:latin typeface="Consolas"/>
              </a:rPr>
              <a:t>CORRECT  /  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Consolas"/>
              </a:rPr>
              <a:t>JUDGE  neutral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1B"/>
                </a:solidFill>
                <a:latin typeface="Consolas"/>
              </a:rPr>
              <a:t>MODEL  neutral  0.92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97932"/>
            <a:ext cx="10874959" cy="94487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4897932"/>
            <a:ext cx="50292" cy="944879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low-text"/>
          <p:cNvSpPr txBox="1"/>
          <p:nvPr/>
        </p:nvSpPr>
        <p:spPr>
          <a:xfrm>
            <a:off x="932688" y="4897932"/>
            <a:ext cx="7324344" cy="944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4181B"/>
                </a:solidFill>
                <a:latin typeface="Nirmala UI"/>
              </a:rPr>
              <a:t>যে কোনো বিনিয়োগ হচ্ছে না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Segoe UI"/>
              </a:rPr>
              <a:t>No investment of any kind is happening. A judgement, read as neutral.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76488" y="5025948"/>
            <a:ext cx="7315" cy="688847"/>
          </a:xfrm>
          <a:prstGeom prst="rect">
            <a:avLst/>
          </a:prstGeom>
          <a:solidFill>
            <a:srgbClr val="C3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low-text"/>
          <p:cNvSpPr txBox="1"/>
          <p:nvPr/>
        </p:nvSpPr>
        <p:spPr>
          <a:xfrm>
            <a:off x="8732520" y="4897932"/>
            <a:ext cx="2599639" cy="9448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423C"/>
                </a:solidFill>
                <a:latin typeface="Consolas"/>
              </a:rPr>
              <a:t>ERROR  /  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A4F"/>
                </a:solidFill>
                <a:latin typeface="Consolas"/>
              </a:rPr>
              <a:t>JUDGE  negative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1B"/>
                </a:solidFill>
                <a:latin typeface="Consolas"/>
              </a:rPr>
              <a:t>MODEL  neutral  0.87</a:t>
            </a:r>
          </a:p>
        </p:txBody>
      </p:sp>
      <p:sp>
        <p:nvSpPr>
          <p:cNvPr id="25" name="flow-text"/>
          <p:cNvSpPr txBox="1"/>
          <p:nvPr/>
        </p:nvSpPr>
        <p:spPr>
          <a:xfrm>
            <a:off x="658368" y="5952540"/>
            <a:ext cx="10874959" cy="260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Segoe UI"/>
              </a:rPr>
              <a:t>Excerpts are verbatim ASR text; "..." marks a cut. MODEL shows the predicted class probability.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29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10 / ERROR ANALYSIS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Where the model gets it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3472586" cy="156696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06220"/>
            <a:ext cx="50292" cy="1566969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932688" y="1652523"/>
            <a:ext cx="2978810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Hosts read as neutral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37 negative turns called neutral; 29 are hosts, often phrased as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9554" y="1506220"/>
            <a:ext cx="3472586" cy="156696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9554" y="1506220"/>
            <a:ext cx="50292" cy="1566969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4633874" y="1652523"/>
            <a:ext cx="2978810" cy="12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Long guest turns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17 negative called positive; 15 guests, median 213 words, may be truncated.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0740" y="1506220"/>
            <a:ext cx="3472586" cy="1566969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0740" y="1506220"/>
            <a:ext cx="50292" cy="1566969"/>
          </a:xfrm>
          <a:prstGeom prst="rect">
            <a:avLst/>
          </a:prstGeom>
          <a:solidFill>
            <a:srgbClr val="77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335060" y="1652523"/>
            <a:ext cx="2978810" cy="979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Positive is thin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17 negative and 6 neutral turns called positive: precision 0.52.</a:t>
            </a:r>
          </a:p>
        </p:txBody>
      </p:sp>
      <p:sp>
        <p:nvSpPr>
          <p:cNvPr id="14" name="flow-text"/>
          <p:cNvSpPr txBox="1"/>
          <p:nvPr/>
        </p:nvSpPr>
        <p:spPr>
          <a:xfrm>
            <a:off x="658368" y="3310933"/>
            <a:ext cx="630936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87D"/>
                </a:solidFill>
                <a:latin typeface="Consolas"/>
              </a:rPr>
              <a:t>DOES TRANSCRIPT QUALITY OR ROLE MATTER?</a:t>
            </a:r>
          </a:p>
        </p:txBody>
      </p:sp>
      <p:graphicFrame>
        <p:nvGraphicFramePr>
          <p:cNvPr id="15" name="flow-table|2.458"/>
          <p:cNvGraphicFramePr>
            <a:graphicFrameLocks noGrp="1"/>
          </p:cNvGraphicFramePr>
          <p:nvPr/>
        </p:nvGraphicFramePr>
        <p:xfrm>
          <a:off x="658368" y="3650277"/>
          <a:ext cx="6309360" cy="22473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Test stratum</a:t>
                      </a:r>
                    </a:p>
                  </a:txBody>
                  <a:tcPr marL="109728" marR="109728" marT="18288" marB="18288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109728" marR="109728" marT="18288" marB="18288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Accuracy</a:t>
                      </a:r>
                    </a:p>
                  </a:txBody>
                  <a:tcPr marL="109728" marR="109728" marT="18288" marB="18288" anchor="ctr">
                    <a:solidFill>
                      <a:srgbClr val="E0E5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1" i="0">
                          <a:solidFill>
                            <a:srgbClr val="6B787D"/>
                          </a:solidFill>
                          <a:latin typeface="Consolas"/>
                        </a:rPr>
                        <a:t>Macro-F1</a:t>
                      </a:r>
                    </a:p>
                  </a:txBody>
                  <a:tcPr marL="109728" marR="109728" marT="18288" marB="18288" anchor="ctr">
                    <a:solidFill>
                      <a:srgbClr val="E0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ASR confidence Q1, worst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0.675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0.651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ASR confidence Q2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79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0.709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0.658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ASR confidence Q3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0.683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0.622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ASR confidence Q4, best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0.738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0.729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Guest turns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184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0.696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0.610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Host turns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140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0.707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600" b="0" i="0">
                          <a:solidFill>
                            <a:srgbClr val="14181B"/>
                          </a:solidFill>
                          <a:latin typeface="Segoe UI"/>
                        </a:rPr>
                        <a:t>0.468</a:t>
                      </a:r>
                    </a:p>
                  </a:txBody>
                  <a:tcPr marL="109728" marR="109728" marT="18288" marB="18288" anchor="ctr">
                    <a:solidFill>
                      <a:srgbClr val="F8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87768" y="3310933"/>
            <a:ext cx="4245559" cy="2530335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87768" y="3310933"/>
            <a:ext cx="50292" cy="2530335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ow-text"/>
          <p:cNvSpPr txBox="1"/>
          <p:nvPr/>
        </p:nvSpPr>
        <p:spPr>
          <a:xfrm>
            <a:off x="7562088" y="3457237"/>
            <a:ext cx="3751783" cy="2237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Transcript quality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Best ASR quartile 0.729 vs worst 0.651, but Q3 dips: a weak trend.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4181B"/>
                </a:solidFill>
                <a:latin typeface="Segoe UI"/>
              </a:rPr>
              <a:t>Hosts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All 3 positive host turns missed (F1 0.00), hence macro-F1 0.468 at 0.707 accuracy.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ext"/>
          <p:cNvSpPr txBox="1"/>
          <p:nvPr/>
        </p:nvSpPr>
        <p:spPr>
          <a:xfrm>
            <a:off x="10618927" y="6419088"/>
            <a:ext cx="914400" cy="24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87D"/>
                </a:solidFill>
                <a:latin typeface="Consolas"/>
              </a:rPr>
              <a:t>30</a:t>
            </a:r>
          </a:p>
        </p:txBody>
      </p:sp>
      <p:sp>
        <p:nvSpPr>
          <p:cNvPr id="3" name="flow-text"/>
          <p:cNvSpPr txBox="1"/>
          <p:nvPr/>
        </p:nvSpPr>
        <p:spPr>
          <a:xfrm>
            <a:off x="658368" y="420624"/>
            <a:ext cx="10874959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FA3"/>
                </a:solidFill>
                <a:latin typeface="Consolas"/>
              </a:rPr>
              <a:t>11-13 / USAGE, LIMITATIONS, ETHICS</a:t>
            </a:r>
          </a:p>
        </p:txBody>
      </p:sp>
      <p:sp>
        <p:nvSpPr>
          <p:cNvPr id="4" name="flow-text"/>
          <p:cNvSpPr txBox="1"/>
          <p:nvPr/>
        </p:nvSpPr>
        <p:spPr>
          <a:xfrm>
            <a:off x="658368" y="772668"/>
            <a:ext cx="10874959" cy="495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81B"/>
                </a:solidFill>
                <a:latin typeface="Segoe UI"/>
              </a:rPr>
              <a:t>Using the dataset responsibly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6220"/>
            <a:ext cx="3472586" cy="333754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06220"/>
            <a:ext cx="3472586" cy="68580"/>
          </a:xfrm>
          <a:prstGeom prst="rect">
            <a:avLst/>
          </a:prstGeom>
          <a:solidFill>
            <a:srgbClr val="35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-text"/>
          <p:cNvSpPr txBox="1"/>
          <p:nvPr/>
        </p:nvSpPr>
        <p:spPr>
          <a:xfrm>
            <a:off x="905256" y="1743964"/>
            <a:ext cx="2978810" cy="2640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Use it correctly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Filter diarization_trusted for attribution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Group on global_episode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Tune speakers with GroupKFold over 147 units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Run Python with -X utf8 on 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9554" y="1506220"/>
            <a:ext cx="3472586" cy="333754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9554" y="1506220"/>
            <a:ext cx="3472586" cy="68580"/>
          </a:xfrm>
          <a:prstGeom prst="rect">
            <a:avLst/>
          </a:prstGeom>
          <a:solidFill>
            <a:srgbClr val="B58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-text"/>
          <p:cNvSpPr txBox="1"/>
          <p:nvPr/>
        </p:nvSpPr>
        <p:spPr>
          <a:xfrm>
            <a:off x="4606442" y="1743964"/>
            <a:ext cx="2978810" cy="2916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Known limitations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No human labels: one LLM pass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WER, DER and kappa unmeasured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1,630 turns, 147 speaker units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Mixed 8 units; backbone ablation not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0740" y="1506220"/>
            <a:ext cx="3472586" cy="3337547"/>
          </a:xfrm>
          <a:prstGeom prst="rect">
            <a:avLst/>
          </a:prstGeom>
          <a:solidFill>
            <a:srgbClr val="F8F9F7"/>
          </a:solidFill>
          <a:ln w="12700">
            <a:solidFill>
              <a:srgbClr val="C3C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0740" y="1506220"/>
            <a:ext cx="3472586" cy="68580"/>
          </a:xfrm>
          <a:prstGeom prst="rect">
            <a:avLst/>
          </a:prstGeom>
          <a:solidFill>
            <a:srgbClr val="A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-text"/>
          <p:cNvSpPr txBox="1"/>
          <p:nvPr/>
        </p:nvSpPr>
        <p:spPr>
          <a:xfrm>
            <a:off x="8307628" y="1743964"/>
            <a:ext cx="2978810" cy="2916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14181B"/>
                </a:solidFill>
                <a:latin typeface="Segoe UI"/>
              </a:rPr>
              <a:t>Ethics and privacy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Copyrighted audio not redistributed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Speakers are indices, never named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All labels AI-generated, disclosed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A4F"/>
                </a:solidFill>
                <a:latin typeface="Segoe UI"/>
              </a:rPr>
              <a:t>•	Annotations CC BY 4.0; not for trading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9799"/>
            <a:ext cx="10874959" cy="1010754"/>
          </a:xfrm>
          <a:prstGeom prst="rect">
            <a:avLst/>
          </a:prstGeom>
          <a:solidFill>
            <a:srgbClr val="1D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-text"/>
          <p:cNvSpPr txBox="1"/>
          <p:nvPr/>
        </p:nvSpPr>
        <p:spPr>
          <a:xfrm>
            <a:off x="932688" y="5282679"/>
            <a:ext cx="7765999" cy="644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0E5E1"/>
                </a:solidFill>
                <a:latin typeface="Consolas"/>
              </a:rPr>
              <a:t>NEXT STEP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"/>
              </a:rPr>
              <a:t>Three-pass judging and a 180-turn human verification sample.</a:t>
            </a:r>
          </a:p>
        </p:txBody>
      </p:sp>
      <p:sp>
        <p:nvSpPr>
          <p:cNvPr id="16" name="flow-text"/>
          <p:cNvSpPr txBox="1"/>
          <p:nvPr/>
        </p:nvSpPr>
        <p:spPr>
          <a:xfrm>
            <a:off x="9064447" y="5099799"/>
            <a:ext cx="2194560" cy="10107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3913</Words>
  <Application>Microsoft Office PowerPoint</Application>
  <PresentationFormat>Widescreen</PresentationFormat>
  <Paragraphs>866</Paragraphs>
  <Slides>31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Cambria Math</vt:lpstr>
      <vt:lpstr>Consolas</vt:lpstr>
      <vt:lpstr>Nirmala UI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Tawhidul Hasan</cp:lastModifiedBy>
  <cp:revision>2</cp:revision>
  <dcterms:created xsi:type="dcterms:W3CDTF">2013-01-27T09:14:16Z</dcterms:created>
  <dcterms:modified xsi:type="dcterms:W3CDTF">2026-09-21T15:13:17Z</dcterms:modified>
  <cp:category/>
</cp:coreProperties>
</file>