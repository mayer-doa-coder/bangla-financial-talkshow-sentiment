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92" r:id="rId32"/>
    <p:sldId id="293" r:id="rId33"/>
    <p:sldId id="294" r:id="rId34"/>
    <p:sldId id="286" r:id="rId35"/>
    <p:sldId id="287" r:id="rId36"/>
    <p:sldId id="288" r:id="rId37"/>
    <p:sldId id="28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658367" y="549623"/>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1D4E5F"/>
                </a:solidFill>
                <a:latin typeface="Consolas"/>
              </a:rPr>
              <a:t>MACHINE LEARNING LABORATORY   /   CSE 4112</a:t>
            </a:r>
          </a:p>
        </p:txBody>
      </p:sp>
      <p:sp>
        <p:nvSpPr>
          <p:cNvPr id="4" name="TextBox 3"/>
          <p:cNvSpPr txBox="1"/>
          <p:nvPr/>
        </p:nvSpPr>
        <p:spPr>
          <a:xfrm>
            <a:off x="658367" y="1116551"/>
            <a:ext cx="10874959" cy="2286000"/>
          </a:xfrm>
          <a:prstGeom prst="rect">
            <a:avLst/>
          </a:prstGeom>
          <a:noFill/>
        </p:spPr>
        <p:txBody>
          <a:bodyPr wrap="square" lIns="0" tIns="0" rIns="0" bIns="0" anchor="t">
            <a:spAutoFit/>
          </a:bodyPr>
          <a:lstStyle/>
          <a:p>
            <a:pPr algn="l">
              <a:lnSpc>
                <a:spcPct val="102000"/>
              </a:lnSpc>
              <a:spcBef>
                <a:spcPts val="0"/>
              </a:spcBef>
              <a:spcAft>
                <a:spcPts val="0"/>
              </a:spcAft>
            </a:pPr>
            <a:r>
              <a:rPr sz="5200" b="1" i="0">
                <a:solidFill>
                  <a:srgbClr val="14181B"/>
                </a:solidFill>
                <a:latin typeface="Segoe UI"/>
              </a:rPr>
              <a:t>Speaker-Attributed Financial</a:t>
            </a:r>
          </a:p>
          <a:p>
            <a:pPr algn="l">
              <a:lnSpc>
                <a:spcPct val="102000"/>
              </a:lnSpc>
              <a:spcBef>
                <a:spcPts val="0"/>
              </a:spcBef>
              <a:spcAft>
                <a:spcPts val="0"/>
              </a:spcAft>
            </a:pPr>
            <a:r>
              <a:rPr sz="5200" b="1" i="0">
                <a:solidFill>
                  <a:srgbClr val="14181B"/>
                </a:solidFill>
                <a:latin typeface="Segoe UI"/>
              </a:rPr>
              <a:t>Discourse Analysis of</a:t>
            </a:r>
          </a:p>
          <a:p>
            <a:pPr algn="l">
              <a:lnSpc>
                <a:spcPct val="102000"/>
              </a:lnSpc>
              <a:spcBef>
                <a:spcPts val="0"/>
              </a:spcBef>
              <a:spcAft>
                <a:spcPts val="0"/>
              </a:spcAft>
            </a:pPr>
            <a:r>
              <a:rPr sz="5200" b="1" i="0">
                <a:solidFill>
                  <a:srgbClr val="14181B"/>
                </a:solidFill>
                <a:latin typeface="Segoe UI"/>
              </a:rPr>
              <a:t>Bangla Talk Shows</a:t>
            </a:r>
          </a:p>
        </p:txBody>
      </p:sp>
      <p:sp>
        <p:nvSpPr>
          <p:cNvPr id="5" name="TextBox 4"/>
          <p:cNvSpPr txBox="1"/>
          <p:nvPr/>
        </p:nvSpPr>
        <p:spPr>
          <a:xfrm>
            <a:off x="658366" y="3493990"/>
            <a:ext cx="11268163" cy="884153"/>
          </a:xfrm>
          <a:prstGeom prst="rect">
            <a:avLst/>
          </a:prstGeom>
          <a:noFill/>
        </p:spPr>
        <p:txBody>
          <a:bodyPr wrap="square" lIns="0" tIns="0" rIns="0" bIns="0" anchor="t">
            <a:spAutoFit/>
          </a:bodyPr>
          <a:lstStyle/>
          <a:p>
            <a:pPr algn="l">
              <a:lnSpc>
                <a:spcPct val="126000"/>
              </a:lnSpc>
              <a:spcBef>
                <a:spcPts val="0"/>
              </a:spcBef>
              <a:spcAft>
                <a:spcPts val="0"/>
              </a:spcAft>
            </a:pPr>
            <a:r>
              <a:rPr sz="2400" b="0" i="0" dirty="0">
                <a:solidFill>
                  <a:srgbClr val="3E4A4F"/>
                </a:solidFill>
                <a:latin typeface="Segoe UI"/>
              </a:rPr>
              <a:t>One pipeline from raw broadcast audio to a polarity judgement about a named financial target: who spoke, what they said, and how they judged the economy.</a:t>
            </a:r>
          </a:p>
        </p:txBody>
      </p:sp>
      <p:sp>
        <p:nvSpPr>
          <p:cNvPr id="6" name="Rectangle 5"/>
          <p:cNvSpPr/>
          <p:nvPr/>
        </p:nvSpPr>
        <p:spPr>
          <a:xfrm>
            <a:off x="658367" y="4591271"/>
            <a:ext cx="10874959" cy="27432"/>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58367"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a:solidFill>
                  <a:srgbClr val="6B787D"/>
                </a:solidFill>
                <a:latin typeface="Consolas"/>
              </a:rPr>
              <a:t>ROLLS</a:t>
            </a:r>
          </a:p>
        </p:txBody>
      </p:sp>
      <p:sp>
        <p:nvSpPr>
          <p:cNvPr id="8" name="TextBox 7"/>
          <p:cNvSpPr txBox="1"/>
          <p:nvPr/>
        </p:nvSpPr>
        <p:spPr>
          <a:xfrm>
            <a:off x="658367" y="5121623"/>
            <a:ext cx="2499283" cy="1127425"/>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14181B"/>
                </a:solidFill>
                <a:latin typeface="Segoe UI"/>
              </a:rPr>
              <a:t>2107001, 2107004, 2107006,2107009, 2107010, 2107015</a:t>
            </a:r>
          </a:p>
        </p:txBody>
      </p:sp>
      <p:sp>
        <p:nvSpPr>
          <p:cNvPr id="9" name="TextBox 8"/>
          <p:cNvSpPr txBox="1"/>
          <p:nvPr/>
        </p:nvSpPr>
        <p:spPr>
          <a:xfrm>
            <a:off x="3377106"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a:solidFill>
                  <a:srgbClr val="6B787D"/>
                </a:solidFill>
                <a:latin typeface="Consolas"/>
              </a:rPr>
              <a:t>DIARIZATION</a:t>
            </a:r>
          </a:p>
        </p:txBody>
      </p:sp>
      <p:sp>
        <p:nvSpPr>
          <p:cNvPr id="10" name="TextBox 9"/>
          <p:cNvSpPr txBox="1"/>
          <p:nvPr/>
        </p:nvSpPr>
        <p:spPr>
          <a:xfrm>
            <a:off x="3377106"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14181B"/>
                </a:solidFill>
                <a:latin typeface="Segoe UI"/>
              </a:rPr>
              <a:t>pyannote
speaker-diarization-community-1</a:t>
            </a:r>
          </a:p>
        </p:txBody>
      </p:sp>
      <p:sp>
        <p:nvSpPr>
          <p:cNvPr id="11" name="TextBox 10"/>
          <p:cNvSpPr txBox="1"/>
          <p:nvPr/>
        </p:nvSpPr>
        <p:spPr>
          <a:xfrm>
            <a:off x="6095846" y="4774151"/>
            <a:ext cx="2718740" cy="355290"/>
          </a:xfrm>
          <a:prstGeom prst="rect">
            <a:avLst/>
          </a:prstGeom>
          <a:noFill/>
        </p:spPr>
        <p:txBody>
          <a:bodyPr wrap="square" lIns="0" tIns="0" rIns="0" bIns="0" anchor="t">
            <a:spAutoFit/>
          </a:bodyPr>
          <a:lstStyle/>
          <a:p>
            <a:pPr algn="l">
              <a:lnSpc>
                <a:spcPct val="118000"/>
              </a:lnSpc>
              <a:spcBef>
                <a:spcPts val="0"/>
              </a:spcBef>
              <a:spcAft>
                <a:spcPts val="400"/>
              </a:spcAft>
            </a:pPr>
            <a:r>
              <a:rPr sz="2100" b="1" i="0" dirty="0">
                <a:solidFill>
                  <a:srgbClr val="6B787D"/>
                </a:solidFill>
                <a:latin typeface="Consolas"/>
              </a:rPr>
              <a:t>SPEECH RECOGNITION</a:t>
            </a:r>
          </a:p>
        </p:txBody>
      </p:sp>
      <p:sp>
        <p:nvSpPr>
          <p:cNvPr id="12" name="TextBox 11"/>
          <p:cNvSpPr txBox="1"/>
          <p:nvPr/>
        </p:nvSpPr>
        <p:spPr>
          <a:xfrm>
            <a:off x="6095846"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14181B"/>
                </a:solidFill>
                <a:latin typeface="Segoe UI"/>
              </a:rPr>
              <a:t>Whisper medium,
Bengali adapted</a:t>
            </a:r>
          </a:p>
        </p:txBody>
      </p:sp>
      <p:sp>
        <p:nvSpPr>
          <p:cNvPr id="13" name="TextBox 12"/>
          <p:cNvSpPr txBox="1"/>
          <p:nvPr/>
        </p:nvSpPr>
        <p:spPr>
          <a:xfrm>
            <a:off x="9129218"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dirty="0">
                <a:solidFill>
                  <a:srgbClr val="6B787D"/>
                </a:solidFill>
                <a:latin typeface="Consolas"/>
              </a:rPr>
              <a:t>SENTIMENT</a:t>
            </a:r>
          </a:p>
        </p:txBody>
      </p:sp>
      <p:sp>
        <p:nvSpPr>
          <p:cNvPr id="14" name="TextBox 13"/>
          <p:cNvSpPr txBox="1"/>
          <p:nvPr/>
        </p:nvSpPr>
        <p:spPr>
          <a:xfrm>
            <a:off x="9129218"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14181B"/>
                </a:solidFill>
                <a:latin typeface="Segoe UI"/>
              </a:rPr>
              <a:t>TF-IDF + LogReg
(BanglaBERT not run)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01 / THE DATA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corpus at a glance</a:t>
            </a:r>
          </a:p>
        </p:txBody>
      </p:sp>
      <p:sp>
        <p:nvSpPr>
          <p:cNvPr id="5" name="Rectangle 4"/>
          <p:cNvSpPr/>
          <p:nvPr/>
        </p:nvSpPr>
        <p:spPr>
          <a:xfrm>
            <a:off x="658368" y="1664208"/>
            <a:ext cx="10874959" cy="107899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783080"/>
            <a:ext cx="1864095" cy="528734"/>
          </a:xfrm>
          <a:prstGeom prst="rect">
            <a:avLst/>
          </a:prstGeom>
          <a:noFill/>
        </p:spPr>
        <p:txBody>
          <a:bodyPr wrap="square" lIns="0" tIns="0" rIns="0" bIns="0" anchor="t">
            <a:spAutoFit/>
          </a:bodyPr>
          <a:lstStyle/>
          <a:p>
            <a:pPr algn="l">
              <a:lnSpc>
                <a:spcPct val="118000"/>
              </a:lnSpc>
              <a:spcBef>
                <a:spcPts val="0"/>
              </a:spcBef>
              <a:spcAft>
                <a:spcPts val="0"/>
              </a:spcAft>
            </a:pPr>
            <a:r>
              <a:rPr lang="en-US" sz="3200" b="1" dirty="0">
                <a:solidFill>
                  <a:srgbClr val="14181B"/>
                </a:solidFill>
                <a:latin typeface="Segoe UI"/>
              </a:rPr>
              <a:t>30</a:t>
            </a:r>
            <a:endParaRPr sz="3200" b="1" i="0" dirty="0">
              <a:solidFill>
                <a:srgbClr val="14181B"/>
              </a:solidFill>
              <a:latin typeface="Segoe UI"/>
            </a:endParaRPr>
          </a:p>
        </p:txBody>
      </p:sp>
      <p:sp>
        <p:nvSpPr>
          <p:cNvPr id="7" name="TextBox 6"/>
          <p:cNvSpPr txBox="1"/>
          <p:nvPr/>
        </p:nvSpPr>
        <p:spPr>
          <a:xfrm>
            <a:off x="841247"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EPISODES</a:t>
            </a:r>
          </a:p>
        </p:txBody>
      </p:sp>
      <p:sp>
        <p:nvSpPr>
          <p:cNvPr id="8" name="Rectangle 7"/>
          <p:cNvSpPr/>
          <p:nvPr/>
        </p:nvSpPr>
        <p:spPr>
          <a:xfrm>
            <a:off x="2833359"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016239"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16.88</a:t>
            </a:r>
          </a:p>
        </p:txBody>
      </p:sp>
      <p:sp>
        <p:nvSpPr>
          <p:cNvPr id="10" name="TextBox 9"/>
          <p:cNvSpPr txBox="1"/>
          <p:nvPr/>
        </p:nvSpPr>
        <p:spPr>
          <a:xfrm>
            <a:off x="3016239"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HOURS</a:t>
            </a:r>
          </a:p>
        </p:txBody>
      </p:sp>
      <p:sp>
        <p:nvSpPr>
          <p:cNvPr id="11" name="Rectangle 10"/>
          <p:cNvSpPr/>
          <p:nvPr/>
        </p:nvSpPr>
        <p:spPr>
          <a:xfrm>
            <a:off x="5008351"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191231"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1,867</a:t>
            </a:r>
          </a:p>
        </p:txBody>
      </p:sp>
      <p:sp>
        <p:nvSpPr>
          <p:cNvPr id="13" name="TextBox 12"/>
          <p:cNvSpPr txBox="1"/>
          <p:nvPr/>
        </p:nvSpPr>
        <p:spPr>
          <a:xfrm>
            <a:off x="5191231"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SPEAKER TURNS</a:t>
            </a:r>
          </a:p>
        </p:txBody>
      </p:sp>
      <p:sp>
        <p:nvSpPr>
          <p:cNvPr id="14" name="Rectangle 13"/>
          <p:cNvSpPr/>
          <p:nvPr/>
        </p:nvSpPr>
        <p:spPr>
          <a:xfrm>
            <a:off x="7183343"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366223"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130,750</a:t>
            </a:r>
          </a:p>
        </p:txBody>
      </p:sp>
      <p:sp>
        <p:nvSpPr>
          <p:cNvPr id="16" name="TextBox 15"/>
          <p:cNvSpPr txBox="1"/>
          <p:nvPr/>
        </p:nvSpPr>
        <p:spPr>
          <a:xfrm>
            <a:off x="7366223"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a:t>
            </a:r>
          </a:p>
        </p:txBody>
      </p:sp>
      <p:sp>
        <p:nvSpPr>
          <p:cNvPr id="17" name="Rectangle 16"/>
          <p:cNvSpPr/>
          <p:nvPr/>
        </p:nvSpPr>
        <p:spPr>
          <a:xfrm>
            <a:off x="9358335"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541215"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3,532</a:t>
            </a:r>
          </a:p>
        </p:txBody>
      </p:sp>
      <p:sp>
        <p:nvSpPr>
          <p:cNvPr id="19" name="TextBox 18"/>
          <p:cNvSpPr txBox="1"/>
          <p:nvPr/>
        </p:nvSpPr>
        <p:spPr>
          <a:xfrm>
            <a:off x="9541215"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UTTERANCES</a:t>
            </a:r>
          </a:p>
        </p:txBody>
      </p:sp>
      <p:graphicFrame>
        <p:nvGraphicFramePr>
          <p:cNvPr id="20" name="Table 19"/>
          <p:cNvGraphicFramePr>
            <a:graphicFrameLocks noGrp="1"/>
          </p:cNvGraphicFramePr>
          <p:nvPr>
            <p:extLst>
              <p:ext uri="{D42A27DB-BD31-4B8C-83A1-F6EECF244321}">
                <p14:modId xmlns:p14="http://schemas.microsoft.com/office/powerpoint/2010/main" val="999847901"/>
              </p:ext>
            </p:extLst>
          </p:nvPr>
        </p:nvGraphicFramePr>
        <p:xfrm>
          <a:off x="658368" y="2980944"/>
          <a:ext cx="10874957" cy="3035808"/>
        </p:xfrm>
        <a:graphic>
          <a:graphicData uri="http://schemas.openxmlformats.org/drawingml/2006/table">
            <a:tbl>
              <a:tblPr>
                <a:tableStyleId>{5C22544A-7EE6-4342-B048-85BDC9FD1C3A}</a:tableStyleId>
              </a:tblPr>
              <a:tblGrid>
                <a:gridCol w="2098676">
                  <a:extLst>
                    <a:ext uri="{9D8B030D-6E8A-4147-A177-3AD203B41FA5}">
                      <a16:colId xmlns:a16="http://schemas.microsoft.com/office/drawing/2014/main" val="20000"/>
                    </a:ext>
                  </a:extLst>
                </a:gridCol>
                <a:gridCol w="1907887">
                  <a:extLst>
                    <a:ext uri="{9D8B030D-6E8A-4147-A177-3AD203B41FA5}">
                      <a16:colId xmlns:a16="http://schemas.microsoft.com/office/drawing/2014/main" val="20001"/>
                    </a:ext>
                  </a:extLst>
                </a:gridCol>
                <a:gridCol w="1907887">
                  <a:extLst>
                    <a:ext uri="{9D8B030D-6E8A-4147-A177-3AD203B41FA5}">
                      <a16:colId xmlns:a16="http://schemas.microsoft.com/office/drawing/2014/main" val="20002"/>
                    </a:ext>
                  </a:extLst>
                </a:gridCol>
                <a:gridCol w="4960507">
                  <a:extLst>
                    <a:ext uri="{9D8B030D-6E8A-4147-A177-3AD203B41FA5}">
                      <a16:colId xmlns:a16="http://schemas.microsoft.com/office/drawing/2014/main" val="20003"/>
                    </a:ext>
                  </a:extLst>
                </a:gridCol>
              </a:tblGrid>
              <a:tr h="379476">
                <a:tc>
                  <a:txBody>
                    <a:bodyPr/>
                    <a:lstStyle/>
                    <a:p>
                      <a:pPr algn="l"/>
                      <a:r>
                        <a:rPr sz="2100" b="1" i="0">
                          <a:solidFill>
                            <a:srgbClr val="6B787D"/>
                          </a:solidFill>
                          <a:latin typeface="Consolas"/>
                        </a:rPr>
                        <a:t>Roll</a:t>
                      </a:r>
                    </a:p>
                  </a:txBody>
                  <a:tcPr marL="100584" marR="100584" marT="27432" marB="27432" anchor="ctr">
                    <a:solidFill>
                      <a:srgbClr val="E0E5E1"/>
                    </a:solidFill>
                  </a:tcPr>
                </a:tc>
                <a:tc>
                  <a:txBody>
                    <a:bodyPr/>
                    <a:lstStyle/>
                    <a:p>
                      <a:pPr algn="r"/>
                      <a:r>
                        <a:rPr sz="2100" b="1" i="0">
                          <a:solidFill>
                            <a:srgbClr val="6B787D"/>
                          </a:solidFill>
                          <a:latin typeface="Consolas"/>
                        </a:rPr>
                        <a:t>Episodes</a:t>
                      </a:r>
                    </a:p>
                  </a:txBody>
                  <a:tcPr marL="100584" marR="100584" marT="27432" marB="27432" anchor="ctr">
                    <a:solidFill>
                      <a:srgbClr val="E0E5E1"/>
                    </a:solidFill>
                  </a:tcPr>
                </a:tc>
                <a:tc>
                  <a:txBody>
                    <a:bodyPr/>
                    <a:lstStyle/>
                    <a:p>
                      <a:pPr algn="r"/>
                      <a:r>
                        <a:rPr sz="2100" b="1" i="0">
                          <a:solidFill>
                            <a:srgbClr val="6B787D"/>
                          </a:solidFill>
                          <a:latin typeface="Consolas"/>
                        </a:rPr>
                        <a:t>Words</a:t>
                      </a:r>
                    </a:p>
                  </a:txBody>
                  <a:tcPr marL="100584" marR="100584" marT="27432" marB="27432" anchor="ctr">
                    <a:solidFill>
                      <a:srgbClr val="E0E5E1"/>
                    </a:solidFill>
                  </a:tcPr>
                </a:tc>
                <a:tc>
                  <a:txBody>
                    <a:bodyPr/>
                    <a:lstStyle/>
                    <a:p>
                      <a:pPr algn="l"/>
                      <a:r>
                        <a:rPr sz="2100" b="1" i="0">
                          <a:solidFill>
                            <a:srgbClr val="6B787D"/>
                          </a:solidFill>
                          <a:latin typeface="Consolas"/>
                        </a:rPr>
                        <a:t>Programmes</a:t>
                      </a:r>
                    </a:p>
                  </a:txBody>
                  <a:tcPr marL="100584" marR="100584" marT="27432" marB="27432" anchor="ctr">
                    <a:solidFill>
                      <a:srgbClr val="E0E5E1"/>
                    </a:solidFill>
                  </a:tcPr>
                </a:tc>
                <a:extLst>
                  <a:ext uri="{0D108BD9-81ED-4DB2-BD59-A6C34878D82A}">
                    <a16:rowId xmlns:a16="http://schemas.microsoft.com/office/drawing/2014/main" val="10000"/>
                  </a:ext>
                </a:extLst>
              </a:tr>
              <a:tr h="379476">
                <a:tc>
                  <a:txBody>
                    <a:bodyPr/>
                    <a:lstStyle/>
                    <a:p>
                      <a:pPr algn="l"/>
                      <a:r>
                        <a:rPr sz="2100" b="0" i="0">
                          <a:solidFill>
                            <a:srgbClr val="14181B"/>
                          </a:solidFill>
                          <a:latin typeface="Segoe UI"/>
                        </a:rPr>
                        <a:t>2107001</a:t>
                      </a:r>
                    </a:p>
                  </a:txBody>
                  <a:tcPr marL="100584" marR="100584" marT="27432" marB="27432" anchor="ctr">
                    <a:solidFill>
                      <a:srgbClr val="F8F9F7"/>
                    </a:solidFill>
                  </a:tcPr>
                </a:tc>
                <a:tc>
                  <a:txBody>
                    <a:bodyPr/>
                    <a:lstStyle/>
                    <a:p>
                      <a:pPr algn="r"/>
                      <a:r>
                        <a:rPr sz="2100" b="0" i="0">
                          <a:solidFill>
                            <a:srgbClr val="14181B"/>
                          </a:solidFill>
                          <a:latin typeface="Consolas"/>
                        </a:rPr>
                        <a:t>4</a:t>
                      </a:r>
                    </a:p>
                  </a:txBody>
                  <a:tcPr marL="100584" marR="100584" marT="27432" marB="27432" anchor="ctr">
                    <a:solidFill>
                      <a:srgbClr val="F8F9F7"/>
                    </a:solidFill>
                  </a:tcPr>
                </a:tc>
                <a:tc>
                  <a:txBody>
                    <a:bodyPr/>
                    <a:lstStyle/>
                    <a:p>
                      <a:pPr algn="r"/>
                      <a:r>
                        <a:rPr sz="2100" b="0" i="0">
                          <a:solidFill>
                            <a:srgbClr val="14181B"/>
                          </a:solidFill>
                          <a:latin typeface="Consolas"/>
                        </a:rPr>
                        <a:t>21,500</a:t>
                      </a:r>
                    </a:p>
                  </a:txBody>
                  <a:tcPr marL="100584" marR="100584" marT="27432" marB="27432" anchor="ctr">
                    <a:solidFill>
                      <a:srgbClr val="F8F9F7"/>
                    </a:solidFill>
                  </a:tcPr>
                </a:tc>
                <a:tc>
                  <a:txBody>
                    <a:bodyPr/>
                    <a:lstStyle/>
                    <a:p>
                      <a:pPr algn="l"/>
                      <a:r>
                        <a:rPr sz="2100" b="0" i="0">
                          <a:solidFill>
                            <a:srgbClr val="14181B"/>
                          </a:solidFill>
                          <a:latin typeface="Segoe UI"/>
                        </a:rPr>
                        <a:t>Business Talk, ATN</a:t>
                      </a:r>
                    </a:p>
                  </a:txBody>
                  <a:tcPr marL="100584" marR="100584" marT="27432" marB="27432" anchor="ctr">
                    <a:solidFill>
                      <a:srgbClr val="F8F9F7"/>
                    </a:solidFill>
                  </a:tcPr>
                </a:tc>
                <a:extLst>
                  <a:ext uri="{0D108BD9-81ED-4DB2-BD59-A6C34878D82A}">
                    <a16:rowId xmlns:a16="http://schemas.microsoft.com/office/drawing/2014/main" val="10001"/>
                  </a:ext>
                </a:extLst>
              </a:tr>
              <a:tr h="379476">
                <a:tc>
                  <a:txBody>
                    <a:bodyPr/>
                    <a:lstStyle/>
                    <a:p>
                      <a:pPr algn="l"/>
                      <a:r>
                        <a:rPr sz="2100" b="0" i="0">
                          <a:solidFill>
                            <a:srgbClr val="14181B"/>
                          </a:solidFill>
                          <a:latin typeface="Segoe UI"/>
                        </a:rPr>
                        <a:t>2107004</a:t>
                      </a:r>
                    </a:p>
                  </a:txBody>
                  <a:tcPr marL="100584" marR="100584" marT="27432" marB="27432" anchor="ctr">
                    <a:solidFill>
                      <a:srgbClr val="F8F9F7"/>
                    </a:solidFill>
                  </a:tcPr>
                </a:tc>
                <a:tc>
                  <a:txBody>
                    <a:bodyPr/>
                    <a:lstStyle/>
                    <a:p>
                      <a:pPr algn="r"/>
                      <a:r>
                        <a:rPr sz="2100" b="0" i="0">
                          <a:solidFill>
                            <a:srgbClr val="14181B"/>
                          </a:solidFill>
                          <a:latin typeface="Consolas"/>
                        </a:rPr>
                        <a:t>6</a:t>
                      </a:r>
                    </a:p>
                  </a:txBody>
                  <a:tcPr marL="100584" marR="100584" marT="27432" marB="27432" anchor="ctr">
                    <a:solidFill>
                      <a:srgbClr val="F8F9F7"/>
                    </a:solidFill>
                  </a:tcPr>
                </a:tc>
                <a:tc>
                  <a:txBody>
                    <a:bodyPr/>
                    <a:lstStyle/>
                    <a:p>
                      <a:pPr algn="r"/>
                      <a:r>
                        <a:rPr sz="2100" b="0" i="0">
                          <a:solidFill>
                            <a:srgbClr val="14181B"/>
                          </a:solidFill>
                          <a:latin typeface="Consolas"/>
                        </a:rPr>
                        <a:t>29,383</a:t>
                      </a:r>
                    </a:p>
                  </a:txBody>
                  <a:tcPr marL="100584" marR="100584" marT="27432" marB="27432" anchor="ctr">
                    <a:solidFill>
                      <a:srgbClr val="F8F9F7"/>
                    </a:solidFill>
                  </a:tcPr>
                </a:tc>
                <a:tc>
                  <a:txBody>
                    <a:bodyPr/>
                    <a:lstStyle/>
                    <a:p>
                      <a:pPr algn="l"/>
                      <a:r>
                        <a:rPr sz="2100" b="0" i="0">
                          <a:solidFill>
                            <a:srgbClr val="14181B"/>
                          </a:solidFill>
                          <a:latin typeface="Segoe UI"/>
                        </a:rPr>
                        <a:t>Star Biz, Dhaka Stream</a:t>
                      </a:r>
                    </a:p>
                  </a:txBody>
                  <a:tcPr marL="100584" marR="100584" marT="27432" marB="27432" anchor="ctr">
                    <a:solidFill>
                      <a:srgbClr val="F8F9F7"/>
                    </a:solidFill>
                  </a:tcPr>
                </a:tc>
                <a:extLst>
                  <a:ext uri="{0D108BD9-81ED-4DB2-BD59-A6C34878D82A}">
                    <a16:rowId xmlns:a16="http://schemas.microsoft.com/office/drawing/2014/main" val="10002"/>
                  </a:ext>
                </a:extLst>
              </a:tr>
              <a:tr h="379476">
                <a:tc>
                  <a:txBody>
                    <a:bodyPr/>
                    <a:lstStyle/>
                    <a:p>
                      <a:pPr algn="l"/>
                      <a:r>
                        <a:rPr sz="2100" b="0" i="0">
                          <a:solidFill>
                            <a:srgbClr val="14181B"/>
                          </a:solidFill>
                          <a:latin typeface="Segoe UI"/>
                        </a:rPr>
                        <a:t>2107006</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25,736</a:t>
                      </a:r>
                    </a:p>
                  </a:txBody>
                  <a:tcPr marL="100584" marR="100584" marT="27432" marB="27432" anchor="ctr">
                    <a:solidFill>
                      <a:srgbClr val="F8F9F7"/>
                    </a:solidFill>
                  </a:tcPr>
                </a:tc>
                <a:tc>
                  <a:txBody>
                    <a:bodyPr/>
                    <a:lstStyle/>
                    <a:p>
                      <a:pPr algn="l"/>
                      <a:r>
                        <a:rPr sz="2100" b="0" i="0">
                          <a:solidFill>
                            <a:srgbClr val="14181B"/>
                          </a:solidFill>
                          <a:latin typeface="Segoe UI"/>
                        </a:rPr>
                        <a:t>RTV Business Talk</a:t>
                      </a:r>
                    </a:p>
                  </a:txBody>
                  <a:tcPr marL="100584" marR="100584" marT="27432" marB="27432" anchor="ctr">
                    <a:solidFill>
                      <a:srgbClr val="F8F9F7"/>
                    </a:solidFill>
                  </a:tcPr>
                </a:tc>
                <a:extLst>
                  <a:ext uri="{0D108BD9-81ED-4DB2-BD59-A6C34878D82A}">
                    <a16:rowId xmlns:a16="http://schemas.microsoft.com/office/drawing/2014/main" val="10003"/>
                  </a:ext>
                </a:extLst>
              </a:tr>
              <a:tr h="379476">
                <a:tc>
                  <a:txBody>
                    <a:bodyPr/>
                    <a:lstStyle/>
                    <a:p>
                      <a:pPr algn="l"/>
                      <a:r>
                        <a:rPr sz="2100" b="0" i="0">
                          <a:solidFill>
                            <a:srgbClr val="14181B"/>
                          </a:solidFill>
                          <a:latin typeface="Segoe UI"/>
                        </a:rPr>
                        <a:t>2107009</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23,447</a:t>
                      </a:r>
                    </a:p>
                  </a:txBody>
                  <a:tcPr marL="100584" marR="100584" marT="27432" marB="27432" anchor="ctr">
                    <a:solidFill>
                      <a:srgbClr val="F8F9F7"/>
                    </a:solidFill>
                  </a:tcPr>
                </a:tc>
                <a:tc>
                  <a:txBody>
                    <a:bodyPr/>
                    <a:lstStyle/>
                    <a:p>
                      <a:pPr algn="l"/>
                      <a:r>
                        <a:rPr sz="2100" b="0" i="0">
                          <a:solidFill>
                            <a:srgbClr val="14181B"/>
                          </a:solidFill>
                          <a:latin typeface="Segoe UI"/>
                        </a:rPr>
                        <a:t>Money Talks, Desh TV</a:t>
                      </a:r>
                    </a:p>
                  </a:txBody>
                  <a:tcPr marL="100584" marR="100584" marT="27432" marB="27432" anchor="ctr">
                    <a:solidFill>
                      <a:srgbClr val="F8F9F7"/>
                    </a:solidFill>
                  </a:tcPr>
                </a:tc>
                <a:extLst>
                  <a:ext uri="{0D108BD9-81ED-4DB2-BD59-A6C34878D82A}">
                    <a16:rowId xmlns:a16="http://schemas.microsoft.com/office/drawing/2014/main" val="10004"/>
                  </a:ext>
                </a:extLst>
              </a:tr>
              <a:tr h="379476">
                <a:tc>
                  <a:txBody>
                    <a:bodyPr/>
                    <a:lstStyle/>
                    <a:p>
                      <a:pPr algn="l"/>
                      <a:r>
                        <a:rPr sz="2100" b="0" i="0">
                          <a:solidFill>
                            <a:srgbClr val="14181B"/>
                          </a:solidFill>
                          <a:latin typeface="Segoe UI"/>
                        </a:rPr>
                        <a:t>2107010</a:t>
                      </a:r>
                    </a:p>
                  </a:txBody>
                  <a:tcPr marL="100584" marR="100584" marT="27432" marB="27432" anchor="ctr">
                    <a:solidFill>
                      <a:srgbClr val="F8F9F7"/>
                    </a:solidFill>
                  </a:tcPr>
                </a:tc>
                <a:tc>
                  <a:txBody>
                    <a:bodyPr/>
                    <a:lstStyle/>
                    <a:p>
                      <a:pPr algn="r"/>
                      <a:r>
                        <a:rPr lang="en-US" sz="2100" b="0" i="0" dirty="0">
                          <a:solidFill>
                            <a:srgbClr val="14181B"/>
                          </a:solidFill>
                          <a:latin typeface="Consolas"/>
                        </a:rPr>
                        <a:t>5</a:t>
                      </a:r>
                      <a:endParaRPr sz="2100" b="0" i="0" dirty="0">
                        <a:solidFill>
                          <a:srgbClr val="14181B"/>
                        </a:solidFill>
                        <a:latin typeface="Consolas"/>
                      </a:endParaRPr>
                    </a:p>
                  </a:txBody>
                  <a:tcPr marL="100584" marR="100584" marT="27432" marB="27432" anchor="ctr">
                    <a:solidFill>
                      <a:srgbClr val="F8F9F7"/>
                    </a:solidFill>
                  </a:tcPr>
                </a:tc>
                <a:tc>
                  <a:txBody>
                    <a:bodyPr/>
                    <a:lstStyle/>
                    <a:p>
                      <a:pPr algn="r"/>
                      <a:r>
                        <a:rPr sz="2100" b="0" i="0" dirty="0">
                          <a:solidFill>
                            <a:srgbClr val="14181B"/>
                          </a:solidFill>
                          <a:latin typeface="Consolas"/>
                        </a:rPr>
                        <a:t>2</a:t>
                      </a:r>
                      <a:r>
                        <a:rPr lang="en-US" sz="2100" b="0" i="0" dirty="0">
                          <a:solidFill>
                            <a:srgbClr val="14181B"/>
                          </a:solidFill>
                          <a:latin typeface="Consolas"/>
                        </a:rPr>
                        <a:t>3</a:t>
                      </a:r>
                      <a:r>
                        <a:rPr sz="2100" b="0" i="0" dirty="0">
                          <a:solidFill>
                            <a:srgbClr val="14181B"/>
                          </a:solidFill>
                          <a:latin typeface="Consolas"/>
                        </a:rPr>
                        <a:t>,960</a:t>
                      </a:r>
                    </a:p>
                  </a:txBody>
                  <a:tcPr marL="100584" marR="100584" marT="27432" marB="27432" anchor="ctr">
                    <a:solidFill>
                      <a:srgbClr val="F8F9F7"/>
                    </a:solidFill>
                  </a:tcPr>
                </a:tc>
                <a:tc>
                  <a:txBody>
                    <a:bodyPr/>
                    <a:lstStyle/>
                    <a:p>
                      <a:pPr algn="l"/>
                      <a:r>
                        <a:rPr sz="2100" b="0" i="0">
                          <a:solidFill>
                            <a:srgbClr val="14181B"/>
                          </a:solidFill>
                          <a:latin typeface="Segoe UI"/>
                        </a:rPr>
                        <a:t>Star Biz Dialogue</a:t>
                      </a:r>
                    </a:p>
                  </a:txBody>
                  <a:tcPr marL="100584" marR="100584" marT="27432" marB="27432" anchor="ctr">
                    <a:solidFill>
                      <a:srgbClr val="F8F9F7"/>
                    </a:solidFill>
                  </a:tcPr>
                </a:tc>
                <a:extLst>
                  <a:ext uri="{0D108BD9-81ED-4DB2-BD59-A6C34878D82A}">
                    <a16:rowId xmlns:a16="http://schemas.microsoft.com/office/drawing/2014/main" val="10005"/>
                  </a:ext>
                </a:extLst>
              </a:tr>
              <a:tr h="379476">
                <a:tc>
                  <a:txBody>
                    <a:bodyPr/>
                    <a:lstStyle/>
                    <a:p>
                      <a:pPr algn="l"/>
                      <a:r>
                        <a:rPr sz="2100" b="0" i="0">
                          <a:solidFill>
                            <a:srgbClr val="14181B"/>
                          </a:solidFill>
                          <a:latin typeface="Segoe UI"/>
                        </a:rPr>
                        <a:t>2107015</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27,724</a:t>
                      </a:r>
                    </a:p>
                  </a:txBody>
                  <a:tcPr marL="100584" marR="100584" marT="27432" marB="27432" anchor="ctr">
                    <a:solidFill>
                      <a:srgbClr val="F8F9F7"/>
                    </a:solidFill>
                  </a:tcPr>
                </a:tc>
                <a:tc>
                  <a:txBody>
                    <a:bodyPr/>
                    <a:lstStyle/>
                    <a:p>
                      <a:pPr algn="l"/>
                      <a:r>
                        <a:rPr sz="2100" b="0" i="0">
                          <a:solidFill>
                            <a:srgbClr val="14181B"/>
                          </a:solidFill>
                          <a:latin typeface="Segoe UI"/>
                        </a:rPr>
                        <a:t>ATN, Gtv</a:t>
                      </a:r>
                    </a:p>
                  </a:txBody>
                  <a:tcPr marL="100584" marR="100584" marT="27432" marB="27432" anchor="ctr">
                    <a:solidFill>
                      <a:srgbClr val="F8F9F7"/>
                    </a:solidFill>
                  </a:tcPr>
                </a:tc>
                <a:extLst>
                  <a:ext uri="{0D108BD9-81ED-4DB2-BD59-A6C34878D82A}">
                    <a16:rowId xmlns:a16="http://schemas.microsoft.com/office/drawing/2014/main" val="10006"/>
                  </a:ext>
                </a:extLst>
              </a:tr>
              <a:tr h="379476">
                <a:tc>
                  <a:txBody>
                    <a:bodyPr/>
                    <a:lstStyle/>
                    <a:p>
                      <a:pPr algn="l"/>
                      <a:r>
                        <a:rPr sz="2100" b="1" i="0">
                          <a:solidFill>
                            <a:srgbClr val="14181B"/>
                          </a:solidFill>
                          <a:latin typeface="Segoe UI"/>
                        </a:rPr>
                        <a:t>Total</a:t>
                      </a:r>
                    </a:p>
                  </a:txBody>
                  <a:tcPr marL="100584" marR="100584" marT="27432" marB="27432" anchor="ctr">
                    <a:solidFill>
                      <a:srgbClr val="E0E5E1"/>
                    </a:solidFill>
                  </a:tcPr>
                </a:tc>
                <a:tc>
                  <a:txBody>
                    <a:bodyPr/>
                    <a:lstStyle/>
                    <a:p>
                      <a:pPr algn="r"/>
                      <a:r>
                        <a:rPr sz="2100" b="1" i="0">
                          <a:solidFill>
                            <a:srgbClr val="14181B"/>
                          </a:solidFill>
                          <a:latin typeface="Consolas"/>
                        </a:rPr>
                        <a:t>26</a:t>
                      </a:r>
                    </a:p>
                  </a:txBody>
                  <a:tcPr marL="100584" marR="100584" marT="27432" marB="27432" anchor="ctr">
                    <a:solidFill>
                      <a:srgbClr val="E0E5E1"/>
                    </a:solidFill>
                  </a:tcPr>
                </a:tc>
                <a:tc>
                  <a:txBody>
                    <a:bodyPr/>
                    <a:lstStyle/>
                    <a:p>
                      <a:pPr algn="r"/>
                      <a:r>
                        <a:rPr sz="2100" b="1" i="0">
                          <a:solidFill>
                            <a:srgbClr val="14181B"/>
                          </a:solidFill>
                          <a:latin typeface="Consolas"/>
                        </a:rPr>
                        <a:t>130,750</a:t>
                      </a:r>
                    </a:p>
                  </a:txBody>
                  <a:tcPr marL="100584" marR="100584" marT="27432" marB="27432" anchor="ctr">
                    <a:solidFill>
                      <a:srgbClr val="E0E5E1"/>
                    </a:solidFill>
                  </a:tcPr>
                </a:tc>
                <a:tc>
                  <a:txBody>
                    <a:bodyPr/>
                    <a:lstStyle/>
                    <a:p>
                      <a:pPr algn="l"/>
                      <a:r>
                        <a:rPr sz="2100" b="1" i="0" dirty="0">
                          <a:solidFill>
                            <a:srgbClr val="14181B"/>
                          </a:solidFill>
                          <a:latin typeface="Segoe UI"/>
                        </a:rPr>
                        <a:t>16.88 hours</a:t>
                      </a:r>
                    </a:p>
                  </a:txBody>
                  <a:tcPr marL="100584" marR="100584" marT="27432" marB="27432" anchor="ctr">
                    <a:solidFill>
                      <a:srgbClr val="E0E5E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01 / THE DATA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this audio is the hard case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Long-form broadcast panel discussion breaks most of the assumptions a speech model is trained on.</a:t>
            </a:r>
          </a:p>
        </p:txBody>
      </p:sp>
      <p:sp>
        <p:nvSpPr>
          <p:cNvPr id="6" name="TextBox 5"/>
          <p:cNvSpPr txBox="1"/>
          <p:nvPr/>
        </p:nvSpPr>
        <p:spPr>
          <a:xfrm>
            <a:off x="658368" y="2468879"/>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Panel format, so two people frequently talk over each other</a:t>
            </a:r>
          </a:p>
        </p:txBody>
      </p:sp>
      <p:sp>
        <p:nvSpPr>
          <p:cNvPr id="7" name="TextBox 6"/>
          <p:cNvSpPr txBox="1"/>
          <p:nvPr/>
        </p:nvSpPr>
        <p:spPr>
          <a:xfrm>
            <a:off x="658368" y="2944368"/>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Studio stings and background music between segments</a:t>
            </a:r>
          </a:p>
        </p:txBody>
      </p:sp>
      <p:sp>
        <p:nvSpPr>
          <p:cNvPr id="8" name="TextBox 7"/>
          <p:cNvSpPr txBox="1"/>
          <p:nvPr/>
        </p:nvSpPr>
        <p:spPr>
          <a:xfrm>
            <a:off x="658368" y="3419856"/>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Guests joining by phone at much lower bandwidth</a:t>
            </a:r>
          </a:p>
        </p:txBody>
      </p:sp>
      <p:sp>
        <p:nvSpPr>
          <p:cNvPr id="9" name="TextBox 8"/>
          <p:cNvSpPr txBox="1"/>
          <p:nvPr/>
        </p:nvSpPr>
        <p:spPr>
          <a:xfrm>
            <a:off x="658368" y="3895344"/>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Heavy code switching: English finance terms inside Bangla sentences, for example </a:t>
            </a:r>
            <a:r>
              <a:rPr sz="2400" b="0" i="0">
                <a:solidFill>
                  <a:srgbClr val="14181B"/>
                </a:solidFill>
                <a:latin typeface="Nirmala UI"/>
              </a:rPr>
              <a:t>রেভিনিউ </a:t>
            </a:r>
            <a:r>
              <a:rPr sz="2400" b="0" i="0">
                <a:solidFill>
                  <a:srgbClr val="14181B"/>
                </a:solidFill>
                <a:latin typeface="Segoe UI"/>
              </a:rPr>
              <a:t>and </a:t>
            </a:r>
            <a:r>
              <a:rPr sz="2400" b="0" i="0">
                <a:solidFill>
                  <a:srgbClr val="14181B"/>
                </a:solidFill>
                <a:latin typeface="Nirmala UI"/>
              </a:rPr>
              <a:t>ফিসকাল পলিসি</a:t>
            </a:r>
          </a:p>
        </p:txBody>
      </p:sp>
      <p:sp>
        <p:nvSpPr>
          <p:cNvPr id="10" name="TextBox 9"/>
          <p:cNvSpPr txBox="1"/>
          <p:nvPr/>
        </p:nvSpPr>
        <p:spPr>
          <a:xfrm>
            <a:off x="658368" y="4855703"/>
            <a:ext cx="11158875" cy="402098"/>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Episodes run 24 to 48 minutes, far past what a speech model reads in one pass</a:t>
            </a:r>
          </a:p>
        </p:txBody>
      </p:sp>
      <p:sp>
        <p:nvSpPr>
          <p:cNvPr id="11" name="Rectangle 10"/>
          <p:cNvSpPr/>
          <p:nvPr/>
        </p:nvSpPr>
        <p:spPr>
          <a:xfrm>
            <a:off x="117594" y="5321316"/>
            <a:ext cx="10874959" cy="14274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5248655"/>
            <a:ext cx="50292" cy="896112"/>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5431536"/>
            <a:ext cx="10372039" cy="530352"/>
          </a:xfrm>
          <a:prstGeom prst="rect">
            <a:avLst/>
          </a:prstGeom>
          <a:noFill/>
        </p:spPr>
        <p:txBody>
          <a:bodyPr wrap="square" lIns="0" tIns="0" rIns="0" bIns="0" anchor="t">
            <a:spAutoFit/>
          </a:bodyPr>
          <a:lstStyle/>
          <a:p>
            <a:pPr algn="l">
              <a:lnSpc>
                <a:spcPct val="120000"/>
              </a:lnSpc>
              <a:spcBef>
                <a:spcPts val="0"/>
              </a:spcBef>
              <a:spcAft>
                <a:spcPts val="0"/>
              </a:spcAft>
            </a:pPr>
            <a:r>
              <a:rPr sz="2200" b="0" i="0" dirty="0">
                <a:solidFill>
                  <a:srgbClr val="3E4A4F"/>
                </a:solidFill>
                <a:latin typeface="Segoe UI"/>
              </a:rPr>
              <a:t>Episode identifiers are </a:t>
            </a:r>
            <a:r>
              <a:rPr sz="2200" b="0" i="0" dirty="0" err="1">
                <a:solidFill>
                  <a:srgbClr val="3E4A4F"/>
                </a:solidFill>
                <a:latin typeface="Segoe UI"/>
              </a:rPr>
              <a:t>namespaced</a:t>
            </a:r>
            <a:r>
              <a:rPr sz="2200" b="0" i="0" dirty="0">
                <a:solidFill>
                  <a:srgbClr val="3E4A4F"/>
                </a:solidFill>
                <a:latin typeface="Segoe UI"/>
              </a:rPr>
              <a:t> by roll, so ep001 from one contributor and ep001 from another stay distinct, and speaker identities are never merged across recordings.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02 / ARCHITECTURE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Five stages, each writing output the next one reads</a:t>
            </a:r>
          </a:p>
        </p:txBody>
      </p:sp>
      <p:sp>
        <p:nvSpPr>
          <p:cNvPr id="5" name="Rectangle 4"/>
          <p:cNvSpPr/>
          <p:nvPr/>
        </p:nvSpPr>
        <p:spPr>
          <a:xfrm>
            <a:off x="655167"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19759"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1</a:t>
            </a:r>
          </a:p>
        </p:txBody>
      </p:sp>
      <p:sp>
        <p:nvSpPr>
          <p:cNvPr id="7" name="TextBox 6"/>
          <p:cNvSpPr txBox="1"/>
          <p:nvPr/>
        </p:nvSpPr>
        <p:spPr>
          <a:xfrm>
            <a:off x="819759"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Audio</a:t>
            </a:r>
          </a:p>
        </p:txBody>
      </p:sp>
      <p:sp>
        <p:nvSpPr>
          <p:cNvPr id="8" name="TextBox 7"/>
          <p:cNvSpPr txBox="1"/>
          <p:nvPr/>
        </p:nvSpPr>
        <p:spPr>
          <a:xfrm>
            <a:off x="819759" y="2962656"/>
            <a:ext cx="1865376" cy="335861"/>
          </a:xfrm>
          <a:prstGeom prst="rect">
            <a:avLst/>
          </a:prstGeom>
          <a:noFill/>
        </p:spPr>
        <p:txBody>
          <a:bodyPr wrap="square" lIns="0" tIns="0" rIns="0" bIns="0" anchor="t">
            <a:spAutoFit/>
          </a:bodyPr>
          <a:lstStyle/>
          <a:p>
            <a:pPr algn="l">
              <a:lnSpc>
                <a:spcPct val="110000"/>
              </a:lnSpc>
              <a:spcBef>
                <a:spcPts val="0"/>
              </a:spcBef>
              <a:spcAft>
                <a:spcPts val="0"/>
              </a:spcAft>
            </a:pPr>
            <a:r>
              <a:rPr sz="2100" b="0" i="0" dirty="0">
                <a:solidFill>
                  <a:srgbClr val="6B787D"/>
                </a:solidFill>
                <a:latin typeface="Consolas"/>
              </a:rPr>
              <a:t>conditioning</a:t>
            </a:r>
          </a:p>
        </p:txBody>
      </p:sp>
      <p:sp>
        <p:nvSpPr>
          <p:cNvPr id="9" name="Rectangle 8"/>
          <p:cNvSpPr/>
          <p:nvPr/>
        </p:nvSpPr>
        <p:spPr>
          <a:xfrm>
            <a:off x="2868015"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032607"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2</a:t>
            </a:r>
          </a:p>
        </p:txBody>
      </p:sp>
      <p:sp>
        <p:nvSpPr>
          <p:cNvPr id="11" name="TextBox 10"/>
          <p:cNvSpPr txBox="1"/>
          <p:nvPr/>
        </p:nvSpPr>
        <p:spPr>
          <a:xfrm>
            <a:off x="3032607"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Diarization</a:t>
            </a:r>
          </a:p>
        </p:txBody>
      </p:sp>
      <p:sp>
        <p:nvSpPr>
          <p:cNvPr id="12" name="TextBox 11"/>
          <p:cNvSpPr txBox="1"/>
          <p:nvPr/>
        </p:nvSpPr>
        <p:spPr>
          <a:xfrm>
            <a:off x="3032607"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1,867 turns</a:t>
            </a:r>
          </a:p>
        </p:txBody>
      </p:sp>
      <p:sp>
        <p:nvSpPr>
          <p:cNvPr id="13" name="Right Arrow 12"/>
          <p:cNvSpPr/>
          <p:nvPr/>
        </p:nvSpPr>
        <p:spPr>
          <a:xfrm>
            <a:off x="2666847"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80863" y="1938528"/>
            <a:ext cx="2029968" cy="1797730"/>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245455"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3</a:t>
            </a:r>
          </a:p>
        </p:txBody>
      </p:sp>
      <p:sp>
        <p:nvSpPr>
          <p:cNvPr id="16" name="TextBox 15"/>
          <p:cNvSpPr txBox="1"/>
          <p:nvPr/>
        </p:nvSpPr>
        <p:spPr>
          <a:xfrm>
            <a:off x="5245455" y="2505456"/>
            <a:ext cx="1920240" cy="396583"/>
          </a:xfrm>
          <a:prstGeom prst="rect">
            <a:avLst/>
          </a:prstGeom>
          <a:noFill/>
        </p:spPr>
        <p:txBody>
          <a:bodyPr wrap="square" lIns="0" tIns="0" rIns="0" bIns="0" anchor="t">
            <a:spAutoFit/>
          </a:bodyPr>
          <a:lstStyle/>
          <a:p>
            <a:pPr algn="l">
              <a:lnSpc>
                <a:spcPct val="118000"/>
              </a:lnSpc>
              <a:spcBef>
                <a:spcPts val="0"/>
              </a:spcBef>
              <a:spcAft>
                <a:spcPts val="0"/>
              </a:spcAft>
            </a:pPr>
            <a:r>
              <a:rPr sz="2400" b="1" i="0" dirty="0">
                <a:solidFill>
                  <a:srgbClr val="14181B"/>
                </a:solidFill>
                <a:latin typeface="Segoe UI"/>
              </a:rPr>
              <a:t>Recognition</a:t>
            </a:r>
          </a:p>
        </p:txBody>
      </p:sp>
      <p:sp>
        <p:nvSpPr>
          <p:cNvPr id="17" name="TextBox 16"/>
          <p:cNvSpPr txBox="1"/>
          <p:nvPr/>
        </p:nvSpPr>
        <p:spPr>
          <a:xfrm>
            <a:off x="5245455"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130,750 words</a:t>
            </a:r>
          </a:p>
        </p:txBody>
      </p:sp>
      <p:sp>
        <p:nvSpPr>
          <p:cNvPr id="18" name="Right Arrow 17"/>
          <p:cNvSpPr/>
          <p:nvPr/>
        </p:nvSpPr>
        <p:spPr>
          <a:xfrm>
            <a:off x="4879695"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93711" y="1938528"/>
            <a:ext cx="2029968" cy="1797730"/>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458303"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4</a:t>
            </a:r>
          </a:p>
        </p:txBody>
      </p:sp>
      <p:sp>
        <p:nvSpPr>
          <p:cNvPr id="21" name="TextBox 20"/>
          <p:cNvSpPr txBox="1"/>
          <p:nvPr/>
        </p:nvSpPr>
        <p:spPr>
          <a:xfrm>
            <a:off x="7458303"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Fusion</a:t>
            </a:r>
          </a:p>
        </p:txBody>
      </p:sp>
      <p:sp>
        <p:nvSpPr>
          <p:cNvPr id="22" name="TextBox 21"/>
          <p:cNvSpPr txBox="1"/>
          <p:nvPr/>
        </p:nvSpPr>
        <p:spPr>
          <a:xfrm>
            <a:off x="7458303"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3,532 utterances</a:t>
            </a:r>
          </a:p>
        </p:txBody>
      </p:sp>
      <p:sp>
        <p:nvSpPr>
          <p:cNvPr id="23" name="Right Arrow 22"/>
          <p:cNvSpPr/>
          <p:nvPr/>
        </p:nvSpPr>
        <p:spPr>
          <a:xfrm>
            <a:off x="7092543"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506559"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9671151"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5</a:t>
            </a:r>
          </a:p>
        </p:txBody>
      </p:sp>
      <p:sp>
        <p:nvSpPr>
          <p:cNvPr id="26" name="TextBox 25"/>
          <p:cNvSpPr txBox="1"/>
          <p:nvPr/>
        </p:nvSpPr>
        <p:spPr>
          <a:xfrm>
            <a:off x="9671151"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Sentiment</a:t>
            </a:r>
          </a:p>
        </p:txBody>
      </p:sp>
      <p:sp>
        <p:nvSpPr>
          <p:cNvPr id="27" name="TextBox 26"/>
          <p:cNvSpPr txBox="1"/>
          <p:nvPr/>
        </p:nvSpPr>
        <p:spPr>
          <a:xfrm>
            <a:off x="9671151"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3,109 pairs</a:t>
            </a:r>
          </a:p>
        </p:txBody>
      </p:sp>
      <p:sp>
        <p:nvSpPr>
          <p:cNvPr id="28" name="Right Arrow 27"/>
          <p:cNvSpPr/>
          <p:nvPr/>
        </p:nvSpPr>
        <p:spPr>
          <a:xfrm>
            <a:off x="9305391"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3858768"/>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Diarization runs on the whole episode and does not depend on the transcript.</a:t>
            </a:r>
          </a:p>
        </p:txBody>
      </p:sp>
      <p:sp>
        <p:nvSpPr>
          <p:cNvPr id="30" name="TextBox 29"/>
          <p:cNvSpPr txBox="1"/>
          <p:nvPr/>
        </p:nvSpPr>
        <p:spPr>
          <a:xfrm>
            <a:off x="658368" y="4224528"/>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dirty="0">
                <a:solidFill>
                  <a:srgbClr val="3E4A4F"/>
                </a:solidFill>
                <a:latin typeface="Segoe UI"/>
              </a:rPr>
              <a:t>Speech recognition runs in 28 second chunks and does not depend on the speaker labels.</a:t>
            </a:r>
          </a:p>
        </p:txBody>
      </p:sp>
      <p:sp>
        <p:nvSpPr>
          <p:cNvPr id="31" name="TextBox 30"/>
          <p:cNvSpPr txBox="1"/>
          <p:nvPr/>
        </p:nvSpPr>
        <p:spPr>
          <a:xfrm>
            <a:off x="655167" y="4980089"/>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dirty="0">
                <a:solidFill>
                  <a:srgbClr val="3E4A4F"/>
                </a:solidFill>
                <a:latin typeface="Segoe UI"/>
              </a:rPr>
              <a:t>Fusion is the only stage that needs both, which is why its errors are the ones that compound.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03 / STAGE 1, AUDIO</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Getting broadcast audio into a state a model can read</a:t>
            </a:r>
          </a:p>
        </p:txBody>
      </p:sp>
      <p:sp>
        <p:nvSpPr>
          <p:cNvPr id="5" name="TextBox 4"/>
          <p:cNvSpPr txBox="1"/>
          <p:nvPr/>
        </p:nvSpPr>
        <p:spPr>
          <a:xfrm>
            <a:off x="658368" y="1901952"/>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Both speech models expect 16 kHz mono at a predictable loudness. Broadcast MP3 is none of those things.</a:t>
            </a:r>
          </a:p>
        </p:txBody>
      </p:sp>
      <p:graphicFrame>
        <p:nvGraphicFramePr>
          <p:cNvPr id="6" name="Table 5"/>
          <p:cNvGraphicFramePr>
            <a:graphicFrameLocks noGrp="1"/>
          </p:cNvGraphicFramePr>
          <p:nvPr>
            <p:extLst>
              <p:ext uri="{D42A27DB-BD31-4B8C-83A1-F6EECF244321}">
                <p14:modId xmlns:p14="http://schemas.microsoft.com/office/powerpoint/2010/main" val="2370604232"/>
              </p:ext>
            </p:extLst>
          </p:nvPr>
        </p:nvGraphicFramePr>
        <p:xfrm>
          <a:off x="658368" y="2785872"/>
          <a:ext cx="5532119" cy="4096512"/>
        </p:xfrm>
        <a:graphic>
          <a:graphicData uri="http://schemas.openxmlformats.org/drawingml/2006/table">
            <a:tbl>
              <a:tblPr>
                <a:tableStyleId>{5C22544A-7EE6-4342-B048-85BDC9FD1C3A}</a:tableStyleId>
              </a:tblPr>
              <a:tblGrid>
                <a:gridCol w="2663613">
                  <a:extLst>
                    <a:ext uri="{9D8B030D-6E8A-4147-A177-3AD203B41FA5}">
                      <a16:colId xmlns:a16="http://schemas.microsoft.com/office/drawing/2014/main" val="20000"/>
                    </a:ext>
                  </a:extLst>
                </a:gridCol>
                <a:gridCol w="2868506">
                  <a:extLst>
                    <a:ext uri="{9D8B030D-6E8A-4147-A177-3AD203B41FA5}">
                      <a16:colId xmlns:a16="http://schemas.microsoft.com/office/drawing/2014/main" val="20001"/>
                    </a:ext>
                  </a:extLst>
                </a:gridCol>
              </a:tblGrid>
              <a:tr h="402336">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402336">
                <a:tc>
                  <a:txBody>
                    <a:bodyPr/>
                    <a:lstStyle/>
                    <a:p>
                      <a:pPr algn="l"/>
                      <a:r>
                        <a:rPr sz="2100" b="0" i="0">
                          <a:solidFill>
                            <a:srgbClr val="14181B"/>
                          </a:solidFill>
                          <a:latin typeface="Segoe UI"/>
                        </a:rPr>
                        <a:t>source rate</a:t>
                      </a:r>
                    </a:p>
                  </a:txBody>
                  <a:tcPr marL="100584" marR="100584" marT="27432" marB="27432" anchor="ctr">
                    <a:solidFill>
                      <a:srgbClr val="F8F9F7"/>
                    </a:solidFill>
                  </a:tcPr>
                </a:tc>
                <a:tc>
                  <a:txBody>
                    <a:bodyPr/>
                    <a:lstStyle/>
                    <a:p>
                      <a:pPr algn="r"/>
                      <a:r>
                        <a:rPr sz="2100" b="0" i="0">
                          <a:solidFill>
                            <a:srgbClr val="14181B"/>
                          </a:solidFill>
                          <a:latin typeface="Consolas"/>
                        </a:rPr>
                        <a:t>44.1 and 48 kHz</a:t>
                      </a:r>
                    </a:p>
                  </a:txBody>
                  <a:tcPr marL="100584" marR="100584" marT="27432" marB="27432" anchor="ctr">
                    <a:solidFill>
                      <a:srgbClr val="F8F9F7"/>
                    </a:solidFill>
                  </a:tcPr>
                </a:tc>
                <a:extLst>
                  <a:ext uri="{0D108BD9-81ED-4DB2-BD59-A6C34878D82A}">
                    <a16:rowId xmlns:a16="http://schemas.microsoft.com/office/drawing/2014/main" val="10001"/>
                  </a:ext>
                </a:extLst>
              </a:tr>
              <a:tr h="402336">
                <a:tc>
                  <a:txBody>
                    <a:bodyPr/>
                    <a:lstStyle/>
                    <a:p>
                      <a:pPr algn="l"/>
                      <a:r>
                        <a:rPr sz="2100" b="0" i="0">
                          <a:solidFill>
                            <a:srgbClr val="14181B"/>
                          </a:solidFill>
                          <a:latin typeface="Segoe UI"/>
                        </a:rPr>
                        <a:t>source channels</a:t>
                      </a:r>
                    </a:p>
                  </a:txBody>
                  <a:tcPr marL="100584" marR="100584" marT="27432" marB="27432" anchor="ctr">
                    <a:solidFill>
                      <a:srgbClr val="F8F9F7"/>
                    </a:solidFill>
                  </a:tcPr>
                </a:tc>
                <a:tc>
                  <a:txBody>
                    <a:bodyPr/>
                    <a:lstStyle/>
                    <a:p>
                      <a:pPr algn="r"/>
                      <a:r>
                        <a:rPr sz="2100" b="0" i="0">
                          <a:solidFill>
                            <a:srgbClr val="14181B"/>
                          </a:solidFill>
                          <a:latin typeface="Consolas"/>
                        </a:rPr>
                        <a:t>2, stereo</a:t>
                      </a:r>
                    </a:p>
                  </a:txBody>
                  <a:tcPr marL="100584" marR="100584" marT="27432" marB="27432" anchor="ctr">
                    <a:solidFill>
                      <a:srgbClr val="F8F9F7"/>
                    </a:solidFill>
                  </a:tcPr>
                </a:tc>
                <a:extLst>
                  <a:ext uri="{0D108BD9-81ED-4DB2-BD59-A6C34878D82A}">
                    <a16:rowId xmlns:a16="http://schemas.microsoft.com/office/drawing/2014/main" val="10002"/>
                  </a:ext>
                </a:extLst>
              </a:tr>
              <a:tr h="402336">
                <a:tc>
                  <a:txBody>
                    <a:bodyPr/>
                    <a:lstStyle/>
                    <a:p>
                      <a:pPr algn="l"/>
                      <a:r>
                        <a:rPr sz="2100" b="0" i="0">
                          <a:solidFill>
                            <a:srgbClr val="14181B"/>
                          </a:solidFill>
                          <a:latin typeface="Segoe UI"/>
                        </a:rPr>
                        <a:t>target rate</a:t>
                      </a:r>
                    </a:p>
                  </a:txBody>
                  <a:tcPr marL="100584" marR="100584" marT="27432" marB="27432" anchor="ctr">
                    <a:solidFill>
                      <a:srgbClr val="F8F9F7"/>
                    </a:solidFill>
                  </a:tcPr>
                </a:tc>
                <a:tc>
                  <a:txBody>
                    <a:bodyPr/>
                    <a:lstStyle/>
                    <a:p>
                      <a:pPr algn="r"/>
                      <a:r>
                        <a:rPr sz="2100" b="0" i="0">
                          <a:solidFill>
                            <a:srgbClr val="14181B"/>
                          </a:solidFill>
                          <a:latin typeface="Consolas"/>
                        </a:rPr>
                        <a:t>16 kHz mono</a:t>
                      </a:r>
                    </a:p>
                  </a:txBody>
                  <a:tcPr marL="100584" marR="100584" marT="27432" marB="27432" anchor="ctr">
                    <a:solidFill>
                      <a:srgbClr val="F8F9F7"/>
                    </a:solidFill>
                  </a:tcPr>
                </a:tc>
                <a:extLst>
                  <a:ext uri="{0D108BD9-81ED-4DB2-BD59-A6C34878D82A}">
                    <a16:rowId xmlns:a16="http://schemas.microsoft.com/office/drawing/2014/main" val="10003"/>
                  </a:ext>
                </a:extLst>
              </a:tr>
              <a:tr h="402336">
                <a:tc>
                  <a:txBody>
                    <a:bodyPr/>
                    <a:lstStyle/>
                    <a:p>
                      <a:pPr algn="l"/>
                      <a:r>
                        <a:rPr sz="2100" b="0" i="0">
                          <a:solidFill>
                            <a:srgbClr val="14181B"/>
                          </a:solidFill>
                          <a:latin typeface="Segoe UI"/>
                        </a:rPr>
                        <a:t>loudness standard</a:t>
                      </a:r>
                    </a:p>
                  </a:txBody>
                  <a:tcPr marL="100584" marR="100584" marT="27432" marB="27432" anchor="ctr">
                    <a:solidFill>
                      <a:srgbClr val="F8F9F7"/>
                    </a:solidFill>
                  </a:tcPr>
                </a:tc>
                <a:tc>
                  <a:txBody>
                    <a:bodyPr/>
                    <a:lstStyle/>
                    <a:p>
                      <a:pPr algn="r"/>
                      <a:r>
                        <a:rPr sz="2100" b="0" i="0">
                          <a:solidFill>
                            <a:srgbClr val="14181B"/>
                          </a:solidFill>
                          <a:latin typeface="Consolas"/>
                        </a:rPr>
                        <a:t>EBU R128 integrated</a:t>
                      </a:r>
                    </a:p>
                  </a:txBody>
                  <a:tcPr marL="100584" marR="100584" marT="27432" marB="27432" anchor="ctr">
                    <a:solidFill>
                      <a:srgbClr val="F8F9F7"/>
                    </a:solidFill>
                  </a:tcPr>
                </a:tc>
                <a:extLst>
                  <a:ext uri="{0D108BD9-81ED-4DB2-BD59-A6C34878D82A}">
                    <a16:rowId xmlns:a16="http://schemas.microsoft.com/office/drawing/2014/main" val="10004"/>
                  </a:ext>
                </a:extLst>
              </a:tr>
              <a:tr h="402336">
                <a:tc>
                  <a:txBody>
                    <a:bodyPr/>
                    <a:lstStyle/>
                    <a:p>
                      <a:pPr algn="l"/>
                      <a:r>
                        <a:rPr sz="2100" b="0" i="0">
                          <a:solidFill>
                            <a:srgbClr val="14181B"/>
                          </a:solidFill>
                          <a:latin typeface="Segoe UI"/>
                        </a:rPr>
                        <a:t>loudness target</a:t>
                      </a:r>
                    </a:p>
                  </a:txBody>
                  <a:tcPr marL="100584" marR="100584" marT="27432" marB="27432" anchor="ctr">
                    <a:solidFill>
                      <a:srgbClr val="F8F9F7"/>
                    </a:solidFill>
                  </a:tcPr>
                </a:tc>
                <a:tc>
                  <a:txBody>
                    <a:bodyPr/>
                    <a:lstStyle/>
                    <a:p>
                      <a:pPr algn="r"/>
                      <a:r>
                        <a:rPr sz="2100" b="0" i="0">
                          <a:solidFill>
                            <a:srgbClr val="14181B"/>
                          </a:solidFill>
                          <a:latin typeface="Consolas"/>
                        </a:rPr>
                        <a:t>-16 LUFS</a:t>
                      </a:r>
                    </a:p>
                  </a:txBody>
                  <a:tcPr marL="100584" marR="100584" marT="27432" marB="27432" anchor="ctr">
                    <a:solidFill>
                      <a:srgbClr val="F8F9F7"/>
                    </a:solidFill>
                  </a:tcPr>
                </a:tc>
                <a:extLst>
                  <a:ext uri="{0D108BD9-81ED-4DB2-BD59-A6C34878D82A}">
                    <a16:rowId xmlns:a16="http://schemas.microsoft.com/office/drawing/2014/main" val="10005"/>
                  </a:ext>
                </a:extLst>
              </a:tr>
              <a:tr h="402336">
                <a:tc>
                  <a:txBody>
                    <a:bodyPr/>
                    <a:lstStyle/>
                    <a:p>
                      <a:pPr algn="l"/>
                      <a:r>
                        <a:rPr sz="2100" b="0" i="0">
                          <a:solidFill>
                            <a:srgbClr val="14181B"/>
                          </a:solidFill>
                          <a:latin typeface="Segoe UI"/>
                        </a:rPr>
                        <a:t>measured range</a:t>
                      </a:r>
                    </a:p>
                  </a:txBody>
                  <a:tcPr marL="100584" marR="100584" marT="27432" marB="27432" anchor="ctr">
                    <a:solidFill>
                      <a:srgbClr val="F8F9F7"/>
                    </a:solidFill>
                  </a:tcPr>
                </a:tc>
                <a:tc>
                  <a:txBody>
                    <a:bodyPr/>
                    <a:lstStyle/>
                    <a:p>
                      <a:pPr algn="r"/>
                      <a:r>
                        <a:rPr sz="2100" b="0" i="0">
                          <a:solidFill>
                            <a:srgbClr val="14181B"/>
                          </a:solidFill>
                          <a:latin typeface="Consolas"/>
                        </a:rPr>
                        <a:t>-28.3 to -16.0 LUFS</a:t>
                      </a:r>
                    </a:p>
                  </a:txBody>
                  <a:tcPr marL="100584" marR="100584" marT="27432" marB="27432" anchor="ctr">
                    <a:solidFill>
                      <a:srgbClr val="F8F9F7"/>
                    </a:solidFill>
                  </a:tcPr>
                </a:tc>
                <a:extLst>
                  <a:ext uri="{0D108BD9-81ED-4DB2-BD59-A6C34878D82A}">
                    <a16:rowId xmlns:a16="http://schemas.microsoft.com/office/drawing/2014/main" val="10006"/>
                  </a:ext>
                </a:extLst>
              </a:tr>
              <a:tr h="402336">
                <a:tc>
                  <a:txBody>
                    <a:bodyPr/>
                    <a:lstStyle/>
                    <a:p>
                      <a:pPr algn="l"/>
                      <a:r>
                        <a:rPr sz="2100" b="0" i="0">
                          <a:solidFill>
                            <a:srgbClr val="14181B"/>
                          </a:solidFill>
                          <a:latin typeface="Segoe UI"/>
                        </a:rPr>
                        <a:t>true peak guard</a:t>
                      </a:r>
                    </a:p>
                  </a:txBody>
                  <a:tcPr marL="100584" marR="100584" marT="27432" marB="27432" anchor="ctr">
                    <a:solidFill>
                      <a:srgbClr val="F8F9F7"/>
                    </a:solidFill>
                  </a:tcPr>
                </a:tc>
                <a:tc>
                  <a:txBody>
                    <a:bodyPr/>
                    <a:lstStyle/>
                    <a:p>
                      <a:pPr algn="r"/>
                      <a:r>
                        <a:rPr sz="2100" b="0" i="0" dirty="0">
                          <a:solidFill>
                            <a:srgbClr val="14181B"/>
                          </a:solidFill>
                          <a:latin typeface="Consolas"/>
                        </a:rPr>
                        <a:t>checked before gain</a:t>
                      </a:r>
                    </a:p>
                  </a:txBody>
                  <a:tcPr marL="100584" marR="100584" marT="27432" marB="27432" anchor="ctr">
                    <a:solidFill>
                      <a:srgbClr val="F8F9F7"/>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6556248" y="2378606"/>
            <a:ext cx="4977079" cy="224825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56248" y="2980944"/>
            <a:ext cx="50292" cy="148132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830568" y="2561486"/>
            <a:ext cx="4474159" cy="1115568"/>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Gain is applied selectively</a:t>
            </a:r>
          </a:p>
          <a:p>
            <a:pPr algn="l">
              <a:lnSpc>
                <a:spcPct val="118000"/>
              </a:lnSpc>
              <a:spcBef>
                <a:spcPts val="0"/>
              </a:spcBef>
              <a:spcAft>
                <a:spcPts val="0"/>
              </a:spcAft>
            </a:pPr>
            <a:r>
              <a:rPr sz="2100" b="0" i="0" dirty="0">
                <a:solidFill>
                  <a:srgbClr val="3E4A4F"/>
                </a:solidFill>
                <a:latin typeface="Segoe UI"/>
              </a:rPr>
              <a:t>Only when an episode is genuinely off target and the true peak leaves headroom. </a:t>
            </a:r>
            <a:r>
              <a:rPr sz="2100" b="0" i="0" dirty="0" err="1">
                <a:solidFill>
                  <a:srgbClr val="3E4A4F"/>
                </a:solidFill>
                <a:latin typeface="Segoe UI"/>
              </a:rPr>
              <a:t>Normalising</a:t>
            </a:r>
            <a:r>
              <a:rPr sz="2100" b="0" i="0" dirty="0">
                <a:solidFill>
                  <a:srgbClr val="3E4A4F"/>
                </a:solidFill>
                <a:latin typeface="Segoe UI"/>
              </a:rPr>
              <a:t> everything blindly would clip the loud ones.</a:t>
            </a:r>
          </a:p>
        </p:txBody>
      </p:sp>
      <p:sp>
        <p:nvSpPr>
          <p:cNvPr id="10" name="Rectangle 9"/>
          <p:cNvSpPr/>
          <p:nvPr/>
        </p:nvSpPr>
        <p:spPr>
          <a:xfrm>
            <a:off x="6556248" y="4626864"/>
            <a:ext cx="4977079" cy="177393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6556248" y="4626864"/>
            <a:ext cx="50292" cy="1773936"/>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30568" y="4809744"/>
            <a:ext cx="4474159" cy="1222964"/>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Why it matters downstream</a:t>
            </a:r>
          </a:p>
          <a:p>
            <a:pPr algn="l">
              <a:lnSpc>
                <a:spcPct val="118000"/>
              </a:lnSpc>
              <a:spcBef>
                <a:spcPts val="0"/>
              </a:spcBef>
              <a:spcAft>
                <a:spcPts val="0"/>
              </a:spcAft>
            </a:pPr>
            <a:r>
              <a:rPr sz="2100" b="0" i="0" dirty="0" err="1">
                <a:solidFill>
                  <a:srgbClr val="3E4A4F"/>
                </a:solidFill>
                <a:latin typeface="Segoe UI"/>
              </a:rPr>
              <a:t>Diarization</a:t>
            </a:r>
            <a:r>
              <a:rPr sz="2100" b="0" i="0" dirty="0">
                <a:solidFill>
                  <a:srgbClr val="3E4A4F"/>
                </a:solidFill>
                <a:latin typeface="Segoe UI"/>
              </a:rPr>
              <a:t> clusters speaker embeddings by distance.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04 / STAGE 2, DIARIZATION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Deciding who is speaking, before knowing what was said</a:t>
            </a:r>
          </a:p>
        </p:txBody>
      </p:sp>
      <p:graphicFrame>
        <p:nvGraphicFramePr>
          <p:cNvPr id="5" name="Table 4"/>
          <p:cNvGraphicFramePr>
            <a:graphicFrameLocks noGrp="1"/>
          </p:cNvGraphicFramePr>
          <p:nvPr/>
        </p:nvGraphicFramePr>
        <p:xfrm>
          <a:off x="658368" y="2176272"/>
          <a:ext cx="5532119" cy="4389120"/>
        </p:xfrm>
        <a:graphic>
          <a:graphicData uri="http://schemas.openxmlformats.org/drawingml/2006/table">
            <a:tbl>
              <a:tblPr>
                <a:tableStyleId>{5C22544A-7EE6-4342-B048-85BDC9FD1C3A}</a:tableStyleId>
              </a:tblPr>
              <a:tblGrid>
                <a:gridCol w="2963635">
                  <a:extLst>
                    <a:ext uri="{9D8B030D-6E8A-4147-A177-3AD203B41FA5}">
                      <a16:colId xmlns:a16="http://schemas.microsoft.com/office/drawing/2014/main" val="20000"/>
                    </a:ext>
                  </a:extLst>
                </a:gridCol>
                <a:gridCol w="2568484">
                  <a:extLst>
                    <a:ext uri="{9D8B030D-6E8A-4147-A177-3AD203B41FA5}">
                      <a16:colId xmlns:a16="http://schemas.microsoft.com/office/drawing/2014/main" val="20001"/>
                    </a:ext>
                  </a:extLst>
                </a:gridCol>
              </a:tblGrid>
              <a:tr h="384048">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384048">
                <a:tc>
                  <a:txBody>
                    <a:bodyPr/>
                    <a:lstStyle/>
                    <a:p>
                      <a:pPr algn="l"/>
                      <a:r>
                        <a:rPr sz="2100" b="0" i="0">
                          <a:solidFill>
                            <a:srgbClr val="14181B"/>
                          </a:solidFill>
                          <a:latin typeface="Segoe UI"/>
                        </a:rPr>
                        <a:t>backbone</a:t>
                      </a:r>
                    </a:p>
                  </a:txBody>
                  <a:tcPr marL="100584" marR="100584" marT="27432" marB="27432" anchor="ctr">
                    <a:solidFill>
                      <a:srgbClr val="F8F9F7"/>
                    </a:solidFill>
                  </a:tcPr>
                </a:tc>
                <a:tc>
                  <a:txBody>
                    <a:bodyPr/>
                    <a:lstStyle/>
                    <a:p>
                      <a:pPr algn="r"/>
                      <a:r>
                        <a:rPr sz="2100" b="0" i="0">
                          <a:solidFill>
                            <a:srgbClr val="14181B"/>
                          </a:solidFill>
                          <a:latin typeface="Consolas"/>
                        </a:rPr>
                        <a:t>pyannote community-1</a:t>
                      </a:r>
                    </a:p>
                  </a:txBody>
                  <a:tcPr marL="100584" marR="100584" marT="27432" marB="27432" anchor="ctr">
                    <a:solidFill>
                      <a:srgbClr val="F8F9F7"/>
                    </a:solidFill>
                  </a:tcPr>
                </a:tc>
                <a:extLst>
                  <a:ext uri="{0D108BD9-81ED-4DB2-BD59-A6C34878D82A}">
                    <a16:rowId xmlns:a16="http://schemas.microsoft.com/office/drawing/2014/main" val="10001"/>
                  </a:ext>
                </a:extLst>
              </a:tr>
              <a:tr h="384048">
                <a:tc>
                  <a:txBody>
                    <a:bodyPr/>
                    <a:lstStyle/>
                    <a:p>
                      <a:pPr algn="l"/>
                      <a:r>
                        <a:rPr sz="2100" b="0" i="0">
                          <a:solidFill>
                            <a:srgbClr val="14181B"/>
                          </a:solidFill>
                          <a:latin typeface="Segoe UI"/>
                        </a:rPr>
                        <a:t>embedding</a:t>
                      </a:r>
                    </a:p>
                  </a:txBody>
                  <a:tcPr marL="100584" marR="100584" marT="27432" marB="27432" anchor="ctr">
                    <a:solidFill>
                      <a:srgbClr val="F8F9F7"/>
                    </a:solidFill>
                  </a:tcPr>
                </a:tc>
                <a:tc>
                  <a:txBody>
                    <a:bodyPr/>
                    <a:lstStyle/>
                    <a:p>
                      <a:pPr algn="r"/>
                      <a:r>
                        <a:rPr sz="2100" b="0" i="0">
                          <a:solidFill>
                            <a:srgbClr val="14181B"/>
                          </a:solidFill>
                          <a:latin typeface="Consolas"/>
                        </a:rPr>
                        <a:t>wespeaker resnet34-LM</a:t>
                      </a:r>
                    </a:p>
                  </a:txBody>
                  <a:tcPr marL="100584" marR="100584" marT="27432" marB="27432" anchor="ctr">
                    <a:solidFill>
                      <a:srgbClr val="F8F9F7"/>
                    </a:solidFill>
                  </a:tcPr>
                </a:tc>
                <a:extLst>
                  <a:ext uri="{0D108BD9-81ED-4DB2-BD59-A6C34878D82A}">
                    <a16:rowId xmlns:a16="http://schemas.microsoft.com/office/drawing/2014/main" val="10002"/>
                  </a:ext>
                </a:extLst>
              </a:tr>
              <a:tr h="384048">
                <a:tc>
                  <a:txBody>
                    <a:bodyPr/>
                    <a:lstStyle/>
                    <a:p>
                      <a:pPr algn="l"/>
                      <a:r>
                        <a:rPr sz="2100" b="0" i="0">
                          <a:solidFill>
                            <a:srgbClr val="14181B"/>
                          </a:solidFill>
                          <a:latin typeface="Segoe UI"/>
                        </a:rPr>
                        <a:t>min_duration_off</a:t>
                      </a:r>
                    </a:p>
                  </a:txBody>
                  <a:tcPr marL="100584" marR="100584" marT="27432" marB="27432" anchor="ctr">
                    <a:solidFill>
                      <a:srgbClr val="F8F9F7"/>
                    </a:solidFill>
                  </a:tcPr>
                </a:tc>
                <a:tc>
                  <a:txBody>
                    <a:bodyPr/>
                    <a:lstStyle/>
                    <a:p>
                      <a:pPr algn="r"/>
                      <a:r>
                        <a:rPr sz="2100" b="0" i="0">
                          <a:solidFill>
                            <a:srgbClr val="14181B"/>
                          </a:solidFill>
                          <a:latin typeface="Consolas"/>
                        </a:rPr>
                        <a:t>0.1 s</a:t>
                      </a:r>
                    </a:p>
                  </a:txBody>
                  <a:tcPr marL="100584" marR="100584" marT="27432" marB="27432" anchor="ctr">
                    <a:solidFill>
                      <a:srgbClr val="F8F9F7"/>
                    </a:solidFill>
                  </a:tcPr>
                </a:tc>
                <a:extLst>
                  <a:ext uri="{0D108BD9-81ED-4DB2-BD59-A6C34878D82A}">
                    <a16:rowId xmlns:a16="http://schemas.microsoft.com/office/drawing/2014/main" val="10003"/>
                  </a:ext>
                </a:extLst>
              </a:tr>
              <a:tr h="384048">
                <a:tc>
                  <a:txBody>
                    <a:bodyPr/>
                    <a:lstStyle/>
                    <a:p>
                      <a:pPr algn="l"/>
                      <a:r>
                        <a:rPr sz="2100" b="0" i="0">
                          <a:solidFill>
                            <a:srgbClr val="14181B"/>
                          </a:solidFill>
                          <a:latin typeface="Segoe UI"/>
                        </a:rPr>
                        <a:t>min_cluster_size</a:t>
                      </a:r>
                    </a:p>
                  </a:txBody>
                  <a:tcPr marL="100584" marR="100584" marT="27432" marB="27432" anchor="ctr">
                    <a:solidFill>
                      <a:srgbClr val="F8F9F7"/>
                    </a:solidFill>
                  </a:tcPr>
                </a:tc>
                <a:tc>
                  <a:txBody>
                    <a:bodyPr/>
                    <a:lstStyle/>
                    <a:p>
                      <a:pPr algn="r"/>
                      <a:r>
                        <a:rPr sz="2100" b="0" i="0">
                          <a:solidFill>
                            <a:srgbClr val="14181B"/>
                          </a:solidFill>
                          <a:latin typeface="Consolas"/>
                        </a:rPr>
                        <a:t>20</a:t>
                      </a:r>
                    </a:p>
                  </a:txBody>
                  <a:tcPr marL="100584" marR="100584" marT="27432" marB="27432" anchor="ctr">
                    <a:solidFill>
                      <a:srgbClr val="F8F9F7"/>
                    </a:solidFill>
                  </a:tcPr>
                </a:tc>
                <a:extLst>
                  <a:ext uri="{0D108BD9-81ED-4DB2-BD59-A6C34878D82A}">
                    <a16:rowId xmlns:a16="http://schemas.microsoft.com/office/drawing/2014/main" val="10004"/>
                  </a:ext>
                </a:extLst>
              </a:tr>
              <a:tr h="384048">
                <a:tc>
                  <a:txBody>
                    <a:bodyPr/>
                    <a:lstStyle/>
                    <a:p>
                      <a:pPr algn="l"/>
                      <a:r>
                        <a:rPr sz="2100" b="0" i="0">
                          <a:solidFill>
                            <a:srgbClr val="14181B"/>
                          </a:solidFill>
                          <a:latin typeface="Segoe UI"/>
                        </a:rPr>
                        <a:t>minimum segment</a:t>
                      </a:r>
                    </a:p>
                  </a:txBody>
                  <a:tcPr marL="100584" marR="100584" marT="27432" marB="27432" anchor="ctr">
                    <a:solidFill>
                      <a:srgbClr val="F8F9F7"/>
                    </a:solidFill>
                  </a:tcPr>
                </a:tc>
                <a:tc>
                  <a:txBody>
                    <a:bodyPr/>
                    <a:lstStyle/>
                    <a:p>
                      <a:pPr algn="r"/>
                      <a:r>
                        <a:rPr sz="2100" b="0" i="0">
                          <a:solidFill>
                            <a:srgbClr val="14181B"/>
                          </a:solidFill>
                          <a:latin typeface="Consolas"/>
                        </a:rPr>
                        <a:t>0.75 s</a:t>
                      </a:r>
                    </a:p>
                  </a:txBody>
                  <a:tcPr marL="100584" marR="100584" marT="27432" marB="27432" anchor="ctr">
                    <a:solidFill>
                      <a:srgbClr val="F8F9F7"/>
                    </a:solidFill>
                  </a:tcPr>
                </a:tc>
                <a:extLst>
                  <a:ext uri="{0D108BD9-81ED-4DB2-BD59-A6C34878D82A}">
                    <a16:rowId xmlns:a16="http://schemas.microsoft.com/office/drawing/2014/main" val="10005"/>
                  </a:ext>
                </a:extLst>
              </a:tr>
              <a:tr h="384048">
                <a:tc>
                  <a:txBody>
                    <a:bodyPr/>
                    <a:lstStyle/>
                    <a:p>
                      <a:pPr algn="l"/>
                      <a:r>
                        <a:rPr sz="2100" b="0" i="0">
                          <a:solidFill>
                            <a:srgbClr val="14181B"/>
                          </a:solidFill>
                          <a:latin typeface="Segoe UI"/>
                        </a:rPr>
                        <a:t>stitch gap</a:t>
                      </a:r>
                    </a:p>
                  </a:txBody>
                  <a:tcPr marL="100584" marR="100584" marT="27432" marB="27432" anchor="ctr">
                    <a:solidFill>
                      <a:srgbClr val="F8F9F7"/>
                    </a:solidFill>
                  </a:tcPr>
                </a:tc>
                <a:tc>
                  <a:txBody>
                    <a:bodyPr/>
                    <a:lstStyle/>
                    <a:p>
                      <a:pPr algn="r"/>
                      <a:r>
                        <a:rPr sz="2100" b="0" i="0">
                          <a:solidFill>
                            <a:srgbClr val="14181B"/>
                          </a:solidFill>
                          <a:latin typeface="Consolas"/>
                        </a:rPr>
                        <a:t>0.17 s</a:t>
                      </a:r>
                    </a:p>
                  </a:txBody>
                  <a:tcPr marL="100584" marR="100584" marT="27432" marB="27432" anchor="ctr">
                    <a:solidFill>
                      <a:srgbClr val="F8F9F7"/>
                    </a:solidFill>
                  </a:tcPr>
                </a:tc>
                <a:extLst>
                  <a:ext uri="{0D108BD9-81ED-4DB2-BD59-A6C34878D82A}">
                    <a16:rowId xmlns:a16="http://schemas.microsoft.com/office/drawing/2014/main" val="10006"/>
                  </a:ext>
                </a:extLst>
              </a:tr>
              <a:tr h="384048">
                <a:tc>
                  <a:txBody>
                    <a:bodyPr/>
                    <a:lstStyle/>
                    <a:p>
                      <a:pPr algn="l"/>
                      <a:r>
                        <a:rPr sz="2100" b="0" i="0">
                          <a:solidFill>
                            <a:srgbClr val="14181B"/>
                          </a:solidFill>
                          <a:latin typeface="Segoe UI"/>
                        </a:rPr>
                        <a:t>minimum speaker airtime</a:t>
                      </a:r>
                    </a:p>
                  </a:txBody>
                  <a:tcPr marL="100584" marR="100584" marT="27432" marB="27432" anchor="ctr">
                    <a:solidFill>
                      <a:srgbClr val="F8F9F7"/>
                    </a:solidFill>
                  </a:tcPr>
                </a:tc>
                <a:tc>
                  <a:txBody>
                    <a:bodyPr/>
                    <a:lstStyle/>
                    <a:p>
                      <a:pPr algn="r"/>
                      <a:r>
                        <a:rPr sz="2100" b="0" i="0">
                          <a:solidFill>
                            <a:srgbClr val="14181B"/>
                          </a:solidFill>
                          <a:latin typeface="Consolas"/>
                        </a:rPr>
                        <a:t>9.0 s</a:t>
                      </a:r>
                    </a:p>
                  </a:txBody>
                  <a:tcPr marL="100584" marR="100584" marT="27432" marB="27432" anchor="ctr">
                    <a:solidFill>
                      <a:srgbClr val="F8F9F7"/>
                    </a:solidFill>
                  </a:tcPr>
                </a:tc>
                <a:extLst>
                  <a:ext uri="{0D108BD9-81ED-4DB2-BD59-A6C34878D82A}">
                    <a16:rowId xmlns:a16="http://schemas.microsoft.com/office/drawing/2014/main" val="10007"/>
                  </a:ext>
                </a:extLst>
              </a:tr>
              <a:tr h="384048">
                <a:tc>
                  <a:txBody>
                    <a:bodyPr/>
                    <a:lstStyle/>
                    <a:p>
                      <a:pPr algn="l"/>
                      <a:r>
                        <a:rPr sz="2100" b="0" i="0">
                          <a:solidFill>
                            <a:srgbClr val="14181B"/>
                          </a:solidFill>
                          <a:latin typeface="Segoe UI"/>
                        </a:rPr>
                        <a:t>scoring collar</a:t>
                      </a:r>
                    </a:p>
                  </a:txBody>
                  <a:tcPr marL="100584" marR="100584" marT="27432" marB="27432" anchor="ctr">
                    <a:solidFill>
                      <a:srgbClr val="F8F9F7"/>
                    </a:solidFill>
                  </a:tcPr>
                </a:tc>
                <a:tc>
                  <a:txBody>
                    <a:bodyPr/>
                    <a:lstStyle/>
                    <a:p>
                      <a:pPr algn="r"/>
                      <a:r>
                        <a:rPr sz="2100" b="0" i="0">
                          <a:solidFill>
                            <a:srgbClr val="14181B"/>
                          </a:solidFill>
                          <a:latin typeface="Consolas"/>
                        </a:rPr>
                        <a:t>0.25 s</a:t>
                      </a:r>
                    </a:p>
                  </a:txBody>
                  <a:tcPr marL="100584" marR="100584" marT="27432" marB="27432" anchor="ctr">
                    <a:solidFill>
                      <a:srgbClr val="F8F9F7"/>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6556248" y="2176272"/>
            <a:ext cx="4977079" cy="96012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720840"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1,867</a:t>
            </a:r>
          </a:p>
        </p:txBody>
      </p:sp>
      <p:sp>
        <p:nvSpPr>
          <p:cNvPr id="8" name="TextBox 7"/>
          <p:cNvSpPr txBox="1"/>
          <p:nvPr/>
        </p:nvSpPr>
        <p:spPr>
          <a:xfrm>
            <a:off x="6720840" y="2761488"/>
            <a:ext cx="1384706"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TURNS</a:t>
            </a:r>
          </a:p>
        </p:txBody>
      </p:sp>
      <p:sp>
        <p:nvSpPr>
          <p:cNvPr id="9" name="Rectangle 8"/>
          <p:cNvSpPr/>
          <p:nvPr/>
        </p:nvSpPr>
        <p:spPr>
          <a:xfrm>
            <a:off x="8215274" y="2267712"/>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379866"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3</a:t>
            </a:r>
          </a:p>
        </p:txBody>
      </p:sp>
      <p:sp>
        <p:nvSpPr>
          <p:cNvPr id="11" name="TextBox 10"/>
          <p:cNvSpPr txBox="1"/>
          <p:nvPr/>
        </p:nvSpPr>
        <p:spPr>
          <a:xfrm>
            <a:off x="8379865" y="2761488"/>
            <a:ext cx="150174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MEDIAN SPK</a:t>
            </a:r>
          </a:p>
        </p:txBody>
      </p:sp>
      <p:sp>
        <p:nvSpPr>
          <p:cNvPr id="12" name="Rectangle 11"/>
          <p:cNvSpPr/>
          <p:nvPr/>
        </p:nvSpPr>
        <p:spPr>
          <a:xfrm>
            <a:off x="9874300" y="2267712"/>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10038892"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1 to 7</a:t>
            </a:r>
          </a:p>
        </p:txBody>
      </p:sp>
      <p:sp>
        <p:nvSpPr>
          <p:cNvPr id="14" name="TextBox 13"/>
          <p:cNvSpPr txBox="1"/>
          <p:nvPr/>
        </p:nvSpPr>
        <p:spPr>
          <a:xfrm>
            <a:off x="10038892" y="2761488"/>
            <a:ext cx="1384706"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RANGE</a:t>
            </a:r>
          </a:p>
        </p:txBody>
      </p:sp>
      <p:sp>
        <p:nvSpPr>
          <p:cNvPr id="15" name="TextBox 14"/>
          <p:cNvSpPr txBox="1"/>
          <p:nvPr/>
        </p:nvSpPr>
        <p:spPr>
          <a:xfrm>
            <a:off x="6579107" y="3072385"/>
            <a:ext cx="497707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3E4A4F"/>
                </a:solidFill>
                <a:latin typeface="Segoe UI"/>
              </a:rPr>
              <a:t>The default embedding is swapped for </a:t>
            </a:r>
            <a:r>
              <a:rPr sz="2100" b="0" i="0" dirty="0" err="1">
                <a:solidFill>
                  <a:srgbClr val="3E4A4F"/>
                </a:solidFill>
                <a:latin typeface="Segoe UI"/>
              </a:rPr>
              <a:t>wespeaker</a:t>
            </a:r>
            <a:r>
              <a:rPr sz="2100" b="0" i="0" dirty="0">
                <a:solidFill>
                  <a:srgbClr val="3E4A4F"/>
                </a:solidFill>
                <a:latin typeface="Segoe UI"/>
              </a:rPr>
              <a:t> resnet34-LM, which separates voices better on noisy broadcast audio.</a:t>
            </a:r>
          </a:p>
        </p:txBody>
      </p:sp>
      <p:sp>
        <p:nvSpPr>
          <p:cNvPr id="16" name="Rectangle 15"/>
          <p:cNvSpPr/>
          <p:nvPr/>
        </p:nvSpPr>
        <p:spPr>
          <a:xfrm>
            <a:off x="6556248" y="4261104"/>
            <a:ext cx="4977079" cy="157276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556248" y="4261104"/>
            <a:ext cx="50292" cy="1572768"/>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830568" y="4443984"/>
            <a:ext cx="4474159" cy="797719"/>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No </a:t>
            </a:r>
            <a:r>
              <a:rPr sz="2300" b="1" i="0" dirty="0" err="1">
                <a:solidFill>
                  <a:srgbClr val="14181B"/>
                </a:solidFill>
                <a:latin typeface="Segoe UI"/>
              </a:rPr>
              <a:t>diarization</a:t>
            </a:r>
            <a:r>
              <a:rPr sz="2300" b="1" i="0" dirty="0">
                <a:solidFill>
                  <a:srgbClr val="14181B"/>
                </a:solidFill>
                <a:latin typeface="Segoe UI"/>
              </a:rPr>
              <a:t> error rate is reported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04 / STAGE 2, DIARIZATION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post-processing thresholds are for</a:t>
            </a:r>
          </a:p>
        </p:txBody>
      </p:sp>
      <p:sp>
        <p:nvSpPr>
          <p:cNvPr id="5" name="TextBox 4"/>
          <p:cNvSpPr txBox="1"/>
          <p:nvPr/>
        </p:nvSpPr>
        <p:spPr>
          <a:xfrm>
            <a:off x="658368" y="1431772"/>
            <a:ext cx="10874959" cy="845296"/>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Segments under 0.75 s are dropped, so a cough or a jingle does not become </a:t>
            </a:r>
            <a:r>
              <a:rPr lang="en-US" sz="2400" b="0" i="0" dirty="0">
                <a:solidFill>
                  <a:srgbClr val="14181B"/>
                </a:solidFill>
                <a:latin typeface="Segoe UI"/>
              </a:rPr>
              <a:t>	</a:t>
            </a:r>
            <a:r>
              <a:rPr sz="2400" b="0" i="0" dirty="0">
                <a:solidFill>
                  <a:srgbClr val="14181B"/>
                </a:solidFill>
                <a:latin typeface="Segoe UI"/>
              </a:rPr>
              <a:t>a speaker</a:t>
            </a:r>
          </a:p>
        </p:txBody>
      </p:sp>
      <p:sp>
        <p:nvSpPr>
          <p:cNvPr id="6" name="TextBox 5"/>
          <p:cNvSpPr txBox="1"/>
          <p:nvPr/>
        </p:nvSpPr>
        <p:spPr>
          <a:xfrm>
            <a:off x="658368" y="2268892"/>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Gaps under 0.17 s are stitched, so one sentence does not split into three turns</a:t>
            </a:r>
          </a:p>
        </p:txBody>
      </p:sp>
      <p:sp>
        <p:nvSpPr>
          <p:cNvPr id="7" name="TextBox 6"/>
          <p:cNvSpPr txBox="1"/>
          <p:nvPr/>
        </p:nvSpPr>
        <p:spPr>
          <a:xfrm>
            <a:off x="658368" y="2688336"/>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Any speaker with under 9 s of total airtime is deleted, which removes spurious clusters</a:t>
            </a:r>
          </a:p>
        </p:txBody>
      </p:sp>
      <p:sp>
        <p:nvSpPr>
          <p:cNvPr id="8" name="TextBox 7"/>
          <p:cNvSpPr txBox="1"/>
          <p:nvPr/>
        </p:nvSpPr>
        <p:spPr>
          <a:xfrm>
            <a:off x="658368" y="3474720"/>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Both the raw and the post-processed output are kept, so the effect of each threshold can be inspected rather than assumed</a:t>
            </a:r>
          </a:p>
        </p:txBody>
      </p:sp>
      <p:sp>
        <p:nvSpPr>
          <p:cNvPr id="9" name="Rectangle 8"/>
          <p:cNvSpPr/>
          <p:nvPr/>
        </p:nvSpPr>
        <p:spPr>
          <a:xfrm>
            <a:off x="658368" y="4443984"/>
            <a:ext cx="10874959" cy="159105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8368" y="4443984"/>
            <a:ext cx="50292" cy="118872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32688" y="4626864"/>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Speaker identity stays episode local</a:t>
            </a:r>
          </a:p>
          <a:p>
            <a:pPr algn="l">
              <a:lnSpc>
                <a:spcPct val="118000"/>
              </a:lnSpc>
              <a:spcBef>
                <a:spcPts val="0"/>
              </a:spcBef>
              <a:spcAft>
                <a:spcPts val="0"/>
              </a:spcAft>
            </a:pPr>
            <a:r>
              <a:rPr sz="2200" b="0" i="0">
                <a:solidFill>
                  <a:srgbClr val="3E4A4F"/>
                </a:solidFill>
                <a:latin typeface="Segoe UI"/>
              </a:rPr>
              <a:t>Speaker 2 in one episode has no relationship to Speaker 2 in another. The labels are cluster identifiers, not people, and they are never joined across recordings.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0761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08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05 / STAGE 3, SPEECH RECOGNITION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Transcribing 40 minute episodes with a 30 second model</a:t>
            </a:r>
          </a:p>
        </p:txBody>
      </p:sp>
      <p:graphicFrame>
        <p:nvGraphicFramePr>
          <p:cNvPr id="6" name="Table 5"/>
          <p:cNvGraphicFramePr>
            <a:graphicFrameLocks noGrp="1"/>
          </p:cNvGraphicFramePr>
          <p:nvPr/>
        </p:nvGraphicFramePr>
        <p:xfrm>
          <a:off x="658368" y="2578608"/>
          <a:ext cx="5532119" cy="3803904"/>
        </p:xfrm>
        <a:graphic>
          <a:graphicData uri="http://schemas.openxmlformats.org/drawingml/2006/table">
            <a:tbl>
              <a:tblPr>
                <a:tableStyleId>{5C22544A-7EE6-4342-B048-85BDC9FD1C3A}</a:tableStyleId>
              </a:tblPr>
              <a:tblGrid>
                <a:gridCol w="2963635">
                  <a:extLst>
                    <a:ext uri="{9D8B030D-6E8A-4147-A177-3AD203B41FA5}">
                      <a16:colId xmlns:a16="http://schemas.microsoft.com/office/drawing/2014/main" val="20000"/>
                    </a:ext>
                  </a:extLst>
                </a:gridCol>
                <a:gridCol w="2568484">
                  <a:extLst>
                    <a:ext uri="{9D8B030D-6E8A-4147-A177-3AD203B41FA5}">
                      <a16:colId xmlns:a16="http://schemas.microsoft.com/office/drawing/2014/main" val="20001"/>
                    </a:ext>
                  </a:extLst>
                </a:gridCol>
              </a:tblGrid>
              <a:tr h="402336">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402336">
                <a:tc>
                  <a:txBody>
                    <a:bodyPr/>
                    <a:lstStyle/>
                    <a:p>
                      <a:pPr algn="l"/>
                      <a:r>
                        <a:rPr sz="2100" b="0" i="0">
                          <a:solidFill>
                            <a:srgbClr val="14181B"/>
                          </a:solidFill>
                          <a:latin typeface="Segoe UI"/>
                        </a:rPr>
                        <a:t>checkpoint</a:t>
                      </a:r>
                    </a:p>
                  </a:txBody>
                  <a:tcPr marL="100584" marR="100584" marT="27432" marB="27432" anchor="ctr">
                    <a:solidFill>
                      <a:srgbClr val="F8F9F7"/>
                    </a:solidFill>
                  </a:tcPr>
                </a:tc>
                <a:tc>
                  <a:txBody>
                    <a:bodyPr/>
                    <a:lstStyle/>
                    <a:p>
                      <a:pPr algn="r"/>
                      <a:r>
                        <a:rPr sz="2100" b="0" i="0">
                          <a:solidFill>
                            <a:srgbClr val="14181B"/>
                          </a:solidFill>
                          <a:latin typeface="Consolas"/>
                        </a:rPr>
                        <a:t>Whisper medium, bn</a:t>
                      </a:r>
                    </a:p>
                  </a:txBody>
                  <a:tcPr marL="100584" marR="100584" marT="27432" marB="27432" anchor="ctr">
                    <a:solidFill>
                      <a:srgbClr val="F8F9F7"/>
                    </a:solidFill>
                  </a:tcPr>
                </a:tc>
                <a:extLst>
                  <a:ext uri="{0D108BD9-81ED-4DB2-BD59-A6C34878D82A}">
                    <a16:rowId xmlns:a16="http://schemas.microsoft.com/office/drawing/2014/main" val="10001"/>
                  </a:ext>
                </a:extLst>
              </a:tr>
              <a:tr h="402336">
                <a:tc>
                  <a:txBody>
                    <a:bodyPr/>
                    <a:lstStyle/>
                    <a:p>
                      <a:pPr algn="l"/>
                      <a:r>
                        <a:rPr sz="2100" b="0" i="0">
                          <a:solidFill>
                            <a:srgbClr val="14181B"/>
                          </a:solidFill>
                          <a:latin typeface="Segoe UI"/>
                        </a:rPr>
                        <a:t>runtime</a:t>
                      </a:r>
                    </a:p>
                  </a:txBody>
                  <a:tcPr marL="100584" marR="100584" marT="27432" marB="27432" anchor="ctr">
                    <a:solidFill>
                      <a:srgbClr val="F8F9F7"/>
                    </a:solidFill>
                  </a:tcPr>
                </a:tc>
                <a:tc>
                  <a:txBody>
                    <a:bodyPr/>
                    <a:lstStyle/>
                    <a:p>
                      <a:pPr algn="r"/>
                      <a:r>
                        <a:rPr sz="2100" b="0" i="0">
                          <a:solidFill>
                            <a:srgbClr val="14181B"/>
                          </a:solidFill>
                          <a:latin typeface="Consolas"/>
                        </a:rPr>
                        <a:t>CTranslate2, float16</a:t>
                      </a:r>
                    </a:p>
                  </a:txBody>
                  <a:tcPr marL="100584" marR="100584" marT="27432" marB="27432" anchor="ctr">
                    <a:solidFill>
                      <a:srgbClr val="F8F9F7"/>
                    </a:solidFill>
                  </a:tcPr>
                </a:tc>
                <a:extLst>
                  <a:ext uri="{0D108BD9-81ED-4DB2-BD59-A6C34878D82A}">
                    <a16:rowId xmlns:a16="http://schemas.microsoft.com/office/drawing/2014/main" val="10002"/>
                  </a:ext>
                </a:extLst>
              </a:tr>
              <a:tr h="402336">
                <a:tc>
                  <a:txBody>
                    <a:bodyPr/>
                    <a:lstStyle/>
                    <a:p>
                      <a:pPr algn="l"/>
                      <a:r>
                        <a:rPr sz="2100" b="0" i="0">
                          <a:solidFill>
                            <a:srgbClr val="14181B"/>
                          </a:solidFill>
                          <a:latin typeface="Segoe UI"/>
                        </a:rPr>
                        <a:t>language</a:t>
                      </a:r>
                    </a:p>
                  </a:txBody>
                  <a:tcPr marL="100584" marR="100584" marT="27432" marB="27432" anchor="ctr">
                    <a:solidFill>
                      <a:srgbClr val="F8F9F7"/>
                    </a:solidFill>
                  </a:tcPr>
                </a:tc>
                <a:tc>
                  <a:txBody>
                    <a:bodyPr/>
                    <a:lstStyle/>
                    <a:p>
                      <a:pPr algn="r"/>
                      <a:r>
                        <a:rPr sz="2100" b="0" i="0">
                          <a:solidFill>
                            <a:srgbClr val="14181B"/>
                          </a:solidFill>
                          <a:latin typeface="Consolas"/>
                        </a:rPr>
                        <a:t>bn, forced</a:t>
                      </a:r>
                    </a:p>
                  </a:txBody>
                  <a:tcPr marL="100584" marR="100584" marT="27432" marB="27432" anchor="ctr">
                    <a:solidFill>
                      <a:srgbClr val="F8F9F7"/>
                    </a:solidFill>
                  </a:tcPr>
                </a:tc>
                <a:extLst>
                  <a:ext uri="{0D108BD9-81ED-4DB2-BD59-A6C34878D82A}">
                    <a16:rowId xmlns:a16="http://schemas.microsoft.com/office/drawing/2014/main" val="10003"/>
                  </a:ext>
                </a:extLst>
              </a:tr>
              <a:tr h="402336">
                <a:tc>
                  <a:txBody>
                    <a:bodyPr/>
                    <a:lstStyle/>
                    <a:p>
                      <a:pPr algn="l"/>
                      <a:r>
                        <a:rPr sz="2100" b="0" i="0">
                          <a:solidFill>
                            <a:srgbClr val="14181B"/>
                          </a:solidFill>
                          <a:latin typeface="Segoe UI"/>
                        </a:rPr>
                        <a:t>chunk length</a:t>
                      </a:r>
                    </a:p>
                  </a:txBody>
                  <a:tcPr marL="100584" marR="100584" marT="27432" marB="27432" anchor="ctr">
                    <a:solidFill>
                      <a:srgbClr val="F8F9F7"/>
                    </a:solidFill>
                  </a:tcPr>
                </a:tc>
                <a:tc>
                  <a:txBody>
                    <a:bodyPr/>
                    <a:lstStyle/>
                    <a:p>
                      <a:pPr algn="r"/>
                      <a:r>
                        <a:rPr sz="2100" b="0" i="0">
                          <a:solidFill>
                            <a:srgbClr val="14181B"/>
                          </a:solidFill>
                          <a:latin typeface="Consolas"/>
                        </a:rPr>
                        <a:t>28.0 s</a:t>
                      </a:r>
                    </a:p>
                  </a:txBody>
                  <a:tcPr marL="100584" marR="100584" marT="27432" marB="27432" anchor="ctr">
                    <a:solidFill>
                      <a:srgbClr val="F8F9F7"/>
                    </a:solidFill>
                  </a:tcPr>
                </a:tc>
                <a:extLst>
                  <a:ext uri="{0D108BD9-81ED-4DB2-BD59-A6C34878D82A}">
                    <a16:rowId xmlns:a16="http://schemas.microsoft.com/office/drawing/2014/main" val="10004"/>
                  </a:ext>
                </a:extLst>
              </a:tr>
              <a:tr h="402336">
                <a:tc>
                  <a:txBody>
                    <a:bodyPr/>
                    <a:lstStyle/>
                    <a:p>
                      <a:pPr algn="l"/>
                      <a:r>
                        <a:rPr sz="2100" b="0" i="0">
                          <a:solidFill>
                            <a:srgbClr val="14181B"/>
                          </a:solidFill>
                          <a:latin typeface="Segoe UI"/>
                        </a:rPr>
                        <a:t>beam size</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extLst>
                  <a:ext uri="{0D108BD9-81ED-4DB2-BD59-A6C34878D82A}">
                    <a16:rowId xmlns:a16="http://schemas.microsoft.com/office/drawing/2014/main" val="10005"/>
                  </a:ext>
                </a:extLst>
              </a:tr>
              <a:tr h="402336">
                <a:tc>
                  <a:txBody>
                    <a:bodyPr/>
                    <a:lstStyle/>
                    <a:p>
                      <a:pPr algn="l"/>
                      <a:r>
                        <a:rPr sz="2100" b="0" i="0">
                          <a:solidFill>
                            <a:srgbClr val="14181B"/>
                          </a:solidFill>
                          <a:latin typeface="Segoe UI"/>
                        </a:rPr>
                        <a:t>condition on previous</a:t>
                      </a:r>
                    </a:p>
                  </a:txBody>
                  <a:tcPr marL="100584" marR="100584" marT="27432" marB="27432" anchor="ctr">
                    <a:solidFill>
                      <a:srgbClr val="F8F9F7"/>
                    </a:solidFill>
                  </a:tcPr>
                </a:tc>
                <a:tc>
                  <a:txBody>
                    <a:bodyPr/>
                    <a:lstStyle/>
                    <a:p>
                      <a:pPr algn="r"/>
                      <a:r>
                        <a:rPr sz="2100" b="0" i="0">
                          <a:solidFill>
                            <a:srgbClr val="14181B"/>
                          </a:solidFill>
                          <a:latin typeface="Consolas"/>
                        </a:rPr>
                        <a:t>False</a:t>
                      </a:r>
                    </a:p>
                  </a:txBody>
                  <a:tcPr marL="100584" marR="100584" marT="27432" marB="27432" anchor="ctr">
                    <a:solidFill>
                      <a:srgbClr val="F8F9F7"/>
                    </a:solidFill>
                  </a:tcPr>
                </a:tc>
                <a:extLst>
                  <a:ext uri="{0D108BD9-81ED-4DB2-BD59-A6C34878D82A}">
                    <a16:rowId xmlns:a16="http://schemas.microsoft.com/office/drawing/2014/main" val="10006"/>
                  </a:ext>
                </a:extLst>
              </a:tr>
              <a:tr h="402336">
                <a:tc>
                  <a:txBody>
                    <a:bodyPr/>
                    <a:lstStyle/>
                    <a:p>
                      <a:pPr algn="l"/>
                      <a:r>
                        <a:rPr sz="2100" b="0" i="0">
                          <a:solidFill>
                            <a:srgbClr val="14181B"/>
                          </a:solidFill>
                          <a:latin typeface="Segoe UI"/>
                        </a:rPr>
                        <a:t>source separation</a:t>
                      </a:r>
                    </a:p>
                  </a:txBody>
                  <a:tcPr marL="100584" marR="100584" marT="27432" marB="27432" anchor="ctr">
                    <a:solidFill>
                      <a:srgbClr val="F8F9F7"/>
                    </a:solidFill>
                  </a:tcPr>
                </a:tc>
                <a:tc>
                  <a:txBody>
                    <a:bodyPr/>
                    <a:lstStyle/>
                    <a:p>
                      <a:pPr algn="r"/>
                      <a:r>
                        <a:rPr sz="2100" b="0" i="0">
                          <a:solidFill>
                            <a:srgbClr val="14181B"/>
                          </a:solidFill>
                          <a:latin typeface="Consolas"/>
                        </a:rPr>
                        <a:t>on detection</a:t>
                      </a:r>
                    </a:p>
                  </a:txBody>
                  <a:tcPr marL="100584" marR="100584" marT="27432" marB="27432" anchor="ctr">
                    <a:solidFill>
                      <a:srgbClr val="F8F9F7"/>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6556248" y="2578608"/>
            <a:ext cx="4977079" cy="96012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8" name="TextBox 7"/>
          <p:cNvSpPr txBox="1"/>
          <p:nvPr/>
        </p:nvSpPr>
        <p:spPr>
          <a:xfrm>
            <a:off x="6702552"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2,184</a:t>
            </a:r>
          </a:p>
        </p:txBody>
      </p:sp>
      <p:sp>
        <p:nvSpPr>
          <p:cNvPr id="9" name="TextBox 8"/>
          <p:cNvSpPr txBox="1"/>
          <p:nvPr/>
        </p:nvSpPr>
        <p:spPr>
          <a:xfrm>
            <a:off x="6702552"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CHUNKS</a:t>
            </a:r>
          </a:p>
        </p:txBody>
      </p:sp>
      <p:sp>
        <p:nvSpPr>
          <p:cNvPr id="10" name="Rectangle 9"/>
          <p:cNvSpPr/>
          <p:nvPr/>
        </p:nvSpPr>
        <p:spPr>
          <a:xfrm>
            <a:off x="8215274" y="2670048"/>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361578"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4,006</a:t>
            </a:r>
          </a:p>
        </p:txBody>
      </p:sp>
      <p:sp>
        <p:nvSpPr>
          <p:cNvPr id="12" name="TextBox 11"/>
          <p:cNvSpPr txBox="1"/>
          <p:nvPr/>
        </p:nvSpPr>
        <p:spPr>
          <a:xfrm>
            <a:off x="8361578"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SEGMENTS</a:t>
            </a:r>
          </a:p>
        </p:txBody>
      </p:sp>
      <p:sp>
        <p:nvSpPr>
          <p:cNvPr id="13" name="Rectangle 12"/>
          <p:cNvSpPr/>
          <p:nvPr/>
        </p:nvSpPr>
        <p:spPr>
          <a:xfrm>
            <a:off x="9874300" y="2670048"/>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020604"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130,750</a:t>
            </a:r>
          </a:p>
        </p:txBody>
      </p:sp>
      <p:sp>
        <p:nvSpPr>
          <p:cNvPr id="15" name="TextBox 14"/>
          <p:cNvSpPr txBox="1"/>
          <p:nvPr/>
        </p:nvSpPr>
        <p:spPr>
          <a:xfrm>
            <a:off x="10020604"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a:t>
            </a:r>
          </a:p>
        </p:txBody>
      </p:sp>
      <p:sp>
        <p:nvSpPr>
          <p:cNvPr id="16" name="Rectangle 15"/>
          <p:cNvSpPr/>
          <p:nvPr/>
        </p:nvSpPr>
        <p:spPr>
          <a:xfrm>
            <a:off x="6556248" y="3749038"/>
            <a:ext cx="4977079" cy="3015555"/>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556248" y="3749039"/>
            <a:ext cx="50292" cy="2231136"/>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830568" y="3931920"/>
            <a:ext cx="4474159" cy="1865376"/>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Why a Bengali adapted checkpoint</a:t>
            </a:r>
          </a:p>
          <a:p>
            <a:pPr algn="l">
              <a:lnSpc>
                <a:spcPct val="120000"/>
              </a:lnSpc>
              <a:spcBef>
                <a:spcPts val="0"/>
              </a:spcBef>
              <a:spcAft>
                <a:spcPts val="0"/>
              </a:spcAft>
            </a:pPr>
            <a:r>
              <a:rPr sz="2100" b="0" i="0" dirty="0">
                <a:solidFill>
                  <a:srgbClr val="3E4A4F"/>
                </a:solidFill>
                <a:latin typeface="Segoe UI"/>
              </a:rPr>
              <a:t>It produces </a:t>
            </a:r>
            <a:r>
              <a:rPr sz="2100" b="0" i="0" dirty="0" err="1">
                <a:solidFill>
                  <a:srgbClr val="3E4A4F"/>
                </a:solidFill>
                <a:latin typeface="Nirmala UI"/>
              </a:rPr>
              <a:t>মূল্যস্ফীতি</a:t>
            </a:r>
            <a:r>
              <a:rPr sz="2100" b="0" i="0" dirty="0">
                <a:solidFill>
                  <a:srgbClr val="3E4A4F"/>
                </a:solidFill>
                <a:latin typeface="Segoe UI"/>
              </a:rPr>
              <a:t>, </a:t>
            </a:r>
            <a:r>
              <a:rPr sz="2100" b="0" i="0" dirty="0" err="1">
                <a:solidFill>
                  <a:srgbClr val="3E4A4F"/>
                </a:solidFill>
                <a:latin typeface="Nirmala UI"/>
              </a:rPr>
              <a:t>খেলাপি</a:t>
            </a:r>
            <a:r>
              <a:rPr sz="2100" b="0" i="0" dirty="0">
                <a:solidFill>
                  <a:srgbClr val="3E4A4F"/>
                </a:solidFill>
                <a:latin typeface="Nirmala UI"/>
              </a:rPr>
              <a:t> </a:t>
            </a:r>
            <a:r>
              <a:rPr sz="2100" b="0" i="0" dirty="0" err="1">
                <a:solidFill>
                  <a:srgbClr val="3E4A4F"/>
                </a:solidFill>
                <a:latin typeface="Nirmala UI"/>
              </a:rPr>
              <a:t>ঋণ</a:t>
            </a:r>
            <a:r>
              <a:rPr sz="2100" b="0" i="0" dirty="0">
                <a:solidFill>
                  <a:srgbClr val="3E4A4F"/>
                </a:solidFill>
                <a:latin typeface="Nirmala UI"/>
              </a:rPr>
              <a:t> </a:t>
            </a:r>
            <a:r>
              <a:rPr sz="2100" b="0" i="0" dirty="0">
                <a:solidFill>
                  <a:srgbClr val="3E4A4F"/>
                </a:solidFill>
                <a:latin typeface="Segoe UI"/>
              </a:rPr>
              <a:t>and </a:t>
            </a:r>
            <a:r>
              <a:rPr sz="2100" b="0" i="0" dirty="0" err="1">
                <a:solidFill>
                  <a:srgbClr val="3E4A4F"/>
                </a:solidFill>
                <a:latin typeface="Nirmala UI"/>
              </a:rPr>
              <a:t>বৈদেশিক</a:t>
            </a:r>
            <a:r>
              <a:rPr sz="2100" b="0" i="0" dirty="0">
                <a:solidFill>
                  <a:srgbClr val="3E4A4F"/>
                </a:solidFill>
                <a:latin typeface="Nirmala UI"/>
              </a:rPr>
              <a:t> </a:t>
            </a:r>
            <a:r>
              <a:rPr sz="2100" b="0" i="0" dirty="0" err="1">
                <a:solidFill>
                  <a:srgbClr val="3E4A4F"/>
                </a:solidFill>
                <a:latin typeface="Nirmala UI"/>
              </a:rPr>
              <a:t>মুদ্রার</a:t>
            </a:r>
            <a:r>
              <a:rPr sz="2100" b="0" i="0" dirty="0">
                <a:solidFill>
                  <a:srgbClr val="3E4A4F"/>
                </a:solidFill>
                <a:latin typeface="Nirmala UI"/>
              </a:rPr>
              <a:t> </a:t>
            </a:r>
            <a:r>
              <a:rPr sz="2100" b="0" i="0" dirty="0" err="1">
                <a:solidFill>
                  <a:srgbClr val="3E4A4F"/>
                </a:solidFill>
                <a:latin typeface="Nirmala UI"/>
              </a:rPr>
              <a:t>রিজার্ভ</a:t>
            </a:r>
            <a:r>
              <a:rPr sz="2100" b="0" i="0" dirty="0">
                <a:solidFill>
                  <a:srgbClr val="3E4A4F"/>
                </a:solidFill>
                <a:latin typeface="Nirmala UI"/>
              </a:rPr>
              <a:t> </a:t>
            </a:r>
            <a:r>
              <a:rPr sz="2100" b="0" i="0" dirty="0">
                <a:solidFill>
                  <a:srgbClr val="3E4A4F"/>
                </a:solidFill>
                <a:latin typeface="Segoe UI"/>
              </a:rPr>
              <a:t>as clean tokens rather than phonetic approximations. The whole downstream lexicon depends on that.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05 / STAGE 3, SPEECH RECOGNITION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each decoding setting is set that way</a:t>
            </a:r>
          </a:p>
        </p:txBody>
      </p:sp>
      <p:sp>
        <p:nvSpPr>
          <p:cNvPr id="5" name="TextBox 4"/>
          <p:cNvSpPr txBox="1"/>
          <p:nvPr/>
        </p:nvSpPr>
        <p:spPr>
          <a:xfrm>
            <a:off x="658368" y="1664208"/>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28 s rather than 30 s</a:t>
            </a:r>
          </a:p>
        </p:txBody>
      </p:sp>
      <p:sp>
        <p:nvSpPr>
          <p:cNvPr id="6" name="TextBox 5"/>
          <p:cNvSpPr txBox="1"/>
          <p:nvPr/>
        </p:nvSpPr>
        <p:spPr>
          <a:xfrm>
            <a:off x="658368" y="2011680"/>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leaves headroom inside the receptive field, so the window edge never lands exactly at the model limit</a:t>
            </a:r>
          </a:p>
        </p:txBody>
      </p:sp>
      <p:sp>
        <p:nvSpPr>
          <p:cNvPr id="7" name="TextBox 6"/>
          <p:cNvSpPr txBox="1"/>
          <p:nvPr/>
        </p:nvSpPr>
        <p:spPr>
          <a:xfrm>
            <a:off x="658368" y="2779776"/>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Language forced to Bengali</a:t>
            </a:r>
          </a:p>
        </p:txBody>
      </p:sp>
      <p:sp>
        <p:nvSpPr>
          <p:cNvPr id="8" name="TextBox 7"/>
          <p:cNvSpPr txBox="1"/>
          <p:nvPr/>
        </p:nvSpPr>
        <p:spPr>
          <a:xfrm>
            <a:off x="658368" y="3127248"/>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stops the detector switching to Hindi or Assamese on a noisy chunk</a:t>
            </a:r>
          </a:p>
        </p:txBody>
      </p:sp>
      <p:sp>
        <p:nvSpPr>
          <p:cNvPr id="9" name="TextBox 8"/>
          <p:cNvSpPr txBox="1"/>
          <p:nvPr/>
        </p:nvSpPr>
        <p:spPr>
          <a:xfrm>
            <a:off x="658368" y="3639312"/>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No conditioning on previous text</a:t>
            </a:r>
          </a:p>
        </p:txBody>
      </p:sp>
      <p:sp>
        <p:nvSpPr>
          <p:cNvPr id="10" name="TextBox 9"/>
          <p:cNvSpPr txBox="1"/>
          <p:nvPr/>
        </p:nvSpPr>
        <p:spPr>
          <a:xfrm>
            <a:off x="658368" y="3986784"/>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stops a hallucination in one chunk being fed as context into the next, which is how one error becomes a whole bad minute</a:t>
            </a:r>
          </a:p>
        </p:txBody>
      </p:sp>
      <p:sp>
        <p:nvSpPr>
          <p:cNvPr id="11" name="TextBox 10"/>
          <p:cNvSpPr txBox="1"/>
          <p:nvPr/>
        </p:nvSpPr>
        <p:spPr>
          <a:xfrm>
            <a:off x="658368" y="4754880"/>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Source separation on detection</a:t>
            </a:r>
          </a:p>
        </p:txBody>
      </p:sp>
      <p:sp>
        <p:nvSpPr>
          <p:cNvPr id="12" name="TextBox 11"/>
          <p:cNvSpPr txBox="1"/>
          <p:nvPr/>
        </p:nvSpPr>
        <p:spPr>
          <a:xfrm>
            <a:off x="658368" y="5102352"/>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measures spectral flux per chunk and separates music only when present, rather than degrading clean speech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06 / TRANSCRIPT QUALITY</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Defect one: chunk boundary truncation</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Bangla never begins a word with a dependent vowel sign. When a segment does, the stitcher has eaten the opening consonant.</a:t>
            </a:r>
          </a:p>
        </p:txBody>
      </p:sp>
      <p:sp>
        <p:nvSpPr>
          <p:cNvPr id="6" name="Rectangle 5"/>
          <p:cNvSpPr/>
          <p:nvPr/>
        </p:nvSpPr>
        <p:spPr>
          <a:xfrm>
            <a:off x="658368" y="2468879"/>
            <a:ext cx="2468880" cy="310896"/>
          </a:xfrm>
          <a:prstGeom prst="rect">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a:solidFill>
                  <a:srgbClr val="B5811F"/>
                </a:solidFill>
                <a:latin typeface="Consolas"/>
              </a:rPr>
              <a:t>400 OF 3,532</a:t>
            </a:r>
          </a:p>
        </p:txBody>
      </p:sp>
      <p:sp>
        <p:nvSpPr>
          <p:cNvPr id="7" name="Rectangle 6"/>
          <p:cNvSpPr/>
          <p:nvPr/>
        </p:nvSpPr>
        <p:spPr>
          <a:xfrm>
            <a:off x="658368" y="2980944"/>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2980944"/>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3127248"/>
            <a:ext cx="10372039" cy="537263"/>
          </a:xfrm>
          <a:prstGeom prst="rect">
            <a:avLst/>
          </a:prstGeom>
          <a:noFill/>
        </p:spPr>
        <p:txBody>
          <a:bodyPr wrap="square" lIns="0" tIns="0" rIns="0" bIns="0" anchor="t">
            <a:spAutoFit/>
          </a:bodyPr>
          <a:lstStyle/>
          <a:p>
            <a:pPr algn="l">
              <a:lnSpc>
                <a:spcPct val="130000"/>
              </a:lnSpc>
              <a:spcBef>
                <a:spcPts val="0"/>
              </a:spcBef>
              <a:spcAft>
                <a:spcPts val="0"/>
              </a:spcAft>
            </a:pPr>
            <a:r>
              <a:rPr sz="3000" b="0" i="0" dirty="0" err="1">
                <a:solidFill>
                  <a:srgbClr val="14181B"/>
                </a:solidFill>
                <a:latin typeface="Nirmala UI"/>
              </a:rPr>
              <a:t>উন্নতি</a:t>
            </a:r>
            <a:r>
              <a:rPr sz="3000" b="0" i="0" dirty="0">
                <a:solidFill>
                  <a:srgbClr val="14181B"/>
                </a:solidFill>
                <a:latin typeface="Nirmala UI"/>
              </a:rPr>
              <a:t> </a:t>
            </a:r>
            <a:r>
              <a:rPr sz="3000" b="0" i="0" dirty="0" err="1">
                <a:solidFill>
                  <a:srgbClr val="14181B"/>
                </a:solidFill>
                <a:latin typeface="Nirmala UI"/>
              </a:rPr>
              <a:t>লক্ষ্য</a:t>
            </a:r>
            <a:r>
              <a:rPr sz="3000" b="0" i="0" dirty="0">
                <a:solidFill>
                  <a:srgbClr val="14181B"/>
                </a:solidFill>
                <a:latin typeface="Nirmala UI"/>
              </a:rPr>
              <a:t> </a:t>
            </a:r>
            <a:r>
              <a:rPr sz="3000" b="0" i="0" dirty="0" err="1">
                <a:solidFill>
                  <a:srgbClr val="14181B"/>
                </a:solidFill>
                <a:latin typeface="Nirmala UI"/>
              </a:rPr>
              <a:t>করা</a:t>
            </a:r>
            <a:r>
              <a:rPr sz="3000" b="0" i="0" dirty="0">
                <a:solidFill>
                  <a:srgbClr val="14181B"/>
                </a:solidFill>
                <a:latin typeface="Nirmala UI"/>
              </a:rPr>
              <a:t> </a:t>
            </a:r>
            <a:r>
              <a:rPr sz="3000" b="0" i="0" dirty="0" err="1">
                <a:solidFill>
                  <a:srgbClr val="14181B"/>
                </a:solidFill>
                <a:latin typeface="Nirmala UI"/>
              </a:rPr>
              <a:t>যাচ্ছে</a:t>
            </a:r>
            <a:endParaRPr sz="3000" b="0" i="0" dirty="0">
              <a:solidFill>
                <a:srgbClr val="14181B"/>
              </a:solidFill>
              <a:latin typeface="Nirmala UI"/>
            </a:endParaRPr>
          </a:p>
        </p:txBody>
      </p:sp>
      <p:sp>
        <p:nvSpPr>
          <p:cNvPr id="10" name="TextBox 9"/>
          <p:cNvSpPr txBox="1"/>
          <p:nvPr/>
        </p:nvSpPr>
        <p:spPr>
          <a:xfrm>
            <a:off x="932688" y="3649994"/>
            <a:ext cx="10707575" cy="351828"/>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The word should be </a:t>
            </a:r>
            <a:r>
              <a:rPr sz="2100" b="0" i="0" dirty="0" err="1">
                <a:solidFill>
                  <a:srgbClr val="3E4A4F"/>
                </a:solidFill>
                <a:latin typeface="Nirmala UI"/>
              </a:rPr>
              <a:t>কিছুটা</a:t>
            </a:r>
            <a:r>
              <a:rPr sz="2100" b="0" i="0" dirty="0">
                <a:solidFill>
                  <a:srgbClr val="3E4A4F"/>
                </a:solidFill>
                <a:latin typeface="Segoe UI"/>
              </a:rPr>
              <a:t>. The first token of 11.3 percent of utterances is not a real word.</a:t>
            </a:r>
          </a:p>
        </p:txBody>
      </p:sp>
      <p:sp>
        <p:nvSpPr>
          <p:cNvPr id="11" name="Rectangle 10"/>
          <p:cNvSpPr/>
          <p:nvPr/>
        </p:nvSpPr>
        <p:spPr>
          <a:xfrm>
            <a:off x="658368" y="4498847"/>
            <a:ext cx="10874959" cy="181051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498847"/>
            <a:ext cx="50292" cy="1316736"/>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681727"/>
            <a:ext cx="10372039" cy="950976"/>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Fix</a:t>
            </a:r>
          </a:p>
          <a:p>
            <a:pPr algn="l">
              <a:lnSpc>
                <a:spcPct val="120000"/>
              </a:lnSpc>
              <a:spcBef>
                <a:spcPts val="0"/>
              </a:spcBef>
              <a:spcAft>
                <a:spcPts val="0"/>
              </a:spcAft>
            </a:pPr>
            <a:r>
              <a:rPr sz="2200" b="0" i="0" dirty="0">
                <a:solidFill>
                  <a:srgbClr val="3E4A4F"/>
                </a:solidFill>
                <a:latin typeface="Segoe UI"/>
              </a:rPr>
              <a:t>Chunks are currently cut back to back with no overlap. Cutting them with a 2 to 3 second overlap and stitching on the shared region removes the boundary word entirely. This is a rerun setting, not new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11</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06 / TRANSCRIPT QUALITY</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Defect two: decoder repetition loops</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decoder locks onto one token and emits it for many seconds.</a:t>
            </a:r>
          </a:p>
        </p:txBody>
      </p:sp>
      <p:sp>
        <p:nvSpPr>
          <p:cNvPr id="6" name="Rectangle 5"/>
          <p:cNvSpPr/>
          <p:nvPr/>
        </p:nvSpPr>
        <p:spPr>
          <a:xfrm>
            <a:off x="658368" y="2066543"/>
            <a:ext cx="2286000" cy="310896"/>
          </a:xfrm>
          <a:prstGeom prst="rect">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a:solidFill>
                  <a:srgbClr val="B5811F"/>
                </a:solidFill>
                <a:latin typeface="Consolas"/>
              </a:rPr>
              <a:t>46 OF 3,532</a:t>
            </a:r>
          </a:p>
        </p:txBody>
      </p:sp>
      <p:sp>
        <p:nvSpPr>
          <p:cNvPr id="7" name="Rectangle 6"/>
          <p:cNvSpPr/>
          <p:nvPr/>
        </p:nvSpPr>
        <p:spPr>
          <a:xfrm>
            <a:off x="658368" y="2578608"/>
            <a:ext cx="10874959" cy="138988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2578608"/>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2724912"/>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3000" b="0" i="0">
                <a:solidFill>
                  <a:srgbClr val="14181B"/>
                </a:solidFill>
                <a:latin typeface="Nirmala UI"/>
              </a:rPr>
              <a:t>বাজার বাজার বাজার বাজার বাজার বাজার</a:t>
            </a:r>
          </a:p>
        </p:txBody>
      </p:sp>
      <p:sp>
        <p:nvSpPr>
          <p:cNvPr id="10" name="TextBox 9"/>
          <p:cNvSpPr txBox="1"/>
          <p:nvPr/>
        </p:nvSpPr>
        <p:spPr>
          <a:xfrm>
            <a:off x="932688" y="3127248"/>
            <a:ext cx="10372039" cy="658368"/>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These carry no readable meaning, so they are dropped from supervision rather than quietly labelled neutral.</a:t>
            </a:r>
          </a:p>
        </p:txBody>
      </p:sp>
      <p:sp>
        <p:nvSpPr>
          <p:cNvPr id="11" name="Rectangle 10"/>
          <p:cNvSpPr/>
          <p:nvPr/>
        </p:nvSpPr>
        <p:spPr>
          <a:xfrm>
            <a:off x="658368" y="4195620"/>
            <a:ext cx="10874959" cy="203881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096511"/>
            <a:ext cx="50292" cy="138988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378501"/>
            <a:ext cx="10372039" cy="1024128"/>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Likely cause, and it is in the configuration</a:t>
            </a:r>
          </a:p>
          <a:p>
            <a:pPr algn="l">
              <a:lnSpc>
                <a:spcPct val="120000"/>
              </a:lnSpc>
              <a:spcBef>
                <a:spcPts val="0"/>
              </a:spcBef>
              <a:spcAft>
                <a:spcPts val="0"/>
              </a:spcAft>
            </a:pPr>
            <a:r>
              <a:rPr sz="2200" b="0" i="0">
                <a:solidFill>
                  <a:srgbClr val="3E4A4F"/>
                </a:solidFill>
                <a:latin typeface="Segoe UI"/>
              </a:rPr>
              <a:t>The run sets a repetition penalty of 0.8. A penalty above 1.0 suppresses tokens already produced. A value below 1.0 does the opposite and makes repeating them more likely. Raising it above 1.0 is the direct fix.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07 / STAGE 4, FUSION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Attaching every word to a speaker</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Diarization gives intervals with speaker labels. Recognition gives words with timestamps. Neither knows about the other.</a:t>
            </a:r>
          </a:p>
        </p:txBody>
      </p:sp>
      <p:sp>
        <p:nvSpPr>
          <p:cNvPr id="6" name="TextBox 5"/>
          <p:cNvSpPr txBox="1"/>
          <p:nvPr/>
        </p:nvSpPr>
        <p:spPr>
          <a:xfrm>
            <a:off x="658368" y="2286981"/>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dirty="0">
                <a:solidFill>
                  <a:srgbClr val="14181B"/>
                </a:solidFill>
                <a:latin typeface="Segoe UI"/>
              </a:rPr>
              <a:t>•   Take the midpoint of the word. If it falls inside one speaker interval, that speaker owns it</a:t>
            </a:r>
          </a:p>
        </p:txBody>
      </p:sp>
      <p:sp>
        <p:nvSpPr>
          <p:cNvPr id="7" name="TextBox 6"/>
          <p:cNvSpPr txBox="1"/>
          <p:nvPr/>
        </p:nvSpPr>
        <p:spPr>
          <a:xfrm>
            <a:off x="658368" y="3036789"/>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If the midpoint falls in a gap, fall back to the interval with the largest overlap</a:t>
            </a:r>
          </a:p>
        </p:txBody>
      </p:sp>
      <p:sp>
        <p:nvSpPr>
          <p:cNvPr id="8" name="TextBox 7"/>
          <p:cNvSpPr txBox="1"/>
          <p:nvPr/>
        </p:nvSpPr>
        <p:spPr>
          <a:xfrm>
            <a:off x="658368" y="3530565"/>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If two speakers overlap in time, the one who started first keeps the word</a:t>
            </a:r>
          </a:p>
        </p:txBody>
      </p:sp>
      <p:sp>
        <p:nvSpPr>
          <p:cNvPr id="9" name="TextBox 8"/>
          <p:cNvSpPr txBox="1"/>
          <p:nvPr/>
        </p:nvSpPr>
        <p:spPr>
          <a:xfrm>
            <a:off x="658368" y="4024342"/>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Consecutive words from one speaker are grouped into an utterance, the unit used downstream</a:t>
            </a:r>
          </a:p>
        </p:txBody>
      </p:sp>
      <p:sp>
        <p:nvSpPr>
          <p:cNvPr id="10" name="TextBox 9"/>
          <p:cNvSpPr txBox="1"/>
          <p:nvPr/>
        </p:nvSpPr>
        <p:spPr>
          <a:xfrm>
            <a:off x="665682" y="4865590"/>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lang="en-US" sz="2100" b="0" i="0" dirty="0">
                <a:solidFill>
                  <a:srgbClr val="3E4A4F"/>
                </a:solidFill>
                <a:latin typeface="Segoe UI"/>
              </a:rPr>
              <a:t>The midpoint is used rather than the word start because start timestamps drift at chunk boundaries and the midpoint is the more stable of the two.</a:t>
            </a:r>
          </a:p>
        </p:txBody>
      </p:sp>
      <p:sp>
        <p:nvSpPr>
          <p:cNvPr id="11" name="Rectangle 10"/>
          <p:cNvSpPr/>
          <p:nvPr/>
        </p:nvSpPr>
        <p:spPr>
          <a:xfrm>
            <a:off x="658368" y="5650992"/>
            <a:ext cx="10874959" cy="91440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41247" y="5769864"/>
            <a:ext cx="512658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3,532</a:t>
            </a:r>
          </a:p>
        </p:txBody>
      </p:sp>
      <p:sp>
        <p:nvSpPr>
          <p:cNvPr id="13" name="TextBox 12"/>
          <p:cNvSpPr txBox="1"/>
          <p:nvPr/>
        </p:nvSpPr>
        <p:spPr>
          <a:xfrm>
            <a:off x="841247" y="6217920"/>
            <a:ext cx="516315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UTTERANCES</a:t>
            </a:r>
          </a:p>
        </p:txBody>
      </p:sp>
      <p:sp>
        <p:nvSpPr>
          <p:cNvPr id="14" name="Rectangle 13"/>
          <p:cNvSpPr/>
          <p:nvPr/>
        </p:nvSpPr>
        <p:spPr>
          <a:xfrm>
            <a:off x="6095847" y="5742431"/>
            <a:ext cx="7315" cy="73152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278727" y="5769864"/>
            <a:ext cx="512658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85.1%</a:t>
            </a:r>
          </a:p>
        </p:txBody>
      </p:sp>
      <p:sp>
        <p:nvSpPr>
          <p:cNvPr id="16" name="TextBox 15"/>
          <p:cNvSpPr txBox="1"/>
          <p:nvPr/>
        </p:nvSpPr>
        <p:spPr>
          <a:xfrm>
            <a:off x="6278727" y="6217920"/>
            <a:ext cx="516315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 ASSIGNED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08 / STAGE 5, TARGETS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Finding what a sentence is actually about</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Bangla attaches case and definiteness as suffixes, so exact string matching sees six unrelated words where there is one target.</a:t>
            </a:r>
          </a:p>
        </p:txBody>
      </p:sp>
      <p:graphicFrame>
        <p:nvGraphicFramePr>
          <p:cNvPr id="6" name="Table 5"/>
          <p:cNvGraphicFramePr>
            <a:graphicFrameLocks noGrp="1"/>
          </p:cNvGraphicFramePr>
          <p:nvPr/>
        </p:nvGraphicFramePr>
        <p:xfrm>
          <a:off x="658368" y="2468879"/>
          <a:ext cx="5120638" cy="3145536"/>
        </p:xfrm>
        <a:graphic>
          <a:graphicData uri="http://schemas.openxmlformats.org/drawingml/2006/table">
            <a:tbl>
              <a:tblPr>
                <a:tableStyleId>{5C22544A-7EE6-4342-B048-85BDC9FD1C3A}</a:tableStyleId>
              </a:tblPr>
              <a:tblGrid>
                <a:gridCol w="3413759">
                  <a:extLst>
                    <a:ext uri="{9D8B030D-6E8A-4147-A177-3AD203B41FA5}">
                      <a16:colId xmlns:a16="http://schemas.microsoft.com/office/drawing/2014/main" val="20000"/>
                    </a:ext>
                  </a:extLst>
                </a:gridCol>
                <a:gridCol w="1706879">
                  <a:extLst>
                    <a:ext uri="{9D8B030D-6E8A-4147-A177-3AD203B41FA5}">
                      <a16:colId xmlns:a16="http://schemas.microsoft.com/office/drawing/2014/main" val="20001"/>
                    </a:ext>
                  </a:extLst>
                </a:gridCol>
              </a:tblGrid>
              <a:tr h="393192">
                <a:tc>
                  <a:txBody>
                    <a:bodyPr/>
                    <a:lstStyle/>
                    <a:p>
                      <a:pPr algn="l"/>
                      <a:r>
                        <a:rPr sz="2100" b="1" i="0">
                          <a:solidFill>
                            <a:srgbClr val="6B787D"/>
                          </a:solidFill>
                          <a:latin typeface="Consolas"/>
                        </a:rPr>
                        <a:t>Surface form</a:t>
                      </a:r>
                    </a:p>
                  </a:txBody>
                  <a:tcPr marL="100584" marR="100584" marT="27432" marB="27432" anchor="ctr">
                    <a:solidFill>
                      <a:srgbClr val="E0E5E1"/>
                    </a:solidFill>
                  </a:tcPr>
                </a:tc>
                <a:tc>
                  <a:txBody>
                    <a:bodyPr/>
                    <a:lstStyle/>
                    <a:p>
                      <a:pPr algn="r"/>
                      <a:r>
                        <a:rPr sz="2100" b="1" i="0">
                          <a:solidFill>
                            <a:srgbClr val="6B787D"/>
                          </a:solidFill>
                          <a:latin typeface="Consolas"/>
                        </a:rPr>
                        <a:t>Count</a:t>
                      </a:r>
                    </a:p>
                  </a:txBody>
                  <a:tcPr marL="100584" marR="100584" marT="27432" marB="27432" anchor="ctr">
                    <a:solidFill>
                      <a:srgbClr val="E0E5E1"/>
                    </a:solidFill>
                  </a:tcPr>
                </a:tc>
                <a:extLst>
                  <a:ext uri="{0D108BD9-81ED-4DB2-BD59-A6C34878D82A}">
                    <a16:rowId xmlns:a16="http://schemas.microsoft.com/office/drawing/2014/main" val="10000"/>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164</a:t>
                      </a:r>
                    </a:p>
                  </a:txBody>
                  <a:tcPr marL="100584" marR="100584" marT="27432" marB="27432" anchor="ctr">
                    <a:solidFill>
                      <a:srgbClr val="F8F9F7"/>
                    </a:solidFill>
                  </a:tcPr>
                </a:tc>
                <a:extLst>
                  <a:ext uri="{0D108BD9-81ED-4DB2-BD59-A6C34878D82A}">
                    <a16:rowId xmlns:a16="http://schemas.microsoft.com/office/drawing/2014/main" val="10001"/>
                  </a:ext>
                </a:extLst>
              </a:tr>
              <a:tr h="393192">
                <a:tc>
                  <a:txBody>
                    <a:bodyPr/>
                    <a:lstStyle/>
                    <a:p>
                      <a:pPr algn="l"/>
                      <a:r>
                        <a:rPr sz="2100" b="0" i="0">
                          <a:solidFill>
                            <a:srgbClr val="14181B"/>
                          </a:solidFill>
                          <a:latin typeface="Nirmala UI"/>
                        </a:rPr>
                        <a:t>ব্যাংকের</a:t>
                      </a:r>
                    </a:p>
                  </a:txBody>
                  <a:tcPr marL="100584" marR="100584" marT="27432" marB="27432" anchor="ctr">
                    <a:solidFill>
                      <a:srgbClr val="F8F9F7"/>
                    </a:solidFill>
                  </a:tcPr>
                </a:tc>
                <a:tc>
                  <a:txBody>
                    <a:bodyPr/>
                    <a:lstStyle/>
                    <a:p>
                      <a:pPr algn="r"/>
                      <a:r>
                        <a:rPr sz="2100" b="0" i="0">
                          <a:solidFill>
                            <a:srgbClr val="14181B"/>
                          </a:solidFill>
                          <a:latin typeface="Consolas"/>
                        </a:rPr>
                        <a:t>139</a:t>
                      </a:r>
                    </a:p>
                  </a:txBody>
                  <a:tcPr marL="100584" marR="100584" marT="27432" marB="27432" anchor="ctr">
                    <a:solidFill>
                      <a:srgbClr val="F8F9F7"/>
                    </a:solidFill>
                  </a:tcPr>
                </a:tc>
                <a:extLst>
                  <a:ext uri="{0D108BD9-81ED-4DB2-BD59-A6C34878D82A}">
                    <a16:rowId xmlns:a16="http://schemas.microsoft.com/office/drawing/2014/main" val="10002"/>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99</a:t>
                      </a:r>
                    </a:p>
                  </a:txBody>
                  <a:tcPr marL="100584" marR="100584" marT="27432" marB="27432" anchor="ctr">
                    <a:solidFill>
                      <a:srgbClr val="F8F9F7"/>
                    </a:solidFill>
                  </a:tcPr>
                </a:tc>
                <a:extLst>
                  <a:ext uri="{0D108BD9-81ED-4DB2-BD59-A6C34878D82A}">
                    <a16:rowId xmlns:a16="http://schemas.microsoft.com/office/drawing/2014/main" val="10003"/>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50</a:t>
                      </a:r>
                    </a:p>
                  </a:txBody>
                  <a:tcPr marL="100584" marR="100584" marT="27432" marB="27432" anchor="ctr">
                    <a:solidFill>
                      <a:srgbClr val="F8F9F7"/>
                    </a:solidFill>
                  </a:tcPr>
                </a:tc>
                <a:extLst>
                  <a:ext uri="{0D108BD9-81ED-4DB2-BD59-A6C34878D82A}">
                    <a16:rowId xmlns:a16="http://schemas.microsoft.com/office/drawing/2014/main" val="10004"/>
                  </a:ext>
                </a:extLst>
              </a:tr>
              <a:tr h="393192">
                <a:tc>
                  <a:txBody>
                    <a:bodyPr/>
                    <a:lstStyle/>
                    <a:p>
                      <a:pPr algn="l"/>
                      <a:r>
                        <a:rPr sz="2100" b="0" i="0">
                          <a:solidFill>
                            <a:srgbClr val="14181B"/>
                          </a:solidFill>
                          <a:latin typeface="Nirmala UI"/>
                        </a:rPr>
                        <a:t>ব্যাংকগুলো</a:t>
                      </a:r>
                    </a:p>
                  </a:txBody>
                  <a:tcPr marL="100584" marR="100584" marT="27432" marB="27432" anchor="ctr">
                    <a:solidFill>
                      <a:srgbClr val="F8F9F7"/>
                    </a:solidFill>
                  </a:tcPr>
                </a:tc>
                <a:tc>
                  <a:txBody>
                    <a:bodyPr/>
                    <a:lstStyle/>
                    <a:p>
                      <a:pPr algn="r"/>
                      <a:r>
                        <a:rPr sz="2100" b="0" i="0">
                          <a:solidFill>
                            <a:srgbClr val="14181B"/>
                          </a:solidFill>
                          <a:latin typeface="Consolas"/>
                        </a:rPr>
                        <a:t>10</a:t>
                      </a:r>
                    </a:p>
                  </a:txBody>
                  <a:tcPr marL="100584" marR="100584" marT="27432" marB="27432" anchor="ctr">
                    <a:solidFill>
                      <a:srgbClr val="F8F9F7"/>
                    </a:solidFill>
                  </a:tcPr>
                </a:tc>
                <a:extLst>
                  <a:ext uri="{0D108BD9-81ED-4DB2-BD59-A6C34878D82A}">
                    <a16:rowId xmlns:a16="http://schemas.microsoft.com/office/drawing/2014/main" val="10005"/>
                  </a:ext>
                </a:extLst>
              </a:tr>
              <a:tr h="393192">
                <a:tc>
                  <a:txBody>
                    <a:bodyPr/>
                    <a:lstStyle/>
                    <a:p>
                      <a:pPr algn="l"/>
                      <a:r>
                        <a:rPr sz="2100" b="0" i="0">
                          <a:solidFill>
                            <a:srgbClr val="14181B"/>
                          </a:solidFill>
                          <a:latin typeface="Nirmala UI"/>
                        </a:rPr>
                        <a:t>ব্যাংকগুলোর</a:t>
                      </a:r>
                    </a:p>
                  </a:txBody>
                  <a:tcPr marL="100584" marR="100584" marT="27432" marB="27432" anchor="ctr">
                    <a:solidFill>
                      <a:srgbClr val="F8F9F7"/>
                    </a:solidFill>
                  </a:tcPr>
                </a:tc>
                <a:tc>
                  <a:txBody>
                    <a:bodyPr/>
                    <a:lstStyle/>
                    <a:p>
                      <a:pPr algn="r"/>
                      <a:r>
                        <a:rPr sz="2100" b="0" i="0">
                          <a:solidFill>
                            <a:srgbClr val="14181B"/>
                          </a:solidFill>
                          <a:latin typeface="Consolas"/>
                        </a:rPr>
                        <a:t>10</a:t>
                      </a:r>
                    </a:p>
                  </a:txBody>
                  <a:tcPr marL="100584" marR="100584" marT="27432" marB="27432" anchor="ctr">
                    <a:solidFill>
                      <a:srgbClr val="F8F9F7"/>
                    </a:solidFill>
                  </a:tcPr>
                </a:tc>
                <a:extLst>
                  <a:ext uri="{0D108BD9-81ED-4DB2-BD59-A6C34878D82A}">
                    <a16:rowId xmlns:a16="http://schemas.microsoft.com/office/drawing/2014/main" val="10006"/>
                  </a:ext>
                </a:extLst>
              </a:tr>
              <a:tr h="393192">
                <a:tc>
                  <a:txBody>
                    <a:bodyPr/>
                    <a:lstStyle/>
                    <a:p>
                      <a:pPr algn="l"/>
                      <a:r>
                        <a:rPr sz="2100" b="1" i="0">
                          <a:solidFill>
                            <a:srgbClr val="14181B"/>
                          </a:solidFill>
                          <a:latin typeface="Segoe UI"/>
                        </a:rPr>
                        <a:t>one stem covers</a:t>
                      </a:r>
                    </a:p>
                  </a:txBody>
                  <a:tcPr marL="100584" marR="100584" marT="27432" marB="27432" anchor="ctr">
                    <a:solidFill>
                      <a:srgbClr val="E0E5E1"/>
                    </a:solidFill>
                  </a:tcPr>
                </a:tc>
                <a:tc>
                  <a:txBody>
                    <a:bodyPr/>
                    <a:lstStyle/>
                    <a:p>
                      <a:pPr algn="r"/>
                      <a:r>
                        <a:rPr sz="2100" b="1" i="0">
                          <a:solidFill>
                            <a:srgbClr val="14181B"/>
                          </a:solidFill>
                          <a:latin typeface="Consolas"/>
                        </a:rPr>
                        <a:t>555</a:t>
                      </a:r>
                    </a:p>
                  </a:txBody>
                  <a:tcPr marL="100584" marR="100584" marT="27432" marB="27432" anchor="ctr">
                    <a:solidFill>
                      <a:srgbClr val="E0E5E1"/>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6144768" y="2468879"/>
            <a:ext cx="5388559"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A prefix rule is blunt, so each entry carries an exclusion list.</a:t>
            </a:r>
          </a:p>
        </p:txBody>
      </p:sp>
      <p:graphicFrame>
        <p:nvGraphicFramePr>
          <p:cNvPr id="8" name="Table 7"/>
          <p:cNvGraphicFramePr>
            <a:graphicFrameLocks noGrp="1"/>
          </p:cNvGraphicFramePr>
          <p:nvPr>
            <p:extLst>
              <p:ext uri="{D42A27DB-BD31-4B8C-83A1-F6EECF244321}">
                <p14:modId xmlns:p14="http://schemas.microsoft.com/office/powerpoint/2010/main" val="3161598376"/>
              </p:ext>
            </p:extLst>
          </p:nvPr>
        </p:nvGraphicFramePr>
        <p:xfrm>
          <a:off x="6144768" y="3376168"/>
          <a:ext cx="5388557" cy="2331720"/>
        </p:xfrm>
        <a:graphic>
          <a:graphicData uri="http://schemas.openxmlformats.org/drawingml/2006/table">
            <a:tbl>
              <a:tblPr>
                <a:tableStyleId>{5C22544A-7EE6-4342-B048-85BDC9FD1C3A}</a:tableStyleId>
              </a:tblPr>
              <a:tblGrid>
                <a:gridCol w="1347139">
                  <a:extLst>
                    <a:ext uri="{9D8B030D-6E8A-4147-A177-3AD203B41FA5}">
                      <a16:colId xmlns:a16="http://schemas.microsoft.com/office/drawing/2014/main" val="20000"/>
                    </a:ext>
                  </a:extLst>
                </a:gridCol>
                <a:gridCol w="1751281">
                  <a:extLst>
                    <a:ext uri="{9D8B030D-6E8A-4147-A177-3AD203B41FA5}">
                      <a16:colId xmlns:a16="http://schemas.microsoft.com/office/drawing/2014/main" val="20001"/>
                    </a:ext>
                  </a:extLst>
                </a:gridCol>
                <a:gridCol w="2290137">
                  <a:extLst>
                    <a:ext uri="{9D8B030D-6E8A-4147-A177-3AD203B41FA5}">
                      <a16:colId xmlns:a16="http://schemas.microsoft.com/office/drawing/2014/main" val="20002"/>
                    </a:ext>
                  </a:extLst>
                </a:gridCol>
              </a:tblGrid>
              <a:tr h="0">
                <a:tc>
                  <a:txBody>
                    <a:bodyPr/>
                    <a:lstStyle/>
                    <a:p>
                      <a:pPr algn="l"/>
                      <a:r>
                        <a:rPr sz="2100" b="1" i="0">
                          <a:solidFill>
                            <a:srgbClr val="6B787D"/>
                          </a:solidFill>
                          <a:latin typeface="Consolas"/>
                        </a:rPr>
                        <a:t>Stem</a:t>
                      </a:r>
                    </a:p>
                  </a:txBody>
                  <a:tcPr marL="100584" marR="100584" marT="27432" marB="27432" anchor="ctr">
                    <a:solidFill>
                      <a:srgbClr val="E0E5E1"/>
                    </a:solidFill>
                  </a:tcPr>
                </a:tc>
                <a:tc>
                  <a:txBody>
                    <a:bodyPr/>
                    <a:lstStyle/>
                    <a:p>
                      <a:pPr algn="l"/>
                      <a:r>
                        <a:rPr sz="2100" b="1" i="0">
                          <a:solidFill>
                            <a:srgbClr val="6B787D"/>
                          </a:solidFill>
                          <a:latin typeface="Consolas"/>
                        </a:rPr>
                        <a:t>Blocked</a:t>
                      </a:r>
                    </a:p>
                  </a:txBody>
                  <a:tcPr marL="100584" marR="100584" marT="27432" marB="27432" anchor="ctr">
                    <a:solidFill>
                      <a:srgbClr val="E0E5E1"/>
                    </a:solidFill>
                  </a:tcPr>
                </a:tc>
                <a:tc>
                  <a:txBody>
                    <a:bodyPr/>
                    <a:lstStyle/>
                    <a:p>
                      <a:pPr algn="l"/>
                      <a:r>
                        <a:rPr sz="2100" b="1" i="0">
                          <a:solidFill>
                            <a:srgbClr val="6B787D"/>
                          </a:solidFill>
                          <a:latin typeface="Consolas"/>
                        </a:rPr>
                        <a:t>Reason</a:t>
                      </a:r>
                    </a:p>
                  </a:txBody>
                  <a:tcPr marL="100584" marR="100584" marT="27432" marB="27432" anchor="ctr">
                    <a:solidFill>
                      <a:srgbClr val="E0E5E1"/>
                    </a:solidFill>
                  </a:tcPr>
                </a:tc>
                <a:extLst>
                  <a:ext uri="{0D108BD9-81ED-4DB2-BD59-A6C34878D82A}">
                    <a16:rowId xmlns:a16="http://schemas.microsoft.com/office/drawing/2014/main" val="10000"/>
                  </a:ext>
                </a:extLst>
              </a:tr>
              <a:tr h="420624">
                <a:tc>
                  <a:txBody>
                    <a:bodyPr/>
                    <a:lstStyle/>
                    <a:p>
                      <a:pPr algn="l"/>
                      <a:r>
                        <a:rPr sz="2100" b="0" i="0">
                          <a:solidFill>
                            <a:srgbClr val="14181B"/>
                          </a:solidFill>
                          <a:latin typeface="Nirmala UI"/>
                        </a:rPr>
                        <a:t>সুদ</a:t>
                      </a:r>
                    </a:p>
                  </a:txBody>
                  <a:tcPr marL="100584" marR="100584" marT="27432" marB="27432" anchor="ctr">
                    <a:solidFill>
                      <a:srgbClr val="F8F9F7"/>
                    </a:solidFill>
                  </a:tcPr>
                </a:tc>
                <a:tc>
                  <a:txBody>
                    <a:bodyPr/>
                    <a:lstStyle/>
                    <a:p>
                      <a:pPr algn="l"/>
                      <a:r>
                        <a:rPr sz="2100" b="0" i="0">
                          <a:solidFill>
                            <a:srgbClr val="14181B"/>
                          </a:solidFill>
                          <a:latin typeface="Nirmala UI"/>
                        </a:rPr>
                        <a:t>সুদান</a:t>
                      </a:r>
                    </a:p>
                  </a:txBody>
                  <a:tcPr marL="100584" marR="100584" marT="27432" marB="27432" anchor="ctr">
                    <a:solidFill>
                      <a:srgbClr val="F8F9F7"/>
                    </a:solidFill>
                  </a:tcPr>
                </a:tc>
                <a:tc>
                  <a:txBody>
                    <a:bodyPr/>
                    <a:lstStyle/>
                    <a:p>
                      <a:pPr algn="l"/>
                      <a:r>
                        <a:rPr sz="2100" b="0" i="0">
                          <a:solidFill>
                            <a:srgbClr val="14181B"/>
                          </a:solidFill>
                          <a:latin typeface="Segoe UI"/>
                        </a:rPr>
                        <a:t>interest vs Sudan</a:t>
                      </a:r>
                    </a:p>
                  </a:txBody>
                  <a:tcPr marL="100584" marR="100584" marT="27432" marB="27432" anchor="ctr">
                    <a:solidFill>
                      <a:srgbClr val="F8F9F7"/>
                    </a:solidFill>
                  </a:tcPr>
                </a:tc>
                <a:extLst>
                  <a:ext uri="{0D108BD9-81ED-4DB2-BD59-A6C34878D82A}">
                    <a16:rowId xmlns:a16="http://schemas.microsoft.com/office/drawing/2014/main" val="10001"/>
                  </a:ext>
                </a:extLst>
              </a:tr>
              <a:tr h="420624">
                <a:tc>
                  <a:txBody>
                    <a:bodyPr/>
                    <a:lstStyle/>
                    <a:p>
                      <a:pPr algn="l"/>
                      <a:r>
                        <a:rPr sz="2100" b="0" i="0">
                          <a:solidFill>
                            <a:srgbClr val="14181B"/>
                          </a:solidFill>
                          <a:latin typeface="Nirmala UI"/>
                        </a:rPr>
                        <a:t>ভালো</a:t>
                      </a:r>
                    </a:p>
                  </a:txBody>
                  <a:tcPr marL="100584" marR="100584" marT="27432" marB="27432" anchor="ctr">
                    <a:solidFill>
                      <a:srgbClr val="F8F9F7"/>
                    </a:solidFill>
                  </a:tcPr>
                </a:tc>
                <a:tc>
                  <a:txBody>
                    <a:bodyPr/>
                    <a:lstStyle/>
                    <a:p>
                      <a:pPr algn="l"/>
                      <a:r>
                        <a:rPr sz="2100" b="0" i="0">
                          <a:solidFill>
                            <a:srgbClr val="14181B"/>
                          </a:solidFill>
                          <a:latin typeface="Nirmala UI"/>
                        </a:rPr>
                        <a:t>ভালোবাসা</a:t>
                      </a:r>
                    </a:p>
                  </a:txBody>
                  <a:tcPr marL="100584" marR="100584" marT="27432" marB="27432" anchor="ctr">
                    <a:solidFill>
                      <a:srgbClr val="F8F9F7"/>
                    </a:solidFill>
                  </a:tcPr>
                </a:tc>
                <a:tc>
                  <a:txBody>
                    <a:bodyPr/>
                    <a:lstStyle/>
                    <a:p>
                      <a:pPr algn="l"/>
                      <a:r>
                        <a:rPr sz="2100" b="0" i="0">
                          <a:solidFill>
                            <a:srgbClr val="14181B"/>
                          </a:solidFill>
                          <a:latin typeface="Segoe UI"/>
                        </a:rPr>
                        <a:t>good vs love</a:t>
                      </a:r>
                    </a:p>
                  </a:txBody>
                  <a:tcPr marL="100584" marR="100584" marT="27432" marB="27432" anchor="ctr">
                    <a:solidFill>
                      <a:srgbClr val="F8F9F7"/>
                    </a:solidFill>
                  </a:tcPr>
                </a:tc>
                <a:extLst>
                  <a:ext uri="{0D108BD9-81ED-4DB2-BD59-A6C34878D82A}">
                    <a16:rowId xmlns:a16="http://schemas.microsoft.com/office/drawing/2014/main" val="10002"/>
                  </a:ext>
                </a:extLst>
              </a:tr>
              <a:tr h="420624">
                <a:tc>
                  <a:txBody>
                    <a:bodyPr/>
                    <a:lstStyle/>
                    <a:p>
                      <a:pPr algn="l"/>
                      <a:r>
                        <a:rPr sz="2100" b="0" i="0">
                          <a:solidFill>
                            <a:srgbClr val="14181B"/>
                          </a:solidFill>
                          <a:latin typeface="Nirmala UI"/>
                        </a:rPr>
                        <a:t>সুবিধা</a:t>
                      </a:r>
                    </a:p>
                  </a:txBody>
                  <a:tcPr marL="100584" marR="100584" marT="27432" marB="27432" anchor="ctr">
                    <a:solidFill>
                      <a:srgbClr val="F8F9F7"/>
                    </a:solidFill>
                  </a:tcPr>
                </a:tc>
                <a:tc>
                  <a:txBody>
                    <a:bodyPr/>
                    <a:lstStyle/>
                    <a:p>
                      <a:pPr algn="l"/>
                      <a:r>
                        <a:rPr sz="2100" b="0" i="0">
                          <a:solidFill>
                            <a:srgbClr val="14181B"/>
                          </a:solidFill>
                          <a:latin typeface="Nirmala UI"/>
                        </a:rPr>
                        <a:t>অসুবিধা</a:t>
                      </a:r>
                    </a:p>
                  </a:txBody>
                  <a:tcPr marL="100584" marR="100584" marT="27432" marB="27432" anchor="ctr">
                    <a:solidFill>
                      <a:srgbClr val="F8F9F7"/>
                    </a:solidFill>
                  </a:tcPr>
                </a:tc>
                <a:tc>
                  <a:txBody>
                    <a:bodyPr/>
                    <a:lstStyle/>
                    <a:p>
                      <a:pPr algn="l"/>
                      <a:r>
                        <a:rPr sz="2100" b="0" i="0">
                          <a:solidFill>
                            <a:srgbClr val="14181B"/>
                          </a:solidFill>
                          <a:latin typeface="Segoe UI"/>
                        </a:rPr>
                        <a:t>benefit vs drawback</a:t>
                      </a:r>
                    </a:p>
                  </a:txBody>
                  <a:tcPr marL="100584" marR="100584" marT="27432" marB="27432" anchor="ctr">
                    <a:solidFill>
                      <a:srgbClr val="F8F9F7"/>
                    </a:solidFill>
                  </a:tcPr>
                </a:tc>
                <a:extLst>
                  <a:ext uri="{0D108BD9-81ED-4DB2-BD59-A6C34878D82A}">
                    <a16:rowId xmlns:a16="http://schemas.microsoft.com/office/drawing/2014/main" val="10003"/>
                  </a:ext>
                </a:extLst>
              </a:tr>
              <a:tr h="420624">
                <a:tc>
                  <a:txBody>
                    <a:bodyPr/>
                    <a:lstStyle/>
                    <a:p>
                      <a:pPr algn="l"/>
                      <a:r>
                        <a:rPr sz="2100" b="0" i="0">
                          <a:solidFill>
                            <a:srgbClr val="14181B"/>
                          </a:solidFill>
                          <a:latin typeface="Nirmala UI"/>
                        </a:rPr>
                        <a:t>ঋণ</a:t>
                      </a:r>
                    </a:p>
                  </a:txBody>
                  <a:tcPr marL="100584" marR="100584" marT="27432" marB="27432" anchor="ctr">
                    <a:solidFill>
                      <a:srgbClr val="F8F9F7"/>
                    </a:solidFill>
                  </a:tcPr>
                </a:tc>
                <a:tc>
                  <a:txBody>
                    <a:bodyPr/>
                    <a:lstStyle/>
                    <a:p>
                      <a:pPr algn="l"/>
                      <a:r>
                        <a:rPr sz="2100" b="0" i="0">
                          <a:solidFill>
                            <a:srgbClr val="14181B"/>
                          </a:solidFill>
                          <a:latin typeface="Nirmala UI"/>
                        </a:rPr>
                        <a:t>ঋণখেলাপি</a:t>
                      </a:r>
                    </a:p>
                  </a:txBody>
                  <a:tcPr marL="100584" marR="100584" marT="27432" marB="27432" anchor="ctr">
                    <a:solidFill>
                      <a:srgbClr val="F8F9F7"/>
                    </a:solidFill>
                  </a:tcPr>
                </a:tc>
                <a:tc>
                  <a:txBody>
                    <a:bodyPr/>
                    <a:lstStyle/>
                    <a:p>
                      <a:pPr algn="l"/>
                      <a:r>
                        <a:rPr sz="2100" b="0" i="0" dirty="0">
                          <a:solidFill>
                            <a:srgbClr val="14181B"/>
                          </a:solidFill>
                          <a:latin typeface="Segoe UI"/>
                        </a:rPr>
                        <a:t>credit vs default</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08 / STAGE 5, TARGETS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Target lexicon coverage</a:t>
            </a:r>
          </a:p>
        </p:txBody>
      </p:sp>
      <p:sp>
        <p:nvSpPr>
          <p:cNvPr id="5" name="Rectangle 4"/>
          <p:cNvSpPr/>
          <p:nvPr/>
        </p:nvSpPr>
        <p:spPr>
          <a:xfrm>
            <a:off x="658368" y="1664208"/>
            <a:ext cx="10874959" cy="107899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52</a:t>
            </a:r>
          </a:p>
        </p:txBody>
      </p:sp>
      <p:sp>
        <p:nvSpPr>
          <p:cNvPr id="7" name="TextBox 6"/>
          <p:cNvSpPr txBox="1"/>
          <p:nvPr/>
        </p:nvSpPr>
        <p:spPr>
          <a:xfrm>
            <a:off x="841247"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TARGETS</a:t>
            </a:r>
          </a:p>
        </p:txBody>
      </p:sp>
      <p:sp>
        <p:nvSpPr>
          <p:cNvPr id="8" name="Rectangle 7"/>
          <p:cNvSpPr/>
          <p:nvPr/>
        </p:nvSpPr>
        <p:spPr>
          <a:xfrm>
            <a:off x="4283354"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466234"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3,109</a:t>
            </a:r>
          </a:p>
        </p:txBody>
      </p:sp>
      <p:sp>
        <p:nvSpPr>
          <p:cNvPr id="10" name="TextBox 9"/>
          <p:cNvSpPr txBox="1"/>
          <p:nvPr/>
        </p:nvSpPr>
        <p:spPr>
          <a:xfrm>
            <a:off x="4466234"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TARGET PAIRS</a:t>
            </a:r>
          </a:p>
        </p:txBody>
      </p:sp>
      <p:sp>
        <p:nvSpPr>
          <p:cNvPr id="11" name="Rectangle 10"/>
          <p:cNvSpPr/>
          <p:nvPr/>
        </p:nvSpPr>
        <p:spPr>
          <a:xfrm>
            <a:off x="7908340"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091220"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48</a:t>
            </a:r>
          </a:p>
        </p:txBody>
      </p:sp>
      <p:sp>
        <p:nvSpPr>
          <p:cNvPr id="13" name="TextBox 12"/>
          <p:cNvSpPr txBox="1"/>
          <p:nvPr/>
        </p:nvSpPr>
        <p:spPr>
          <a:xfrm>
            <a:off x="8091220"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SEEN IN CORPUS</a:t>
            </a:r>
          </a:p>
        </p:txBody>
      </p:sp>
      <p:graphicFrame>
        <p:nvGraphicFramePr>
          <p:cNvPr id="14" name="Table 13"/>
          <p:cNvGraphicFramePr>
            <a:graphicFrameLocks noGrp="1"/>
          </p:cNvGraphicFramePr>
          <p:nvPr/>
        </p:nvGraphicFramePr>
        <p:xfrm>
          <a:off x="658368" y="2980944"/>
          <a:ext cx="10874957" cy="2194560"/>
        </p:xfrm>
        <a:graphic>
          <a:graphicData uri="http://schemas.openxmlformats.org/drawingml/2006/table">
            <a:tbl>
              <a:tblPr>
                <a:tableStyleId>{5C22544A-7EE6-4342-B048-85BDC9FD1C3A}</a:tableStyleId>
              </a:tblPr>
              <a:tblGrid>
                <a:gridCol w="3411751">
                  <a:extLst>
                    <a:ext uri="{9D8B030D-6E8A-4147-A177-3AD203B41FA5}">
                      <a16:colId xmlns:a16="http://schemas.microsoft.com/office/drawing/2014/main" val="20000"/>
                    </a:ext>
                  </a:extLst>
                </a:gridCol>
                <a:gridCol w="1919110">
                  <a:extLst>
                    <a:ext uri="{9D8B030D-6E8A-4147-A177-3AD203B41FA5}">
                      <a16:colId xmlns:a16="http://schemas.microsoft.com/office/drawing/2014/main" val="20001"/>
                    </a:ext>
                  </a:extLst>
                </a:gridCol>
                <a:gridCol w="5544096">
                  <a:extLst>
                    <a:ext uri="{9D8B030D-6E8A-4147-A177-3AD203B41FA5}">
                      <a16:colId xmlns:a16="http://schemas.microsoft.com/office/drawing/2014/main" val="20002"/>
                    </a:ext>
                  </a:extLst>
                </a:gridCol>
              </a:tblGrid>
              <a:tr h="438912">
                <a:tc>
                  <a:txBody>
                    <a:bodyPr/>
                    <a:lstStyle/>
                    <a:p>
                      <a:pPr algn="l"/>
                      <a:r>
                        <a:rPr sz="2100" b="1" i="0">
                          <a:solidFill>
                            <a:srgbClr val="6B787D"/>
                          </a:solidFill>
                          <a:latin typeface="Consolas"/>
                        </a:rPr>
                        <a:t>Target type</a:t>
                      </a:r>
                    </a:p>
                  </a:txBody>
                  <a:tcPr marL="100584" marR="100584" marT="27432" marB="27432" anchor="ctr">
                    <a:solidFill>
                      <a:srgbClr val="E0E5E1"/>
                    </a:solidFill>
                  </a:tcPr>
                </a:tc>
                <a:tc>
                  <a:txBody>
                    <a:bodyPr/>
                    <a:lstStyle/>
                    <a:p>
                      <a:pPr algn="r"/>
                      <a:r>
                        <a:rPr sz="2100" b="1" i="0">
                          <a:solidFill>
                            <a:srgbClr val="6B787D"/>
                          </a:solidFill>
                          <a:latin typeface="Consolas"/>
                        </a:rPr>
                        <a:t>Pairs</a:t>
                      </a:r>
                    </a:p>
                  </a:txBody>
                  <a:tcPr marL="100584" marR="100584" marT="27432" marB="27432" anchor="ctr">
                    <a:solidFill>
                      <a:srgbClr val="E0E5E1"/>
                    </a:solidFill>
                  </a:tcPr>
                </a:tc>
                <a:tc>
                  <a:txBody>
                    <a:bodyPr/>
                    <a:lstStyle/>
                    <a:p>
                      <a:pPr algn="l"/>
                      <a:r>
                        <a:rPr sz="2100" b="1" i="0">
                          <a:solidFill>
                            <a:srgbClr val="6B787D"/>
                          </a:solidFill>
                          <a:latin typeface="Consolas"/>
                        </a:rPr>
                        <a:t>Examples</a:t>
                      </a:r>
                    </a:p>
                  </a:txBody>
                  <a:tcPr marL="100584" marR="100584" marT="27432" marB="27432" anchor="ctr">
                    <a:solidFill>
                      <a:srgbClr val="E0E5E1"/>
                    </a:solidFill>
                  </a:tcPr>
                </a:tc>
                <a:extLst>
                  <a:ext uri="{0D108BD9-81ED-4DB2-BD59-A6C34878D82A}">
                    <a16:rowId xmlns:a16="http://schemas.microsoft.com/office/drawing/2014/main" val="10000"/>
                  </a:ext>
                </a:extLst>
              </a:tr>
              <a:tr h="438912">
                <a:tc>
                  <a:txBody>
                    <a:bodyPr/>
                    <a:lstStyle/>
                    <a:p>
                      <a:pPr algn="l"/>
                      <a:r>
                        <a:rPr sz="2100" b="0" i="0">
                          <a:solidFill>
                            <a:srgbClr val="14181B"/>
                          </a:solidFill>
                          <a:latin typeface="Segoe UI"/>
                        </a:rPr>
                        <a:t>MACRO_INDICATOR</a:t>
                      </a:r>
                    </a:p>
                  </a:txBody>
                  <a:tcPr marL="100584" marR="100584" marT="27432" marB="27432" anchor="ctr">
                    <a:solidFill>
                      <a:srgbClr val="F8F9F7"/>
                    </a:solidFill>
                  </a:tcPr>
                </a:tc>
                <a:tc>
                  <a:txBody>
                    <a:bodyPr/>
                    <a:lstStyle/>
                    <a:p>
                      <a:pPr algn="r"/>
                      <a:r>
                        <a:rPr sz="2100" b="0" i="0">
                          <a:solidFill>
                            <a:srgbClr val="14181B"/>
                          </a:solidFill>
                          <a:latin typeface="Consolas"/>
                        </a:rPr>
                        <a:t>1,121</a:t>
                      </a:r>
                    </a:p>
                  </a:txBody>
                  <a:tcPr marL="100584" marR="100584" marT="27432" marB="27432" anchor="ctr">
                    <a:solidFill>
                      <a:srgbClr val="F8F9F7"/>
                    </a:solidFill>
                  </a:tcPr>
                </a:tc>
                <a:tc>
                  <a:txBody>
                    <a:bodyPr/>
                    <a:lstStyle/>
                    <a:p>
                      <a:pPr algn="l"/>
                      <a:r>
                        <a:rPr sz="2100" b="0" i="0">
                          <a:solidFill>
                            <a:srgbClr val="14181B"/>
                          </a:solidFill>
                          <a:latin typeface="Nirmala UI"/>
                        </a:rPr>
                        <a:t>মূল্যস্ফীতি</a:t>
                      </a:r>
                      <a:r>
                        <a:rPr sz="2100" b="0" i="0">
                          <a:solidFill>
                            <a:srgbClr val="14181B"/>
                          </a:solidFill>
                          <a:latin typeface="Segoe UI"/>
                        </a:rPr>
                        <a:t>, </a:t>
                      </a:r>
                      <a:r>
                        <a:rPr sz="2100" b="0" i="0">
                          <a:solidFill>
                            <a:srgbClr val="14181B"/>
                          </a:solidFill>
                          <a:latin typeface="Nirmala UI"/>
                        </a:rPr>
                        <a:t>রিজার্ভ</a:t>
                      </a:r>
                      <a:r>
                        <a:rPr sz="2100" b="0" i="0">
                          <a:solidFill>
                            <a:srgbClr val="14181B"/>
                          </a:solidFill>
                          <a:latin typeface="Segoe UI"/>
                        </a:rPr>
                        <a:t>, </a:t>
                      </a:r>
                      <a:r>
                        <a:rPr sz="2100" b="0" i="0">
                          <a:solidFill>
                            <a:srgbClr val="14181B"/>
                          </a:solidFill>
                          <a:latin typeface="Nirmala UI"/>
                        </a:rPr>
                        <a:t>বিনিয়োগ</a:t>
                      </a:r>
                    </a:p>
                  </a:txBody>
                  <a:tcPr marL="100584" marR="100584" marT="27432" marB="27432" anchor="ctr">
                    <a:solidFill>
                      <a:srgbClr val="F8F9F7"/>
                    </a:solidFill>
                  </a:tcPr>
                </a:tc>
                <a:extLst>
                  <a:ext uri="{0D108BD9-81ED-4DB2-BD59-A6C34878D82A}">
                    <a16:rowId xmlns:a16="http://schemas.microsoft.com/office/drawing/2014/main" val="10001"/>
                  </a:ext>
                </a:extLst>
              </a:tr>
              <a:tr h="438912">
                <a:tc>
                  <a:txBody>
                    <a:bodyPr/>
                    <a:lstStyle/>
                    <a:p>
                      <a:pPr algn="l"/>
                      <a:r>
                        <a:rPr sz="2100" b="0" i="0">
                          <a:solidFill>
                            <a:srgbClr val="14181B"/>
                          </a:solidFill>
                          <a:latin typeface="Segoe UI"/>
                        </a:rPr>
                        <a:t>REGULATOR</a:t>
                      </a:r>
                    </a:p>
                  </a:txBody>
                  <a:tcPr marL="100584" marR="100584" marT="27432" marB="27432" anchor="ctr">
                    <a:solidFill>
                      <a:srgbClr val="F8F9F7"/>
                    </a:solidFill>
                  </a:tcPr>
                </a:tc>
                <a:tc>
                  <a:txBody>
                    <a:bodyPr/>
                    <a:lstStyle/>
                    <a:p>
                      <a:pPr algn="r"/>
                      <a:r>
                        <a:rPr sz="2100" b="0" i="0">
                          <a:solidFill>
                            <a:srgbClr val="14181B"/>
                          </a:solidFill>
                          <a:latin typeface="Consolas"/>
                        </a:rPr>
                        <a:t>980</a:t>
                      </a:r>
                    </a:p>
                  </a:txBody>
                  <a:tcPr marL="100584" marR="100584" marT="27432" marB="27432" anchor="ctr">
                    <a:solidFill>
                      <a:srgbClr val="F8F9F7"/>
                    </a:solidFill>
                  </a:tcPr>
                </a:tc>
                <a:tc>
                  <a:txBody>
                    <a:bodyPr/>
                    <a:lstStyle/>
                    <a:p>
                      <a:pPr algn="l"/>
                      <a:r>
                        <a:rPr sz="2100" b="0" i="0">
                          <a:solidFill>
                            <a:srgbClr val="14181B"/>
                          </a:solidFill>
                          <a:latin typeface="Nirmala UI"/>
                        </a:rPr>
                        <a:t>বাংলাদেশ ব্যাংক</a:t>
                      </a:r>
                      <a:r>
                        <a:rPr sz="2100" b="0" i="0">
                          <a:solidFill>
                            <a:srgbClr val="14181B"/>
                          </a:solidFill>
                          <a:latin typeface="Segoe UI"/>
                        </a:rPr>
                        <a:t>, </a:t>
                      </a:r>
                      <a:r>
                        <a:rPr sz="2100" b="0" i="0">
                          <a:solidFill>
                            <a:srgbClr val="14181B"/>
                          </a:solidFill>
                          <a:latin typeface="Nirmala UI"/>
                        </a:rPr>
                        <a:t>বাজেট</a:t>
                      </a:r>
                    </a:p>
                  </a:txBody>
                  <a:tcPr marL="100584" marR="100584" marT="27432" marB="27432" anchor="ctr">
                    <a:solidFill>
                      <a:srgbClr val="F8F9F7"/>
                    </a:solidFill>
                  </a:tcPr>
                </a:tc>
                <a:extLst>
                  <a:ext uri="{0D108BD9-81ED-4DB2-BD59-A6C34878D82A}">
                    <a16:rowId xmlns:a16="http://schemas.microsoft.com/office/drawing/2014/main" val="10002"/>
                  </a:ext>
                </a:extLst>
              </a:tr>
              <a:tr h="438912">
                <a:tc>
                  <a:txBody>
                    <a:bodyPr/>
                    <a:lstStyle/>
                    <a:p>
                      <a:pPr algn="l"/>
                      <a:r>
                        <a:rPr sz="2100" b="0" i="0">
                          <a:solidFill>
                            <a:srgbClr val="14181B"/>
                          </a:solidFill>
                          <a:latin typeface="Segoe UI"/>
                        </a:rPr>
                        <a:t>SECTOR</a:t>
                      </a:r>
                    </a:p>
                  </a:txBody>
                  <a:tcPr marL="100584" marR="100584" marT="27432" marB="27432" anchor="ctr">
                    <a:solidFill>
                      <a:srgbClr val="F8F9F7"/>
                    </a:solidFill>
                  </a:tcPr>
                </a:tc>
                <a:tc>
                  <a:txBody>
                    <a:bodyPr/>
                    <a:lstStyle/>
                    <a:p>
                      <a:pPr algn="r"/>
                      <a:r>
                        <a:rPr sz="2100" b="0" i="0">
                          <a:solidFill>
                            <a:srgbClr val="14181B"/>
                          </a:solidFill>
                          <a:latin typeface="Consolas"/>
                        </a:rPr>
                        <a:t>901</a:t>
                      </a:r>
                    </a:p>
                  </a:txBody>
                  <a:tcPr marL="100584" marR="100584" marT="27432" marB="27432" anchor="ctr">
                    <a:solidFill>
                      <a:srgbClr val="F8F9F7"/>
                    </a:solidFill>
                  </a:tcPr>
                </a:tc>
                <a:tc>
                  <a:txBody>
                    <a:bodyPr/>
                    <a:lstStyle/>
                    <a:p>
                      <a:pPr algn="l"/>
                      <a:r>
                        <a:rPr sz="2100" b="0" i="0">
                          <a:solidFill>
                            <a:srgbClr val="14181B"/>
                          </a:solidFill>
                          <a:latin typeface="Nirmala UI"/>
                        </a:rPr>
                        <a:t>গ্যাস</a:t>
                      </a:r>
                      <a:r>
                        <a:rPr sz="2100" b="0" i="0">
                          <a:solidFill>
                            <a:srgbClr val="14181B"/>
                          </a:solidFill>
                          <a:latin typeface="Segoe UI"/>
                        </a:rPr>
                        <a:t>, </a:t>
                      </a:r>
                      <a:r>
                        <a:rPr sz="2100" b="0" i="0">
                          <a:solidFill>
                            <a:srgbClr val="14181B"/>
                          </a:solidFill>
                          <a:latin typeface="Nirmala UI"/>
                        </a:rPr>
                        <a:t>কৃষি</a:t>
                      </a:r>
                      <a:r>
                        <a:rPr sz="2100" b="0" i="0">
                          <a:solidFill>
                            <a:srgbClr val="14181B"/>
                          </a:solidFill>
                          <a:latin typeface="Segoe UI"/>
                        </a:rPr>
                        <a:t>, </a:t>
                      </a:r>
                      <a:r>
                        <a:rPr sz="2100" b="0" i="0">
                          <a:solidFill>
                            <a:srgbClr val="14181B"/>
                          </a:solidFill>
                          <a:latin typeface="Nirmala UI"/>
                        </a:rPr>
                        <a:t>শিল্প</a:t>
                      </a:r>
                    </a:p>
                  </a:txBody>
                  <a:tcPr marL="100584" marR="100584" marT="27432" marB="27432" anchor="ctr">
                    <a:solidFill>
                      <a:srgbClr val="F8F9F7"/>
                    </a:solidFill>
                  </a:tcPr>
                </a:tc>
                <a:extLst>
                  <a:ext uri="{0D108BD9-81ED-4DB2-BD59-A6C34878D82A}">
                    <a16:rowId xmlns:a16="http://schemas.microsoft.com/office/drawing/2014/main" val="10003"/>
                  </a:ext>
                </a:extLst>
              </a:tr>
              <a:tr h="438912">
                <a:tc>
                  <a:txBody>
                    <a:bodyPr/>
                    <a:lstStyle/>
                    <a:p>
                      <a:pPr algn="l"/>
                      <a:r>
                        <a:rPr sz="2100" b="0" i="0">
                          <a:solidFill>
                            <a:srgbClr val="14181B"/>
                          </a:solidFill>
                          <a:latin typeface="Segoe UI"/>
                        </a:rPr>
                        <a:t>MARKET</a:t>
                      </a:r>
                    </a:p>
                  </a:txBody>
                  <a:tcPr marL="100584" marR="100584" marT="27432" marB="27432" anchor="ctr">
                    <a:solidFill>
                      <a:srgbClr val="F8F9F7"/>
                    </a:solidFill>
                  </a:tcPr>
                </a:tc>
                <a:tc>
                  <a:txBody>
                    <a:bodyPr/>
                    <a:lstStyle/>
                    <a:p>
                      <a:pPr algn="r"/>
                      <a:r>
                        <a:rPr sz="2100" b="0" i="0">
                          <a:solidFill>
                            <a:srgbClr val="14181B"/>
                          </a:solidFill>
                          <a:latin typeface="Consolas"/>
                        </a:rPr>
                        <a:t>107</a:t>
                      </a:r>
                    </a:p>
                  </a:txBody>
                  <a:tcPr marL="100584" marR="100584" marT="27432" marB="27432" anchor="ctr">
                    <a:solidFill>
                      <a:srgbClr val="F8F9F7"/>
                    </a:solidFill>
                  </a:tcPr>
                </a:tc>
                <a:tc>
                  <a:txBody>
                    <a:bodyPr/>
                    <a:lstStyle/>
                    <a:p>
                      <a:pPr algn="l"/>
                      <a:r>
                        <a:rPr sz="2100" b="0" i="0">
                          <a:solidFill>
                            <a:srgbClr val="14181B"/>
                          </a:solidFill>
                          <a:latin typeface="Nirmala UI"/>
                        </a:rPr>
                        <a:t>শেয়ারবাজার</a:t>
                      </a:r>
                      <a:r>
                        <a:rPr sz="2100" b="0" i="0">
                          <a:solidFill>
                            <a:srgbClr val="14181B"/>
                          </a:solidFill>
                          <a:latin typeface="Segoe UI"/>
                        </a:rPr>
                        <a:t>, </a:t>
                      </a:r>
                      <a:r>
                        <a:rPr sz="2100" b="0" i="0">
                          <a:solidFill>
                            <a:srgbClr val="14181B"/>
                          </a:solidFill>
                          <a:latin typeface="Nirmala UI"/>
                        </a:rPr>
                        <a:t>পুঁজিবাজার</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658368" y="5486400"/>
            <a:ext cx="10874959" cy="1042415"/>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58368" y="5486400"/>
            <a:ext cx="50292" cy="1042415"/>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32688" y="5669280"/>
            <a:ext cx="10372039" cy="676655"/>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One utterance produces one row per distinct target it mentions, so a sentence naming both inflation and reserves is scored twice, once for each.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09 / THE POLARITY IDEA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400" b="1" i="0">
                <a:solidFill>
                  <a:srgbClr val="14181B"/>
                </a:solidFill>
                <a:latin typeface="Segoe UI"/>
              </a:rPr>
              <a:t>A rising number is not good or bad until you know what is rising</a:t>
            </a:r>
          </a:p>
        </p:txBody>
      </p:sp>
      <p:sp>
        <p:nvSpPr>
          <p:cNvPr id="5" name="TextBox 4"/>
          <p:cNvSpPr txBox="1"/>
          <p:nvPr/>
        </p:nvSpPr>
        <p:spPr>
          <a:xfrm>
            <a:off x="658368" y="1901952"/>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Ordinary sentiment analysis treats an increase word as positive. In economic talk that is wrong about half the time.</a:t>
            </a:r>
          </a:p>
        </p:txBody>
      </p:sp>
      <p:sp>
        <p:nvSpPr>
          <p:cNvPr id="6" name="Rectangle 5"/>
          <p:cNvSpPr/>
          <p:nvPr/>
        </p:nvSpPr>
        <p:spPr>
          <a:xfrm>
            <a:off x="658368" y="2980944"/>
            <a:ext cx="5254599" cy="22128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980944"/>
            <a:ext cx="50292" cy="2212848"/>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3182112"/>
            <a:ext cx="5163312" cy="462691"/>
          </a:xfrm>
          <a:prstGeom prst="rect">
            <a:avLst/>
          </a:prstGeom>
          <a:noFill/>
        </p:spPr>
        <p:txBody>
          <a:bodyPr wrap="square" lIns="0" tIns="0" rIns="0" bIns="0" anchor="t">
            <a:spAutoFit/>
          </a:bodyPr>
          <a:lstStyle/>
          <a:p>
            <a:pPr algn="l">
              <a:lnSpc>
                <a:spcPct val="118000"/>
              </a:lnSpc>
              <a:spcBef>
                <a:spcPts val="0"/>
              </a:spcBef>
              <a:spcAft>
                <a:spcPts val="0"/>
              </a:spcAft>
            </a:pPr>
            <a:r>
              <a:rPr sz="2800" b="0" i="0" dirty="0" err="1">
                <a:solidFill>
                  <a:srgbClr val="14181B"/>
                </a:solidFill>
                <a:latin typeface="Nirmala UI"/>
              </a:rPr>
              <a:t>বৈদেশিক</a:t>
            </a:r>
            <a:r>
              <a:rPr sz="2800" b="0" i="0" dirty="0">
                <a:solidFill>
                  <a:srgbClr val="14181B"/>
                </a:solidFill>
                <a:latin typeface="Nirmala UI"/>
              </a:rPr>
              <a:t> </a:t>
            </a:r>
            <a:r>
              <a:rPr sz="2800" b="0" i="0" dirty="0" err="1">
                <a:solidFill>
                  <a:srgbClr val="14181B"/>
                </a:solidFill>
                <a:latin typeface="Nirmala UI"/>
              </a:rPr>
              <a:t>মুদ্রার</a:t>
            </a:r>
            <a:r>
              <a:rPr sz="2800" b="0" i="0" dirty="0">
                <a:solidFill>
                  <a:srgbClr val="14181B"/>
                </a:solidFill>
                <a:latin typeface="Nirmala UI"/>
              </a:rPr>
              <a:t> </a:t>
            </a:r>
            <a:r>
              <a:rPr sz="2800" b="0" i="0" dirty="0" err="1">
                <a:solidFill>
                  <a:srgbClr val="14181B"/>
                </a:solidFill>
                <a:latin typeface="Nirmala UI"/>
              </a:rPr>
              <a:t>রিজার্ভ</a:t>
            </a:r>
            <a:r>
              <a:rPr sz="2800" b="0" i="0" dirty="0">
                <a:solidFill>
                  <a:srgbClr val="14181B"/>
                </a:solidFill>
                <a:latin typeface="Nirmala UI"/>
              </a:rPr>
              <a:t> </a:t>
            </a:r>
            <a:r>
              <a:rPr sz="2800" b="0" i="0" dirty="0" err="1">
                <a:solidFill>
                  <a:srgbClr val="14181B"/>
                </a:solidFill>
                <a:latin typeface="Nirmala UI"/>
              </a:rPr>
              <a:t>বেড়েছে</a:t>
            </a:r>
            <a:endParaRPr sz="2800" b="0" i="0" dirty="0">
              <a:solidFill>
                <a:srgbClr val="14181B"/>
              </a:solidFill>
              <a:latin typeface="Nirmala UI"/>
            </a:endParaRPr>
          </a:p>
        </p:txBody>
      </p:sp>
      <p:sp>
        <p:nvSpPr>
          <p:cNvPr id="9" name="TextBox 8"/>
          <p:cNvSpPr txBox="1"/>
          <p:nvPr/>
        </p:nvSpPr>
        <p:spPr>
          <a:xfrm>
            <a:off x="932688" y="3730752"/>
            <a:ext cx="5071719" cy="347018"/>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3E4A4F"/>
                </a:solidFill>
                <a:latin typeface="Segoe UI"/>
              </a:rPr>
              <a:t>Foreign exchange reserves have increased.</a:t>
            </a:r>
          </a:p>
        </p:txBody>
      </p:sp>
      <p:sp>
        <p:nvSpPr>
          <p:cNvPr id="10" name="TextBox 9"/>
          <p:cNvSpPr txBox="1"/>
          <p:nvPr/>
        </p:nvSpPr>
        <p:spPr>
          <a:xfrm>
            <a:off x="932688" y="4187952"/>
            <a:ext cx="4705959" cy="822960"/>
          </a:xfrm>
          <a:prstGeom prst="rect">
            <a:avLst/>
          </a:prstGeom>
          <a:noFill/>
        </p:spPr>
        <p:txBody>
          <a:bodyPr wrap="square" lIns="0" tIns="0" rIns="0" bIns="0" anchor="t">
            <a:spAutoFit/>
          </a:bodyPr>
          <a:lstStyle/>
          <a:p>
            <a:pPr algn="l">
              <a:lnSpc>
                <a:spcPct val="120000"/>
              </a:lnSpc>
              <a:spcBef>
                <a:spcPts val="0"/>
              </a:spcBef>
              <a:spcAft>
                <a:spcPts val="600"/>
              </a:spcAft>
            </a:pPr>
            <a:r>
              <a:rPr sz="2200" b="0" i="0">
                <a:solidFill>
                  <a:srgbClr val="14181B"/>
                </a:solidFill>
                <a:latin typeface="Segoe UI"/>
              </a:rPr>
              <a:t>Reserves carry orientation +1. The increase cue keeps its sign.</a:t>
            </a:r>
          </a:p>
        </p:txBody>
      </p:sp>
      <p:sp>
        <p:nvSpPr>
          <p:cNvPr id="11" name="Rectangle 10"/>
          <p:cNvSpPr/>
          <p:nvPr/>
        </p:nvSpPr>
        <p:spPr>
          <a:xfrm>
            <a:off x="4358487" y="4654296"/>
            <a:ext cx="1645920" cy="310896"/>
          </a:xfrm>
          <a:prstGeom prst="rect">
            <a:avLst/>
          </a:prstGeom>
          <a:solidFill>
            <a:srgbClr val="DDE9E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dirty="0">
                <a:solidFill>
                  <a:srgbClr val="35735A"/>
                </a:solidFill>
                <a:latin typeface="Consolas"/>
              </a:rPr>
              <a:t>POSITIVE</a:t>
            </a:r>
          </a:p>
        </p:txBody>
      </p:sp>
      <p:sp>
        <p:nvSpPr>
          <p:cNvPr id="12" name="Rectangle 11"/>
          <p:cNvSpPr/>
          <p:nvPr/>
        </p:nvSpPr>
        <p:spPr>
          <a:xfrm>
            <a:off x="6278727" y="2980944"/>
            <a:ext cx="5254599" cy="22128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6278727" y="2980944"/>
            <a:ext cx="50292" cy="221284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53047" y="3182112"/>
            <a:ext cx="4705959" cy="457200"/>
          </a:xfrm>
          <a:prstGeom prst="rect">
            <a:avLst/>
          </a:prstGeom>
          <a:noFill/>
        </p:spPr>
        <p:txBody>
          <a:bodyPr wrap="square" lIns="0" tIns="0" rIns="0" bIns="0" anchor="t">
            <a:spAutoFit/>
          </a:bodyPr>
          <a:lstStyle/>
          <a:p>
            <a:pPr algn="l">
              <a:lnSpc>
                <a:spcPct val="118000"/>
              </a:lnSpc>
              <a:spcBef>
                <a:spcPts val="0"/>
              </a:spcBef>
              <a:spcAft>
                <a:spcPts val="0"/>
              </a:spcAft>
            </a:pPr>
            <a:r>
              <a:rPr sz="2800" b="0" i="0">
                <a:solidFill>
                  <a:srgbClr val="14181B"/>
                </a:solidFill>
                <a:latin typeface="Nirmala UI"/>
              </a:rPr>
              <a:t>মূল্যস্ফীতি বেড়েছে</a:t>
            </a:r>
          </a:p>
        </p:txBody>
      </p:sp>
      <p:sp>
        <p:nvSpPr>
          <p:cNvPr id="15" name="TextBox 14"/>
          <p:cNvSpPr txBox="1"/>
          <p:nvPr/>
        </p:nvSpPr>
        <p:spPr>
          <a:xfrm>
            <a:off x="6553047" y="3730752"/>
            <a:ext cx="4705959" cy="36576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3E4A4F"/>
                </a:solidFill>
                <a:latin typeface="Segoe UI"/>
              </a:rPr>
              <a:t>Inflation has increased.</a:t>
            </a:r>
          </a:p>
        </p:txBody>
      </p:sp>
      <p:sp>
        <p:nvSpPr>
          <p:cNvPr id="16" name="TextBox 15"/>
          <p:cNvSpPr txBox="1"/>
          <p:nvPr/>
        </p:nvSpPr>
        <p:spPr>
          <a:xfrm>
            <a:off x="6553047" y="4187952"/>
            <a:ext cx="4705959" cy="822960"/>
          </a:xfrm>
          <a:prstGeom prst="rect">
            <a:avLst/>
          </a:prstGeom>
          <a:noFill/>
        </p:spPr>
        <p:txBody>
          <a:bodyPr wrap="square" lIns="0" tIns="0" rIns="0" bIns="0" anchor="t">
            <a:spAutoFit/>
          </a:bodyPr>
          <a:lstStyle/>
          <a:p>
            <a:pPr algn="l">
              <a:lnSpc>
                <a:spcPct val="120000"/>
              </a:lnSpc>
              <a:spcBef>
                <a:spcPts val="0"/>
              </a:spcBef>
              <a:spcAft>
                <a:spcPts val="600"/>
              </a:spcAft>
            </a:pPr>
            <a:r>
              <a:rPr sz="2200" b="0" i="0">
                <a:solidFill>
                  <a:srgbClr val="14181B"/>
                </a:solidFill>
                <a:latin typeface="Segoe UI"/>
              </a:rPr>
              <a:t>Inflation carries orientation -1. The same cue flips.</a:t>
            </a:r>
          </a:p>
        </p:txBody>
      </p:sp>
      <p:sp>
        <p:nvSpPr>
          <p:cNvPr id="17" name="Rectangle 16"/>
          <p:cNvSpPr/>
          <p:nvPr/>
        </p:nvSpPr>
        <p:spPr>
          <a:xfrm>
            <a:off x="8790126" y="4599431"/>
            <a:ext cx="1737360" cy="310896"/>
          </a:xfrm>
          <a:prstGeom prst="rect">
            <a:avLst/>
          </a:prstGeom>
          <a:solidFill>
            <a:srgbClr val="F2E0D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dirty="0">
                <a:solidFill>
                  <a:srgbClr val="A6423C"/>
                </a:solidFill>
                <a:latin typeface="Consolas"/>
              </a:rPr>
              <a:t>NEGATIVE</a:t>
            </a:r>
          </a:p>
        </p:txBody>
      </p:sp>
      <p:sp>
        <p:nvSpPr>
          <p:cNvPr id="18" name="TextBox 17"/>
          <p:cNvSpPr txBox="1"/>
          <p:nvPr/>
        </p:nvSpPr>
        <p:spPr>
          <a:xfrm>
            <a:off x="658368" y="5413248"/>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Because each target is scored separately, one sentence can carry two labels at once. A sentence level model cannot represent that.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09 / THE POLARITY IDEA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Every target carries an orientation</a:t>
            </a:r>
          </a:p>
        </p:txBody>
      </p:sp>
      <p:sp>
        <p:nvSpPr>
          <p:cNvPr id="5" name="Rectangle 4"/>
          <p:cNvSpPr/>
          <p:nvPr/>
        </p:nvSpPr>
        <p:spPr>
          <a:xfrm>
            <a:off x="658368"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58368" y="1664208"/>
            <a:ext cx="3472586" cy="68580"/>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96112"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35735A"/>
                </a:solidFill>
                <a:latin typeface="Consolas"/>
              </a:rPr>
              <a:t>ORIENTATION +1</a:t>
            </a:r>
          </a:p>
        </p:txBody>
      </p:sp>
      <p:sp>
        <p:nvSpPr>
          <p:cNvPr id="8" name="TextBox 7"/>
          <p:cNvSpPr txBox="1"/>
          <p:nvPr/>
        </p:nvSpPr>
        <p:spPr>
          <a:xfrm>
            <a:off x="896112" y="2395728"/>
            <a:ext cx="3015386" cy="548640"/>
          </a:xfrm>
          <a:prstGeom prst="rect">
            <a:avLst/>
          </a:prstGeom>
          <a:noFill/>
        </p:spPr>
        <p:txBody>
          <a:bodyPr wrap="square" lIns="0" tIns="0" rIns="0" bIns="0" anchor="t">
            <a:spAutoFit/>
          </a:bodyPr>
          <a:lstStyle/>
          <a:p>
            <a:pPr algn="l">
              <a:lnSpc>
                <a:spcPct val="114000"/>
              </a:lnSpc>
              <a:spcBef>
                <a:spcPts val="0"/>
              </a:spcBef>
              <a:spcAft>
                <a:spcPts val="0"/>
              </a:spcAft>
            </a:pPr>
            <a:r>
              <a:rPr sz="2400" b="1" i="0">
                <a:solidFill>
                  <a:srgbClr val="14181B"/>
                </a:solidFill>
                <a:latin typeface="Segoe UI"/>
              </a:rPr>
              <a:t>A rise is good news</a:t>
            </a:r>
          </a:p>
        </p:txBody>
      </p:sp>
      <p:sp>
        <p:nvSpPr>
          <p:cNvPr id="9" name="TextBox 8"/>
          <p:cNvSpPr txBox="1"/>
          <p:nvPr/>
        </p:nvSpPr>
        <p:spPr>
          <a:xfrm>
            <a:off x="896112"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14 targets: reserves, remittance, GDP, exports, investment, employment, revenue, output, the market index.</a:t>
            </a:r>
          </a:p>
        </p:txBody>
      </p:sp>
      <p:sp>
        <p:nvSpPr>
          <p:cNvPr id="10" name="Rectangle 9"/>
          <p:cNvSpPr/>
          <p:nvPr/>
        </p:nvSpPr>
        <p:spPr>
          <a:xfrm>
            <a:off x="4359554"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4359554" y="1664208"/>
            <a:ext cx="3472586" cy="6858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597298"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A6423C"/>
                </a:solidFill>
                <a:latin typeface="Consolas"/>
              </a:rPr>
              <a:t>ORIENTATION -1</a:t>
            </a:r>
          </a:p>
        </p:txBody>
      </p:sp>
      <p:sp>
        <p:nvSpPr>
          <p:cNvPr id="13" name="TextBox 12"/>
          <p:cNvSpPr txBox="1"/>
          <p:nvPr/>
        </p:nvSpPr>
        <p:spPr>
          <a:xfrm>
            <a:off x="4597298" y="2395728"/>
            <a:ext cx="3015386" cy="548640"/>
          </a:xfrm>
          <a:prstGeom prst="rect">
            <a:avLst/>
          </a:prstGeom>
          <a:noFill/>
        </p:spPr>
        <p:txBody>
          <a:bodyPr wrap="square" lIns="0" tIns="0" rIns="0" bIns="0" anchor="t">
            <a:spAutoFit/>
          </a:bodyPr>
          <a:lstStyle/>
          <a:p>
            <a:pPr algn="l">
              <a:lnSpc>
                <a:spcPct val="114000"/>
              </a:lnSpc>
              <a:spcBef>
                <a:spcPts val="0"/>
              </a:spcBef>
              <a:spcAft>
                <a:spcPts val="0"/>
              </a:spcAft>
            </a:pPr>
            <a:r>
              <a:rPr sz="2400" b="1" i="0">
                <a:solidFill>
                  <a:srgbClr val="14181B"/>
                </a:solidFill>
                <a:latin typeface="Segoe UI"/>
              </a:rPr>
              <a:t>A rise is bad news</a:t>
            </a:r>
          </a:p>
        </p:txBody>
      </p:sp>
      <p:sp>
        <p:nvSpPr>
          <p:cNvPr id="14" name="TextBox 13"/>
          <p:cNvSpPr txBox="1"/>
          <p:nvPr/>
        </p:nvSpPr>
        <p:spPr>
          <a:xfrm>
            <a:off x="4597298"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9 targets: inflation, consumer prices, bad loans, foreign debt, capital flight, the policy rate, public spending.</a:t>
            </a:r>
          </a:p>
        </p:txBody>
      </p:sp>
      <p:sp>
        <p:nvSpPr>
          <p:cNvPr id="15" name="Rectangle 14"/>
          <p:cNvSpPr/>
          <p:nvPr/>
        </p:nvSpPr>
        <p:spPr>
          <a:xfrm>
            <a:off x="8060740"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8060740" y="1664208"/>
            <a:ext cx="3472586" cy="68580"/>
          </a:xfrm>
          <a:prstGeom prst="rect">
            <a:avLst/>
          </a:prstGeom>
          <a:solidFill>
            <a:srgbClr val="77827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98484"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77827C"/>
                </a:solidFill>
                <a:latin typeface="Consolas"/>
              </a:rPr>
              <a:t>ORIENTATION 0</a:t>
            </a:r>
          </a:p>
        </p:txBody>
      </p:sp>
      <p:sp>
        <p:nvSpPr>
          <p:cNvPr id="18" name="TextBox 17"/>
          <p:cNvSpPr txBox="1"/>
          <p:nvPr/>
        </p:nvSpPr>
        <p:spPr>
          <a:xfrm>
            <a:off x="8298484" y="2395728"/>
            <a:ext cx="3253130" cy="385490"/>
          </a:xfrm>
          <a:prstGeom prst="rect">
            <a:avLst/>
          </a:prstGeom>
          <a:noFill/>
        </p:spPr>
        <p:txBody>
          <a:bodyPr wrap="square" lIns="0" tIns="0" rIns="0" bIns="0" anchor="t">
            <a:spAutoFit/>
          </a:bodyPr>
          <a:lstStyle/>
          <a:p>
            <a:pPr algn="l">
              <a:lnSpc>
                <a:spcPct val="114000"/>
              </a:lnSpc>
              <a:spcBef>
                <a:spcPts val="0"/>
              </a:spcBef>
              <a:spcAft>
                <a:spcPts val="0"/>
              </a:spcAft>
            </a:pPr>
            <a:r>
              <a:rPr sz="2400" b="1" i="0" dirty="0">
                <a:solidFill>
                  <a:srgbClr val="14181B"/>
                </a:solidFill>
                <a:latin typeface="Segoe UI"/>
              </a:rPr>
              <a:t>An entity, no direction</a:t>
            </a:r>
          </a:p>
        </p:txBody>
      </p:sp>
      <p:sp>
        <p:nvSpPr>
          <p:cNvPr id="19" name="TextBox 18"/>
          <p:cNvSpPr txBox="1"/>
          <p:nvPr/>
        </p:nvSpPr>
        <p:spPr>
          <a:xfrm>
            <a:off x="8298484"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29 targets such as banks, the government or the energy sector. Scored only by evaluative words.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Creating labels that can be traced back to words</a:t>
            </a:r>
          </a:p>
        </p:txBody>
      </p:sp>
      <p:sp>
        <p:nvSpPr>
          <p:cNvPr id="5" name="Rectangle 4"/>
          <p:cNvSpPr/>
          <p:nvPr/>
        </p:nvSpPr>
        <p:spPr>
          <a:xfrm>
            <a:off x="658368" y="1664208"/>
            <a:ext cx="6903720" cy="4242816"/>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6592824" cy="3968496"/>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every cue token within 12 tokens of the target</a:t>
            </a:r>
          </a:p>
          <a:p>
            <a:pPr>
              <a:lnSpc>
                <a:spcPct val="124000"/>
              </a:lnSpc>
              <a:spcAft>
                <a:spcPts val="0"/>
              </a:spcAft>
            </a:pPr>
            <a:r>
              <a:rPr sz="2100" b="0" i="0">
                <a:solidFill>
                  <a:srgbClr val="DFE7E6"/>
                </a:solidFill>
                <a:latin typeface="Consolas"/>
              </a:rPr>
              <a:t>polarity = cue.polarity</a:t>
            </a:r>
          </a:p>
          <a:p>
            <a:pPr>
              <a:lnSpc>
                <a:spcPct val="124000"/>
              </a:lnSpc>
              <a:spcAft>
                <a:spcPts val="0"/>
              </a:spcAft>
            </a:pPr>
            <a:r>
              <a:rPr sz="2100" b="0" i="0">
                <a:solidFill>
                  <a:srgbClr val="8FA8AA"/>
                </a:solidFill>
                <a:latin typeface="Consolas"/>
              </a:rPr>
              <a:t># direction words depend on the target</a:t>
            </a:r>
          </a:p>
          <a:p>
            <a:pPr>
              <a:lnSpc>
                <a:spcPct val="124000"/>
              </a:lnSpc>
              <a:spcAft>
                <a:spcPts val="0"/>
              </a:spcAft>
            </a:pPr>
            <a:r>
              <a:rPr sz="2100" b="0" i="0">
                <a:solidFill>
                  <a:srgbClr val="DFE7E6"/>
                </a:solidFill>
                <a:latin typeface="Consolas"/>
              </a:rPr>
              <a:t>if cue.kind == "direction":</a:t>
            </a:r>
          </a:p>
          <a:p>
            <a:pPr>
              <a:lnSpc>
                <a:spcPct val="124000"/>
              </a:lnSpc>
              <a:spcAft>
                <a:spcPts val="0"/>
              </a:spcAft>
            </a:pPr>
            <a:r>
              <a:rPr sz="2100" b="0" i="0">
                <a:solidFill>
                  <a:srgbClr val="DFE7E6"/>
                </a:solidFill>
                <a:latin typeface="Consolas"/>
              </a:rPr>
              <a:t>    if orientation == 0: skip</a:t>
            </a:r>
          </a:p>
          <a:p>
            <a:pPr>
              <a:lnSpc>
                <a:spcPct val="124000"/>
              </a:lnSpc>
              <a:spcAft>
                <a:spcPts val="0"/>
              </a:spcAft>
            </a:pPr>
            <a:r>
              <a:rPr sz="2100" b="0" i="0">
                <a:solidFill>
                  <a:srgbClr val="DFE7E6"/>
                </a:solidFill>
                <a:latin typeface="Consolas"/>
              </a:rPr>
              <a:t>    polarity *= orientation</a:t>
            </a:r>
          </a:p>
          <a:p>
            <a:pPr>
              <a:lnSpc>
                <a:spcPct val="124000"/>
              </a:lnSpc>
              <a:spcAft>
                <a:spcPts val="0"/>
              </a:spcAft>
            </a:pPr>
            <a:r>
              <a:rPr sz="2100" b="0" i="0">
                <a:solidFill>
                  <a:srgbClr val="8FA8AA"/>
                </a:solidFill>
                <a:latin typeface="Consolas"/>
              </a:rPr>
              <a:t># adjectives and verbs can be negated, nouns cannot</a:t>
            </a:r>
          </a:p>
          <a:p>
            <a:pPr>
              <a:lnSpc>
                <a:spcPct val="124000"/>
              </a:lnSpc>
              <a:spcAft>
                <a:spcPts val="0"/>
              </a:spcAft>
            </a:pPr>
            <a:r>
              <a:rPr sz="2100" b="0" i="0">
                <a:solidFill>
                  <a:srgbClr val="DFE7E6"/>
                </a:solidFill>
                <a:latin typeface="Consolas"/>
              </a:rPr>
              <a:t>if cue.negatable and negator within 3 tokens:</a:t>
            </a:r>
          </a:p>
          <a:p>
            <a:pPr>
              <a:lnSpc>
                <a:spcPct val="124000"/>
              </a:lnSpc>
              <a:spcAft>
                <a:spcPts val="0"/>
              </a:spcAft>
            </a:pPr>
            <a:r>
              <a:rPr sz="2100" b="0" i="0">
                <a:solidFill>
                  <a:srgbClr val="DFE7E6"/>
                </a:solidFill>
                <a:latin typeface="Consolas"/>
              </a:rPr>
              <a:t>    polarity *= -1</a:t>
            </a:r>
          </a:p>
          <a:p>
            <a:pPr>
              <a:lnSpc>
                <a:spcPct val="124000"/>
              </a:lnSpc>
              <a:spcAft>
                <a:spcPts val="0"/>
              </a:spcAft>
            </a:pPr>
            <a:r>
              <a:rPr sz="2100" b="0" i="0">
                <a:solidFill>
                  <a:srgbClr val="8FA8AA"/>
                </a:solidFill>
                <a:latin typeface="Consolas"/>
              </a:rPr>
              <a:t># nearer evidence counts for more</a:t>
            </a:r>
          </a:p>
          <a:p>
            <a:pPr>
              <a:lnSpc>
                <a:spcPct val="124000"/>
              </a:lnSpc>
              <a:spcAft>
                <a:spcPts val="0"/>
              </a:spcAft>
            </a:pPr>
            <a:r>
              <a:rPr sz="2100" b="0" i="0">
                <a:solidFill>
                  <a:srgbClr val="DFE7E6"/>
                </a:solidFill>
                <a:latin typeface="Consolas"/>
              </a:rPr>
              <a:t>decay = 1 / (1 + distance / 4)</a:t>
            </a:r>
          </a:p>
          <a:p>
            <a:pPr>
              <a:lnSpc>
                <a:spcPct val="124000"/>
              </a:lnSpc>
              <a:spcAft>
                <a:spcPts val="0"/>
              </a:spcAft>
            </a:pPr>
            <a:r>
              <a:rPr sz="2100" b="0" i="0">
                <a:solidFill>
                  <a:srgbClr val="DFE7E6"/>
                </a:solidFill>
                <a:latin typeface="Consolas"/>
              </a:rPr>
              <a:t>score += polarity * cue.weight * decay</a:t>
            </a:r>
          </a:p>
        </p:txBody>
      </p:sp>
      <p:sp>
        <p:nvSpPr>
          <p:cNvPr id="7" name="Rectangle 6"/>
          <p:cNvSpPr/>
          <p:nvPr/>
        </p:nvSpPr>
        <p:spPr>
          <a:xfrm>
            <a:off x="7927848" y="1664208"/>
            <a:ext cx="3605479" cy="424281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927848" y="1664208"/>
            <a:ext cx="50292" cy="329184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202168" y="1847088"/>
            <a:ext cx="3102559" cy="2926080"/>
          </a:xfrm>
          <a:prstGeom prst="rect">
            <a:avLst/>
          </a:prstGeom>
          <a:noFill/>
        </p:spPr>
        <p:txBody>
          <a:bodyPr wrap="square" lIns="0" tIns="0" rIns="0" bIns="0" anchor="t">
            <a:spAutoFit/>
          </a:bodyPr>
          <a:lstStyle/>
          <a:p>
            <a:pPr algn="l">
              <a:lnSpc>
                <a:spcPct val="118000"/>
              </a:lnSpc>
              <a:spcBef>
                <a:spcPts val="0"/>
              </a:spcBef>
              <a:spcAft>
                <a:spcPts val="800"/>
              </a:spcAft>
            </a:pPr>
            <a:r>
              <a:rPr sz="2400" b="1" i="0" dirty="0">
                <a:solidFill>
                  <a:srgbClr val="14181B"/>
                </a:solidFill>
                <a:latin typeface="Segoe UI"/>
              </a:rPr>
              <a:t>Decision</a:t>
            </a:r>
          </a:p>
          <a:p>
            <a:pPr algn="l">
              <a:lnSpc>
                <a:spcPct val="118000"/>
              </a:lnSpc>
              <a:spcBef>
                <a:spcPts val="0"/>
              </a:spcBef>
              <a:spcAft>
                <a:spcPts val="400"/>
              </a:spcAft>
            </a:pPr>
            <a:r>
              <a:rPr sz="2200" b="0" i="0" dirty="0">
                <a:solidFill>
                  <a:srgbClr val="14181B"/>
                </a:solidFill>
                <a:latin typeface="Segoe UI"/>
              </a:rPr>
              <a:t>Above +0.55 is positive.</a:t>
            </a:r>
          </a:p>
          <a:p>
            <a:pPr algn="l">
              <a:lnSpc>
                <a:spcPct val="118000"/>
              </a:lnSpc>
              <a:spcBef>
                <a:spcPts val="0"/>
              </a:spcBef>
              <a:spcAft>
                <a:spcPts val="400"/>
              </a:spcAft>
            </a:pPr>
            <a:r>
              <a:rPr sz="2200" b="0" i="0" dirty="0">
                <a:solidFill>
                  <a:srgbClr val="14181B"/>
                </a:solidFill>
                <a:latin typeface="Segoe UI"/>
              </a:rPr>
              <a:t>Below -0.55 is negative.</a:t>
            </a:r>
          </a:p>
          <a:p>
            <a:pPr algn="l">
              <a:lnSpc>
                <a:spcPct val="118000"/>
              </a:lnSpc>
              <a:spcBef>
                <a:spcPts val="0"/>
              </a:spcBef>
              <a:spcAft>
                <a:spcPts val="1200"/>
              </a:spcAft>
            </a:pPr>
            <a:r>
              <a:rPr sz="2200" b="0" i="0" dirty="0">
                <a:solidFill>
                  <a:srgbClr val="14181B"/>
                </a:solidFill>
                <a:latin typeface="Segoe UI"/>
              </a:rPr>
              <a:t>Anything between is non evaluative.</a:t>
            </a:r>
          </a:p>
          <a:p>
            <a:pPr algn="l">
              <a:lnSpc>
                <a:spcPct val="120000"/>
              </a:lnSpc>
              <a:spcBef>
                <a:spcPts val="0"/>
              </a:spcBef>
              <a:spcAft>
                <a:spcPts val="0"/>
              </a:spcAft>
            </a:pPr>
            <a:r>
              <a:rPr sz="2100" b="0" i="0" dirty="0">
                <a:solidFill>
                  <a:srgbClr val="3E4A4F"/>
                </a:solidFill>
                <a:latin typeface="Segoe UI"/>
              </a:rPr>
              <a:t>The cue set holds 104 stems, each with a weight and a negation flag.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Two corrections found by reading the output</a:t>
            </a:r>
          </a:p>
        </p:txBody>
      </p:sp>
      <p:sp>
        <p:nvSpPr>
          <p:cNvPr id="5" name="TextBox 4"/>
          <p:cNvSpPr txBox="1"/>
          <p:nvPr/>
        </p:nvSpPr>
        <p:spPr>
          <a:xfrm>
            <a:off x="658368" y="166420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Negation has scope. A first version flipped any cue near a negator, and scored crisis as positive.</a:t>
            </a:r>
          </a:p>
        </p:txBody>
      </p:sp>
      <p:sp>
        <p:nvSpPr>
          <p:cNvPr id="6" name="Rectangle 5"/>
          <p:cNvSpPr/>
          <p:nvPr/>
        </p:nvSpPr>
        <p:spPr>
          <a:xfrm>
            <a:off x="658368" y="2139696"/>
            <a:ext cx="10874959" cy="12984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139696"/>
            <a:ext cx="50292" cy="129844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28600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800" b="0" i="0">
                <a:solidFill>
                  <a:srgbClr val="14181B"/>
                </a:solidFill>
                <a:latin typeface="Nirmala UI"/>
              </a:rPr>
              <a:t>সংকট কাটছে না</a:t>
            </a:r>
          </a:p>
        </p:txBody>
      </p:sp>
      <p:sp>
        <p:nvSpPr>
          <p:cNvPr id="9" name="TextBox 8"/>
          <p:cNvSpPr txBox="1"/>
          <p:nvPr/>
        </p:nvSpPr>
        <p:spPr>
          <a:xfrm>
            <a:off x="932688" y="2688336"/>
            <a:ext cx="10372039" cy="731519"/>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crisis is not passing. The </a:t>
            </a:r>
            <a:r>
              <a:rPr sz="2100" b="0" i="0">
                <a:solidFill>
                  <a:srgbClr val="3E4A4F"/>
                </a:solidFill>
                <a:latin typeface="Nirmala UI"/>
              </a:rPr>
              <a:t>না </a:t>
            </a:r>
            <a:r>
              <a:rPr sz="2100" b="0" i="0">
                <a:solidFill>
                  <a:srgbClr val="3E4A4F"/>
                </a:solidFill>
                <a:latin typeface="Segoe UI"/>
              </a:rPr>
              <a:t>negates the verb, not the noun, and it is still bad news. Only adjectives and verbs are now marked negatable.</a:t>
            </a:r>
          </a:p>
        </p:txBody>
      </p:sp>
      <p:sp>
        <p:nvSpPr>
          <p:cNvPr id="10" name="TextBox 9"/>
          <p:cNvSpPr txBox="1"/>
          <p:nvPr/>
        </p:nvSpPr>
        <p:spPr>
          <a:xfrm>
            <a:off x="658368" y="376732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Bangla builds a negated verb complex. The particle can sit three tokens from the word it negates.</a:t>
            </a:r>
          </a:p>
        </p:txBody>
      </p:sp>
      <p:sp>
        <p:nvSpPr>
          <p:cNvPr id="11" name="Rectangle 10"/>
          <p:cNvSpPr/>
          <p:nvPr/>
        </p:nvSpPr>
        <p:spPr>
          <a:xfrm>
            <a:off x="658368" y="4242815"/>
            <a:ext cx="10874959" cy="127308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242816"/>
            <a:ext cx="50292" cy="118872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38912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800" b="0" i="0">
                <a:solidFill>
                  <a:srgbClr val="14181B"/>
                </a:solidFill>
                <a:latin typeface="Nirmala UI"/>
              </a:rPr>
              <a:t>স্থিতিশীল করতে পারবেন না</a:t>
            </a:r>
          </a:p>
        </p:txBody>
      </p:sp>
      <p:sp>
        <p:nvSpPr>
          <p:cNvPr id="14" name="TextBox 13"/>
          <p:cNvSpPr txBox="1"/>
          <p:nvPr/>
        </p:nvSpPr>
        <p:spPr>
          <a:xfrm>
            <a:off x="932688" y="4791456"/>
            <a:ext cx="10372039" cy="621792"/>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You will not be able to stabilise it. Scored positive until the negation window was widened to three.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rule set produced</a:t>
            </a:r>
          </a:p>
        </p:txBody>
      </p:sp>
      <p:sp>
        <p:nvSpPr>
          <p:cNvPr id="6" name="Rectangle 5"/>
          <p:cNvSpPr/>
          <p:nvPr/>
        </p:nvSpPr>
        <p:spPr>
          <a:xfrm>
            <a:off x="658368" y="2066543"/>
            <a:ext cx="10874959" cy="113385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4124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3,019</a:t>
            </a:r>
          </a:p>
        </p:txBody>
      </p:sp>
      <p:sp>
        <p:nvSpPr>
          <p:cNvPr id="8" name="TextBox 7"/>
          <p:cNvSpPr txBox="1"/>
          <p:nvPr/>
        </p:nvSpPr>
        <p:spPr>
          <a:xfrm>
            <a:off x="84124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TRAINING LABELS</a:t>
            </a:r>
          </a:p>
        </p:txBody>
      </p:sp>
      <p:sp>
        <p:nvSpPr>
          <p:cNvPr id="9" name="Rectangle 8"/>
          <p:cNvSpPr/>
          <p:nvPr/>
        </p:nvSpPr>
        <p:spPr>
          <a:xfrm>
            <a:off x="337710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55998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284</a:t>
            </a:r>
          </a:p>
        </p:txBody>
      </p:sp>
      <p:sp>
        <p:nvSpPr>
          <p:cNvPr id="11" name="TextBox 10"/>
          <p:cNvSpPr txBox="1"/>
          <p:nvPr/>
        </p:nvSpPr>
        <p:spPr>
          <a:xfrm>
            <a:off x="355998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NEGATIVE 9.4%</a:t>
            </a:r>
          </a:p>
        </p:txBody>
      </p:sp>
      <p:sp>
        <p:nvSpPr>
          <p:cNvPr id="12" name="Rectangle 11"/>
          <p:cNvSpPr/>
          <p:nvPr/>
        </p:nvSpPr>
        <p:spPr>
          <a:xfrm>
            <a:off x="609584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27872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2,583</a:t>
            </a:r>
          </a:p>
        </p:txBody>
      </p:sp>
      <p:sp>
        <p:nvSpPr>
          <p:cNvPr id="14" name="TextBox 13"/>
          <p:cNvSpPr txBox="1"/>
          <p:nvPr/>
        </p:nvSpPr>
        <p:spPr>
          <a:xfrm>
            <a:off x="627872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NON EVAL 85.6%</a:t>
            </a:r>
          </a:p>
        </p:txBody>
      </p:sp>
      <p:sp>
        <p:nvSpPr>
          <p:cNvPr id="15" name="Rectangle 14"/>
          <p:cNvSpPr/>
          <p:nvPr/>
        </p:nvSpPr>
        <p:spPr>
          <a:xfrm>
            <a:off x="881458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99746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152</a:t>
            </a:r>
          </a:p>
        </p:txBody>
      </p:sp>
      <p:sp>
        <p:nvSpPr>
          <p:cNvPr id="17" name="TextBox 16"/>
          <p:cNvSpPr txBox="1"/>
          <p:nvPr/>
        </p:nvSpPr>
        <p:spPr>
          <a:xfrm>
            <a:off x="899746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POSITIVE 5.0%</a:t>
            </a:r>
          </a:p>
        </p:txBody>
      </p:sp>
      <p:sp>
        <p:nvSpPr>
          <p:cNvPr id="18" name="Rectangle 17"/>
          <p:cNvSpPr/>
          <p:nvPr/>
        </p:nvSpPr>
        <p:spPr>
          <a:xfrm>
            <a:off x="658368" y="3584448"/>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658368" y="3584448"/>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32688" y="3767328"/>
            <a:ext cx="10372039" cy="859536"/>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Rows flagged as repetition loops, and rows under six words, are excluded from supervision rather than silently labelled neutral. That is 90 of 3,109 pairs.</a:t>
            </a:r>
          </a:p>
        </p:txBody>
      </p:sp>
      <p:sp>
        <p:nvSpPr>
          <p:cNvPr id="21" name="Rectangle 20"/>
          <p:cNvSpPr/>
          <p:nvPr/>
        </p:nvSpPr>
        <p:spPr>
          <a:xfrm>
            <a:off x="658368" y="4974336"/>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58368" y="4974336"/>
            <a:ext cx="50292" cy="1225296"/>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932688" y="5157216"/>
            <a:ext cx="10372039" cy="859536"/>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Only 152 positive examples exist in the whole corpus. That thinness is why the positive class is the weakest in every result that follows.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11 / SPLIT</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Split by episode, never by row</a:t>
            </a:r>
          </a:p>
        </p:txBody>
      </p:sp>
      <p:sp>
        <p:nvSpPr>
          <p:cNvPr id="5" name="TextBox 4"/>
          <p:cNvSpPr txBox="1"/>
          <p:nvPr/>
        </p:nvSpPr>
        <p:spPr>
          <a:xfrm>
            <a:off x="658368" y="1664208"/>
            <a:ext cx="10874959" cy="91440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14181B"/>
                </a:solidFill>
                <a:latin typeface="Segoe UI"/>
              </a:rPr>
              <a:t>Two utterances from the same talk show share the panel, the topic, the host's phrasing and the same recognition error pattern. If rows from one episode land in both training and test, the model can recognise the episode instead of the sentiment.</a:t>
            </a:r>
          </a:p>
        </p:txBody>
      </p:sp>
      <p:sp>
        <p:nvSpPr>
          <p:cNvPr id="6" name="Rectangle 5"/>
          <p:cNvSpPr/>
          <p:nvPr/>
        </p:nvSpPr>
        <p:spPr>
          <a:xfrm>
            <a:off x="648624" y="3502151"/>
            <a:ext cx="10874959" cy="146304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22944" y="3685032"/>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What a random row split would do</a:t>
            </a:r>
          </a:p>
          <a:p>
            <a:pPr algn="l">
              <a:lnSpc>
                <a:spcPct val="120000"/>
              </a:lnSpc>
              <a:spcBef>
                <a:spcPts val="0"/>
              </a:spcBef>
              <a:spcAft>
                <a:spcPts val="0"/>
              </a:spcAft>
            </a:pPr>
            <a:r>
              <a:rPr sz="2200" b="0" i="0" dirty="0">
                <a:solidFill>
                  <a:srgbClr val="3E4A4F"/>
                </a:solidFill>
                <a:latin typeface="Segoe UI"/>
              </a:rPr>
              <a:t>The reported score would rise, and none of that rise would survive contact with a new episode.</a:t>
            </a:r>
          </a:p>
        </p:txBody>
      </p:sp>
      <p:sp>
        <p:nvSpPr>
          <p:cNvPr id="9" name="Rectangle 8"/>
          <p:cNvSpPr/>
          <p:nvPr/>
        </p:nvSpPr>
        <p:spPr>
          <a:xfrm>
            <a:off x="166843" y="5042916"/>
            <a:ext cx="10874959" cy="167335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41163" y="5225796"/>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What is done instead</a:t>
            </a:r>
          </a:p>
          <a:p>
            <a:pPr algn="l">
              <a:lnSpc>
                <a:spcPct val="120000"/>
              </a:lnSpc>
              <a:spcBef>
                <a:spcPts val="0"/>
              </a:spcBef>
              <a:spcAft>
                <a:spcPts val="0"/>
              </a:spcAft>
            </a:pPr>
            <a:r>
              <a:rPr sz="2200" b="0" i="0" dirty="0">
                <a:solidFill>
                  <a:srgbClr val="3E4A4F"/>
                </a:solidFill>
                <a:latin typeface="Segoe UI"/>
              </a:rPr>
              <a:t>All four test episodes are held out whole, and the split asserts that no episode appears in more than one partition.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21</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11 / SPLIT</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How the corpus divides</a:t>
            </a:r>
          </a:p>
        </p:txBody>
      </p:sp>
      <p:graphicFrame>
        <p:nvGraphicFramePr>
          <p:cNvPr id="5" name="Table 4"/>
          <p:cNvGraphicFramePr>
            <a:graphicFrameLocks noGrp="1"/>
          </p:cNvGraphicFramePr>
          <p:nvPr/>
        </p:nvGraphicFramePr>
        <p:xfrm>
          <a:off x="658368" y="1664208"/>
          <a:ext cx="10874955" cy="1901952"/>
        </p:xfrm>
        <a:graphic>
          <a:graphicData uri="http://schemas.openxmlformats.org/drawingml/2006/table">
            <a:tbl>
              <a:tblPr>
                <a:tableStyleId>{5C22544A-7EE6-4342-B048-85BDC9FD1C3A}</a:tableStyleId>
              </a:tblPr>
              <a:tblGrid>
                <a:gridCol w="2064865">
                  <a:extLst>
                    <a:ext uri="{9D8B030D-6E8A-4147-A177-3AD203B41FA5}">
                      <a16:colId xmlns:a16="http://schemas.microsoft.com/office/drawing/2014/main" val="20000"/>
                    </a:ext>
                  </a:extLst>
                </a:gridCol>
                <a:gridCol w="1514234">
                  <a:extLst>
                    <a:ext uri="{9D8B030D-6E8A-4147-A177-3AD203B41FA5}">
                      <a16:colId xmlns:a16="http://schemas.microsoft.com/office/drawing/2014/main" val="20001"/>
                    </a:ext>
                  </a:extLst>
                </a:gridCol>
                <a:gridCol w="1376577">
                  <a:extLst>
                    <a:ext uri="{9D8B030D-6E8A-4147-A177-3AD203B41FA5}">
                      <a16:colId xmlns:a16="http://schemas.microsoft.com/office/drawing/2014/main" val="20002"/>
                    </a:ext>
                  </a:extLst>
                </a:gridCol>
                <a:gridCol w="1376577">
                  <a:extLst>
                    <a:ext uri="{9D8B030D-6E8A-4147-A177-3AD203B41FA5}">
                      <a16:colId xmlns:a16="http://schemas.microsoft.com/office/drawing/2014/main" val="20003"/>
                    </a:ext>
                  </a:extLst>
                </a:gridCol>
                <a:gridCol w="1514234">
                  <a:extLst>
                    <a:ext uri="{9D8B030D-6E8A-4147-A177-3AD203B41FA5}">
                      <a16:colId xmlns:a16="http://schemas.microsoft.com/office/drawing/2014/main" val="20004"/>
                    </a:ext>
                  </a:extLst>
                </a:gridCol>
                <a:gridCol w="1514234">
                  <a:extLst>
                    <a:ext uri="{9D8B030D-6E8A-4147-A177-3AD203B41FA5}">
                      <a16:colId xmlns:a16="http://schemas.microsoft.com/office/drawing/2014/main" val="20005"/>
                    </a:ext>
                  </a:extLst>
                </a:gridCol>
                <a:gridCol w="1514234">
                  <a:extLst>
                    <a:ext uri="{9D8B030D-6E8A-4147-A177-3AD203B41FA5}">
                      <a16:colId xmlns:a16="http://schemas.microsoft.com/office/drawing/2014/main" val="20006"/>
                    </a:ext>
                  </a:extLst>
                </a:gridCol>
              </a:tblGrid>
              <a:tr h="475488">
                <a:tc>
                  <a:txBody>
                    <a:bodyPr/>
                    <a:lstStyle/>
                    <a:p>
                      <a:pPr algn="l"/>
                      <a:r>
                        <a:rPr sz="2100" b="1" i="0">
                          <a:solidFill>
                            <a:srgbClr val="6B787D"/>
                          </a:solidFill>
                          <a:latin typeface="Consolas"/>
                        </a:rPr>
                        <a:t>Split</a:t>
                      </a:r>
                    </a:p>
                  </a:txBody>
                  <a:tcPr marL="100584" marR="100584" marT="27432" marB="27432" anchor="ctr">
                    <a:solidFill>
                      <a:srgbClr val="E0E5E1"/>
                    </a:solidFill>
                  </a:tcPr>
                </a:tc>
                <a:tc>
                  <a:txBody>
                    <a:bodyPr/>
                    <a:lstStyle/>
                    <a:p>
                      <a:pPr algn="r"/>
                      <a:r>
                        <a:rPr sz="2100" b="1" i="0">
                          <a:solidFill>
                            <a:srgbClr val="6B787D"/>
                          </a:solidFill>
                          <a:latin typeface="Consolas"/>
                        </a:rPr>
                        <a:t>Episodes</a:t>
                      </a:r>
                    </a:p>
                  </a:txBody>
                  <a:tcPr marL="100584" marR="100584" marT="27432" marB="27432" anchor="ctr">
                    <a:solidFill>
                      <a:srgbClr val="E0E5E1"/>
                    </a:solidFill>
                  </a:tcPr>
                </a:tc>
                <a:tc>
                  <a:txBody>
                    <a:bodyPr/>
                    <a:lstStyle/>
                    <a:p>
                      <a:pPr algn="r"/>
                      <a:r>
                        <a:rPr sz="2100" b="1" i="0">
                          <a:solidFill>
                            <a:srgbClr val="6B787D"/>
                          </a:solidFill>
                          <a:latin typeface="Consolas"/>
                        </a:rPr>
                        <a:t>Pairs</a:t>
                      </a:r>
                    </a:p>
                  </a:txBody>
                  <a:tcPr marL="100584" marR="100584" marT="27432" marB="27432" anchor="ctr">
                    <a:solidFill>
                      <a:srgbClr val="E0E5E1"/>
                    </a:solidFill>
                  </a:tcPr>
                </a:tc>
                <a:tc>
                  <a:txBody>
                    <a:bodyPr/>
                    <a:lstStyle/>
                    <a:p>
                      <a:pPr algn="r"/>
                      <a:r>
                        <a:rPr sz="2100" b="1" i="0">
                          <a:solidFill>
                            <a:srgbClr val="6B787D"/>
                          </a:solidFill>
                          <a:latin typeface="Consolas"/>
                        </a:rPr>
                        <a:t>Human</a:t>
                      </a:r>
                    </a:p>
                  </a:txBody>
                  <a:tcPr marL="100584" marR="100584" marT="27432" marB="27432" anchor="ctr">
                    <a:solidFill>
                      <a:srgbClr val="E0E5E1"/>
                    </a:solidFill>
                  </a:tcPr>
                </a:tc>
                <a:tc>
                  <a:txBody>
                    <a:bodyPr/>
                    <a:lstStyle/>
                    <a:p>
                      <a:pPr algn="r"/>
                      <a:r>
                        <a:rPr sz="2100" b="1" i="0">
                          <a:solidFill>
                            <a:srgbClr val="6B787D"/>
                          </a:solidFill>
                          <a:latin typeface="Consolas"/>
                        </a:rPr>
                        <a:t>Negative</a:t>
                      </a:r>
                    </a:p>
                  </a:txBody>
                  <a:tcPr marL="100584" marR="100584" marT="27432" marB="27432" anchor="ctr">
                    <a:solidFill>
                      <a:srgbClr val="E0E5E1"/>
                    </a:solidFill>
                  </a:tcPr>
                </a:tc>
                <a:tc>
                  <a:txBody>
                    <a:bodyPr/>
                    <a:lstStyle/>
                    <a:p>
                      <a:pPr algn="r"/>
                      <a:r>
                        <a:rPr sz="2100" b="1" i="0">
                          <a:solidFill>
                            <a:srgbClr val="6B787D"/>
                          </a:solidFill>
                          <a:latin typeface="Consolas"/>
                        </a:rPr>
                        <a:t>Non eval</a:t>
                      </a:r>
                    </a:p>
                  </a:txBody>
                  <a:tcPr marL="100584" marR="100584" marT="27432" marB="27432" anchor="ctr">
                    <a:solidFill>
                      <a:srgbClr val="E0E5E1"/>
                    </a:solidFill>
                  </a:tcPr>
                </a:tc>
                <a:tc>
                  <a:txBody>
                    <a:bodyPr/>
                    <a:lstStyle/>
                    <a:p>
                      <a:pPr algn="r"/>
                      <a:r>
                        <a:rPr sz="2100" b="1" i="0">
                          <a:solidFill>
                            <a:srgbClr val="6B787D"/>
                          </a:solidFill>
                          <a:latin typeface="Consolas"/>
                        </a:rPr>
                        <a:t>Positive</a:t>
                      </a:r>
                    </a:p>
                  </a:txBody>
                  <a:tcPr marL="100584" marR="100584" marT="27432" marB="27432" anchor="ctr">
                    <a:solidFill>
                      <a:srgbClr val="E0E5E1"/>
                    </a:solidFill>
                  </a:tcPr>
                </a:tc>
                <a:extLst>
                  <a:ext uri="{0D108BD9-81ED-4DB2-BD59-A6C34878D82A}">
                    <a16:rowId xmlns:a16="http://schemas.microsoft.com/office/drawing/2014/main" val="10000"/>
                  </a:ext>
                </a:extLst>
              </a:tr>
              <a:tr h="475488">
                <a:tc>
                  <a:txBody>
                    <a:bodyPr/>
                    <a:lstStyle/>
                    <a:p>
                      <a:pPr algn="l"/>
                      <a:r>
                        <a:rPr sz="2100" b="0" i="0">
                          <a:solidFill>
                            <a:srgbClr val="14181B"/>
                          </a:solidFill>
                          <a:latin typeface="Segoe UI"/>
                        </a:rPr>
                        <a:t>Train</a:t>
                      </a:r>
                    </a:p>
                  </a:txBody>
                  <a:tcPr marL="100584" marR="100584" marT="27432" marB="27432" anchor="ctr">
                    <a:solidFill>
                      <a:srgbClr val="F8F9F7"/>
                    </a:solidFill>
                  </a:tcPr>
                </a:tc>
                <a:tc>
                  <a:txBody>
                    <a:bodyPr/>
                    <a:lstStyle/>
                    <a:p>
                      <a:pPr algn="r"/>
                      <a:r>
                        <a:rPr sz="2100" b="0" i="0">
                          <a:solidFill>
                            <a:srgbClr val="14181B"/>
                          </a:solidFill>
                          <a:latin typeface="Consolas"/>
                        </a:rPr>
                        <a:t>19</a:t>
                      </a:r>
                    </a:p>
                  </a:txBody>
                  <a:tcPr marL="100584" marR="100584" marT="27432" marB="27432" anchor="ctr">
                    <a:solidFill>
                      <a:srgbClr val="F8F9F7"/>
                    </a:solidFill>
                  </a:tcPr>
                </a:tc>
                <a:tc>
                  <a:txBody>
                    <a:bodyPr/>
                    <a:lstStyle/>
                    <a:p>
                      <a:pPr algn="r"/>
                      <a:r>
                        <a:rPr sz="2100" b="0" i="0">
                          <a:solidFill>
                            <a:srgbClr val="14181B"/>
                          </a:solidFill>
                          <a:latin typeface="Consolas"/>
                        </a:rPr>
                        <a:t>2,026</a:t>
                      </a:r>
                    </a:p>
                  </a:txBody>
                  <a:tcPr marL="100584" marR="100584" marT="27432" marB="27432" anchor="ctr">
                    <a:solidFill>
                      <a:srgbClr val="F8F9F7"/>
                    </a:solidFill>
                  </a:tcPr>
                </a:tc>
                <a:tc>
                  <a:txBody>
                    <a:bodyPr/>
                    <a:lstStyle/>
                    <a:p>
                      <a:pPr algn="r"/>
                      <a:r>
                        <a:rPr sz="2100" b="0" i="0">
                          <a:solidFill>
                            <a:srgbClr val="14181B"/>
                          </a:solidFill>
                          <a:latin typeface="Consolas"/>
                        </a:rPr>
                        <a:t>99</a:t>
                      </a:r>
                    </a:p>
                  </a:txBody>
                  <a:tcPr marL="100584" marR="100584" marT="27432" marB="27432" anchor="ctr">
                    <a:solidFill>
                      <a:srgbClr val="F8F9F7"/>
                    </a:solidFill>
                  </a:tcPr>
                </a:tc>
                <a:tc>
                  <a:txBody>
                    <a:bodyPr/>
                    <a:lstStyle/>
                    <a:p>
                      <a:pPr algn="r"/>
                      <a:r>
                        <a:rPr sz="2100" b="0" i="0">
                          <a:solidFill>
                            <a:srgbClr val="14181B"/>
                          </a:solidFill>
                          <a:latin typeface="Consolas"/>
                        </a:rPr>
                        <a:t>164</a:t>
                      </a:r>
                    </a:p>
                  </a:txBody>
                  <a:tcPr marL="100584" marR="100584" marT="27432" marB="27432" anchor="ctr">
                    <a:solidFill>
                      <a:srgbClr val="F8F9F7"/>
                    </a:solidFill>
                  </a:tcPr>
                </a:tc>
                <a:tc>
                  <a:txBody>
                    <a:bodyPr/>
                    <a:lstStyle/>
                    <a:p>
                      <a:pPr algn="r"/>
                      <a:r>
                        <a:rPr sz="2100" b="0" i="0">
                          <a:solidFill>
                            <a:srgbClr val="14181B"/>
                          </a:solidFill>
                          <a:latin typeface="Consolas"/>
                        </a:rPr>
                        <a:t>1,771</a:t>
                      </a:r>
                    </a:p>
                  </a:txBody>
                  <a:tcPr marL="100584" marR="100584" marT="27432" marB="27432" anchor="ctr">
                    <a:solidFill>
                      <a:srgbClr val="F8F9F7"/>
                    </a:solidFill>
                  </a:tcPr>
                </a:tc>
                <a:tc>
                  <a:txBody>
                    <a:bodyPr/>
                    <a:lstStyle/>
                    <a:p>
                      <a:pPr algn="r"/>
                      <a:r>
                        <a:rPr sz="2100" b="0" i="0">
                          <a:solidFill>
                            <a:srgbClr val="14181B"/>
                          </a:solidFill>
                          <a:latin typeface="Consolas"/>
                        </a:rPr>
                        <a:t>91</a:t>
                      </a:r>
                    </a:p>
                  </a:txBody>
                  <a:tcPr marL="100584" marR="100584" marT="27432" marB="27432" anchor="ctr">
                    <a:solidFill>
                      <a:srgbClr val="F8F9F7"/>
                    </a:solidFill>
                  </a:tcPr>
                </a:tc>
                <a:extLst>
                  <a:ext uri="{0D108BD9-81ED-4DB2-BD59-A6C34878D82A}">
                    <a16:rowId xmlns:a16="http://schemas.microsoft.com/office/drawing/2014/main" val="10001"/>
                  </a:ext>
                </a:extLst>
              </a:tr>
              <a:tr h="475488">
                <a:tc>
                  <a:txBody>
                    <a:bodyPr/>
                    <a:lstStyle/>
                    <a:p>
                      <a:pPr algn="l"/>
                      <a:r>
                        <a:rPr sz="2100" b="0" i="0">
                          <a:solidFill>
                            <a:srgbClr val="14181B"/>
                          </a:solidFill>
                          <a:latin typeface="Segoe UI"/>
                        </a:rPr>
                        <a:t>Validation</a:t>
                      </a:r>
                    </a:p>
                  </a:txBody>
                  <a:tcPr marL="100584" marR="100584" marT="27432" marB="27432" anchor="ctr">
                    <a:solidFill>
                      <a:srgbClr val="F8F9F7"/>
                    </a:solidFill>
                  </a:tcPr>
                </a:tc>
                <a:tc>
                  <a:txBody>
                    <a:bodyPr/>
                    <a:lstStyle/>
                    <a:p>
                      <a:pPr algn="r"/>
                      <a:r>
                        <a:rPr sz="2100" b="0" i="0">
                          <a:solidFill>
                            <a:srgbClr val="14181B"/>
                          </a:solidFill>
                          <a:latin typeface="Consolas"/>
                        </a:rPr>
                        <a:t>3</a:t>
                      </a:r>
                    </a:p>
                  </a:txBody>
                  <a:tcPr marL="100584" marR="100584" marT="27432" marB="27432" anchor="ctr">
                    <a:solidFill>
                      <a:srgbClr val="F8F9F7"/>
                    </a:solidFill>
                  </a:tcPr>
                </a:tc>
                <a:tc>
                  <a:txBody>
                    <a:bodyPr/>
                    <a:lstStyle/>
                    <a:p>
                      <a:pPr algn="r"/>
                      <a:r>
                        <a:rPr sz="2100" b="0" i="0">
                          <a:solidFill>
                            <a:srgbClr val="14181B"/>
                          </a:solidFill>
                          <a:latin typeface="Consolas"/>
                        </a:rPr>
                        <a:t>320</a:t>
                      </a:r>
                    </a:p>
                  </a:txBody>
                  <a:tcPr marL="100584" marR="100584" marT="27432" marB="27432" anchor="ctr">
                    <a:solidFill>
                      <a:srgbClr val="F8F9F7"/>
                    </a:solidFill>
                  </a:tcPr>
                </a:tc>
                <a:tc>
                  <a:txBody>
                    <a:bodyPr/>
                    <a:lstStyle/>
                    <a:p>
                      <a:pPr algn="r"/>
                      <a:r>
                        <a:rPr sz="2100" b="0" i="0">
                          <a:solidFill>
                            <a:srgbClr val="14181B"/>
                          </a:solidFill>
                          <a:latin typeface="Consolas"/>
                        </a:rPr>
                        <a:t>22</a:t>
                      </a:r>
                    </a:p>
                  </a:txBody>
                  <a:tcPr marL="100584" marR="100584" marT="27432" marB="27432" anchor="ctr">
                    <a:solidFill>
                      <a:srgbClr val="F8F9F7"/>
                    </a:solidFill>
                  </a:tcPr>
                </a:tc>
                <a:tc>
                  <a:txBody>
                    <a:bodyPr/>
                    <a:lstStyle/>
                    <a:p>
                      <a:pPr algn="r"/>
                      <a:r>
                        <a:rPr sz="2100" b="0" i="0">
                          <a:solidFill>
                            <a:srgbClr val="14181B"/>
                          </a:solidFill>
                          <a:latin typeface="Consolas"/>
                        </a:rPr>
                        <a:t>24</a:t>
                      </a:r>
                    </a:p>
                  </a:txBody>
                  <a:tcPr marL="100584" marR="100584" marT="27432" marB="27432" anchor="ctr">
                    <a:solidFill>
                      <a:srgbClr val="F8F9F7"/>
                    </a:solidFill>
                  </a:tcPr>
                </a:tc>
                <a:tc>
                  <a:txBody>
                    <a:bodyPr/>
                    <a:lstStyle/>
                    <a:p>
                      <a:pPr algn="r"/>
                      <a:r>
                        <a:rPr sz="2100" b="0" i="0">
                          <a:solidFill>
                            <a:srgbClr val="14181B"/>
                          </a:solidFill>
                          <a:latin typeface="Consolas"/>
                        </a:rPr>
                        <a:t>278</a:t>
                      </a:r>
                    </a:p>
                  </a:txBody>
                  <a:tcPr marL="100584" marR="100584" marT="27432" marB="27432" anchor="ctr">
                    <a:solidFill>
                      <a:srgbClr val="F8F9F7"/>
                    </a:solidFill>
                  </a:tcPr>
                </a:tc>
                <a:tc>
                  <a:txBody>
                    <a:bodyPr/>
                    <a:lstStyle/>
                    <a:p>
                      <a:pPr algn="r"/>
                      <a:r>
                        <a:rPr sz="2100" b="0" i="0">
                          <a:solidFill>
                            <a:srgbClr val="14181B"/>
                          </a:solidFill>
                          <a:latin typeface="Consolas"/>
                        </a:rPr>
                        <a:t>18</a:t>
                      </a:r>
                    </a:p>
                  </a:txBody>
                  <a:tcPr marL="100584" marR="100584" marT="27432" marB="27432" anchor="ctr">
                    <a:solidFill>
                      <a:srgbClr val="F8F9F7"/>
                    </a:solidFill>
                  </a:tcPr>
                </a:tc>
                <a:extLst>
                  <a:ext uri="{0D108BD9-81ED-4DB2-BD59-A6C34878D82A}">
                    <a16:rowId xmlns:a16="http://schemas.microsoft.com/office/drawing/2014/main" val="10002"/>
                  </a:ext>
                </a:extLst>
              </a:tr>
              <a:tr h="475488">
                <a:tc>
                  <a:txBody>
                    <a:bodyPr/>
                    <a:lstStyle/>
                    <a:p>
                      <a:pPr algn="l"/>
                      <a:r>
                        <a:rPr sz="2100" b="1" i="0">
                          <a:solidFill>
                            <a:srgbClr val="14181B"/>
                          </a:solidFill>
                          <a:latin typeface="Segoe UI"/>
                        </a:rPr>
                        <a:t>Test</a:t>
                      </a:r>
                    </a:p>
                  </a:txBody>
                  <a:tcPr marL="100584" marR="100584" marT="27432" marB="27432" anchor="ctr">
                    <a:solidFill>
                      <a:srgbClr val="E0E5E1"/>
                    </a:solidFill>
                  </a:tcPr>
                </a:tc>
                <a:tc>
                  <a:txBody>
                    <a:bodyPr/>
                    <a:lstStyle/>
                    <a:p>
                      <a:pPr algn="r"/>
                      <a:r>
                        <a:rPr sz="2100" b="1" i="0">
                          <a:solidFill>
                            <a:srgbClr val="14181B"/>
                          </a:solidFill>
                          <a:latin typeface="Consolas"/>
                        </a:rPr>
                        <a:t>4</a:t>
                      </a:r>
                    </a:p>
                  </a:txBody>
                  <a:tcPr marL="100584" marR="100584" marT="27432" marB="27432" anchor="ctr">
                    <a:solidFill>
                      <a:srgbClr val="E0E5E1"/>
                    </a:solidFill>
                  </a:tcPr>
                </a:tc>
                <a:tc>
                  <a:txBody>
                    <a:bodyPr/>
                    <a:lstStyle/>
                    <a:p>
                      <a:pPr algn="r"/>
                      <a:r>
                        <a:rPr sz="2100" b="1" i="0">
                          <a:solidFill>
                            <a:srgbClr val="14181B"/>
                          </a:solidFill>
                          <a:latin typeface="Consolas"/>
                        </a:rPr>
                        <a:t>673</a:t>
                      </a:r>
                    </a:p>
                  </a:txBody>
                  <a:tcPr marL="100584" marR="100584" marT="27432" marB="27432" anchor="ctr">
                    <a:solidFill>
                      <a:srgbClr val="E0E5E1"/>
                    </a:solidFill>
                  </a:tcPr>
                </a:tc>
                <a:tc>
                  <a:txBody>
                    <a:bodyPr/>
                    <a:lstStyle/>
                    <a:p>
                      <a:pPr algn="r"/>
                      <a:r>
                        <a:rPr sz="2100" b="1" i="0">
                          <a:solidFill>
                            <a:srgbClr val="14181B"/>
                          </a:solidFill>
                          <a:latin typeface="Consolas"/>
                        </a:rPr>
                        <a:t>59</a:t>
                      </a:r>
                    </a:p>
                  </a:txBody>
                  <a:tcPr marL="100584" marR="100584" marT="27432" marB="27432" anchor="ctr">
                    <a:solidFill>
                      <a:srgbClr val="E0E5E1"/>
                    </a:solidFill>
                  </a:tcPr>
                </a:tc>
                <a:tc>
                  <a:txBody>
                    <a:bodyPr/>
                    <a:lstStyle/>
                    <a:p>
                      <a:pPr algn="r"/>
                      <a:r>
                        <a:rPr sz="2100" b="1" i="0">
                          <a:solidFill>
                            <a:srgbClr val="14181B"/>
                          </a:solidFill>
                          <a:latin typeface="Consolas"/>
                        </a:rPr>
                        <a:t>96</a:t>
                      </a:r>
                    </a:p>
                  </a:txBody>
                  <a:tcPr marL="100584" marR="100584" marT="27432" marB="27432" anchor="ctr">
                    <a:solidFill>
                      <a:srgbClr val="E0E5E1"/>
                    </a:solidFill>
                  </a:tcPr>
                </a:tc>
                <a:tc>
                  <a:txBody>
                    <a:bodyPr/>
                    <a:lstStyle/>
                    <a:p>
                      <a:pPr algn="r"/>
                      <a:r>
                        <a:rPr sz="2100" b="1" i="0">
                          <a:solidFill>
                            <a:srgbClr val="14181B"/>
                          </a:solidFill>
                          <a:latin typeface="Consolas"/>
                        </a:rPr>
                        <a:t>534</a:t>
                      </a:r>
                    </a:p>
                  </a:txBody>
                  <a:tcPr marL="100584" marR="100584" marT="27432" marB="27432" anchor="ctr">
                    <a:solidFill>
                      <a:srgbClr val="E0E5E1"/>
                    </a:solidFill>
                  </a:tcPr>
                </a:tc>
                <a:tc>
                  <a:txBody>
                    <a:bodyPr/>
                    <a:lstStyle/>
                    <a:p>
                      <a:pPr algn="r"/>
                      <a:r>
                        <a:rPr sz="2100" b="1" i="0">
                          <a:solidFill>
                            <a:srgbClr val="14181B"/>
                          </a:solidFill>
                          <a:latin typeface="Consolas"/>
                        </a:rPr>
                        <a:t>43</a:t>
                      </a:r>
                    </a:p>
                  </a:txBody>
                  <a:tcPr marL="100584" marR="100584" marT="27432" marB="27432" anchor="ctr">
                    <a:solidFill>
                      <a:srgbClr val="E0E5E1"/>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658368" y="3950208"/>
            <a:ext cx="10874959" cy="190195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3950208"/>
            <a:ext cx="50292" cy="148132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4133088"/>
            <a:ext cx="10372039" cy="1115568"/>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Validation is used only to pick the stopping epoch and is never fitted on. Because the human labelled slice inside validation is small, model selection uses the rule label agreement score, which is the honest consequence of having limited human labels.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Preprocessing: detecting the transcript defects</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A word may never begin with a dependent sign. When a</a:t>
            </a:r>
          </a:p>
          <a:p>
            <a:pPr>
              <a:lnSpc>
                <a:spcPct val="124000"/>
              </a:lnSpc>
              <a:spcAft>
                <a:spcPts val="0"/>
              </a:spcAft>
            </a:pPr>
            <a:r>
              <a:rPr sz="2100" b="0" i="0">
                <a:solidFill>
                  <a:srgbClr val="8FA8AA"/>
                </a:solidFill>
                <a:latin typeface="Consolas"/>
              </a:rPr>
              <a:t># segment does, the chunk stitcher ate a consonant.</a:t>
            </a:r>
          </a:p>
          <a:p>
            <a:pPr>
              <a:lnSpc>
                <a:spcPct val="124000"/>
              </a:lnSpc>
              <a:spcAft>
                <a:spcPts val="0"/>
              </a:spcAft>
            </a:pPr>
            <a:r>
              <a:rPr sz="2100" b="0" i="0">
                <a:solidFill>
                  <a:srgbClr val="DFE7E6"/>
                </a:solidFill>
                <a:latin typeface="Consolas"/>
              </a:rPr>
              <a:t>def leading_truncated(text):</a:t>
            </a:r>
          </a:p>
          <a:p>
            <a:pPr>
              <a:lnSpc>
                <a:spcPct val="124000"/>
              </a:lnSpc>
              <a:spcAft>
                <a:spcPts val="0"/>
              </a:spcAft>
            </a:pPr>
            <a:r>
              <a:rPr sz="2100" b="0" i="0">
                <a:solidFill>
                  <a:srgbClr val="DFE7E6"/>
                </a:solidFill>
                <a:latin typeface="Consolas"/>
              </a:rPr>
              <a:t>    s = text.lstrip()</a:t>
            </a:r>
          </a:p>
          <a:p>
            <a:pPr>
              <a:lnSpc>
                <a:spcPct val="124000"/>
              </a:lnSpc>
              <a:spcAft>
                <a:spcPts val="0"/>
              </a:spcAft>
            </a:pPr>
            <a:r>
              <a:rPr sz="2100" b="0" i="0">
                <a:solidFill>
                  <a:srgbClr val="DFE7E6"/>
                </a:solidFill>
                <a:latin typeface="Consolas"/>
              </a:rPr>
              <a:t>    return bool(s) and s[0] in COMBINING</a:t>
            </a:r>
          </a:p>
          <a:p>
            <a:pPr>
              <a:lnSpc>
                <a:spcPct val="124000"/>
              </a:lnSpc>
              <a:spcAft>
                <a:spcPts val="0"/>
              </a:spcAft>
            </a:pPr>
            <a:r>
              <a:rPr sz="2100" b="0" i="0">
                <a:solidFill>
                  <a:srgbClr val="8FA8AA"/>
                </a:solidFill>
                <a:latin typeface="Consolas"/>
              </a:rPr>
              <a:t># Longest run of one token, plus its lexical variety.</a:t>
            </a:r>
          </a:p>
          <a:p>
            <a:pPr>
              <a:lnSpc>
                <a:spcPct val="124000"/>
              </a:lnSpc>
              <a:spcAft>
                <a:spcPts val="0"/>
              </a:spcAft>
            </a:pPr>
            <a:r>
              <a:rPr sz="2100" b="0" i="0">
                <a:solidFill>
                  <a:srgbClr val="DFE7E6"/>
                </a:solidFill>
                <a:latin typeface="Consolas"/>
              </a:rPr>
              <a:t>def repetition_score(text):</a:t>
            </a:r>
          </a:p>
          <a:p>
            <a:pPr>
              <a:lnSpc>
                <a:spcPct val="124000"/>
              </a:lnSpc>
              <a:spcAft>
                <a:spcPts val="0"/>
              </a:spcAft>
            </a:pPr>
            <a:r>
              <a:rPr sz="2100" b="0" i="0">
                <a:solidFill>
                  <a:srgbClr val="DFE7E6"/>
                </a:solidFill>
                <a:latin typeface="Consolas"/>
              </a:rPr>
              <a:t>    t = text.split()</a:t>
            </a:r>
          </a:p>
          <a:p>
            <a:pPr>
              <a:lnSpc>
                <a:spcPct val="124000"/>
              </a:lnSpc>
              <a:spcAft>
                <a:spcPts val="0"/>
              </a:spcAft>
            </a:pPr>
            <a:r>
              <a:rPr sz="2100" b="0" i="0">
                <a:solidFill>
                  <a:srgbClr val="DFE7E6"/>
                </a:solidFill>
                <a:latin typeface="Consolas"/>
              </a:rPr>
              <a:t>    longest = run = 1</a:t>
            </a:r>
          </a:p>
          <a:p>
            <a:pPr>
              <a:lnSpc>
                <a:spcPct val="124000"/>
              </a:lnSpc>
              <a:spcAft>
                <a:spcPts val="0"/>
              </a:spcAft>
            </a:pPr>
            <a:r>
              <a:rPr sz="2100" b="0" i="0">
                <a:solidFill>
                  <a:srgbClr val="DFE7E6"/>
                </a:solidFill>
                <a:latin typeface="Consolas"/>
              </a:rPr>
              <a:t>    for i in range(1, len(t)):</a:t>
            </a:r>
          </a:p>
          <a:p>
            <a:pPr>
              <a:lnSpc>
                <a:spcPct val="124000"/>
              </a:lnSpc>
              <a:spcAft>
                <a:spcPts val="0"/>
              </a:spcAft>
            </a:pPr>
            <a:r>
              <a:rPr sz="2100" b="0" i="0">
                <a:solidFill>
                  <a:srgbClr val="DFE7E6"/>
                </a:solidFill>
                <a:latin typeface="Consolas"/>
              </a:rPr>
              <a:t>        run = run + 1 if t[i] == t[i-1] else 1</a:t>
            </a:r>
          </a:p>
          <a:p>
            <a:pPr>
              <a:lnSpc>
                <a:spcPct val="124000"/>
              </a:lnSpc>
              <a:spcAft>
                <a:spcPts val="0"/>
              </a:spcAft>
            </a:pPr>
            <a:r>
              <a:rPr sz="2100" b="0" i="0">
                <a:solidFill>
                  <a:srgbClr val="DFE7E6"/>
                </a:solidFill>
                <a:latin typeface="Consolas"/>
              </a:rPr>
              <a:t>        longest = max(longest, run)</a:t>
            </a:r>
          </a:p>
          <a:p>
            <a:pPr>
              <a:lnSpc>
                <a:spcPct val="124000"/>
              </a:lnSpc>
              <a:spcAft>
                <a:spcPts val="0"/>
              </a:spcAft>
            </a:pPr>
            <a:r>
              <a:rPr sz="2100" b="0" i="0">
                <a:solidFill>
                  <a:srgbClr val="DFE7E6"/>
                </a:solidFill>
                <a:latin typeface="Consolas"/>
              </a:rPr>
              <a:t>    return longest, len(set(t)) / len(t)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Target aware polarity scoring</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DFE7E6"/>
                </a:solidFill>
                <a:latin typeface="Consolas"/>
              </a:rPr>
              <a:t>for i, token in enumerate(tokens):</a:t>
            </a:r>
          </a:p>
          <a:p>
            <a:pPr>
              <a:lnSpc>
                <a:spcPct val="124000"/>
              </a:lnSpc>
              <a:spcAft>
                <a:spcPts val="0"/>
              </a:spcAft>
            </a:pPr>
            <a:r>
              <a:rPr sz="2100" b="0" i="0">
                <a:solidFill>
                  <a:srgbClr val="DFE7E6"/>
                </a:solidFill>
                <a:latin typeface="Consolas"/>
              </a:rPr>
              <a:t>    distance = min(abs(i - t) for t in target_idx)</a:t>
            </a:r>
          </a:p>
          <a:p>
            <a:pPr>
              <a:lnSpc>
                <a:spcPct val="124000"/>
              </a:lnSpc>
              <a:spcAft>
                <a:spcPts val="0"/>
              </a:spcAft>
            </a:pPr>
            <a:r>
              <a:rPr sz="2100" b="0" i="0">
                <a:solidFill>
                  <a:srgbClr val="DFE7E6"/>
                </a:solidFill>
                <a:latin typeface="Consolas"/>
              </a:rPr>
              <a:t>    if distance &gt; WINDOW:</a:t>
            </a:r>
          </a:p>
          <a:p>
            <a:pPr>
              <a:lnSpc>
                <a:spcPct val="124000"/>
              </a:lnSpc>
              <a:spcAft>
                <a:spcPts val="0"/>
              </a:spcAft>
            </a:pPr>
            <a:r>
              <a:rPr sz="2100" b="0" i="0">
                <a:solidFill>
                  <a:srgbClr val="DFE7E6"/>
                </a:solidFill>
                <a:latin typeface="Consolas"/>
              </a:rPr>
              <a:t>        continue</a:t>
            </a:r>
          </a:p>
          <a:p>
            <a:pPr>
              <a:lnSpc>
                <a:spcPct val="124000"/>
              </a:lnSpc>
              <a:spcAft>
                <a:spcPts val="0"/>
              </a:spcAft>
            </a:pPr>
            <a:r>
              <a:rPr sz="2100" b="0" i="0">
                <a:solidFill>
                  <a:srgbClr val="DFE7E6"/>
                </a:solidFill>
                <a:latin typeface="Consolas"/>
              </a:rPr>
              <a:t>    polarity = cue["polarity"]</a:t>
            </a:r>
          </a:p>
          <a:p>
            <a:pPr>
              <a:lnSpc>
                <a:spcPct val="124000"/>
              </a:lnSpc>
              <a:spcAft>
                <a:spcPts val="0"/>
              </a:spcAft>
            </a:pPr>
            <a:r>
              <a:rPr sz="2100" b="0" i="0">
                <a:solidFill>
                  <a:srgbClr val="DFE7E6"/>
                </a:solidFill>
                <a:latin typeface="Consolas"/>
              </a:rPr>
              <a:t>    if cue["kind"] == "direction":</a:t>
            </a:r>
          </a:p>
          <a:p>
            <a:pPr>
              <a:lnSpc>
                <a:spcPct val="124000"/>
              </a:lnSpc>
              <a:spcAft>
                <a:spcPts val="0"/>
              </a:spcAft>
            </a:pPr>
            <a:r>
              <a:rPr sz="2100" b="0" i="0">
                <a:solidFill>
                  <a:srgbClr val="8FA8AA"/>
                </a:solidFill>
                <a:latin typeface="Consolas"/>
              </a:rPr>
              <a:t>        # A rise is only good or bad relative to</a:t>
            </a:r>
          </a:p>
          <a:p>
            <a:pPr>
              <a:lnSpc>
                <a:spcPct val="124000"/>
              </a:lnSpc>
              <a:spcAft>
                <a:spcPts val="0"/>
              </a:spcAft>
            </a:pPr>
            <a:r>
              <a:rPr sz="2100" b="0" i="0">
                <a:solidFill>
                  <a:srgbClr val="8FA8AA"/>
                </a:solidFill>
                <a:latin typeface="Consolas"/>
              </a:rPr>
              <a:t>        # what is rising.</a:t>
            </a:r>
          </a:p>
          <a:p>
            <a:pPr>
              <a:lnSpc>
                <a:spcPct val="124000"/>
              </a:lnSpc>
              <a:spcAft>
                <a:spcPts val="0"/>
              </a:spcAft>
            </a:pPr>
            <a:r>
              <a:rPr sz="2100" b="0" i="0">
                <a:solidFill>
                  <a:srgbClr val="DFE7E6"/>
                </a:solidFill>
                <a:latin typeface="Consolas"/>
              </a:rPr>
              <a:t>        if orientation == 0:</a:t>
            </a:r>
          </a:p>
          <a:p>
            <a:pPr>
              <a:lnSpc>
                <a:spcPct val="124000"/>
              </a:lnSpc>
              <a:spcAft>
                <a:spcPts val="0"/>
              </a:spcAft>
            </a:pPr>
            <a:r>
              <a:rPr sz="2100" b="0" i="0">
                <a:solidFill>
                  <a:srgbClr val="DFE7E6"/>
                </a:solidFill>
                <a:latin typeface="Consolas"/>
              </a:rPr>
              <a:t>            continue</a:t>
            </a:r>
          </a:p>
          <a:p>
            <a:pPr>
              <a:lnSpc>
                <a:spcPct val="124000"/>
              </a:lnSpc>
              <a:spcAft>
                <a:spcPts val="0"/>
              </a:spcAft>
            </a:pPr>
            <a:r>
              <a:rPr sz="2100" b="0" i="0">
                <a:solidFill>
                  <a:srgbClr val="DFE7E6"/>
                </a:solidFill>
                <a:latin typeface="Consolas"/>
              </a:rPr>
              <a:t>        polarity *= orientation</a:t>
            </a:r>
          </a:p>
          <a:p>
            <a:pPr>
              <a:lnSpc>
                <a:spcPct val="124000"/>
              </a:lnSpc>
              <a:spcAft>
                <a:spcPts val="0"/>
              </a:spcAft>
            </a:pPr>
            <a:r>
              <a:rPr sz="2100" b="0" i="0">
                <a:solidFill>
                  <a:srgbClr val="DFE7E6"/>
                </a:solidFill>
                <a:latin typeface="Consolas"/>
              </a:rPr>
              <a:t>    decay = 1.0 / (1.0 + distance / 4.0)</a:t>
            </a:r>
          </a:p>
          <a:p>
            <a:pPr>
              <a:lnSpc>
                <a:spcPct val="124000"/>
              </a:lnSpc>
              <a:spcAft>
                <a:spcPts val="0"/>
              </a:spcAft>
            </a:pPr>
            <a:r>
              <a:rPr sz="2100" b="0" i="0">
                <a:solidFill>
                  <a:srgbClr val="DFE7E6"/>
                </a:solidFill>
                <a:latin typeface="Consolas"/>
              </a:rPr>
              <a:t>    score += polarity * cue["weight"] * decay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split, with a leak check</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DFE7E6"/>
                </a:solidFill>
                <a:latin typeface="Consolas"/>
              </a:rPr>
              <a:t>for row in rows:</a:t>
            </a:r>
          </a:p>
          <a:p>
            <a:pPr>
              <a:lnSpc>
                <a:spcPct val="124000"/>
              </a:lnSpc>
              <a:spcAft>
                <a:spcPts val="0"/>
              </a:spcAft>
            </a:pPr>
            <a:r>
              <a:rPr sz="2100" b="0" i="0">
                <a:solidFill>
                  <a:srgbClr val="DFE7E6"/>
                </a:solidFill>
                <a:latin typeface="Consolas"/>
              </a:rPr>
              <a:t>    ep = row["global_episode"]</a:t>
            </a:r>
          </a:p>
          <a:p>
            <a:pPr>
              <a:lnSpc>
                <a:spcPct val="124000"/>
              </a:lnSpc>
              <a:spcAft>
                <a:spcPts val="0"/>
              </a:spcAft>
            </a:pPr>
            <a:r>
              <a:rPr sz="2100" b="0" i="0">
                <a:solidFill>
                  <a:srgbClr val="DFE7E6"/>
                </a:solidFill>
                <a:latin typeface="Consolas"/>
              </a:rPr>
              <a:t>    name = ("test"  if ep in TEST_EPISODES</a:t>
            </a:r>
          </a:p>
          <a:p>
            <a:pPr>
              <a:lnSpc>
                <a:spcPct val="124000"/>
              </a:lnSpc>
              <a:spcAft>
                <a:spcPts val="0"/>
              </a:spcAft>
            </a:pPr>
            <a:r>
              <a:rPr sz="2100" b="0" i="0">
                <a:solidFill>
                  <a:srgbClr val="DFE7E6"/>
                </a:solidFill>
                <a:latin typeface="Consolas"/>
              </a:rPr>
              <a:t>            else "val" if ep in VAL_EPISODES</a:t>
            </a:r>
          </a:p>
          <a:p>
            <a:pPr>
              <a:lnSpc>
                <a:spcPct val="124000"/>
              </a:lnSpc>
              <a:spcAft>
                <a:spcPts val="0"/>
              </a:spcAft>
            </a:pPr>
            <a:r>
              <a:rPr sz="2100" b="0" i="0">
                <a:solidFill>
                  <a:srgbClr val="DFE7E6"/>
                </a:solidFill>
                <a:latin typeface="Consolas"/>
              </a:rPr>
              <a:t>            else "train")</a:t>
            </a:r>
          </a:p>
          <a:p>
            <a:pPr>
              <a:lnSpc>
                <a:spcPct val="124000"/>
              </a:lnSpc>
              <a:spcAft>
                <a:spcPts val="0"/>
              </a:spcAft>
            </a:pPr>
            <a:r>
              <a:rPr sz="2100" b="0" i="0">
                <a:solidFill>
                  <a:srgbClr val="DFE7E6"/>
                </a:solidFill>
                <a:latin typeface="Consolas"/>
              </a:rPr>
              <a:t>    splits[name].append(row)</a:t>
            </a:r>
          </a:p>
          <a:p>
            <a:pPr>
              <a:lnSpc>
                <a:spcPct val="124000"/>
              </a:lnSpc>
              <a:spcAft>
                <a:spcPts val="0"/>
              </a:spcAft>
            </a:pPr>
            <a:r>
              <a:rPr sz="2100" b="0" i="0">
                <a:solidFill>
                  <a:srgbClr val="8FA8AA"/>
                </a:solidFill>
                <a:latin typeface="Consolas"/>
              </a:rPr>
              <a:t># A leak check is cheap and catches a bad edit to the</a:t>
            </a:r>
          </a:p>
          <a:p>
            <a:pPr>
              <a:lnSpc>
                <a:spcPct val="124000"/>
              </a:lnSpc>
              <a:spcAft>
                <a:spcPts val="0"/>
              </a:spcAft>
            </a:pPr>
            <a:r>
              <a:rPr sz="2100" b="0" i="0">
                <a:solidFill>
                  <a:srgbClr val="8FA8AA"/>
                </a:solidFill>
                <a:latin typeface="Consolas"/>
              </a:rPr>
              <a:t># episode lists before it can inflate a score.</a:t>
            </a:r>
          </a:p>
          <a:p>
            <a:pPr>
              <a:lnSpc>
                <a:spcPct val="124000"/>
              </a:lnSpc>
              <a:spcAft>
                <a:spcPts val="0"/>
              </a:spcAft>
            </a:pPr>
            <a:r>
              <a:rPr sz="2100" b="0" i="0">
                <a:solidFill>
                  <a:srgbClr val="DFE7E6"/>
                </a:solidFill>
                <a:latin typeface="Consolas"/>
              </a:rPr>
              <a:t>train_eps = {r["global_episode"] for r in splits["train"]}</a:t>
            </a:r>
          </a:p>
          <a:p>
            <a:pPr>
              <a:lnSpc>
                <a:spcPct val="124000"/>
              </a:lnSpc>
              <a:spcAft>
                <a:spcPts val="0"/>
              </a:spcAft>
            </a:pPr>
            <a:r>
              <a:rPr sz="2100" b="0" i="0">
                <a:solidFill>
                  <a:srgbClr val="DFE7E6"/>
                </a:solidFill>
                <a:latin typeface="Consolas"/>
              </a:rPr>
              <a:t>for name in ("val", "test"):</a:t>
            </a:r>
          </a:p>
          <a:p>
            <a:pPr>
              <a:lnSpc>
                <a:spcPct val="124000"/>
              </a:lnSpc>
              <a:spcAft>
                <a:spcPts val="0"/>
              </a:spcAft>
            </a:pPr>
            <a:r>
              <a:rPr sz="2100" b="0" i="0">
                <a:solidFill>
                  <a:srgbClr val="DFE7E6"/>
                </a:solidFill>
                <a:latin typeface="Consolas"/>
              </a:rPr>
              <a:t>    overlap = train_eps &amp; {r["global_episode"]</a:t>
            </a:r>
          </a:p>
          <a:p>
            <a:pPr>
              <a:lnSpc>
                <a:spcPct val="124000"/>
              </a:lnSpc>
              <a:spcAft>
                <a:spcPts val="0"/>
              </a:spcAft>
            </a:pPr>
            <a:r>
              <a:rPr sz="2100" b="0" i="0">
                <a:solidFill>
                  <a:srgbClr val="DFE7E6"/>
                </a:solidFill>
                <a:latin typeface="Consolas"/>
              </a:rPr>
              <a:t>                           for r in splits[name]}</a:t>
            </a:r>
          </a:p>
          <a:p>
            <a:pPr>
              <a:lnSpc>
                <a:spcPct val="124000"/>
              </a:lnSpc>
              <a:spcAft>
                <a:spcPts val="0"/>
              </a:spcAft>
            </a:pPr>
            <a:r>
              <a:rPr sz="2100" b="0" i="0">
                <a:solidFill>
                  <a:srgbClr val="DFE7E6"/>
                </a:solidFill>
                <a:latin typeface="Consolas"/>
              </a:rPr>
              <a:t>    assert not overlap, f"{name} shares episodes"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Training, validation and test</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Sentence pair is what makes the task target aware:</a:t>
            </a:r>
          </a:p>
          <a:p>
            <a:pPr>
              <a:lnSpc>
                <a:spcPct val="124000"/>
              </a:lnSpc>
              <a:spcAft>
                <a:spcPts val="0"/>
              </a:spcAft>
            </a:pPr>
            <a:r>
              <a:rPr sz="2100" b="0" i="0">
                <a:solidFill>
                  <a:srgbClr val="8FA8AA"/>
                </a:solidFill>
                <a:latin typeface="Consolas"/>
              </a:rPr>
              <a:t>#     [CLS] target [SEP] utterance [SEP]</a:t>
            </a:r>
          </a:p>
          <a:p>
            <a:pPr>
              <a:lnSpc>
                <a:spcPct val="124000"/>
              </a:lnSpc>
              <a:spcAft>
                <a:spcPts val="0"/>
              </a:spcAft>
            </a:pPr>
            <a:r>
              <a:rPr sz="2100" b="0" i="0">
                <a:solidFill>
                  <a:srgbClr val="DFE7E6"/>
                </a:solidFill>
                <a:latin typeface="Consolas"/>
              </a:rPr>
              <a:t>enc = tokenizer(target_text(row), row["text"],</a:t>
            </a:r>
          </a:p>
          <a:p>
            <a:pPr>
              <a:lnSpc>
                <a:spcPct val="124000"/>
              </a:lnSpc>
              <a:spcAft>
                <a:spcPts val="0"/>
              </a:spcAft>
            </a:pPr>
            <a:r>
              <a:rPr sz="2100" b="0" i="0">
                <a:solidFill>
                  <a:srgbClr val="DFE7E6"/>
                </a:solidFill>
                <a:latin typeface="Consolas"/>
              </a:rPr>
              <a:t>                truncation=True, max_length=128)</a:t>
            </a:r>
          </a:p>
          <a:p>
            <a:pPr>
              <a:lnSpc>
                <a:spcPct val="124000"/>
              </a:lnSpc>
              <a:spcAft>
                <a:spcPts val="0"/>
              </a:spcAft>
            </a:pPr>
            <a:r>
              <a:rPr sz="2100" b="0" i="0">
                <a:solidFill>
                  <a:srgbClr val="8FA8AA"/>
                </a:solidFill>
                <a:latin typeface="Consolas"/>
              </a:rPr>
              <a:t># 86% of rows are non evaluative. Unweighted, the model</a:t>
            </a:r>
          </a:p>
          <a:p>
            <a:pPr>
              <a:lnSpc>
                <a:spcPct val="124000"/>
              </a:lnSpc>
              <a:spcAft>
                <a:spcPts val="0"/>
              </a:spcAft>
            </a:pPr>
            <a:r>
              <a:rPr sz="2100" b="0" i="0">
                <a:solidFill>
                  <a:srgbClr val="8FA8AA"/>
                </a:solidFill>
                <a:latin typeface="Consolas"/>
              </a:rPr>
              <a:t># predicts that one class for everything.</a:t>
            </a:r>
          </a:p>
          <a:p>
            <a:pPr>
              <a:lnSpc>
                <a:spcPct val="124000"/>
              </a:lnSpc>
              <a:spcAft>
                <a:spcPts val="0"/>
              </a:spcAft>
            </a:pPr>
            <a:r>
              <a:rPr sz="2100" b="0" i="0">
                <a:solidFill>
                  <a:srgbClr val="DFE7E6"/>
                </a:solidFill>
                <a:latin typeface="Consolas"/>
              </a:rPr>
              <a:t>loss_fn = CrossEntropyLoss(weight=class_weights)</a:t>
            </a:r>
          </a:p>
          <a:p>
            <a:pPr>
              <a:lnSpc>
                <a:spcPct val="124000"/>
              </a:lnSpc>
              <a:spcAft>
                <a:spcPts val="0"/>
              </a:spcAft>
            </a:pPr>
            <a:r>
              <a:rPr sz="2100" b="0" i="0">
                <a:solidFill>
                  <a:srgbClr val="DFE7E6"/>
                </a:solidFill>
                <a:latin typeface="Consolas"/>
              </a:rPr>
              <a:t>for epoch in range(1, args.epochs + 1):</a:t>
            </a:r>
          </a:p>
          <a:p>
            <a:pPr>
              <a:lnSpc>
                <a:spcPct val="124000"/>
              </a:lnSpc>
              <a:spcAft>
                <a:spcPts val="0"/>
              </a:spcAft>
            </a:pPr>
            <a:r>
              <a:rPr sz="2100" b="0" i="0">
                <a:solidFill>
                  <a:srgbClr val="DFE7E6"/>
                </a:solidFill>
                <a:latin typeface="Consolas"/>
              </a:rPr>
              <a:t>    for batch in train_loader:</a:t>
            </a:r>
          </a:p>
          <a:p>
            <a:pPr>
              <a:lnSpc>
                <a:spcPct val="124000"/>
              </a:lnSpc>
              <a:spcAft>
                <a:spcPts val="0"/>
              </a:spcAft>
            </a:pPr>
            <a:r>
              <a:rPr sz="2100" b="0" i="0">
                <a:solidFill>
                  <a:srgbClr val="DFE7E6"/>
                </a:solidFill>
                <a:latin typeface="Consolas"/>
              </a:rPr>
              <a:t>        loss = loss_fn(model(**batch).logits, labels)</a:t>
            </a:r>
          </a:p>
          <a:p>
            <a:pPr>
              <a:lnSpc>
                <a:spcPct val="124000"/>
              </a:lnSpc>
              <a:spcAft>
                <a:spcPts val="0"/>
              </a:spcAft>
            </a:pPr>
            <a:r>
              <a:rPr sz="2100" b="0" i="0">
                <a:solidFill>
                  <a:srgbClr val="DFE7E6"/>
                </a:solidFill>
                <a:latin typeface="Consolas"/>
              </a:rPr>
              <a:t>        loss.backward(); optimizer.step()</a:t>
            </a:r>
          </a:p>
          <a:p>
            <a:pPr>
              <a:lnSpc>
                <a:spcPct val="124000"/>
              </a:lnSpc>
              <a:spcAft>
                <a:spcPts val="0"/>
              </a:spcAft>
            </a:pPr>
            <a:r>
              <a:rPr sz="2100" b="0" i="0">
                <a:solidFill>
                  <a:srgbClr val="DFE7E6"/>
                </a:solidFill>
                <a:latin typeface="Consolas"/>
              </a:rPr>
              <a:t>    if evaluate(model, val_rows) &gt; best:  # stopping epoch</a:t>
            </a:r>
          </a:p>
          <a:p>
            <a:pPr>
              <a:lnSpc>
                <a:spcPct val="124000"/>
              </a:lnSpc>
              <a:spcAft>
                <a:spcPts val="0"/>
              </a:spcAft>
            </a:pPr>
            <a:r>
              <a:rPr sz="2100" b="0" i="0">
                <a:solidFill>
                  <a:srgbClr val="DFE7E6"/>
                </a:solidFill>
                <a:latin typeface="Consolas"/>
              </a:rPr>
              <a:t>        best = evaluate(model, val_rows); save(model)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13 / METRICS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plain accuracy is not the headline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class balance decides the metric. With 85.6 percent of rows in one class, the obvious metric is actively misleading.</a:t>
            </a:r>
          </a:p>
        </p:txBody>
      </p:sp>
      <p:sp>
        <p:nvSpPr>
          <p:cNvPr id="6" name="Rectangle 5"/>
          <p:cNvSpPr/>
          <p:nvPr/>
        </p:nvSpPr>
        <p:spPr>
          <a:xfrm>
            <a:off x="658368" y="2468879"/>
            <a:ext cx="10874959" cy="142646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468879"/>
            <a:ext cx="50292" cy="1426464"/>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651760"/>
            <a:ext cx="10372039" cy="1060704"/>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Accuracy, rejected as a headline</a:t>
            </a:r>
          </a:p>
          <a:p>
            <a:pPr algn="l">
              <a:lnSpc>
                <a:spcPct val="120000"/>
              </a:lnSpc>
              <a:spcBef>
                <a:spcPts val="0"/>
              </a:spcBef>
              <a:spcAft>
                <a:spcPts val="0"/>
              </a:spcAft>
            </a:pPr>
            <a:r>
              <a:rPr sz="2200" b="0" i="0">
                <a:solidFill>
                  <a:srgbClr val="3E4A4F"/>
                </a:solidFill>
                <a:latin typeface="Segoe UI"/>
              </a:rPr>
              <a:t>A model that answers non evaluative every single time scores 85.6 percent on this corpus and has learned nothing at all.</a:t>
            </a:r>
          </a:p>
        </p:txBody>
      </p:sp>
      <p:sp>
        <p:nvSpPr>
          <p:cNvPr id="9" name="Rectangle 8"/>
          <p:cNvSpPr/>
          <p:nvPr/>
        </p:nvSpPr>
        <p:spPr>
          <a:xfrm>
            <a:off x="658368" y="4078224"/>
            <a:ext cx="10874959" cy="157532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8368" y="4078224"/>
            <a:ext cx="50292" cy="1426464"/>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32688" y="4261104"/>
            <a:ext cx="10372039" cy="1060704"/>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Macro F1, the headline</a:t>
            </a:r>
          </a:p>
          <a:p>
            <a:pPr algn="l">
              <a:lnSpc>
                <a:spcPct val="120000"/>
              </a:lnSpc>
              <a:spcBef>
                <a:spcPts val="0"/>
              </a:spcBef>
              <a:spcAft>
                <a:spcPts val="0"/>
              </a:spcAft>
            </a:pPr>
            <a:r>
              <a:rPr sz="2200" b="0" i="0">
                <a:solidFill>
                  <a:srgbClr val="3E4A4F"/>
                </a:solidFill>
                <a:latin typeface="Segoe UI"/>
              </a:rPr>
              <a:t>Averages F1 over the three classes with equal weight, so the 152 positive rows count as much as the 2,583 neutral ones. That same all neutral model scores 0.31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13 / METRICS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other three, and what each one catches</a:t>
            </a:r>
          </a:p>
        </p:txBody>
      </p:sp>
      <p:sp>
        <p:nvSpPr>
          <p:cNvPr id="5" name="TextBox 4"/>
          <p:cNvSpPr txBox="1"/>
          <p:nvPr/>
        </p:nvSpPr>
        <p:spPr>
          <a:xfrm>
            <a:off x="658368" y="1664208"/>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Per class precision and recall</a:t>
            </a:r>
          </a:p>
        </p:txBody>
      </p:sp>
      <p:sp>
        <p:nvSpPr>
          <p:cNvPr id="6" name="TextBox 5"/>
          <p:cNvSpPr txBox="1"/>
          <p:nvPr/>
        </p:nvSpPr>
        <p:spPr>
          <a:xfrm>
            <a:off x="658368" y="2029968"/>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Macro F1 hides which class is broken. Splitting it out revealed that positive precision is the real weakness, at 0.417.</a:t>
            </a:r>
          </a:p>
        </p:txBody>
      </p:sp>
      <p:sp>
        <p:nvSpPr>
          <p:cNvPr id="7" name="TextBox 6"/>
          <p:cNvSpPr txBox="1"/>
          <p:nvPr/>
        </p:nvSpPr>
        <p:spPr>
          <a:xfrm>
            <a:off x="658368" y="279806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Cohen kappa</a:t>
            </a:r>
          </a:p>
        </p:txBody>
      </p:sp>
      <p:sp>
        <p:nvSpPr>
          <p:cNvPr id="8" name="TextBox 7"/>
          <p:cNvSpPr txBox="1"/>
          <p:nvPr/>
        </p:nvSpPr>
        <p:spPr>
          <a:xfrm>
            <a:off x="658368" y="3163824"/>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Agreement corrected for chance. The rule set reaches 0.392, which is fair agreement. Raw agreement of 59.4 percent would sound far better than it is.</a:t>
            </a:r>
          </a:p>
        </p:txBody>
      </p:sp>
      <p:sp>
        <p:nvSpPr>
          <p:cNvPr id="9" name="TextBox 8"/>
          <p:cNvSpPr txBox="1"/>
          <p:nvPr/>
        </p:nvSpPr>
        <p:spPr>
          <a:xfrm>
            <a:off x="658368" y="3931920"/>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Confusion matrix</a:t>
            </a:r>
          </a:p>
        </p:txBody>
      </p:sp>
      <p:sp>
        <p:nvSpPr>
          <p:cNvPr id="10" name="TextBox 9"/>
          <p:cNvSpPr txBox="1"/>
          <p:nvPr/>
        </p:nvSpPr>
        <p:spPr>
          <a:xfrm>
            <a:off x="658368" y="4297680"/>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The only view that says which direction the errors run. A single F1 cannot tell a model that misses negatives apart from one that invents positives.</a:t>
            </a:r>
          </a:p>
        </p:txBody>
      </p:sp>
      <p:sp>
        <p:nvSpPr>
          <p:cNvPr id="11" name="TextBox 10"/>
          <p:cNvSpPr txBox="1"/>
          <p:nvPr/>
        </p:nvSpPr>
        <p:spPr>
          <a:xfrm>
            <a:off x="658368" y="5010912"/>
            <a:ext cx="10874959" cy="64008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Deliberately not reported: word error rate, diarization error rate, and speaker attribution accuracy. Each needs a human made reference, and this project has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954512" y="6318504"/>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28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Measured against 180 transcripts read by hand</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A stratified sample of 180 target pairs was read in context and labelled by hand. 59 fall inside the held out test episodes.</a:t>
            </a:r>
          </a:p>
        </p:txBody>
      </p:sp>
      <p:sp>
        <p:nvSpPr>
          <p:cNvPr id="6" name="TextBox 5"/>
          <p:cNvSpPr txBox="1"/>
          <p:nvPr/>
        </p:nvSpPr>
        <p:spPr>
          <a:xfrm>
            <a:off x="658368" y="2468879"/>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6B787D"/>
                </a:solidFill>
                <a:latin typeface="Consolas"/>
              </a:rPr>
              <a:t>MACRO F1 ON THE 59 HELD OUT PAIRS</a:t>
            </a:r>
          </a:p>
        </p:txBody>
      </p:sp>
      <p:sp>
        <p:nvSpPr>
          <p:cNvPr id="7" name="TextBox 6"/>
          <p:cNvSpPr txBox="1"/>
          <p:nvPr/>
        </p:nvSpPr>
        <p:spPr>
          <a:xfrm>
            <a:off x="658368" y="2944368"/>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Always non evaluative</a:t>
            </a:r>
          </a:p>
        </p:txBody>
      </p:sp>
      <p:sp>
        <p:nvSpPr>
          <p:cNvPr id="8" name="Rectangle 7"/>
          <p:cNvSpPr/>
          <p:nvPr/>
        </p:nvSpPr>
        <p:spPr>
          <a:xfrm>
            <a:off x="4773168" y="2926079"/>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516367" y="2926079"/>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773168" y="2926079"/>
            <a:ext cx="971092" cy="384048"/>
          </a:xfrm>
          <a:prstGeom prst="rect">
            <a:avLst/>
          </a:prstGeom>
          <a:solidFill>
            <a:srgbClr val="77827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0405872" y="2944368"/>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0.177</a:t>
            </a:r>
          </a:p>
        </p:txBody>
      </p:sp>
      <p:sp>
        <p:nvSpPr>
          <p:cNvPr id="12" name="TextBox 11"/>
          <p:cNvSpPr txBox="1"/>
          <p:nvPr/>
        </p:nvSpPr>
        <p:spPr>
          <a:xfrm>
            <a:off x="658368" y="3456432"/>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Char n-gram baseline</a:t>
            </a:r>
          </a:p>
        </p:txBody>
      </p:sp>
      <p:sp>
        <p:nvSpPr>
          <p:cNvPr id="13" name="Rectangle 12"/>
          <p:cNvSpPr/>
          <p:nvPr/>
        </p:nvSpPr>
        <p:spPr>
          <a:xfrm>
            <a:off x="4773168" y="3438144"/>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7516367" y="3438144"/>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4773168" y="3438144"/>
            <a:ext cx="2556662" cy="384048"/>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10405872" y="3456432"/>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0.466</a:t>
            </a:r>
          </a:p>
        </p:txBody>
      </p:sp>
      <p:sp>
        <p:nvSpPr>
          <p:cNvPr id="17" name="TextBox 16"/>
          <p:cNvSpPr txBox="1"/>
          <p:nvPr/>
        </p:nvSpPr>
        <p:spPr>
          <a:xfrm>
            <a:off x="658368" y="3968496"/>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Rule labeller</a:t>
            </a:r>
          </a:p>
        </p:txBody>
      </p:sp>
      <p:sp>
        <p:nvSpPr>
          <p:cNvPr id="18" name="Rectangle 17"/>
          <p:cNvSpPr/>
          <p:nvPr/>
        </p:nvSpPr>
        <p:spPr>
          <a:xfrm>
            <a:off x="4773168" y="3950208"/>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7516367" y="3950208"/>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4773168" y="3950208"/>
            <a:ext cx="3105302" cy="38404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0405872" y="3968496"/>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0.566</a:t>
            </a:r>
          </a:p>
        </p:txBody>
      </p:sp>
      <p:sp>
        <p:nvSpPr>
          <p:cNvPr id="22" name="TextBox 21"/>
          <p:cNvSpPr txBox="1"/>
          <p:nvPr/>
        </p:nvSpPr>
        <p:spPr>
          <a:xfrm>
            <a:off x="658368" y="4480560"/>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BanglaBERT pair model</a:t>
            </a:r>
          </a:p>
        </p:txBody>
      </p:sp>
      <p:sp>
        <p:nvSpPr>
          <p:cNvPr id="23" name="Rectangle 22"/>
          <p:cNvSpPr/>
          <p:nvPr/>
        </p:nvSpPr>
        <p:spPr>
          <a:xfrm>
            <a:off x="4773168" y="4462272"/>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7516367" y="4462272"/>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0405872" y="4480560"/>
            <a:ext cx="146304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6B787D"/>
                </a:solidFill>
                <a:latin typeface="Consolas"/>
              </a:rPr>
              <a:t>not run</a:t>
            </a:r>
          </a:p>
        </p:txBody>
      </p:sp>
      <p:sp>
        <p:nvSpPr>
          <p:cNvPr id="26" name="TextBox 25"/>
          <p:cNvSpPr txBox="1"/>
          <p:nvPr/>
        </p:nvSpPr>
        <p:spPr>
          <a:xfrm>
            <a:off x="4773168" y="4919472"/>
            <a:ext cx="5486400" cy="736612"/>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                                                                  1.0</a:t>
            </a:r>
          </a:p>
        </p:txBody>
      </p:sp>
      <p:sp>
        <p:nvSpPr>
          <p:cNvPr id="27" name="Rectangle 26"/>
          <p:cNvSpPr/>
          <p:nvPr/>
        </p:nvSpPr>
        <p:spPr>
          <a:xfrm>
            <a:off x="668201" y="5102351"/>
            <a:ext cx="10796212" cy="1755649"/>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58368" y="5303520"/>
            <a:ext cx="50292" cy="118872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930402" y="5230368"/>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The result that matters</a:t>
            </a:r>
          </a:p>
          <a:p>
            <a:pPr algn="l">
              <a:lnSpc>
                <a:spcPct val="120000"/>
              </a:lnSpc>
              <a:spcBef>
                <a:spcPts val="0"/>
              </a:spcBef>
              <a:spcAft>
                <a:spcPts val="0"/>
              </a:spcAft>
            </a:pPr>
            <a:r>
              <a:rPr sz="2200" b="0" i="0" dirty="0">
                <a:solidFill>
                  <a:srgbClr val="3E4A4F"/>
                </a:solidFill>
                <a:latin typeface="Segoe UI"/>
              </a:rPr>
              <a:t>The trained model scores below the rule set that generated its training labels, 0.466 against 0.566. A student trained on noisy labels will not beat its teacher unless it can </a:t>
            </a:r>
            <a:r>
              <a:rPr sz="2200" b="0" i="0" dirty="0" err="1">
                <a:solidFill>
                  <a:srgbClr val="3E4A4F"/>
                </a:solidFill>
                <a:latin typeface="Segoe UI"/>
              </a:rPr>
              <a:t>generalise</a:t>
            </a:r>
            <a:r>
              <a:rPr sz="2200" b="0" i="0" dirty="0">
                <a:solidFill>
                  <a:srgbClr val="3E4A4F"/>
                </a:solidFill>
                <a:latin typeface="Segoe UI"/>
              </a:rPr>
              <a:t> past the teacher's mistakes.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188141" y="6345936"/>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29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Rule labeller, per class, all 180 pairs</a:t>
            </a:r>
          </a:p>
        </p:txBody>
      </p:sp>
      <p:graphicFrame>
        <p:nvGraphicFramePr>
          <p:cNvPr id="5" name="Table 4"/>
          <p:cNvGraphicFramePr>
            <a:graphicFrameLocks noGrp="1"/>
          </p:cNvGraphicFramePr>
          <p:nvPr/>
        </p:nvGraphicFramePr>
        <p:xfrm>
          <a:off x="658368" y="1664208"/>
          <a:ext cx="10874957" cy="2560320"/>
        </p:xfrm>
        <a:graphic>
          <a:graphicData uri="http://schemas.openxmlformats.org/drawingml/2006/table">
            <a:tbl>
              <a:tblPr>
                <a:tableStyleId>{5C22544A-7EE6-4342-B048-85BDC9FD1C3A}</a:tableStyleId>
              </a:tblPr>
              <a:tblGrid>
                <a:gridCol w="2965897">
                  <a:extLst>
                    <a:ext uri="{9D8B030D-6E8A-4147-A177-3AD203B41FA5}">
                      <a16:colId xmlns:a16="http://schemas.microsoft.com/office/drawing/2014/main" val="20000"/>
                    </a:ext>
                  </a:extLst>
                </a:gridCol>
                <a:gridCol w="1977265">
                  <a:extLst>
                    <a:ext uri="{9D8B030D-6E8A-4147-A177-3AD203B41FA5}">
                      <a16:colId xmlns:a16="http://schemas.microsoft.com/office/drawing/2014/main" val="20001"/>
                    </a:ext>
                  </a:extLst>
                </a:gridCol>
                <a:gridCol w="1977265">
                  <a:extLst>
                    <a:ext uri="{9D8B030D-6E8A-4147-A177-3AD203B41FA5}">
                      <a16:colId xmlns:a16="http://schemas.microsoft.com/office/drawing/2014/main" val="20002"/>
                    </a:ext>
                  </a:extLst>
                </a:gridCol>
                <a:gridCol w="1977265">
                  <a:extLst>
                    <a:ext uri="{9D8B030D-6E8A-4147-A177-3AD203B41FA5}">
                      <a16:colId xmlns:a16="http://schemas.microsoft.com/office/drawing/2014/main" val="20003"/>
                    </a:ext>
                  </a:extLst>
                </a:gridCol>
                <a:gridCol w="1977265">
                  <a:extLst>
                    <a:ext uri="{9D8B030D-6E8A-4147-A177-3AD203B41FA5}">
                      <a16:colId xmlns:a16="http://schemas.microsoft.com/office/drawing/2014/main" val="20004"/>
                    </a:ext>
                  </a:extLst>
                </a:gridCol>
              </a:tblGrid>
              <a:tr h="512064">
                <a:tc>
                  <a:txBody>
                    <a:bodyPr/>
                    <a:lstStyle/>
                    <a:p>
                      <a:pPr algn="l"/>
                      <a:r>
                        <a:rPr sz="2100" b="1" i="0">
                          <a:solidFill>
                            <a:srgbClr val="6B787D"/>
                          </a:solidFill>
                          <a:latin typeface="Consolas"/>
                        </a:rPr>
                        <a:t>Class</a:t>
                      </a:r>
                    </a:p>
                  </a:txBody>
                  <a:tcPr marL="100584" marR="100584" marT="27432" marB="27432" anchor="ctr">
                    <a:solidFill>
                      <a:srgbClr val="E0E5E1"/>
                    </a:solidFill>
                  </a:tcPr>
                </a:tc>
                <a:tc>
                  <a:txBody>
                    <a:bodyPr/>
                    <a:lstStyle/>
                    <a:p>
                      <a:pPr algn="r"/>
                      <a:r>
                        <a:rPr sz="2100" b="1" i="0">
                          <a:solidFill>
                            <a:srgbClr val="6B787D"/>
                          </a:solidFill>
                          <a:latin typeface="Consolas"/>
                        </a:rPr>
                        <a:t>Precision</a:t>
                      </a:r>
                    </a:p>
                  </a:txBody>
                  <a:tcPr marL="100584" marR="100584" marT="27432" marB="27432" anchor="ctr">
                    <a:solidFill>
                      <a:srgbClr val="E0E5E1"/>
                    </a:solidFill>
                  </a:tcPr>
                </a:tc>
                <a:tc>
                  <a:txBody>
                    <a:bodyPr/>
                    <a:lstStyle/>
                    <a:p>
                      <a:pPr algn="r"/>
                      <a:r>
                        <a:rPr sz="2100" b="1" i="0">
                          <a:solidFill>
                            <a:srgbClr val="6B787D"/>
                          </a:solidFill>
                          <a:latin typeface="Consolas"/>
                        </a:rPr>
                        <a:t>Recall</a:t>
                      </a:r>
                    </a:p>
                  </a:txBody>
                  <a:tcPr marL="100584" marR="100584" marT="27432" marB="27432" anchor="ctr">
                    <a:solidFill>
                      <a:srgbClr val="E0E5E1"/>
                    </a:solidFill>
                  </a:tcPr>
                </a:tc>
                <a:tc>
                  <a:txBody>
                    <a:bodyPr/>
                    <a:lstStyle/>
                    <a:p>
                      <a:pPr algn="r"/>
                      <a:r>
                        <a:rPr sz="2100" b="1" i="0">
                          <a:solidFill>
                            <a:srgbClr val="6B787D"/>
                          </a:solidFill>
                          <a:latin typeface="Consolas"/>
                        </a:rPr>
                        <a:t>F1</a:t>
                      </a:r>
                    </a:p>
                  </a:txBody>
                  <a:tcPr marL="100584" marR="100584" marT="27432" marB="27432" anchor="ctr">
                    <a:solidFill>
                      <a:srgbClr val="E0E5E1"/>
                    </a:solidFill>
                  </a:tcPr>
                </a:tc>
                <a:tc>
                  <a:txBody>
                    <a:bodyPr/>
                    <a:lstStyle/>
                    <a:p>
                      <a:pPr algn="r"/>
                      <a:r>
                        <a:rPr sz="2100" b="1" i="0">
                          <a:solidFill>
                            <a:srgbClr val="6B787D"/>
                          </a:solidFill>
                          <a:latin typeface="Consolas"/>
                        </a:rPr>
                        <a:t>Support</a:t>
                      </a:r>
                    </a:p>
                  </a:txBody>
                  <a:tcPr marL="100584" marR="100584" marT="27432" marB="27432" anchor="ctr">
                    <a:solidFill>
                      <a:srgbClr val="E0E5E1"/>
                    </a:solidFill>
                  </a:tcPr>
                </a:tc>
                <a:extLst>
                  <a:ext uri="{0D108BD9-81ED-4DB2-BD59-A6C34878D82A}">
                    <a16:rowId xmlns:a16="http://schemas.microsoft.com/office/drawing/2014/main" val="10000"/>
                  </a:ext>
                </a:extLst>
              </a:tr>
              <a:tr h="512064">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r"/>
                      <a:r>
                        <a:rPr sz="2100" b="0" i="0">
                          <a:solidFill>
                            <a:srgbClr val="14181B"/>
                          </a:solidFill>
                          <a:latin typeface="Consolas"/>
                        </a:rPr>
                        <a:t>0.850</a:t>
                      </a:r>
                    </a:p>
                  </a:txBody>
                  <a:tcPr marL="100584" marR="100584" marT="27432" marB="27432" anchor="ctr">
                    <a:solidFill>
                      <a:srgbClr val="F8F9F7"/>
                    </a:solidFill>
                  </a:tcPr>
                </a:tc>
                <a:tc>
                  <a:txBody>
                    <a:bodyPr/>
                    <a:lstStyle/>
                    <a:p>
                      <a:pPr algn="r"/>
                      <a:r>
                        <a:rPr sz="2100" b="0" i="0">
                          <a:solidFill>
                            <a:srgbClr val="14181B"/>
                          </a:solidFill>
                          <a:latin typeface="Consolas"/>
                        </a:rPr>
                        <a:t>0.607</a:t>
                      </a:r>
                    </a:p>
                  </a:txBody>
                  <a:tcPr marL="100584" marR="100584" marT="27432" marB="27432" anchor="ctr">
                    <a:solidFill>
                      <a:srgbClr val="F8F9F7"/>
                    </a:solidFill>
                  </a:tcPr>
                </a:tc>
                <a:tc>
                  <a:txBody>
                    <a:bodyPr/>
                    <a:lstStyle/>
                    <a:p>
                      <a:pPr algn="r"/>
                      <a:r>
                        <a:rPr sz="2100" b="0" i="0">
                          <a:solidFill>
                            <a:srgbClr val="14181B"/>
                          </a:solidFill>
                          <a:latin typeface="Consolas"/>
                        </a:rPr>
                        <a:t>0.708</a:t>
                      </a:r>
                    </a:p>
                  </a:txBody>
                  <a:tcPr marL="100584" marR="100584" marT="27432" marB="27432" anchor="ctr">
                    <a:solidFill>
                      <a:srgbClr val="F8F9F7"/>
                    </a:solidFill>
                  </a:tcPr>
                </a:tc>
                <a:tc>
                  <a:txBody>
                    <a:bodyPr/>
                    <a:lstStyle/>
                    <a:p>
                      <a:pPr algn="r"/>
                      <a:r>
                        <a:rPr sz="2100" b="0" i="0">
                          <a:solidFill>
                            <a:srgbClr val="14181B"/>
                          </a:solidFill>
                          <a:latin typeface="Consolas"/>
                        </a:rPr>
                        <a:t>84</a:t>
                      </a:r>
                    </a:p>
                  </a:txBody>
                  <a:tcPr marL="100584" marR="100584" marT="27432" marB="27432" anchor="ctr">
                    <a:solidFill>
                      <a:srgbClr val="F8F9F7"/>
                    </a:solidFill>
                  </a:tcPr>
                </a:tc>
                <a:extLst>
                  <a:ext uri="{0D108BD9-81ED-4DB2-BD59-A6C34878D82A}">
                    <a16:rowId xmlns:a16="http://schemas.microsoft.com/office/drawing/2014/main" val="10001"/>
                  </a:ext>
                </a:extLst>
              </a:tr>
              <a:tr h="512064">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0.517</a:t>
                      </a:r>
                    </a:p>
                  </a:txBody>
                  <a:tcPr marL="100584" marR="100584" marT="27432" marB="27432" anchor="ctr">
                    <a:solidFill>
                      <a:srgbClr val="F8F9F7"/>
                    </a:solidFill>
                  </a:tcPr>
                </a:tc>
                <a:tc>
                  <a:txBody>
                    <a:bodyPr/>
                    <a:lstStyle/>
                    <a:p>
                      <a:pPr algn="r"/>
                      <a:r>
                        <a:rPr sz="2100" b="0" i="0">
                          <a:solidFill>
                            <a:srgbClr val="14181B"/>
                          </a:solidFill>
                          <a:latin typeface="Consolas"/>
                        </a:rPr>
                        <a:t>0.484</a:t>
                      </a:r>
                    </a:p>
                  </a:txBody>
                  <a:tcPr marL="100584" marR="100584" marT="27432" marB="27432" anchor="ctr">
                    <a:solidFill>
                      <a:srgbClr val="F8F9F7"/>
                    </a:solidFill>
                  </a:tcPr>
                </a:tc>
                <a:tc>
                  <a:txBody>
                    <a:bodyPr/>
                    <a:lstStyle/>
                    <a:p>
                      <a:pPr algn="r"/>
                      <a:r>
                        <a:rPr sz="2100" b="0" i="0">
                          <a:solidFill>
                            <a:srgbClr val="14181B"/>
                          </a:solidFill>
                          <a:latin typeface="Consolas"/>
                        </a:rPr>
                        <a:t>0.500</a:t>
                      </a:r>
                    </a:p>
                  </a:txBody>
                  <a:tcPr marL="100584" marR="100584" marT="27432" marB="27432" anchor="ctr">
                    <a:solidFill>
                      <a:srgbClr val="F8F9F7"/>
                    </a:solidFill>
                  </a:tcPr>
                </a:tc>
                <a:tc>
                  <a:txBody>
                    <a:bodyPr/>
                    <a:lstStyle/>
                    <a:p>
                      <a:pPr algn="r"/>
                      <a:r>
                        <a:rPr sz="2100" b="0" i="0">
                          <a:solidFill>
                            <a:srgbClr val="14181B"/>
                          </a:solidFill>
                          <a:latin typeface="Consolas"/>
                        </a:rPr>
                        <a:t>64</a:t>
                      </a:r>
                    </a:p>
                  </a:txBody>
                  <a:tcPr marL="100584" marR="100584" marT="27432" marB="27432" anchor="ctr">
                    <a:solidFill>
                      <a:srgbClr val="F8F9F7"/>
                    </a:solidFill>
                  </a:tcPr>
                </a:tc>
                <a:extLst>
                  <a:ext uri="{0D108BD9-81ED-4DB2-BD59-A6C34878D82A}">
                    <a16:rowId xmlns:a16="http://schemas.microsoft.com/office/drawing/2014/main" val="10002"/>
                  </a:ext>
                </a:extLst>
              </a:tr>
              <a:tr h="512064">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0.417</a:t>
                      </a:r>
                    </a:p>
                  </a:txBody>
                  <a:tcPr marL="100584" marR="100584" marT="27432" marB="27432" anchor="ctr">
                    <a:solidFill>
                      <a:srgbClr val="F8F9F7"/>
                    </a:solidFill>
                  </a:tcPr>
                </a:tc>
                <a:tc>
                  <a:txBody>
                    <a:bodyPr/>
                    <a:lstStyle/>
                    <a:p>
                      <a:pPr algn="r"/>
                      <a:r>
                        <a:rPr sz="2100" b="0" i="0">
                          <a:solidFill>
                            <a:srgbClr val="14181B"/>
                          </a:solidFill>
                          <a:latin typeface="Consolas"/>
                        </a:rPr>
                        <a:t>0.781</a:t>
                      </a:r>
                    </a:p>
                  </a:txBody>
                  <a:tcPr marL="100584" marR="100584" marT="27432" marB="27432" anchor="ctr">
                    <a:solidFill>
                      <a:srgbClr val="F8F9F7"/>
                    </a:solidFill>
                  </a:tcPr>
                </a:tc>
                <a:tc>
                  <a:txBody>
                    <a:bodyPr/>
                    <a:lstStyle/>
                    <a:p>
                      <a:pPr algn="r"/>
                      <a:r>
                        <a:rPr sz="2100" b="0" i="0">
                          <a:solidFill>
                            <a:srgbClr val="14181B"/>
                          </a:solidFill>
                          <a:latin typeface="Consolas"/>
                        </a:rPr>
                        <a:t>0.543</a:t>
                      </a:r>
                    </a:p>
                  </a:txBody>
                  <a:tcPr marL="100584" marR="100584" marT="27432" marB="27432" anchor="ctr">
                    <a:solidFill>
                      <a:srgbClr val="F8F9F7"/>
                    </a:solidFill>
                  </a:tcPr>
                </a:tc>
                <a:tc>
                  <a:txBody>
                    <a:bodyPr/>
                    <a:lstStyle/>
                    <a:p>
                      <a:pPr algn="r"/>
                      <a:r>
                        <a:rPr sz="2100" b="0" i="0">
                          <a:solidFill>
                            <a:srgbClr val="14181B"/>
                          </a:solidFill>
                          <a:latin typeface="Consolas"/>
                        </a:rPr>
                        <a:t>32</a:t>
                      </a:r>
                    </a:p>
                  </a:txBody>
                  <a:tcPr marL="100584" marR="100584" marT="27432" marB="27432" anchor="ctr">
                    <a:solidFill>
                      <a:srgbClr val="F8F9F7"/>
                    </a:solidFill>
                  </a:tcPr>
                </a:tc>
                <a:extLst>
                  <a:ext uri="{0D108BD9-81ED-4DB2-BD59-A6C34878D82A}">
                    <a16:rowId xmlns:a16="http://schemas.microsoft.com/office/drawing/2014/main" val="10003"/>
                  </a:ext>
                </a:extLst>
              </a:tr>
              <a:tr h="512064">
                <a:tc>
                  <a:txBody>
                    <a:bodyPr/>
                    <a:lstStyle/>
                    <a:p>
                      <a:pPr algn="l"/>
                      <a:r>
                        <a:rPr sz="2100" b="1" i="0">
                          <a:solidFill>
                            <a:srgbClr val="14181B"/>
                          </a:solidFill>
                          <a:latin typeface="Segoe UI"/>
                        </a:rPr>
                        <a:t>macro average</a:t>
                      </a:r>
                    </a:p>
                  </a:txBody>
                  <a:tcPr marL="100584" marR="100584" marT="27432" marB="27432" anchor="ctr">
                    <a:solidFill>
                      <a:srgbClr val="E0E5E1"/>
                    </a:solidFill>
                  </a:tcPr>
                </a:tc>
                <a:tc>
                  <a:txBody>
                    <a:bodyPr/>
                    <a:lstStyle/>
                    <a:p>
                      <a:pPr algn="r"/>
                      <a:r>
                        <a:rPr sz="2100" b="1" i="0">
                          <a:solidFill>
                            <a:srgbClr val="14181B"/>
                          </a:solidFill>
                          <a:latin typeface="Consolas"/>
                        </a:rPr>
                        <a:t>0.594</a:t>
                      </a:r>
                    </a:p>
                  </a:txBody>
                  <a:tcPr marL="100584" marR="100584" marT="27432" marB="27432" anchor="ctr">
                    <a:solidFill>
                      <a:srgbClr val="E0E5E1"/>
                    </a:solidFill>
                  </a:tcPr>
                </a:tc>
                <a:tc>
                  <a:txBody>
                    <a:bodyPr/>
                    <a:lstStyle/>
                    <a:p>
                      <a:pPr algn="r"/>
                      <a:r>
                        <a:rPr sz="2100" b="1" i="0">
                          <a:solidFill>
                            <a:srgbClr val="14181B"/>
                          </a:solidFill>
                          <a:latin typeface="Consolas"/>
                        </a:rPr>
                        <a:t>0.624</a:t>
                      </a:r>
                    </a:p>
                  </a:txBody>
                  <a:tcPr marL="100584" marR="100584" marT="27432" marB="27432" anchor="ctr">
                    <a:solidFill>
                      <a:srgbClr val="E0E5E1"/>
                    </a:solidFill>
                  </a:tcPr>
                </a:tc>
                <a:tc>
                  <a:txBody>
                    <a:bodyPr/>
                    <a:lstStyle/>
                    <a:p>
                      <a:pPr algn="r"/>
                      <a:r>
                        <a:rPr sz="2100" b="1" i="0">
                          <a:solidFill>
                            <a:srgbClr val="14181B"/>
                          </a:solidFill>
                          <a:latin typeface="Consolas"/>
                        </a:rPr>
                        <a:t>0.584</a:t>
                      </a:r>
                    </a:p>
                  </a:txBody>
                  <a:tcPr marL="100584" marR="100584" marT="27432" marB="27432" anchor="ctr">
                    <a:solidFill>
                      <a:srgbClr val="E0E5E1"/>
                    </a:solidFill>
                  </a:tcPr>
                </a:tc>
                <a:tc>
                  <a:txBody>
                    <a:bodyPr/>
                    <a:lstStyle/>
                    <a:p>
                      <a:pPr algn="r"/>
                      <a:r>
                        <a:rPr sz="2100" b="1" i="0">
                          <a:solidFill>
                            <a:srgbClr val="14181B"/>
                          </a:solidFill>
                          <a:latin typeface="Consolas"/>
                        </a:rPr>
                        <a:t>180</a:t>
                      </a:r>
                    </a:p>
                  </a:txBody>
                  <a:tcPr marL="100584" marR="100584" marT="27432" marB="27432" anchor="ctr">
                    <a:solidFill>
                      <a:srgbClr val="E0E5E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58368" y="449884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Consolas"/>
              </a:rPr>
              <a:t>Accuracy 0.594.    Cohen kappa 0.392.</a:t>
            </a:r>
          </a:p>
        </p:txBody>
      </p:sp>
      <p:sp>
        <p:nvSpPr>
          <p:cNvPr id="7" name="Rectangle 6"/>
          <p:cNvSpPr/>
          <p:nvPr/>
        </p:nvSpPr>
        <p:spPr>
          <a:xfrm>
            <a:off x="658368" y="5047488"/>
            <a:ext cx="10874959" cy="157276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5047488"/>
            <a:ext cx="50292" cy="129844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5230368"/>
            <a:ext cx="10372039" cy="932688"/>
          </a:xfrm>
          <a:prstGeom prst="rect">
            <a:avLst/>
          </a:prstGeom>
          <a:noFill/>
        </p:spPr>
        <p:txBody>
          <a:bodyPr wrap="square" lIns="0" tIns="0" rIns="0" bIns="0" anchor="t">
            <a:spAutoFit/>
          </a:bodyPr>
          <a:lstStyle/>
          <a:p>
            <a:pPr algn="l">
              <a:lnSpc>
                <a:spcPct val="120000"/>
              </a:lnSpc>
              <a:spcBef>
                <a:spcPts val="0"/>
              </a:spcBef>
              <a:spcAft>
                <a:spcPts val="0"/>
              </a:spcAft>
            </a:pPr>
            <a:r>
              <a:rPr sz="2200" b="0" i="0" dirty="0">
                <a:solidFill>
                  <a:srgbClr val="3E4A4F"/>
                </a:solidFill>
                <a:latin typeface="Segoe UI"/>
              </a:rPr>
              <a:t>Negative precision is high at 0.850, so when the system says negative it is usually right. Positive precision at 0.417 is where the damage sits: it calls things positive that are not.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30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Baseline confusion matrix on 59 held-out pairs</a:t>
            </a:r>
          </a:p>
        </p:txBody>
      </p:sp>
      <p:graphicFrame>
        <p:nvGraphicFramePr>
          <p:cNvPr id="5" name="Table 4"/>
          <p:cNvGraphicFramePr>
            <a:graphicFrameLocks noGrp="1"/>
          </p:cNvGraphicFramePr>
          <p:nvPr/>
        </p:nvGraphicFramePr>
        <p:xfrm>
          <a:off x="658368" y="1664208"/>
          <a:ext cx="7680958" cy="2395728"/>
        </p:xfrm>
        <a:graphic>
          <a:graphicData uri="http://schemas.openxmlformats.org/drawingml/2006/table">
            <a:tbl>
              <a:tblPr>
                <a:tableStyleId>{5C22544A-7EE6-4342-B048-85BDC9FD1C3A}</a:tableStyleId>
              </a:tblPr>
              <a:tblGrid>
                <a:gridCol w="2234461">
                  <a:extLst>
                    <a:ext uri="{9D8B030D-6E8A-4147-A177-3AD203B41FA5}">
                      <a16:colId xmlns:a16="http://schemas.microsoft.com/office/drawing/2014/main" val="20000"/>
                    </a:ext>
                  </a:extLst>
                </a:gridCol>
                <a:gridCol w="1815499">
                  <a:extLst>
                    <a:ext uri="{9D8B030D-6E8A-4147-A177-3AD203B41FA5}">
                      <a16:colId xmlns:a16="http://schemas.microsoft.com/office/drawing/2014/main" val="20001"/>
                    </a:ext>
                  </a:extLst>
                </a:gridCol>
                <a:gridCol w="1815499">
                  <a:extLst>
                    <a:ext uri="{9D8B030D-6E8A-4147-A177-3AD203B41FA5}">
                      <a16:colId xmlns:a16="http://schemas.microsoft.com/office/drawing/2014/main" val="20002"/>
                    </a:ext>
                  </a:extLst>
                </a:gridCol>
                <a:gridCol w="1815499">
                  <a:extLst>
                    <a:ext uri="{9D8B030D-6E8A-4147-A177-3AD203B41FA5}">
                      <a16:colId xmlns:a16="http://schemas.microsoft.com/office/drawing/2014/main" val="20003"/>
                    </a:ext>
                  </a:extLst>
                </a:gridCol>
              </a:tblGrid>
              <a:tr h="566928">
                <a:tc>
                  <a:txBody>
                    <a:bodyPr/>
                    <a:lstStyle/>
                    <a:p>
                      <a:pPr algn="l"/>
                      <a:endParaRPr/>
                    </a:p>
                  </a:txBody>
                  <a:tcPr marL="100584" marR="100584" marT="27432" marB="27432" anchor="ctr">
                    <a:solidFill>
                      <a:srgbClr val="E0E5E1"/>
                    </a:solidFill>
                  </a:tcPr>
                </a:tc>
                <a:tc>
                  <a:txBody>
                    <a:bodyPr/>
                    <a:lstStyle/>
                    <a:p>
                      <a:pPr algn="ctr"/>
                      <a:r>
                        <a:rPr sz="2100" b="1" i="0">
                          <a:solidFill>
                            <a:srgbClr val="6B787D"/>
                          </a:solidFill>
                          <a:latin typeface="Consolas"/>
                        </a:rPr>
                        <a:t>said negative</a:t>
                      </a:r>
                    </a:p>
                  </a:txBody>
                  <a:tcPr marL="100584" marR="100584" marT="27432" marB="27432" anchor="ctr">
                    <a:solidFill>
                      <a:srgbClr val="E0E5E1"/>
                    </a:solidFill>
                  </a:tcPr>
                </a:tc>
                <a:tc>
                  <a:txBody>
                    <a:bodyPr/>
                    <a:lstStyle/>
                    <a:p>
                      <a:pPr algn="ctr"/>
                      <a:r>
                        <a:rPr sz="2100" b="1" i="0">
                          <a:solidFill>
                            <a:srgbClr val="6B787D"/>
                          </a:solidFill>
                          <a:latin typeface="Consolas"/>
                        </a:rPr>
                        <a:t>said non eval</a:t>
                      </a:r>
                    </a:p>
                  </a:txBody>
                  <a:tcPr marL="100584" marR="100584" marT="27432" marB="27432" anchor="ctr">
                    <a:solidFill>
                      <a:srgbClr val="E0E5E1"/>
                    </a:solidFill>
                  </a:tcPr>
                </a:tc>
                <a:tc>
                  <a:txBody>
                    <a:bodyPr/>
                    <a:lstStyle/>
                    <a:p>
                      <a:pPr algn="ctr"/>
                      <a:r>
                        <a:rPr sz="2100" b="1" i="0">
                          <a:solidFill>
                            <a:srgbClr val="6B787D"/>
                          </a:solidFill>
                          <a:latin typeface="Consolas"/>
                        </a:rPr>
                        <a:t>said positive</a:t>
                      </a:r>
                    </a:p>
                  </a:txBody>
                  <a:tcPr marL="100584" marR="100584" marT="27432" marB="27432" anchor="ctr">
                    <a:solidFill>
                      <a:srgbClr val="E0E5E1"/>
                    </a:solidFill>
                  </a:tcPr>
                </a:tc>
                <a:extLst>
                  <a:ext uri="{0D108BD9-81ED-4DB2-BD59-A6C34878D82A}">
                    <a16:rowId xmlns:a16="http://schemas.microsoft.com/office/drawing/2014/main" val="10000"/>
                  </a:ext>
                </a:extLst>
              </a:tr>
              <a:tr h="566928">
                <a:tc>
                  <a:txBody>
                    <a:bodyPr/>
                    <a:lstStyle/>
                    <a:p>
                      <a:pPr algn="l"/>
                      <a:r>
                        <a:rPr sz="2100" b="0" i="0">
                          <a:solidFill>
                            <a:srgbClr val="14181B"/>
                          </a:solidFill>
                          <a:latin typeface="Segoe UI"/>
                        </a:rPr>
                        <a:t>is negative</a:t>
                      </a:r>
                    </a:p>
                  </a:txBody>
                  <a:tcPr marL="100584" marR="100584" marT="27432" marB="27432" anchor="ctr">
                    <a:solidFill>
                      <a:srgbClr val="F8F9F7"/>
                    </a:solidFill>
                  </a:tcPr>
                </a:tc>
                <a:tc>
                  <a:txBody>
                    <a:bodyPr/>
                    <a:lstStyle/>
                    <a:p>
                      <a:pPr algn="ctr"/>
                      <a:r>
                        <a:rPr sz="2100" b="0" i="0">
                          <a:solidFill>
                            <a:srgbClr val="14181B"/>
                          </a:solidFill>
                          <a:latin typeface="Segoe UI"/>
                        </a:rPr>
                        <a:t>10</a:t>
                      </a:r>
                    </a:p>
                  </a:txBody>
                  <a:tcPr marL="100584" marR="100584" marT="27432" marB="27432" anchor="ctr">
                    <a:solidFill>
                      <a:srgbClr val="F8F9F7"/>
                    </a:solidFill>
                  </a:tcPr>
                </a:tc>
                <a:tc>
                  <a:txBody>
                    <a:bodyPr/>
                    <a:lstStyle/>
                    <a:p>
                      <a:pPr algn="ctr"/>
                      <a:r>
                        <a:rPr sz="2100" b="0" i="0">
                          <a:solidFill>
                            <a:srgbClr val="14181B"/>
                          </a:solidFill>
                          <a:latin typeface="Segoe UI"/>
                        </a:rPr>
                        <a:t>21</a:t>
                      </a:r>
                    </a:p>
                  </a:txBody>
                  <a:tcPr marL="100584" marR="100584" marT="27432" marB="27432" anchor="ctr">
                    <a:solidFill>
                      <a:srgbClr val="F8F9F7"/>
                    </a:solidFill>
                  </a:tcPr>
                </a:tc>
                <a:tc>
                  <a:txBody>
                    <a:bodyPr/>
                    <a:lstStyle/>
                    <a:p>
                      <a:pPr algn="ctr"/>
                      <a:r>
                        <a:rPr sz="2100" b="0" i="0">
                          <a:solidFill>
                            <a:srgbClr val="14181B"/>
                          </a:solidFill>
                          <a:latin typeface="Segoe UI"/>
                        </a:rPr>
                        <a:t>2</a:t>
                      </a:r>
                    </a:p>
                  </a:txBody>
                  <a:tcPr marL="100584" marR="100584" marT="27432" marB="27432" anchor="ctr">
                    <a:solidFill>
                      <a:srgbClr val="F8F9F7"/>
                    </a:solidFill>
                  </a:tcPr>
                </a:tc>
                <a:extLst>
                  <a:ext uri="{0D108BD9-81ED-4DB2-BD59-A6C34878D82A}">
                    <a16:rowId xmlns:a16="http://schemas.microsoft.com/office/drawing/2014/main" val="10001"/>
                  </a:ext>
                </a:extLst>
              </a:tr>
              <a:tr h="566928">
                <a:tc>
                  <a:txBody>
                    <a:bodyPr/>
                    <a:lstStyle/>
                    <a:p>
                      <a:pPr algn="l"/>
                      <a:r>
                        <a:rPr sz="2100" b="0" i="0">
                          <a:solidFill>
                            <a:srgbClr val="14181B"/>
                          </a:solidFill>
                          <a:latin typeface="Segoe UI"/>
                        </a:rPr>
                        <a:t>is non evaluative</a:t>
                      </a:r>
                    </a:p>
                  </a:txBody>
                  <a:tcPr marL="100584" marR="100584" marT="27432" marB="27432" anchor="ctr">
                    <a:solidFill>
                      <a:srgbClr val="F8F9F7"/>
                    </a:solidFill>
                  </a:tcPr>
                </a:tc>
                <a:tc>
                  <a:txBody>
                    <a:bodyPr/>
                    <a:lstStyle/>
                    <a:p>
                      <a:pPr algn="ctr"/>
                      <a:r>
                        <a:rPr sz="2100" b="0" i="0">
                          <a:solidFill>
                            <a:srgbClr val="14181B"/>
                          </a:solidFill>
                          <a:latin typeface="Segoe UI"/>
                        </a:rPr>
                        <a:t>3</a:t>
                      </a:r>
                    </a:p>
                  </a:txBody>
                  <a:tcPr marL="100584" marR="100584" marT="27432" marB="27432" anchor="ctr">
                    <a:solidFill>
                      <a:srgbClr val="F8F9F7"/>
                    </a:solidFill>
                  </a:tcPr>
                </a:tc>
                <a:tc>
                  <a:txBody>
                    <a:bodyPr/>
                    <a:lstStyle/>
                    <a:p>
                      <a:pPr algn="ctr"/>
                      <a:r>
                        <a:rPr sz="2100" b="0" i="0">
                          <a:solidFill>
                            <a:srgbClr val="14181B"/>
                          </a:solidFill>
                          <a:latin typeface="Segoe UI"/>
                        </a:rPr>
                        <a:t>13</a:t>
                      </a:r>
                    </a:p>
                  </a:txBody>
                  <a:tcPr marL="100584" marR="100584" marT="27432" marB="27432" anchor="ctr">
                    <a:solidFill>
                      <a:srgbClr val="F8F9F7"/>
                    </a:solidFill>
                  </a:tcPr>
                </a:tc>
                <a:tc>
                  <a:txBody>
                    <a:bodyPr/>
                    <a:lstStyle/>
                    <a:p>
                      <a:pPr algn="ctr"/>
                      <a:r>
                        <a:rPr sz="2100" b="0" i="0">
                          <a:solidFill>
                            <a:srgbClr val="14181B"/>
                          </a:solidFill>
                          <a:latin typeface="Segoe UI"/>
                        </a:rPr>
                        <a:t>0</a:t>
                      </a:r>
                    </a:p>
                  </a:txBody>
                  <a:tcPr marL="100584" marR="100584" marT="27432" marB="27432" anchor="ctr">
                    <a:solidFill>
                      <a:srgbClr val="F8F9F7"/>
                    </a:solidFill>
                  </a:tcPr>
                </a:tc>
                <a:extLst>
                  <a:ext uri="{0D108BD9-81ED-4DB2-BD59-A6C34878D82A}">
                    <a16:rowId xmlns:a16="http://schemas.microsoft.com/office/drawing/2014/main" val="10002"/>
                  </a:ext>
                </a:extLst>
              </a:tr>
              <a:tr h="566928">
                <a:tc>
                  <a:txBody>
                    <a:bodyPr/>
                    <a:lstStyle/>
                    <a:p>
                      <a:pPr algn="l"/>
                      <a:r>
                        <a:rPr sz="2100" b="0" i="0">
                          <a:solidFill>
                            <a:srgbClr val="14181B"/>
                          </a:solidFill>
                          <a:latin typeface="Segoe UI"/>
                        </a:rPr>
                        <a:t>is positive</a:t>
                      </a:r>
                    </a:p>
                  </a:txBody>
                  <a:tcPr marL="100584" marR="100584" marT="27432" marB="27432" anchor="ctr">
                    <a:solidFill>
                      <a:srgbClr val="F8F9F7"/>
                    </a:solidFill>
                  </a:tcPr>
                </a:tc>
                <a:tc>
                  <a:txBody>
                    <a:bodyPr/>
                    <a:lstStyle/>
                    <a:p>
                      <a:pPr algn="ctr"/>
                      <a:r>
                        <a:rPr sz="2100" b="0" i="0">
                          <a:solidFill>
                            <a:srgbClr val="14181B"/>
                          </a:solidFill>
                          <a:latin typeface="Segoe UI"/>
                        </a:rPr>
                        <a:t>0</a:t>
                      </a:r>
                    </a:p>
                  </a:txBody>
                  <a:tcPr marL="100584" marR="100584" marT="27432" marB="27432" anchor="ctr">
                    <a:solidFill>
                      <a:srgbClr val="F8F9F7"/>
                    </a:solidFill>
                  </a:tcPr>
                </a:tc>
                <a:tc>
                  <a:txBody>
                    <a:bodyPr/>
                    <a:lstStyle/>
                    <a:p>
                      <a:pPr algn="ctr"/>
                      <a:r>
                        <a:rPr sz="2100" b="0" i="0">
                          <a:solidFill>
                            <a:srgbClr val="14181B"/>
                          </a:solidFill>
                          <a:latin typeface="Segoe UI"/>
                        </a:rPr>
                        <a:t>6</a:t>
                      </a:r>
                    </a:p>
                  </a:txBody>
                  <a:tcPr marL="100584" marR="100584" marT="27432" marB="27432" anchor="ctr">
                    <a:solidFill>
                      <a:srgbClr val="F8F9F7"/>
                    </a:solidFill>
                  </a:tcPr>
                </a:tc>
                <a:tc>
                  <a:txBody>
                    <a:bodyPr/>
                    <a:lstStyle/>
                    <a:p>
                      <a:pPr algn="ctr"/>
                      <a:r>
                        <a:rPr sz="2100" b="0" i="0">
                          <a:solidFill>
                            <a:srgbClr val="14181B"/>
                          </a:solidFill>
                          <a:latin typeface="Segoe UI"/>
                        </a:rPr>
                        <a:t>4</a:t>
                      </a:r>
                    </a:p>
                  </a:txBody>
                  <a:tcPr marL="100584" marR="100584" marT="27432" marB="27432" anchor="ctr">
                    <a:solidFill>
                      <a:srgbClr val="F8F9F7"/>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8705088" y="1664207"/>
            <a:ext cx="2828239" cy="464515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8705088" y="1664208"/>
            <a:ext cx="50292" cy="2267712"/>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979408" y="1847088"/>
            <a:ext cx="2325319" cy="1901952"/>
          </a:xfrm>
          <a:prstGeom prst="rect">
            <a:avLst/>
          </a:prstGeom>
          <a:noFill/>
        </p:spPr>
        <p:txBody>
          <a:bodyPr wrap="square" lIns="0" tIns="0" rIns="0" bIns="0" anchor="t">
            <a:spAutoFit/>
          </a:bodyPr>
          <a:lstStyle/>
          <a:p>
            <a:pPr algn="l">
              <a:lnSpc>
                <a:spcPct val="118000"/>
              </a:lnSpc>
              <a:spcBef>
                <a:spcPts val="0"/>
              </a:spcBef>
              <a:spcAft>
                <a:spcPts val="600"/>
              </a:spcAft>
            </a:pPr>
            <a:r>
              <a:rPr sz="2300" b="1" i="0">
                <a:solidFill>
                  <a:srgbClr val="14181B"/>
                </a:solidFill>
                <a:latin typeface="Segoe UI"/>
              </a:rPr>
              <a:t>Read the top right</a:t>
            </a:r>
          </a:p>
          <a:p>
            <a:pPr algn="l">
              <a:lnSpc>
                <a:spcPct val="120000"/>
              </a:lnSpc>
              <a:spcBef>
                <a:spcPts val="0"/>
              </a:spcBef>
              <a:spcAft>
                <a:spcPts val="0"/>
              </a:spcAft>
            </a:pPr>
            <a:r>
              <a:rPr sz="2100" b="0" i="0">
                <a:solidFill>
                  <a:srgbClr val="3E4A4F"/>
                </a:solidFill>
                <a:latin typeface="Segoe UI"/>
              </a:rPr>
              <a:t>The largest error is 21 human-negative pairs predicted as non-evaluative. The model is missing negative judgements rather than confidently finding them.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1</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Learning curve for the trained baseline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saved Logistic Regression run has no neural epoch-loss history. This reproducible curve shows how macro F1 changes as more silver-labelled training data is added.</a:t>
            </a:r>
          </a:p>
        </p:txBody>
      </p:sp>
      <p:pic>
        <p:nvPicPr>
          <p:cNvPr id="6" name="Picture 5" descr="baseline_learning_curve.png"/>
          <p:cNvPicPr>
            <a:picLocks noChangeAspect="1"/>
          </p:cNvPicPr>
          <p:nvPr/>
        </p:nvPicPr>
        <p:blipFill>
          <a:blip r:embed="rId2"/>
          <a:stretch>
            <a:fillRect/>
          </a:stretch>
        </p:blipFill>
        <p:spPr>
          <a:xfrm>
            <a:off x="3150704" y="2468879"/>
            <a:ext cx="8382623" cy="3561188"/>
          </a:xfrm>
          <a:prstGeom prst="rect">
            <a:avLst/>
          </a:prstGeom>
        </p:spPr>
      </p:pic>
      <p:sp>
        <p:nvSpPr>
          <p:cNvPr id="7" name="TextBox 6"/>
          <p:cNvSpPr txBox="1"/>
          <p:nvPr/>
        </p:nvSpPr>
        <p:spPr>
          <a:xfrm>
            <a:off x="658368" y="6144768"/>
            <a:ext cx="10874959"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Dashed line: final held-out human test macro F1 = 0.466. It is not used for model selection.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2</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held-out score is made of</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baseline was evaluated on 59 human-reviewed target pairs from four unseen episodes.</a:t>
            </a:r>
          </a:p>
        </p:txBody>
      </p:sp>
      <p:pic>
        <p:nvPicPr>
          <p:cNvPr id="6" name="Picture 5" descr="baseline_class_metrics.png"/>
          <p:cNvPicPr>
            <a:picLocks noChangeAspect="1"/>
          </p:cNvPicPr>
          <p:nvPr/>
        </p:nvPicPr>
        <p:blipFill>
          <a:blip r:embed="rId2"/>
          <a:stretch>
            <a:fillRect/>
          </a:stretch>
        </p:blipFill>
        <p:spPr>
          <a:xfrm>
            <a:off x="2461129" y="1837653"/>
            <a:ext cx="9072198" cy="4444275"/>
          </a:xfrm>
          <a:prstGeom prst="rect">
            <a:avLst/>
          </a:prstGeom>
        </p:spPr>
      </p:pic>
      <p:sp>
        <p:nvSpPr>
          <p:cNvPr id="7" name="TextBox 6"/>
          <p:cNvSpPr txBox="1"/>
          <p:nvPr/>
        </p:nvSpPr>
        <p:spPr>
          <a:xfrm>
            <a:off x="658368" y="6144768"/>
            <a:ext cx="10874959"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Negative precision is strong, but negative recall is low; non-evaluative recall is high but imprecise.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963056" y="6419088"/>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3</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Confusion matrix: two colour views</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Rows are human labels and columns are baseline predictions. Counts and row-normalized recall show different characteristics of the same result.</a:t>
            </a:r>
          </a:p>
        </p:txBody>
      </p:sp>
      <p:pic>
        <p:nvPicPr>
          <p:cNvPr id="6" name="Picture 5" descr="baseline_confusion_variants.png"/>
          <p:cNvPicPr>
            <a:picLocks noChangeAspect="1"/>
          </p:cNvPicPr>
          <p:nvPr/>
        </p:nvPicPr>
        <p:blipFill>
          <a:blip r:embed="rId2"/>
          <a:stretch>
            <a:fillRect/>
          </a:stretch>
        </p:blipFill>
        <p:spPr>
          <a:xfrm>
            <a:off x="1769806" y="2364053"/>
            <a:ext cx="8475495" cy="3780715"/>
          </a:xfrm>
          <a:prstGeom prst="rect">
            <a:avLst/>
          </a:prstGeom>
        </p:spPr>
      </p:pic>
      <p:sp>
        <p:nvSpPr>
          <p:cNvPr id="7" name="TextBox 6"/>
          <p:cNvSpPr txBox="1"/>
          <p:nvPr/>
        </p:nvSpPr>
        <p:spPr>
          <a:xfrm>
            <a:off x="2359589" y="6017135"/>
            <a:ext cx="7295928" cy="736612"/>
          </a:xfrm>
          <a:prstGeom prst="rect">
            <a:avLst/>
          </a:prstGeom>
          <a:noFill/>
        </p:spPr>
        <p:txBody>
          <a:bodyPr wrap="square" lIns="0" tIns="0" rIns="0" bIns="0" anchor="t">
            <a:spAutoFit/>
          </a:bodyPr>
          <a:lstStyle/>
          <a:p>
            <a:pPr algn="ctr">
              <a:lnSpc>
                <a:spcPct val="118000"/>
              </a:lnSpc>
              <a:spcBef>
                <a:spcPts val="0"/>
              </a:spcBef>
              <a:spcAft>
                <a:spcPts val="0"/>
              </a:spcAft>
            </a:pPr>
            <a:r>
              <a:rPr sz="2100" b="0" i="0" dirty="0">
                <a:solidFill>
                  <a:srgbClr val="6B787D"/>
                </a:solidFill>
                <a:latin typeface="Consolas"/>
              </a:rPr>
              <a:t>The largest error is human negative predicted as non-evaluative: 21 of 59 test pairs.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076127" y="6433442"/>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4</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6</a:t>
            </a:r>
            <a:r>
              <a:rPr sz="2100" b="1" i="0" dirty="0">
                <a:solidFill>
                  <a:srgbClr val="2E8FA3"/>
                </a:solidFill>
                <a:latin typeface="Consolas"/>
              </a:rPr>
              <a:t>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Where the errors actually are</a:t>
            </a:r>
          </a:p>
        </p:txBody>
      </p:sp>
      <p:graphicFrame>
        <p:nvGraphicFramePr>
          <p:cNvPr id="5" name="Table 4"/>
          <p:cNvGraphicFramePr>
            <a:graphicFrameLocks noGrp="1"/>
          </p:cNvGraphicFramePr>
          <p:nvPr/>
        </p:nvGraphicFramePr>
        <p:xfrm>
          <a:off x="658368" y="1664208"/>
          <a:ext cx="7315199" cy="2852928"/>
        </p:xfrm>
        <a:graphic>
          <a:graphicData uri="http://schemas.openxmlformats.org/drawingml/2006/table">
            <a:tbl>
              <a:tblPr>
                <a:tableStyleId>{5C22544A-7EE6-4342-B048-85BDC9FD1C3A}</a:tableStyleId>
              </a:tblPr>
              <a:tblGrid>
                <a:gridCol w="2813538">
                  <a:extLst>
                    <a:ext uri="{9D8B030D-6E8A-4147-A177-3AD203B41FA5}">
                      <a16:colId xmlns:a16="http://schemas.microsoft.com/office/drawing/2014/main" val="20000"/>
                    </a:ext>
                  </a:extLst>
                </a:gridCol>
                <a:gridCol w="2813538">
                  <a:extLst>
                    <a:ext uri="{9D8B030D-6E8A-4147-A177-3AD203B41FA5}">
                      <a16:colId xmlns:a16="http://schemas.microsoft.com/office/drawing/2014/main" val="20001"/>
                    </a:ext>
                  </a:extLst>
                </a:gridCol>
                <a:gridCol w="1688123">
                  <a:extLst>
                    <a:ext uri="{9D8B030D-6E8A-4147-A177-3AD203B41FA5}">
                      <a16:colId xmlns:a16="http://schemas.microsoft.com/office/drawing/2014/main" val="20002"/>
                    </a:ext>
                  </a:extLst>
                </a:gridCol>
              </a:tblGrid>
              <a:tr h="475488">
                <a:tc>
                  <a:txBody>
                    <a:bodyPr/>
                    <a:lstStyle/>
                    <a:p>
                      <a:pPr algn="l"/>
                      <a:r>
                        <a:rPr sz="2100" b="1" i="0">
                          <a:solidFill>
                            <a:srgbClr val="6B787D"/>
                          </a:solidFill>
                          <a:latin typeface="Consolas"/>
                        </a:rPr>
                        <a:t>Human said</a:t>
                      </a:r>
                    </a:p>
                  </a:txBody>
                  <a:tcPr marL="100584" marR="100584" marT="27432" marB="27432" anchor="ctr">
                    <a:solidFill>
                      <a:srgbClr val="E0E5E1"/>
                    </a:solidFill>
                  </a:tcPr>
                </a:tc>
                <a:tc>
                  <a:txBody>
                    <a:bodyPr/>
                    <a:lstStyle/>
                    <a:p>
                      <a:pPr algn="l"/>
                      <a:r>
                        <a:rPr sz="2100" b="1" i="0">
                          <a:solidFill>
                            <a:srgbClr val="6B787D"/>
                          </a:solidFill>
                          <a:latin typeface="Consolas"/>
                        </a:rPr>
                        <a:t>System said</a:t>
                      </a:r>
                    </a:p>
                  </a:txBody>
                  <a:tcPr marL="100584" marR="100584" marT="27432" marB="27432" anchor="ctr">
                    <a:solidFill>
                      <a:srgbClr val="E0E5E1"/>
                    </a:solidFill>
                  </a:tcPr>
                </a:tc>
                <a:tc>
                  <a:txBody>
                    <a:bodyPr/>
                    <a:lstStyle/>
                    <a:p>
                      <a:pPr algn="r"/>
                      <a:r>
                        <a:rPr sz="2100" b="1" i="0">
                          <a:solidFill>
                            <a:srgbClr val="6B787D"/>
                          </a:solidFill>
                          <a:latin typeface="Consolas"/>
                        </a:rPr>
                        <a:t>Count</a:t>
                      </a:r>
                    </a:p>
                  </a:txBody>
                  <a:tcPr marL="100584" marR="100584" marT="27432" marB="27432" anchor="ctr">
                    <a:solidFill>
                      <a:srgbClr val="E0E5E1"/>
                    </a:solidFill>
                  </a:tcPr>
                </a:tc>
                <a:extLst>
                  <a:ext uri="{0D108BD9-81ED-4DB2-BD59-A6C34878D82A}">
                    <a16:rowId xmlns:a16="http://schemas.microsoft.com/office/drawing/2014/main" val="10000"/>
                  </a:ext>
                </a:extLst>
              </a:tr>
              <a:tr h="475488">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24</a:t>
                      </a:r>
                    </a:p>
                  </a:txBody>
                  <a:tcPr marL="100584" marR="100584" marT="27432" marB="27432" anchor="ctr">
                    <a:solidFill>
                      <a:srgbClr val="F8F9F7"/>
                    </a:solidFill>
                  </a:tcPr>
                </a:tc>
                <a:extLst>
                  <a:ext uri="{0D108BD9-81ED-4DB2-BD59-A6C34878D82A}">
                    <a16:rowId xmlns:a16="http://schemas.microsoft.com/office/drawing/2014/main" val="10001"/>
                  </a:ext>
                </a:extLst>
              </a:tr>
              <a:tr h="475488">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22</a:t>
                      </a:r>
                    </a:p>
                  </a:txBody>
                  <a:tcPr marL="100584" marR="100584" marT="27432" marB="27432" anchor="ctr">
                    <a:solidFill>
                      <a:srgbClr val="F8F9F7"/>
                    </a:solidFill>
                  </a:tcPr>
                </a:tc>
                <a:extLst>
                  <a:ext uri="{0D108BD9-81ED-4DB2-BD59-A6C34878D82A}">
                    <a16:rowId xmlns:a16="http://schemas.microsoft.com/office/drawing/2014/main" val="10002"/>
                  </a:ext>
                </a:extLst>
              </a:tr>
              <a:tr h="475488">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11</a:t>
                      </a:r>
                    </a:p>
                  </a:txBody>
                  <a:tcPr marL="100584" marR="100584" marT="27432" marB="27432" anchor="ctr">
                    <a:solidFill>
                      <a:srgbClr val="F8F9F7"/>
                    </a:solidFill>
                  </a:tcPr>
                </a:tc>
                <a:extLst>
                  <a:ext uri="{0D108BD9-81ED-4DB2-BD59-A6C34878D82A}">
                    <a16:rowId xmlns:a16="http://schemas.microsoft.com/office/drawing/2014/main" val="10003"/>
                  </a:ext>
                </a:extLst>
              </a:tr>
              <a:tr h="475488">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r"/>
                      <a:r>
                        <a:rPr sz="2100" b="0" i="0">
                          <a:solidFill>
                            <a:srgbClr val="14181B"/>
                          </a:solidFill>
                          <a:latin typeface="Consolas"/>
                        </a:rPr>
                        <a:t>9</a:t>
                      </a:r>
                    </a:p>
                  </a:txBody>
                  <a:tcPr marL="100584" marR="100584" marT="27432" marB="27432" anchor="ctr">
                    <a:solidFill>
                      <a:srgbClr val="F8F9F7"/>
                    </a:solidFill>
                  </a:tcPr>
                </a:tc>
                <a:extLst>
                  <a:ext uri="{0D108BD9-81ED-4DB2-BD59-A6C34878D82A}">
                    <a16:rowId xmlns:a16="http://schemas.microsoft.com/office/drawing/2014/main" val="10004"/>
                  </a:ext>
                </a:extLst>
              </a:tr>
              <a:tr h="475488">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7</a:t>
                      </a:r>
                    </a:p>
                  </a:txBody>
                  <a:tcPr marL="100584" marR="100584" marT="27432" marB="27432" anchor="ctr">
                    <a:solidFill>
                      <a:srgbClr val="F8F9F7"/>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8339328" y="1609344"/>
            <a:ext cx="3193999" cy="482803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8339328" y="1609344"/>
            <a:ext cx="50292" cy="246888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613648" y="1792224"/>
            <a:ext cx="2691079" cy="2103120"/>
          </a:xfrm>
          <a:prstGeom prst="rect">
            <a:avLst/>
          </a:prstGeom>
          <a:noFill/>
        </p:spPr>
        <p:txBody>
          <a:bodyPr wrap="square" lIns="0" tIns="0" rIns="0" bIns="0" anchor="t">
            <a:spAutoFit/>
          </a:bodyPr>
          <a:lstStyle/>
          <a:p>
            <a:pPr algn="l">
              <a:lnSpc>
                <a:spcPct val="118000"/>
              </a:lnSpc>
              <a:spcBef>
                <a:spcPts val="0"/>
              </a:spcBef>
              <a:spcAft>
                <a:spcPts val="600"/>
              </a:spcAft>
            </a:pPr>
            <a:r>
              <a:rPr sz="2300" b="1" i="0">
                <a:solidFill>
                  <a:srgbClr val="14181B"/>
                </a:solidFill>
                <a:latin typeface="Segoe UI"/>
              </a:rPr>
              <a:t>The structural cause</a:t>
            </a:r>
          </a:p>
          <a:p>
            <a:pPr algn="l">
              <a:lnSpc>
                <a:spcPct val="120000"/>
              </a:lnSpc>
              <a:spcBef>
                <a:spcPts val="0"/>
              </a:spcBef>
              <a:spcAft>
                <a:spcPts val="0"/>
              </a:spcAft>
            </a:pPr>
            <a:r>
              <a:rPr sz="2100" b="0" i="0">
                <a:solidFill>
                  <a:srgbClr val="3E4A4F"/>
                </a:solidFill>
                <a:latin typeface="Segoe UI"/>
              </a:rPr>
              <a:t>Class imbalance. 85.6 percent of rows are non evaluative and only 91 positive examples reach training. Far too few for a 110 million parameter model, and thin even for logistic regression.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5</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Cause one: advice read as praise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24 errors, the largest single class. A speaker says what should happen, and the rule set counts the good word as a judgement about the present.</a:t>
            </a:r>
          </a:p>
        </p:txBody>
      </p:sp>
      <p:sp>
        <p:nvSpPr>
          <p:cNvPr id="6" name="Rectangle 5"/>
          <p:cNvSpPr/>
          <p:nvPr/>
        </p:nvSpPr>
        <p:spPr>
          <a:xfrm>
            <a:off x="658368" y="2468879"/>
            <a:ext cx="10874959" cy="133502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468879"/>
            <a:ext cx="50292" cy="1335024"/>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7" y="2522859"/>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3000" b="0" i="0" dirty="0" err="1">
                <a:solidFill>
                  <a:srgbClr val="14181B"/>
                </a:solidFill>
                <a:latin typeface="Nirmala UI"/>
              </a:rPr>
              <a:t>অর্থনীতি</a:t>
            </a:r>
            <a:r>
              <a:rPr sz="3000" b="0" i="0" dirty="0">
                <a:solidFill>
                  <a:srgbClr val="14181B"/>
                </a:solidFill>
                <a:latin typeface="Nirmala UI"/>
              </a:rPr>
              <a:t> </a:t>
            </a:r>
            <a:r>
              <a:rPr sz="3000" b="0" i="0" dirty="0" err="1">
                <a:solidFill>
                  <a:srgbClr val="14181B"/>
                </a:solidFill>
                <a:latin typeface="Nirmala UI"/>
              </a:rPr>
              <a:t>স্থিতিশীল</a:t>
            </a:r>
            <a:r>
              <a:rPr sz="3000" b="0" i="0" dirty="0">
                <a:solidFill>
                  <a:srgbClr val="14181B"/>
                </a:solidFill>
                <a:latin typeface="Nirmala UI"/>
              </a:rPr>
              <a:t> </a:t>
            </a:r>
            <a:r>
              <a:rPr sz="3000" b="0" i="0" dirty="0" err="1">
                <a:solidFill>
                  <a:srgbClr val="14181B"/>
                </a:solidFill>
                <a:latin typeface="Nirmala UI"/>
              </a:rPr>
              <a:t>করতে</a:t>
            </a:r>
            <a:r>
              <a:rPr sz="3000" b="0" i="0" dirty="0">
                <a:solidFill>
                  <a:srgbClr val="14181B"/>
                </a:solidFill>
                <a:latin typeface="Nirmala UI"/>
              </a:rPr>
              <a:t> </a:t>
            </a:r>
            <a:r>
              <a:rPr sz="3000" b="0" i="0" dirty="0" err="1">
                <a:solidFill>
                  <a:srgbClr val="14181B"/>
                </a:solidFill>
                <a:latin typeface="Nirmala UI"/>
              </a:rPr>
              <a:t>হবে</a:t>
            </a:r>
            <a:endParaRPr sz="3000" b="0" i="0" dirty="0">
              <a:solidFill>
                <a:srgbClr val="14181B"/>
              </a:solidFill>
              <a:latin typeface="Nirmala UI"/>
            </a:endParaRPr>
          </a:p>
        </p:txBody>
      </p:sp>
      <p:sp>
        <p:nvSpPr>
          <p:cNvPr id="9" name="TextBox 8"/>
          <p:cNvSpPr txBox="1"/>
          <p:nvPr/>
        </p:nvSpPr>
        <p:spPr>
          <a:xfrm>
            <a:off x="932688" y="3017520"/>
            <a:ext cx="10372039" cy="768096"/>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economy must be stabilised. This is a demand, not a compliment. The system reads the word for stable and answers positive.</a:t>
            </a:r>
          </a:p>
        </p:txBody>
      </p:sp>
      <p:sp>
        <p:nvSpPr>
          <p:cNvPr id="10" name="Rectangle 9"/>
          <p:cNvSpPr/>
          <p:nvPr/>
        </p:nvSpPr>
        <p:spPr>
          <a:xfrm>
            <a:off x="658368" y="4133086"/>
            <a:ext cx="10874959" cy="204157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658368" y="4133087"/>
            <a:ext cx="50292" cy="1389888"/>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32688" y="4315968"/>
            <a:ext cx="10372039" cy="1024128"/>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The fix is short</a:t>
            </a:r>
          </a:p>
          <a:p>
            <a:pPr algn="l">
              <a:lnSpc>
                <a:spcPct val="120000"/>
              </a:lnSpc>
              <a:spcBef>
                <a:spcPts val="0"/>
              </a:spcBef>
              <a:spcAft>
                <a:spcPts val="0"/>
              </a:spcAft>
            </a:pPr>
            <a:r>
              <a:rPr sz="2200" b="0" i="0" dirty="0">
                <a:solidFill>
                  <a:srgbClr val="3E4A4F"/>
                </a:solidFill>
                <a:latin typeface="Segoe UI"/>
              </a:rPr>
              <a:t>Bangla marks obligation with a small closed set of endings, chiefly </a:t>
            </a:r>
            <a:r>
              <a:rPr sz="2200" b="0" i="0" dirty="0" err="1">
                <a:solidFill>
                  <a:srgbClr val="3E4A4F"/>
                </a:solidFill>
                <a:latin typeface="Nirmala UI"/>
              </a:rPr>
              <a:t>করতে</a:t>
            </a:r>
            <a:r>
              <a:rPr sz="2200" b="0" i="0" dirty="0">
                <a:solidFill>
                  <a:srgbClr val="3E4A4F"/>
                </a:solidFill>
                <a:latin typeface="Nirmala UI"/>
              </a:rPr>
              <a:t> </a:t>
            </a:r>
            <a:r>
              <a:rPr sz="2200" b="0" i="0" dirty="0" err="1">
                <a:solidFill>
                  <a:srgbClr val="3E4A4F"/>
                </a:solidFill>
                <a:latin typeface="Nirmala UI"/>
              </a:rPr>
              <a:t>হবে</a:t>
            </a:r>
            <a:r>
              <a:rPr sz="2200" b="0" i="0" dirty="0">
                <a:solidFill>
                  <a:srgbClr val="3E4A4F"/>
                </a:solidFill>
                <a:latin typeface="Segoe UI"/>
              </a:rPr>
              <a:t>, </a:t>
            </a:r>
            <a:r>
              <a:rPr sz="2200" b="0" i="0" dirty="0" err="1">
                <a:solidFill>
                  <a:srgbClr val="3E4A4F"/>
                </a:solidFill>
                <a:latin typeface="Nirmala UI"/>
              </a:rPr>
              <a:t>উচিত</a:t>
            </a:r>
            <a:r>
              <a:rPr sz="2200" b="0" i="0" dirty="0">
                <a:solidFill>
                  <a:srgbClr val="3E4A4F"/>
                </a:solidFill>
                <a:latin typeface="Segoe UI"/>
              </a:rPr>
              <a:t>, </a:t>
            </a:r>
            <a:r>
              <a:rPr sz="2200" b="0" i="0" dirty="0" err="1">
                <a:solidFill>
                  <a:srgbClr val="3E4A4F"/>
                </a:solidFill>
                <a:latin typeface="Nirmala UI"/>
              </a:rPr>
              <a:t>দরকার</a:t>
            </a:r>
            <a:r>
              <a:rPr sz="2200" b="0" i="0" dirty="0">
                <a:solidFill>
                  <a:srgbClr val="3E4A4F"/>
                </a:solidFill>
                <a:latin typeface="Nirmala UI"/>
              </a:rPr>
              <a:t> </a:t>
            </a:r>
            <a:r>
              <a:rPr sz="2200" b="0" i="0" dirty="0">
                <a:solidFill>
                  <a:srgbClr val="3E4A4F"/>
                </a:solidFill>
                <a:latin typeface="Segoe UI"/>
              </a:rPr>
              <a:t>and </a:t>
            </a:r>
            <a:r>
              <a:rPr sz="2200" b="0" i="0" dirty="0" err="1">
                <a:solidFill>
                  <a:srgbClr val="3E4A4F"/>
                </a:solidFill>
                <a:latin typeface="Nirmala UI"/>
              </a:rPr>
              <a:t>প্রয়োজন</a:t>
            </a:r>
            <a:r>
              <a:rPr sz="2200" b="0" i="0" dirty="0">
                <a:solidFill>
                  <a:srgbClr val="3E4A4F"/>
                </a:solidFill>
                <a:latin typeface="Segoe UI"/>
              </a:rPr>
              <a:t>. Detecting those and suppressing the polarity claim is a rule, not a research problem.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6</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Cause two and cause three</a:t>
            </a:r>
          </a:p>
        </p:txBody>
      </p:sp>
      <p:sp>
        <p:nvSpPr>
          <p:cNvPr id="5" name="TextBox 4"/>
          <p:cNvSpPr txBox="1"/>
          <p:nvPr/>
        </p:nvSpPr>
        <p:spPr>
          <a:xfrm>
            <a:off x="658368" y="166420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Negative meaning with no cue word. 22 errors.</a:t>
            </a:r>
          </a:p>
        </p:txBody>
      </p:sp>
      <p:sp>
        <p:nvSpPr>
          <p:cNvPr id="6" name="Rectangle 5"/>
          <p:cNvSpPr/>
          <p:nvPr/>
        </p:nvSpPr>
        <p:spPr>
          <a:xfrm>
            <a:off x="658368" y="2103119"/>
            <a:ext cx="10874959" cy="137160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103120"/>
            <a:ext cx="50292" cy="1225296"/>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249424"/>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700" b="0" i="0">
                <a:solidFill>
                  <a:srgbClr val="14181B"/>
                </a:solidFill>
                <a:latin typeface="Nirmala UI"/>
              </a:rPr>
              <a:t>বিনিয়োগ বাইশ পয়েন্ট চার পার্সেন্টে নেমে গেছে</a:t>
            </a:r>
          </a:p>
        </p:txBody>
      </p:sp>
      <p:sp>
        <p:nvSpPr>
          <p:cNvPr id="9" name="TextBox 8"/>
          <p:cNvSpPr txBox="1"/>
          <p:nvPr/>
        </p:nvSpPr>
        <p:spPr>
          <a:xfrm>
            <a:off x="932688" y="2651760"/>
            <a:ext cx="10372039" cy="739626"/>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Investment has come down to 22.4 percent. Clearly negative, and not one word of it is in the </a:t>
            </a:r>
            <a:r>
              <a:rPr lang="en-US" sz="2100" b="0" i="0" dirty="0">
                <a:solidFill>
                  <a:srgbClr val="3E4A4F"/>
                </a:solidFill>
                <a:latin typeface="Segoe UI"/>
              </a:rPr>
              <a:t>104-stem</a:t>
            </a:r>
            <a:r>
              <a:rPr sz="2100" b="0" i="0" dirty="0">
                <a:solidFill>
                  <a:srgbClr val="3E4A4F"/>
                </a:solidFill>
                <a:latin typeface="Segoe UI"/>
              </a:rPr>
              <a:t> cue list.</a:t>
            </a:r>
          </a:p>
        </p:txBody>
      </p:sp>
      <p:sp>
        <p:nvSpPr>
          <p:cNvPr id="10" name="TextBox 9"/>
          <p:cNvSpPr txBox="1"/>
          <p:nvPr/>
        </p:nvSpPr>
        <p:spPr>
          <a:xfrm>
            <a:off x="658368" y="3621024"/>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Negation carried by a suffix.</a:t>
            </a:r>
          </a:p>
        </p:txBody>
      </p:sp>
      <p:sp>
        <p:nvSpPr>
          <p:cNvPr id="11" name="Rectangle 10"/>
          <p:cNvSpPr/>
          <p:nvPr/>
        </p:nvSpPr>
        <p:spPr>
          <a:xfrm>
            <a:off x="658368" y="4059935"/>
            <a:ext cx="10874959" cy="146579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059935"/>
            <a:ext cx="50292" cy="128016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20624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700" b="0" i="0">
                <a:solidFill>
                  <a:srgbClr val="14181B"/>
                </a:solidFill>
                <a:latin typeface="Nirmala UI"/>
              </a:rPr>
              <a:t>বাজেট বাস্তবায়ন হয়নি</a:t>
            </a:r>
          </a:p>
        </p:txBody>
      </p:sp>
      <p:sp>
        <p:nvSpPr>
          <p:cNvPr id="14" name="TextBox 13"/>
          <p:cNvSpPr txBox="1"/>
          <p:nvPr/>
        </p:nvSpPr>
        <p:spPr>
          <a:xfrm>
            <a:off x="932688" y="4608576"/>
            <a:ext cx="10372039" cy="713231"/>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budget was not implemented. Bangla negates the past tense by attaching </a:t>
            </a:r>
            <a:r>
              <a:rPr sz="2100" b="0" i="0">
                <a:solidFill>
                  <a:srgbClr val="3E4A4F"/>
                </a:solidFill>
                <a:latin typeface="Nirmala UI"/>
              </a:rPr>
              <a:t>নি </a:t>
            </a:r>
            <a:r>
              <a:rPr sz="2100" b="0" i="0">
                <a:solidFill>
                  <a:srgbClr val="3E4A4F"/>
                </a:solidFill>
                <a:latin typeface="Segoe UI"/>
              </a:rPr>
              <a:t>to the verb, so there is no separate particle for the window to find.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159701" y="6306408"/>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7</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obvious suspect, tested and ruled out</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natural assumption is that recognition noise flows downstream and breaks the sentiment. It was measured.</a:t>
            </a:r>
          </a:p>
        </p:txBody>
      </p:sp>
      <p:graphicFrame>
        <p:nvGraphicFramePr>
          <p:cNvPr id="6" name="Table 5"/>
          <p:cNvGraphicFramePr>
            <a:graphicFrameLocks noGrp="1"/>
          </p:cNvGraphicFramePr>
          <p:nvPr/>
        </p:nvGraphicFramePr>
        <p:xfrm>
          <a:off x="658368" y="2468879"/>
          <a:ext cx="7863839" cy="2871216"/>
        </p:xfrm>
        <a:graphic>
          <a:graphicData uri="http://schemas.openxmlformats.org/drawingml/2006/table">
            <a:tbl>
              <a:tblPr>
                <a:tableStyleId>{5C22544A-7EE6-4342-B048-85BDC9FD1C3A}</a:tableStyleId>
              </a:tblPr>
              <a:tblGrid>
                <a:gridCol w="4934174">
                  <a:extLst>
                    <a:ext uri="{9D8B030D-6E8A-4147-A177-3AD203B41FA5}">
                      <a16:colId xmlns:a16="http://schemas.microsoft.com/office/drawing/2014/main" val="20000"/>
                    </a:ext>
                  </a:extLst>
                </a:gridCol>
                <a:gridCol w="1233543">
                  <a:extLst>
                    <a:ext uri="{9D8B030D-6E8A-4147-A177-3AD203B41FA5}">
                      <a16:colId xmlns:a16="http://schemas.microsoft.com/office/drawing/2014/main" val="20001"/>
                    </a:ext>
                  </a:extLst>
                </a:gridCol>
                <a:gridCol w="1696122">
                  <a:extLst>
                    <a:ext uri="{9D8B030D-6E8A-4147-A177-3AD203B41FA5}">
                      <a16:colId xmlns:a16="http://schemas.microsoft.com/office/drawing/2014/main" val="20002"/>
                    </a:ext>
                  </a:extLst>
                </a:gridCol>
              </a:tblGrid>
              <a:tr h="493776">
                <a:tc>
                  <a:txBody>
                    <a:bodyPr/>
                    <a:lstStyle/>
                    <a:p>
                      <a:pPr algn="l"/>
                      <a:r>
                        <a:rPr sz="2100" b="1" i="0">
                          <a:solidFill>
                            <a:srgbClr val="6B787D"/>
                          </a:solidFill>
                          <a:latin typeface="Consolas"/>
                        </a:rPr>
                        <a:t>Stratum</a:t>
                      </a:r>
                    </a:p>
                  </a:txBody>
                  <a:tcPr marL="100584" marR="100584" marT="27432" marB="27432" anchor="ctr">
                    <a:solidFill>
                      <a:srgbClr val="E0E5E1"/>
                    </a:solidFill>
                  </a:tcPr>
                </a:tc>
                <a:tc>
                  <a:txBody>
                    <a:bodyPr/>
                    <a:lstStyle/>
                    <a:p>
                      <a:pPr algn="r"/>
                      <a:r>
                        <a:rPr sz="2100" b="1" i="0">
                          <a:solidFill>
                            <a:srgbClr val="6B787D"/>
                          </a:solidFill>
                          <a:latin typeface="Consolas"/>
                        </a:rPr>
                        <a:t>n</a:t>
                      </a:r>
                    </a:p>
                  </a:txBody>
                  <a:tcPr marL="100584" marR="100584" marT="27432" marB="27432" anchor="ctr">
                    <a:solidFill>
                      <a:srgbClr val="E0E5E1"/>
                    </a:solidFill>
                  </a:tcPr>
                </a:tc>
                <a:tc>
                  <a:txBody>
                    <a:bodyPr/>
                    <a:lstStyle/>
                    <a:p>
                      <a:pPr algn="r"/>
                      <a:r>
                        <a:rPr sz="2100" b="1" i="0">
                          <a:solidFill>
                            <a:srgbClr val="6B787D"/>
                          </a:solidFill>
                          <a:latin typeface="Consolas"/>
                        </a:rPr>
                        <a:t>Macro F1</a:t>
                      </a:r>
                    </a:p>
                  </a:txBody>
                  <a:tcPr marL="100584" marR="100584" marT="27432" marB="27432" anchor="ctr">
                    <a:solidFill>
                      <a:srgbClr val="E0E5E1"/>
                    </a:solidFill>
                  </a:tcPr>
                </a:tc>
                <a:extLst>
                  <a:ext uri="{0D108BD9-81ED-4DB2-BD59-A6C34878D82A}">
                    <a16:rowId xmlns:a16="http://schemas.microsoft.com/office/drawing/2014/main" val="10000"/>
                  </a:ext>
                </a:extLst>
              </a:tr>
              <a:tr h="493776">
                <a:tc>
                  <a:txBody>
                    <a:bodyPr/>
                    <a:lstStyle/>
                    <a:p>
                      <a:pPr algn="l"/>
                      <a:r>
                        <a:rPr sz="2100" b="0" i="0">
                          <a:solidFill>
                            <a:srgbClr val="14181B"/>
                          </a:solidFill>
                          <a:latin typeface="Segoe UI"/>
                        </a:rPr>
                        <a:t>Cleaner transcripts, confidence above median</a:t>
                      </a:r>
                    </a:p>
                  </a:txBody>
                  <a:tcPr marL="100584" marR="100584" marT="27432" marB="27432" anchor="ctr">
                    <a:solidFill>
                      <a:srgbClr val="F8F9F7"/>
                    </a:solidFill>
                  </a:tcPr>
                </a:tc>
                <a:tc>
                  <a:txBody>
                    <a:bodyPr/>
                    <a:lstStyle/>
                    <a:p>
                      <a:pPr algn="r"/>
                      <a:r>
                        <a:rPr sz="2100" b="0" i="0">
                          <a:solidFill>
                            <a:srgbClr val="14181B"/>
                          </a:solidFill>
                          <a:latin typeface="Consolas"/>
                        </a:rPr>
                        <a:t>90</a:t>
                      </a:r>
                    </a:p>
                  </a:txBody>
                  <a:tcPr marL="100584" marR="100584" marT="27432" marB="27432" anchor="ctr">
                    <a:solidFill>
                      <a:srgbClr val="F8F9F7"/>
                    </a:solidFill>
                  </a:tcPr>
                </a:tc>
                <a:tc>
                  <a:txBody>
                    <a:bodyPr/>
                    <a:lstStyle/>
                    <a:p>
                      <a:pPr algn="r"/>
                      <a:r>
                        <a:rPr sz="2100" b="0" i="0">
                          <a:solidFill>
                            <a:srgbClr val="14181B"/>
                          </a:solidFill>
                          <a:latin typeface="Consolas"/>
                        </a:rPr>
                        <a:t>0.550</a:t>
                      </a:r>
                    </a:p>
                  </a:txBody>
                  <a:tcPr marL="100584" marR="100584" marT="27432" marB="27432" anchor="ctr">
                    <a:solidFill>
                      <a:srgbClr val="F8F9F7"/>
                    </a:solidFill>
                  </a:tcPr>
                </a:tc>
                <a:extLst>
                  <a:ext uri="{0D108BD9-81ED-4DB2-BD59-A6C34878D82A}">
                    <a16:rowId xmlns:a16="http://schemas.microsoft.com/office/drawing/2014/main" val="10001"/>
                  </a:ext>
                </a:extLst>
              </a:tr>
              <a:tr h="493776">
                <a:tc>
                  <a:txBody>
                    <a:bodyPr/>
                    <a:lstStyle/>
                    <a:p>
                      <a:pPr algn="l"/>
                      <a:r>
                        <a:rPr sz="2100" b="0" i="0">
                          <a:solidFill>
                            <a:srgbClr val="14181B"/>
                          </a:solidFill>
                          <a:latin typeface="Segoe UI"/>
                        </a:rPr>
                        <a:t>Noisier transcripts, confidence below median</a:t>
                      </a:r>
                    </a:p>
                  </a:txBody>
                  <a:tcPr marL="100584" marR="100584" marT="27432" marB="27432" anchor="ctr">
                    <a:solidFill>
                      <a:srgbClr val="F8F9F7"/>
                    </a:solidFill>
                  </a:tcPr>
                </a:tc>
                <a:tc>
                  <a:txBody>
                    <a:bodyPr/>
                    <a:lstStyle/>
                    <a:p>
                      <a:pPr algn="r"/>
                      <a:r>
                        <a:rPr sz="2100" b="0" i="0">
                          <a:solidFill>
                            <a:srgbClr val="14181B"/>
                          </a:solidFill>
                          <a:latin typeface="Consolas"/>
                        </a:rPr>
                        <a:t>90</a:t>
                      </a:r>
                    </a:p>
                  </a:txBody>
                  <a:tcPr marL="100584" marR="100584" marT="27432" marB="27432" anchor="ctr">
                    <a:solidFill>
                      <a:srgbClr val="F8F9F7"/>
                    </a:solidFill>
                  </a:tcPr>
                </a:tc>
                <a:tc>
                  <a:txBody>
                    <a:bodyPr/>
                    <a:lstStyle/>
                    <a:p>
                      <a:pPr algn="r"/>
                      <a:r>
                        <a:rPr sz="2100" b="0" i="0">
                          <a:solidFill>
                            <a:srgbClr val="14181B"/>
                          </a:solidFill>
                          <a:latin typeface="Consolas"/>
                        </a:rPr>
                        <a:t>0.619</a:t>
                      </a:r>
                    </a:p>
                  </a:txBody>
                  <a:tcPr marL="100584" marR="100584" marT="27432" marB="27432" anchor="ctr">
                    <a:solidFill>
                      <a:srgbClr val="F8F9F7"/>
                    </a:solidFill>
                  </a:tcPr>
                </a:tc>
                <a:extLst>
                  <a:ext uri="{0D108BD9-81ED-4DB2-BD59-A6C34878D82A}">
                    <a16:rowId xmlns:a16="http://schemas.microsoft.com/office/drawing/2014/main" val="10002"/>
                  </a:ext>
                </a:extLst>
              </a:tr>
              <a:tr h="493776">
                <a:tc>
                  <a:txBody>
                    <a:bodyPr/>
                    <a:lstStyle/>
                    <a:p>
                      <a:pPr algn="l"/>
                      <a:r>
                        <a:rPr sz="2100" b="0" i="0">
                          <a:solidFill>
                            <a:srgbClr val="14181B"/>
                          </a:solidFill>
                          <a:latin typeface="Segoe UI"/>
                        </a:rPr>
                        <a:t>No leading truncation</a:t>
                      </a:r>
                    </a:p>
                  </a:txBody>
                  <a:tcPr marL="100584" marR="100584" marT="27432" marB="27432" anchor="ctr">
                    <a:solidFill>
                      <a:srgbClr val="F8F9F7"/>
                    </a:solidFill>
                  </a:tcPr>
                </a:tc>
                <a:tc>
                  <a:txBody>
                    <a:bodyPr/>
                    <a:lstStyle/>
                    <a:p>
                      <a:pPr algn="r"/>
                      <a:r>
                        <a:rPr sz="2100" b="0" i="0">
                          <a:solidFill>
                            <a:srgbClr val="14181B"/>
                          </a:solidFill>
                          <a:latin typeface="Consolas"/>
                        </a:rPr>
                        <a:t>161</a:t>
                      </a:r>
                    </a:p>
                  </a:txBody>
                  <a:tcPr marL="100584" marR="100584" marT="27432" marB="27432" anchor="ctr">
                    <a:solidFill>
                      <a:srgbClr val="F8F9F7"/>
                    </a:solidFill>
                  </a:tcPr>
                </a:tc>
                <a:tc>
                  <a:txBody>
                    <a:bodyPr/>
                    <a:lstStyle/>
                    <a:p>
                      <a:pPr algn="r"/>
                      <a:r>
                        <a:rPr sz="2100" b="0" i="0">
                          <a:solidFill>
                            <a:srgbClr val="14181B"/>
                          </a:solidFill>
                          <a:latin typeface="Consolas"/>
                        </a:rPr>
                        <a:t>0.584</a:t>
                      </a:r>
                    </a:p>
                  </a:txBody>
                  <a:tcPr marL="100584" marR="100584" marT="27432" marB="27432" anchor="ctr">
                    <a:solidFill>
                      <a:srgbClr val="F8F9F7"/>
                    </a:solidFill>
                  </a:tcPr>
                </a:tc>
                <a:extLst>
                  <a:ext uri="{0D108BD9-81ED-4DB2-BD59-A6C34878D82A}">
                    <a16:rowId xmlns:a16="http://schemas.microsoft.com/office/drawing/2014/main" val="10003"/>
                  </a:ext>
                </a:extLst>
              </a:tr>
              <a:tr h="493776">
                <a:tc>
                  <a:txBody>
                    <a:bodyPr/>
                    <a:lstStyle/>
                    <a:p>
                      <a:pPr algn="l"/>
                      <a:r>
                        <a:rPr sz="2100" b="0" i="0">
                          <a:solidFill>
                            <a:srgbClr val="14181B"/>
                          </a:solidFill>
                          <a:latin typeface="Segoe UI"/>
                        </a:rPr>
                        <a:t>Leading truncation present</a:t>
                      </a:r>
                    </a:p>
                  </a:txBody>
                  <a:tcPr marL="100584" marR="100584" marT="27432" marB="27432" anchor="ctr">
                    <a:solidFill>
                      <a:srgbClr val="F8F9F7"/>
                    </a:solidFill>
                  </a:tcPr>
                </a:tc>
                <a:tc>
                  <a:txBody>
                    <a:bodyPr/>
                    <a:lstStyle/>
                    <a:p>
                      <a:pPr algn="r"/>
                      <a:r>
                        <a:rPr sz="2100" b="0" i="0">
                          <a:solidFill>
                            <a:srgbClr val="14181B"/>
                          </a:solidFill>
                          <a:latin typeface="Consolas"/>
                        </a:rPr>
                        <a:t>19</a:t>
                      </a:r>
                    </a:p>
                  </a:txBody>
                  <a:tcPr marL="100584" marR="100584" marT="27432" marB="27432" anchor="ctr">
                    <a:solidFill>
                      <a:srgbClr val="F8F9F7"/>
                    </a:solidFill>
                  </a:tcPr>
                </a:tc>
                <a:tc>
                  <a:txBody>
                    <a:bodyPr/>
                    <a:lstStyle/>
                    <a:p>
                      <a:pPr algn="r"/>
                      <a:r>
                        <a:rPr sz="2100" b="0" i="0">
                          <a:solidFill>
                            <a:srgbClr val="14181B"/>
                          </a:solidFill>
                          <a:latin typeface="Consolas"/>
                        </a:rPr>
                        <a:t>0.562</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608715" y="5340095"/>
            <a:ext cx="10874959" cy="146304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5303520"/>
            <a:ext cx="50292" cy="146304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5486400"/>
            <a:ext cx="10372039" cy="109728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The cleaner half scores no better than the noisier half. At 90 pairs a side that gap sits inside the noise, so the honest reading is that transcript quality does not separate sentiment accuracy here. The label rules, not the transcripts, are the bottleneck.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3718</Words>
  <Application>Microsoft Office PowerPoint</Application>
  <PresentationFormat>Widescreen</PresentationFormat>
  <Paragraphs>611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Consolas</vt:lpstr>
      <vt:lpstr>Nirmala UI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Tawhidul Hasan</cp:lastModifiedBy>
  <cp:revision>19</cp:revision>
  <dcterms:created xsi:type="dcterms:W3CDTF">2013-01-27T09:14:16Z</dcterms:created>
  <dcterms:modified xsi:type="dcterms:W3CDTF">2026-09-07T09:51:07Z</dcterms:modified>
  <cp:category/>
</cp:coreProperties>
</file>